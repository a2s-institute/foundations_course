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Lst>
  <p:sldSz cx="5765800" cy="324485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111C1C0-5033-C2EF-52C2-44A0482D0EDE}" v="5" dt="2026-09-15T13:36:13.179"/>
    <p1510:client id="{B006A132-853F-FD8D-6375-4DEE9083408C}" v="4" dt="2026-09-15T14:11:27.061"/>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7763" autoAdjust="0"/>
  </p:normalViewPr>
  <p:slideViewPr>
    <p:cSldViewPr snapToGrid="0">
      <p:cViewPr varScale="1">
        <p:scale>
          <a:sx n="173" d="100"/>
          <a:sy n="173" d="100"/>
        </p:scale>
        <p:origin x="1048"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microsoft.com/office/2016/11/relationships/changesInfo" Target="changesInfos/changesInfo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nchal, Kamendu" userId="S::kamendu.panchal@smail.inf.h-brs.de::12c6d646-0c6b-46ab-84c2-73b0bdd0f748" providerId="AD" clId="Web-{3111C1C0-5033-C2EF-52C2-44A0482D0EDE}"/>
    <pc:docChg chg="modSld">
      <pc:chgData name="Panchal, Kamendu" userId="S::kamendu.panchal@smail.inf.h-brs.de::12c6d646-0c6b-46ab-84c2-73b0bdd0f748" providerId="AD" clId="Web-{3111C1C0-5033-C2EF-52C2-44A0482D0EDE}" dt="2026-09-15T13:37:50.640" v="5"/>
      <pc:docMkLst>
        <pc:docMk/>
      </pc:docMkLst>
      <pc:sldChg chg="modSp modNotes">
        <pc:chgData name="Panchal, Kamendu" userId="S::kamendu.panchal@smail.inf.h-brs.de::12c6d646-0c6b-46ab-84c2-73b0bdd0f748" providerId="AD" clId="Web-{3111C1C0-5033-C2EF-52C2-44A0482D0EDE}" dt="2026-09-15T13:37:50.640" v="5"/>
        <pc:sldMkLst>
          <pc:docMk/>
          <pc:sldMk cId="29759243" sldId="256"/>
        </pc:sldMkLst>
        <pc:spChg chg="mod">
          <ac:chgData name="Panchal, Kamendu" userId="S::kamendu.panchal@smail.inf.h-brs.de::12c6d646-0c6b-46ab-84c2-73b0bdd0f748" providerId="AD" clId="Web-{3111C1C0-5033-C2EF-52C2-44A0482D0EDE}" dt="2026-09-15T13:36:13.179" v="4" actId="20577"/>
          <ac:spMkLst>
            <pc:docMk/>
            <pc:sldMk cId="29759243" sldId="256"/>
            <ac:spMk id="5" creationId="{2295C362-49C2-41B2-AC17-0B4EC7F5B0DA}"/>
          </ac:spMkLst>
        </pc:spChg>
      </pc:sldChg>
    </pc:docChg>
  </pc:docChgLst>
  <pc:docChgLst>
    <pc:chgData name="Panchal, Kamendu" userId="S::kamendu.panchal@smail.inf.h-brs.de::12c6d646-0c6b-46ab-84c2-73b0bdd0f748" providerId="AD" clId="Web-{B006A132-853F-FD8D-6375-4DEE9083408C}"/>
    <pc:docChg chg="modSld">
      <pc:chgData name="Panchal, Kamendu" userId="S::kamendu.panchal@smail.inf.h-brs.de::12c6d646-0c6b-46ab-84c2-73b0bdd0f748" providerId="AD" clId="Web-{B006A132-853F-FD8D-6375-4DEE9083408C}" dt="2026-09-15T14:13:18.021" v="79"/>
      <pc:docMkLst>
        <pc:docMk/>
      </pc:docMkLst>
      <pc:sldChg chg="modNotes">
        <pc:chgData name="Panchal, Kamendu" userId="S::kamendu.panchal@smail.inf.h-brs.de::12c6d646-0c6b-46ab-84c2-73b0bdd0f748" providerId="AD" clId="Web-{B006A132-853F-FD8D-6375-4DEE9083408C}" dt="2026-09-15T14:10:18.931" v="1"/>
        <pc:sldMkLst>
          <pc:docMk/>
          <pc:sldMk cId="3645672178" sldId="257"/>
        </pc:sldMkLst>
      </pc:sldChg>
      <pc:sldChg chg="modNotes">
        <pc:chgData name="Panchal, Kamendu" userId="S::kamendu.panchal@smail.inf.h-brs.de::12c6d646-0c6b-46ab-84c2-73b0bdd0f748" providerId="AD" clId="Web-{B006A132-853F-FD8D-6375-4DEE9083408C}" dt="2026-09-15T14:10:22.384" v="3"/>
        <pc:sldMkLst>
          <pc:docMk/>
          <pc:sldMk cId="3645672178" sldId="258"/>
        </pc:sldMkLst>
      </pc:sldChg>
      <pc:sldChg chg="modNotes">
        <pc:chgData name="Panchal, Kamendu" userId="S::kamendu.panchal@smail.inf.h-brs.de::12c6d646-0c6b-46ab-84c2-73b0bdd0f748" providerId="AD" clId="Web-{B006A132-853F-FD8D-6375-4DEE9083408C}" dt="2026-09-15T14:10:25.838" v="5"/>
        <pc:sldMkLst>
          <pc:docMk/>
          <pc:sldMk cId="3645672178" sldId="259"/>
        </pc:sldMkLst>
      </pc:sldChg>
      <pc:sldChg chg="modNotes">
        <pc:chgData name="Panchal, Kamendu" userId="S::kamendu.panchal@smail.inf.h-brs.de::12c6d646-0c6b-46ab-84c2-73b0bdd0f748" providerId="AD" clId="Web-{B006A132-853F-FD8D-6375-4DEE9083408C}" dt="2026-09-15T14:10:29.385" v="7"/>
        <pc:sldMkLst>
          <pc:docMk/>
          <pc:sldMk cId="3645672178" sldId="260"/>
        </pc:sldMkLst>
      </pc:sldChg>
      <pc:sldChg chg="modNotes">
        <pc:chgData name="Panchal, Kamendu" userId="S::kamendu.panchal@smail.inf.h-brs.de::12c6d646-0c6b-46ab-84c2-73b0bdd0f748" providerId="AD" clId="Web-{B006A132-853F-FD8D-6375-4DEE9083408C}" dt="2026-09-15T14:10:32.713" v="9"/>
        <pc:sldMkLst>
          <pc:docMk/>
          <pc:sldMk cId="3645672178" sldId="261"/>
        </pc:sldMkLst>
      </pc:sldChg>
      <pc:sldChg chg="modNotes">
        <pc:chgData name="Panchal, Kamendu" userId="S::kamendu.panchal@smail.inf.h-brs.de::12c6d646-0c6b-46ab-84c2-73b0bdd0f748" providerId="AD" clId="Web-{B006A132-853F-FD8D-6375-4DEE9083408C}" dt="2026-09-15T14:10:37.838" v="11"/>
        <pc:sldMkLst>
          <pc:docMk/>
          <pc:sldMk cId="3645672178" sldId="262"/>
        </pc:sldMkLst>
      </pc:sldChg>
      <pc:sldChg chg="modNotes">
        <pc:chgData name="Panchal, Kamendu" userId="S::kamendu.panchal@smail.inf.h-brs.de::12c6d646-0c6b-46ab-84c2-73b0bdd0f748" providerId="AD" clId="Web-{B006A132-853F-FD8D-6375-4DEE9083408C}" dt="2026-09-15T14:10:42.292" v="13"/>
        <pc:sldMkLst>
          <pc:docMk/>
          <pc:sldMk cId="3645672178" sldId="263"/>
        </pc:sldMkLst>
      </pc:sldChg>
      <pc:sldChg chg="modNotes">
        <pc:chgData name="Panchal, Kamendu" userId="S::kamendu.panchal@smail.inf.h-brs.de::12c6d646-0c6b-46ab-84c2-73b0bdd0f748" providerId="AD" clId="Web-{B006A132-853F-FD8D-6375-4DEE9083408C}" dt="2026-09-15T14:10:46.277" v="15"/>
        <pc:sldMkLst>
          <pc:docMk/>
          <pc:sldMk cId="3645672178" sldId="264"/>
        </pc:sldMkLst>
      </pc:sldChg>
      <pc:sldChg chg="modNotes">
        <pc:chgData name="Panchal, Kamendu" userId="S::kamendu.panchal@smail.inf.h-brs.de::12c6d646-0c6b-46ab-84c2-73b0bdd0f748" providerId="AD" clId="Web-{B006A132-853F-FD8D-6375-4DEE9083408C}" dt="2026-09-15T14:10:50.449" v="17"/>
        <pc:sldMkLst>
          <pc:docMk/>
          <pc:sldMk cId="3645672178" sldId="265"/>
        </pc:sldMkLst>
      </pc:sldChg>
      <pc:sldChg chg="modNotes">
        <pc:chgData name="Panchal, Kamendu" userId="S::kamendu.panchal@smail.inf.h-brs.de::12c6d646-0c6b-46ab-84c2-73b0bdd0f748" providerId="AD" clId="Web-{B006A132-853F-FD8D-6375-4DEE9083408C}" dt="2026-09-15T14:10:54.840" v="19"/>
        <pc:sldMkLst>
          <pc:docMk/>
          <pc:sldMk cId="3645672178" sldId="266"/>
        </pc:sldMkLst>
      </pc:sldChg>
      <pc:sldChg chg="modNotes">
        <pc:chgData name="Panchal, Kamendu" userId="S::kamendu.panchal@smail.inf.h-brs.de::12c6d646-0c6b-46ab-84c2-73b0bdd0f748" providerId="AD" clId="Web-{B006A132-853F-FD8D-6375-4DEE9083408C}" dt="2026-09-15T14:10:58.418" v="21"/>
        <pc:sldMkLst>
          <pc:docMk/>
          <pc:sldMk cId="3645672178" sldId="267"/>
        </pc:sldMkLst>
      </pc:sldChg>
      <pc:sldChg chg="modNotes">
        <pc:chgData name="Panchal, Kamendu" userId="S::kamendu.panchal@smail.inf.h-brs.de::12c6d646-0c6b-46ab-84c2-73b0bdd0f748" providerId="AD" clId="Web-{B006A132-853F-FD8D-6375-4DEE9083408C}" dt="2026-09-15T14:11:01.231" v="23"/>
        <pc:sldMkLst>
          <pc:docMk/>
          <pc:sldMk cId="3645672178" sldId="268"/>
        </pc:sldMkLst>
      </pc:sldChg>
      <pc:sldChg chg="modNotes">
        <pc:chgData name="Panchal, Kamendu" userId="S::kamendu.panchal@smail.inf.h-brs.de::12c6d646-0c6b-46ab-84c2-73b0bdd0f748" providerId="AD" clId="Web-{B006A132-853F-FD8D-6375-4DEE9083408C}" dt="2026-09-15T14:11:04.731" v="25"/>
        <pc:sldMkLst>
          <pc:docMk/>
          <pc:sldMk cId="3645672178" sldId="269"/>
        </pc:sldMkLst>
      </pc:sldChg>
      <pc:sldChg chg="modNotes">
        <pc:chgData name="Panchal, Kamendu" userId="S::kamendu.panchal@smail.inf.h-brs.de::12c6d646-0c6b-46ab-84c2-73b0bdd0f748" providerId="AD" clId="Web-{B006A132-853F-FD8D-6375-4DEE9083408C}" dt="2026-09-15T14:11:09.622" v="27"/>
        <pc:sldMkLst>
          <pc:docMk/>
          <pc:sldMk cId="3645672178" sldId="270"/>
        </pc:sldMkLst>
      </pc:sldChg>
      <pc:sldChg chg="modNotes">
        <pc:chgData name="Panchal, Kamendu" userId="S::kamendu.panchal@smail.inf.h-brs.de::12c6d646-0c6b-46ab-84c2-73b0bdd0f748" providerId="AD" clId="Web-{B006A132-853F-FD8D-6375-4DEE9083408C}" dt="2026-09-15T14:11:13.450" v="29"/>
        <pc:sldMkLst>
          <pc:docMk/>
          <pc:sldMk cId="3645672178" sldId="271"/>
        </pc:sldMkLst>
      </pc:sldChg>
      <pc:sldChg chg="modNotes">
        <pc:chgData name="Panchal, Kamendu" userId="S::kamendu.panchal@smail.inf.h-brs.de::12c6d646-0c6b-46ab-84c2-73b0bdd0f748" providerId="AD" clId="Web-{B006A132-853F-FD8D-6375-4DEE9083408C}" dt="2026-09-15T14:11:19.310" v="31"/>
        <pc:sldMkLst>
          <pc:docMk/>
          <pc:sldMk cId="3645672178" sldId="272"/>
        </pc:sldMkLst>
      </pc:sldChg>
      <pc:sldChg chg="modNotes">
        <pc:chgData name="Panchal, Kamendu" userId="S::kamendu.panchal@smail.inf.h-brs.de::12c6d646-0c6b-46ab-84c2-73b0bdd0f748" providerId="AD" clId="Web-{B006A132-853F-FD8D-6375-4DEE9083408C}" dt="2026-09-15T14:11:22.451" v="33"/>
        <pc:sldMkLst>
          <pc:docMk/>
          <pc:sldMk cId="3645672178" sldId="273"/>
        </pc:sldMkLst>
      </pc:sldChg>
      <pc:sldChg chg="modNotes">
        <pc:chgData name="Panchal, Kamendu" userId="S::kamendu.panchal@smail.inf.h-brs.de::12c6d646-0c6b-46ab-84c2-73b0bdd0f748" providerId="AD" clId="Web-{B006A132-853F-FD8D-6375-4DEE9083408C}" dt="2026-09-15T14:11:26.904" v="35"/>
        <pc:sldMkLst>
          <pc:docMk/>
          <pc:sldMk cId="3645672178" sldId="274"/>
        </pc:sldMkLst>
      </pc:sldChg>
      <pc:sldChg chg="modNotes">
        <pc:chgData name="Panchal, Kamendu" userId="S::kamendu.panchal@smail.inf.h-brs.de::12c6d646-0c6b-46ab-84c2-73b0bdd0f748" providerId="AD" clId="Web-{B006A132-853F-FD8D-6375-4DEE9083408C}" dt="2026-09-15T14:11:29.779" v="37"/>
        <pc:sldMkLst>
          <pc:docMk/>
          <pc:sldMk cId="3645672178" sldId="275"/>
        </pc:sldMkLst>
      </pc:sldChg>
      <pc:sldChg chg="modNotes">
        <pc:chgData name="Panchal, Kamendu" userId="S::kamendu.panchal@smail.inf.h-brs.de::12c6d646-0c6b-46ab-84c2-73b0bdd0f748" providerId="AD" clId="Web-{B006A132-853F-FD8D-6375-4DEE9083408C}" dt="2026-09-15T14:11:33.623" v="39"/>
        <pc:sldMkLst>
          <pc:docMk/>
          <pc:sldMk cId="3645672178" sldId="276"/>
        </pc:sldMkLst>
      </pc:sldChg>
      <pc:sldChg chg="modNotes">
        <pc:chgData name="Panchal, Kamendu" userId="S::kamendu.panchal@smail.inf.h-brs.de::12c6d646-0c6b-46ab-84c2-73b0bdd0f748" providerId="AD" clId="Web-{B006A132-853F-FD8D-6375-4DEE9083408C}" dt="2026-09-15T14:11:39.264" v="41"/>
        <pc:sldMkLst>
          <pc:docMk/>
          <pc:sldMk cId="3645672178" sldId="277"/>
        </pc:sldMkLst>
      </pc:sldChg>
      <pc:sldChg chg="modNotes">
        <pc:chgData name="Panchal, Kamendu" userId="S::kamendu.panchal@smail.inf.h-brs.de::12c6d646-0c6b-46ab-84c2-73b0bdd0f748" providerId="AD" clId="Web-{B006A132-853F-FD8D-6375-4DEE9083408C}" dt="2026-09-15T14:11:42.483" v="43"/>
        <pc:sldMkLst>
          <pc:docMk/>
          <pc:sldMk cId="3645672178" sldId="278"/>
        </pc:sldMkLst>
      </pc:sldChg>
      <pc:sldChg chg="modNotes">
        <pc:chgData name="Panchal, Kamendu" userId="S::kamendu.panchal@smail.inf.h-brs.de::12c6d646-0c6b-46ab-84c2-73b0bdd0f748" providerId="AD" clId="Web-{B006A132-853F-FD8D-6375-4DEE9083408C}" dt="2026-09-15T14:11:47.234" v="45"/>
        <pc:sldMkLst>
          <pc:docMk/>
          <pc:sldMk cId="3645672178" sldId="279"/>
        </pc:sldMkLst>
      </pc:sldChg>
      <pc:sldChg chg="modNotes">
        <pc:chgData name="Panchal, Kamendu" userId="S::kamendu.panchal@smail.inf.h-brs.de::12c6d646-0c6b-46ab-84c2-73b0bdd0f748" providerId="AD" clId="Web-{B006A132-853F-FD8D-6375-4DEE9083408C}" dt="2026-09-15T14:11:49.578" v="47"/>
        <pc:sldMkLst>
          <pc:docMk/>
          <pc:sldMk cId="3645672178" sldId="280"/>
        </pc:sldMkLst>
      </pc:sldChg>
      <pc:sldChg chg="modNotes">
        <pc:chgData name="Panchal, Kamendu" userId="S::kamendu.panchal@smail.inf.h-brs.de::12c6d646-0c6b-46ab-84c2-73b0bdd0f748" providerId="AD" clId="Web-{B006A132-853F-FD8D-6375-4DEE9083408C}" dt="2026-09-15T14:11:54.875" v="49"/>
        <pc:sldMkLst>
          <pc:docMk/>
          <pc:sldMk cId="3645672178" sldId="281"/>
        </pc:sldMkLst>
      </pc:sldChg>
      <pc:sldChg chg="modNotes">
        <pc:chgData name="Panchal, Kamendu" userId="S::kamendu.panchal@smail.inf.h-brs.de::12c6d646-0c6b-46ab-84c2-73b0bdd0f748" providerId="AD" clId="Web-{B006A132-853F-FD8D-6375-4DEE9083408C}" dt="2026-09-15T14:11:58.094" v="51"/>
        <pc:sldMkLst>
          <pc:docMk/>
          <pc:sldMk cId="3645672178" sldId="282"/>
        </pc:sldMkLst>
      </pc:sldChg>
      <pc:sldChg chg="modNotes">
        <pc:chgData name="Panchal, Kamendu" userId="S::kamendu.panchal@smail.inf.h-brs.de::12c6d646-0c6b-46ab-84c2-73b0bdd0f748" providerId="AD" clId="Web-{B006A132-853F-FD8D-6375-4DEE9083408C}" dt="2026-09-15T14:12:02.782" v="53"/>
        <pc:sldMkLst>
          <pc:docMk/>
          <pc:sldMk cId="3645672178" sldId="283"/>
        </pc:sldMkLst>
      </pc:sldChg>
      <pc:sldChg chg="modNotes">
        <pc:chgData name="Panchal, Kamendu" userId="S::kamendu.panchal@smail.inf.h-brs.de::12c6d646-0c6b-46ab-84c2-73b0bdd0f748" providerId="AD" clId="Web-{B006A132-853F-FD8D-6375-4DEE9083408C}" dt="2026-09-15T14:12:05.766" v="55"/>
        <pc:sldMkLst>
          <pc:docMk/>
          <pc:sldMk cId="3645672178" sldId="284"/>
        </pc:sldMkLst>
      </pc:sldChg>
      <pc:sldChg chg="modNotes">
        <pc:chgData name="Panchal, Kamendu" userId="S::kamendu.panchal@smail.inf.h-brs.de::12c6d646-0c6b-46ab-84c2-73b0bdd0f748" providerId="AD" clId="Web-{B006A132-853F-FD8D-6375-4DEE9083408C}" dt="2026-09-15T14:12:09.063" v="57"/>
        <pc:sldMkLst>
          <pc:docMk/>
          <pc:sldMk cId="3645672178" sldId="285"/>
        </pc:sldMkLst>
      </pc:sldChg>
      <pc:sldChg chg="modNotes">
        <pc:chgData name="Panchal, Kamendu" userId="S::kamendu.panchal@smail.inf.h-brs.de::12c6d646-0c6b-46ab-84c2-73b0bdd0f748" providerId="AD" clId="Web-{B006A132-853F-FD8D-6375-4DEE9083408C}" dt="2026-09-15T14:12:13.235" v="59"/>
        <pc:sldMkLst>
          <pc:docMk/>
          <pc:sldMk cId="3645672178" sldId="286"/>
        </pc:sldMkLst>
      </pc:sldChg>
      <pc:sldChg chg="modNotes">
        <pc:chgData name="Panchal, Kamendu" userId="S::kamendu.panchal@smail.inf.h-brs.de::12c6d646-0c6b-46ab-84c2-73b0bdd0f748" providerId="AD" clId="Web-{B006A132-853F-FD8D-6375-4DEE9083408C}" dt="2026-09-15T14:12:17.079" v="61"/>
        <pc:sldMkLst>
          <pc:docMk/>
          <pc:sldMk cId="3645672178" sldId="287"/>
        </pc:sldMkLst>
      </pc:sldChg>
      <pc:sldChg chg="modNotes">
        <pc:chgData name="Panchal, Kamendu" userId="S::kamendu.panchal@smail.inf.h-brs.de::12c6d646-0c6b-46ab-84c2-73b0bdd0f748" providerId="AD" clId="Web-{B006A132-853F-FD8D-6375-4DEE9083408C}" dt="2026-09-15T14:12:21.970" v="63"/>
        <pc:sldMkLst>
          <pc:docMk/>
          <pc:sldMk cId="3645672178" sldId="288"/>
        </pc:sldMkLst>
      </pc:sldChg>
      <pc:sldChg chg="modNotes">
        <pc:chgData name="Panchal, Kamendu" userId="S::kamendu.panchal@smail.inf.h-brs.de::12c6d646-0c6b-46ab-84c2-73b0bdd0f748" providerId="AD" clId="Web-{B006A132-853F-FD8D-6375-4DEE9083408C}" dt="2026-09-15T14:12:24.955" v="65"/>
        <pc:sldMkLst>
          <pc:docMk/>
          <pc:sldMk cId="3645672178" sldId="289"/>
        </pc:sldMkLst>
      </pc:sldChg>
      <pc:sldChg chg="modNotes">
        <pc:chgData name="Panchal, Kamendu" userId="S::kamendu.panchal@smail.inf.h-brs.de::12c6d646-0c6b-46ab-84c2-73b0bdd0f748" providerId="AD" clId="Web-{B006A132-853F-FD8D-6375-4DEE9083408C}" dt="2026-09-15T14:12:49.332" v="67"/>
        <pc:sldMkLst>
          <pc:docMk/>
          <pc:sldMk cId="3645672178" sldId="290"/>
        </pc:sldMkLst>
      </pc:sldChg>
      <pc:sldChg chg="modNotes">
        <pc:chgData name="Panchal, Kamendu" userId="S::kamendu.panchal@smail.inf.h-brs.de::12c6d646-0c6b-46ab-84c2-73b0bdd0f748" providerId="AD" clId="Web-{B006A132-853F-FD8D-6375-4DEE9083408C}" dt="2026-09-15T14:12:54.707" v="69"/>
        <pc:sldMkLst>
          <pc:docMk/>
          <pc:sldMk cId="3645672178" sldId="291"/>
        </pc:sldMkLst>
      </pc:sldChg>
      <pc:sldChg chg="modNotes">
        <pc:chgData name="Panchal, Kamendu" userId="S::kamendu.panchal@smail.inf.h-brs.de::12c6d646-0c6b-46ab-84c2-73b0bdd0f748" providerId="AD" clId="Web-{B006A132-853F-FD8D-6375-4DEE9083408C}" dt="2026-09-15T14:12:59.285" v="71"/>
        <pc:sldMkLst>
          <pc:docMk/>
          <pc:sldMk cId="3645672178" sldId="292"/>
        </pc:sldMkLst>
      </pc:sldChg>
      <pc:sldChg chg="modNotes">
        <pc:chgData name="Panchal, Kamendu" userId="S::kamendu.panchal@smail.inf.h-brs.de::12c6d646-0c6b-46ab-84c2-73b0bdd0f748" providerId="AD" clId="Web-{B006A132-853F-FD8D-6375-4DEE9083408C}" dt="2026-09-15T14:13:02.911" v="73"/>
        <pc:sldMkLst>
          <pc:docMk/>
          <pc:sldMk cId="3645672178" sldId="293"/>
        </pc:sldMkLst>
      </pc:sldChg>
      <pc:sldChg chg="modNotes">
        <pc:chgData name="Panchal, Kamendu" userId="S::kamendu.panchal@smail.inf.h-brs.de::12c6d646-0c6b-46ab-84c2-73b0bdd0f748" providerId="AD" clId="Web-{B006A132-853F-FD8D-6375-4DEE9083408C}" dt="2026-09-15T14:13:06.583" v="75"/>
        <pc:sldMkLst>
          <pc:docMk/>
          <pc:sldMk cId="3645672178" sldId="294"/>
        </pc:sldMkLst>
      </pc:sldChg>
      <pc:sldChg chg="modNotes">
        <pc:chgData name="Panchal, Kamendu" userId="S::kamendu.panchal@smail.inf.h-brs.de::12c6d646-0c6b-46ab-84c2-73b0bdd0f748" providerId="AD" clId="Web-{B006A132-853F-FD8D-6375-4DEE9083408C}" dt="2026-09-15T14:13:08.520" v="77"/>
        <pc:sldMkLst>
          <pc:docMk/>
          <pc:sldMk cId="3645672178" sldId="295"/>
        </pc:sldMkLst>
      </pc:sldChg>
      <pc:sldChg chg="modNotes">
        <pc:chgData name="Panchal, Kamendu" userId="S::kamendu.panchal@smail.inf.h-brs.de::12c6d646-0c6b-46ab-84c2-73b0bdd0f748" providerId="AD" clId="Web-{B006A132-853F-FD8D-6375-4DEE9083408C}" dt="2026-09-15T14:13:18.021" v="79"/>
        <pc:sldMkLst>
          <pc:docMk/>
          <pc:sldMk cId="3645672178" sldId="29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Hello everyone, I am Kamendu. Welcome to this foundations refresher for the Master of Autonomous Systems. Today we will use short definitions and small examples to revisit algorithms, complexity, and data structures. You only need basic familiarity with variables, conditions, loops, and functions. We will compare C++ with Python, and you can run the Python examples in the companion notebook. Please interrupt whenever a term or a step needs another explanation.</a:t>
            </a:r>
            <a:endParaRPr lang="en-US"/>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PRESENTER SCRIPT</a:t>
            </a:r>
          </a:p>
          <a:p>
            <a:endParaRPr/>
          </a:p>
          <a:p>
            <a:r>
              <a:rPr dirty="0"/>
              <a:t>Hello everyone. We will refresh the ideas in the three notebooks and the course PDF. We will first define an algorithm and explain time and space complexity. Then we will work through the main data structures. The examples use small numbers, names, and letters, so we can follow them by hand. You will see the same task in C++ and Python. The companion notebook follows the slide order and lets you run the Python examples. Let us focus on what each structure does and when it is useful.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PRESENTER SCRIPT</a:t>
            </a:r>
          </a:p>
          <a:p>
            <a:endParaRPr/>
          </a:p>
          <a:p>
            <a:r>
              <a:rPr dirty="0"/>
              <a:t>Theoretical computer science studies computation itself. It asks whether a problem can be solved, whether a procedure gives the right result, and how much work it needs. In this refresher we will mainly use the last two questions. For example, summing a list should give the correct total, and we can count how many additions it needs. We will use this practical view of theory throughout the lecture. No formal proof background is required.</a:t>
            </a:r>
            <a:endParaRPr b="1"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PRESENTER SCRIPT</a:t>
            </a:r>
          </a:p>
          <a:p>
            <a:endParaRPr/>
          </a:p>
          <a:p>
            <a:r>
              <a:rPr dirty="0"/>
              <a:t>An algorithm describes the steps of a solution. Here our input is three numbers: two, four, and six. We begin with a total of zero, add each number, and return twelve. The same steps can be written in different languages. The algorithm is the procedure, while the program is its implementation. Before looking at syntax, ask yourself whether you could explain the steps to someone using ordinary words. If you can, you already understand the central idea.</a:t>
            </a:r>
          </a:p>
          <a:p>
            <a:endParaRPr b="1"/>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PRESENTER SCRIPT</a:t>
            </a:r>
          </a:p>
          <a:p>
            <a:endParaRPr/>
          </a:p>
          <a:p>
            <a:r>
              <a:rPr dirty="0"/>
              <a:t>We want to know what data enters, what result leaves, and exactly what each step means. For the terminating problems in this lecture, the steps must eventually finish. Correctness means the result meets the requirement for every allowed input. A deterministic algorithm follows a predictable result for a given input. Our examples are deterministic, but randomized algorithms also exist. We should therefore avoid treating determinism as a requirement for every algorithm. Let us now see how to estimate the work in a simple procedure.</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PRESENTER SCRIPT</a:t>
            </a:r>
          </a:p>
          <a:p>
            <a:endParaRPr/>
          </a:p>
          <a:p>
            <a:r>
              <a:rPr dirty="0"/>
              <a:t>The letter n usually describes input size. If our list contains a hundred values, n is a hundred. Rather than using seconds, we count basic operations under a simple model. Reading one indexed element or adding two ordinary machine-sized numbers is treated as constant work. Big O describes an upper bound on growth for large inputs. Three n plus two grows linearly, so we write O of n. We ignore fixed multipliers and lower-order terms to describe the overall shape. Actual runtimes still depend on hardware and implementation.</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PRESENTER SCRIPT</a:t>
            </a:r>
          </a:p>
          <a:p>
            <a:endParaRPr/>
          </a:p>
          <a:p>
            <a:r>
              <a:rPr dirty="0"/>
              <a:t>Look at the horizontal axis: input size increases as we move right. The vertical axis represents an illustrative amount of work. Constant and logarithmic growth stay relatively low. Linear growth rises steadily, while quadratic growth rises faster. Exponential and factorial growth become very steep. The image uses x in some labels and n in others. Read both as input size here. This is a schematic comparison, so the curve heights are not benchmark measurements. Today we will mainly recognize constant, linear, logarithmic, and quadratic examples.</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PRESENTER SCRIPT</a:t>
            </a:r>
          </a:p>
          <a:p>
            <a:endParaRPr/>
          </a:p>
          <a:p>
            <a:r>
              <a:rPr dirty="0"/>
              <a:t>Both examples read index one, which contains four. Even if the sequence contains many more elements, this single indexed access does not scan them. We describe the access operation as constant time. The creation of a sequence is a separate operation and grows with its length. Notice that we are naming the operation being analyzed, not assigning one complexity to every line on the slide. Also remember that indices begin at zero in both languages.</a:t>
            </a:r>
          </a:p>
          <a:p>
            <a:endParaRPr/>
          </a:p>
          <a:p>
            <a:r>
              <a:rPr dirty="0"/>
              <a:t>CODE SETUP (not spoken)</a:t>
            </a:r>
          </a:p>
          <a:p>
            <a:r>
              <a:rPr dirty="0"/>
              <a:t>C++17 snippets omit standard-library #include headers and the surrounding int main() for readability. Function template definitions belong outside main; example calls belong inside main. Python examples are runnable in the companion notebook.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PRESENTER SCRIPT</a:t>
            </a:r>
          </a:p>
          <a:p>
            <a:endParaRPr/>
          </a:p>
          <a:p>
            <a:r>
              <a:rPr dirty="0"/>
              <a:t>We start the total at zero. After adding two it becomes two, after adding four it becomes six, and after adding six it becomes twelve. Each value contributes one iteration. Doubling the number of values roughly doubles the work in this loop. That is linear growth, written O of n. The few statements before and after the loop add only constant work. This same reasoning applies when you count items or check every element in a sequence.</a:t>
            </a:r>
          </a:p>
          <a:p>
            <a:endParaRPr/>
          </a:p>
          <a:p>
            <a:r>
              <a:rPr dirty="0"/>
              <a:t>CODE SETUP (not spoken)</a:t>
            </a:r>
          </a:p>
          <a:p>
            <a:r>
              <a:rPr dirty="0"/>
              <a:t>C++17 snippets omit standard-library #include headers and the surrounding int main() for readability. Function template definitions belong outside main; example calls belong inside main. Python examples are runnable in the companion notebook.</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PRESENTER SCRIPT</a:t>
            </a:r>
          </a:p>
          <a:p>
            <a:endParaRPr/>
          </a:p>
          <a:p>
            <a:r>
              <a:rPr dirty="0"/>
              <a:t>For every outer iteration, the inner loop runs three times. Three groups of three give nine operations. With n items, this pattern gives n times n, or n squared. If n doubles, the count becomes about four times larger. The important detail is that both loops depend on n and the inner one runs fully each time. Nested loops are not automatically quadratic. For example, an inner loop that always runs twice would still give linear growth.</a:t>
            </a:r>
          </a:p>
          <a:p>
            <a:endParaRPr/>
          </a:p>
          <a:p>
            <a:r>
              <a:rPr dirty="0"/>
              <a:t>CODE SETUP (not spoken)</a:t>
            </a:r>
          </a:p>
          <a:p>
            <a:r>
              <a:rPr dirty="0"/>
              <a:t>C++17 snippets omit standard-library #include headers and the surrounding int main() for readability. Function template definitions belong outside main; example calls belong inside main. Python examples are runnable in the companion notebook.</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PRESENTER SCRIPT</a:t>
            </a:r>
          </a:p>
          <a:p>
            <a:endParaRPr/>
          </a:p>
          <a:p>
            <a:r>
              <a:rPr dirty="0"/>
              <a:t>Starting with sixteen, the remaining value becomes eight, four, two, and one. We have only four iterations. With thirty-two, we need just one more. This is the intuition behind logarithmic growth. The example uses integer division and a positive starting value. Binary search uses a similar idea by removing about half of the remaining candidates at each comparison. The original input value determines the complexity even though the variable itself changes during the loop.</a:t>
            </a:r>
          </a:p>
          <a:p>
            <a:endParaRPr/>
          </a:p>
          <a:p>
            <a:r>
              <a:rPr dirty="0"/>
              <a:t>CODE SETUP (not spoken)</a:t>
            </a:r>
          </a:p>
          <a:p>
            <a:r>
              <a:rPr dirty="0"/>
              <a:t>C++17 snippets omit standard-library #include headers and the surrounding int main() for readability. Function template definitions belong outside main; example calls belong inside main. Python examples are runnable in the companion notebook.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PRESENTER SCRIPT</a:t>
            </a:r>
          </a:p>
          <a:p>
            <a:endParaRPr/>
          </a:p>
          <a:p>
            <a:r>
              <a:rPr dirty="0"/>
              <a:t>Suppose we search for a value. Finding it immediately is a best case. Finding it last, or failing after checking everything, is a worst case. Average-case analysis needs an assumption about which inputs are likely. These cases are different from the bound symbols. Big O means an upper bound, Omega a lower bound, and Theta a tight bound. They do not directly mean worst, best, and average. For this refresher we will mainly use Big O and state which operation and input case we mean.</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PRESENTER SCRIPT</a:t>
            </a:r>
          </a:p>
          <a:p>
            <a:endParaRPr/>
          </a:p>
          <a:p>
            <a:r>
              <a:rPr dirty="0"/>
              <a:t>Time is only one resource. We also need memory for input data, temporary values, and results. It helps to say whether we are counting the input and output or just extra working memory. A running total uses a fixed number of variables, so its auxiliary space is constant. Creating a new list with one result per input needs linear storage. We use a machine-word model here. The aim is to recognize whether memory stays roughly fixed or grows with the data.</a:t>
            </a:r>
            <a:endParaRPr b="1"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PRESENTER SCRIPT</a:t>
            </a:r>
          </a:p>
          <a:p>
            <a:endParaRPr/>
          </a:p>
          <a:p>
            <a:r>
              <a:rPr dirty="0"/>
              <a:t>We read each value and store its square in a new sequence. Three inputs create three results: four, sixteen, and thirty-six. If we had n inputs, we would store n results. The result sequence therefore uses linear space. The loop also takes linear time under our ordinary-number cost model. Compare this with the previous sum example: both visit every input, but only one keeps a growing collection of results.</a:t>
            </a:r>
          </a:p>
          <a:p>
            <a:endParaRPr/>
          </a:p>
          <a:p>
            <a:r>
              <a:rPr dirty="0"/>
              <a:t>CODE SETUP (not spoken)</a:t>
            </a:r>
          </a:p>
          <a:p>
            <a:r>
              <a:rPr dirty="0"/>
              <a:t>C++17 snippets omit standard-library #include headers and the surrounding int main() for readability. Function template definitions belong outside main; example calls belong inside main. Python examples are runnable in the companion notebook.</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PRESENTER SCRIPT</a:t>
            </a:r>
          </a:p>
          <a:p>
            <a:endParaRPr/>
          </a:p>
          <a:p>
            <a:r>
              <a:rPr dirty="0"/>
              <a:t>A data structure is a way to organize information. We choose one by thinking about the operations we need. A sequence keeps an order. A dictionary connects a key with a value. A tree expresses a hierarchy, and a graph expresses more general connections. The same values can be stored in different structures, with different costs and rules. As we go through them, keep asking: what can I do easily with this structure, and what is less convenient?</a:t>
            </a:r>
            <a:endParaRPr b="1"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PRESENTER SCRIPT</a:t>
            </a:r>
          </a:p>
          <a:p>
            <a:endParaRPr/>
          </a:p>
          <a:p>
            <a:r>
              <a:rPr dirty="0"/>
              <a:t>An array can be pictured as numbered positions. Here the values are ten, twenty, thirty, and forty. Index zero gives ten, while index two gives thirty. A fixed C++ array keeps the same number of elements. A C++ vector can resize. A Python list is also resizable, but it stores object references and can contain different types. We will use lists for the Python exercises while keeping this distinction clear. Indexed access is easy, but inserting in the middle of a dynamic array requires shifting elements.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PRESENTER SCRIPT</a:t>
            </a:r>
          </a:p>
          <a:p>
            <a:endParaRPr/>
          </a:p>
          <a:p>
            <a:r>
              <a:rPr dirty="0"/>
              <a:t>The starting sequence contains ten, twenty, and thirty. We add forty at the end, read thirty at index two, and remove the last value again. The final sequence is the same as the starting one. Appending to a vector or Python list is amortized constant time: most appends are cheap, while occasional growth moves or reallocates storage. Indexed access is constant. Inserting or deleting near the front usually takes linear time because later entries must shift.</a:t>
            </a:r>
          </a:p>
          <a:p>
            <a:endParaRPr/>
          </a:p>
          <a:p>
            <a:r>
              <a:rPr dirty="0"/>
              <a:t>CODE SETUP (not spoken)</a:t>
            </a:r>
          </a:p>
          <a:p>
            <a:r>
              <a:rPr dirty="0"/>
              <a:t>C++17 snippets omit standard-library #include headers and the surrounding int main() for readability. Function template definitions belong outside main; example calls belong inside main. Python examples are runnable in the companion notebook.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PRESENTER SCRIPT</a:t>
            </a:r>
          </a:p>
          <a:p>
            <a:endParaRPr/>
          </a:p>
          <a:p>
            <a:r>
              <a:rPr dirty="0"/>
              <a:t>A matrix is a rectangular arrangement with rows and columns. Here we have two rows and three columns. The first index chooses the row, and the second chooses a value within it. Row one and column two give six. These examples use nested containers, which can also represent uneven rows, so we deliberately keep equal row lengths for a matrix. Nested vectors do not guarantee one contiguous block for the entire matrix. For numerical work, specialized array libraries offer additional operations.</a:t>
            </a:r>
          </a:p>
          <a:p>
            <a:endParaRPr/>
          </a:p>
          <a:p>
            <a:r>
              <a:rPr dirty="0"/>
              <a:t>CODE SETUP (not spoken)</a:t>
            </a:r>
          </a:p>
          <a:p>
            <a:r>
              <a:rPr dirty="0"/>
              <a:t>C++17 snippets omit standard-library #include headers and the surrounding int main() for readability. Function template definitions belong outside main; example calls belong inside main. Python examples are runnable in the companion notebook.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PRESENTER SCRIPT</a:t>
            </a:r>
          </a:p>
          <a:p>
            <a:endParaRPr/>
          </a:p>
          <a:p>
            <a:r>
              <a:rPr dirty="0"/>
              <a:t>The letter T stands for a type parameter in C++. The compiler can generate an integer version and a floating-point version of add. Both arguments in these calls have matching types. Python does not need this template syntax: its function applies the plus operation to the objects it receives at runtime. The examples solve the same task, but the language mechanisms differ. A vector of int is another use of a C++ template. That is enough template vocabulary for reading the container examples today.</a:t>
            </a:r>
          </a:p>
          <a:p>
            <a:endParaRPr/>
          </a:p>
          <a:p>
            <a:r>
              <a:rPr dirty="0"/>
              <a:t>CODE SETUP (not spoken)</a:t>
            </a:r>
          </a:p>
          <a:p>
            <a:r>
              <a:rPr dirty="0"/>
              <a:t>C++17 snippets omit standard-library #include headers and the surrounding int main() for readability. Function template definitions belong outside main; example calls belong inside main. Python examples are runnable in the companion notebook.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PRESENTER SCRIPT</a:t>
            </a:r>
          </a:p>
          <a:p>
            <a:endParaRPr/>
          </a:p>
          <a:p>
            <a:r>
              <a:rPr dirty="0"/>
              <a:t>A dictionary lets us ask for a value by a meaningful key. Here Alice identifies the grade eighty-five. A hash function helps locate candidate entries, and equality checks distinguish matching keys. Different keys can collide, so hashing does not mean every key gets a unique slot. Lookup is expected constant time under suitable hashing, but can be linear in the worst case. Python dictionaries preserve insertion order. C++ </a:t>
            </a:r>
            <a:r>
              <a:rPr dirty="0" err="1"/>
              <a:t>unordered_map</a:t>
            </a:r>
            <a:r>
              <a:rPr dirty="0"/>
              <a:t> does not promise that order. We will focus on retrieving and updating values by key.</a:t>
            </a:r>
          </a:p>
          <a:p>
            <a:endParaRPr/>
          </a:p>
          <a:p>
            <a:r>
              <a:rPr dirty="0"/>
              <a:t>CODE SETUP (not spoken)</a:t>
            </a:r>
          </a:p>
          <a:p>
            <a:r>
              <a:rPr dirty="0"/>
              <a:t>C++17 snippets omit standard-library #include headers and the surrounding int main() for readability. Function template definitions belong outside main; example calls belong inside main. Python examples are runnable in the companion notebook.</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PRESENTER SCRIPT</a:t>
            </a:r>
          </a:p>
          <a:p>
            <a:endParaRPr/>
          </a:p>
          <a:p>
            <a:r>
              <a:rPr dirty="0"/>
              <a:t>A tuple is useful for a small record such as a two-dimensional point. Both examples store ten and twenty and read the first value. Python also lets us unpack them into x and y. In Python, tuple positions cannot be reassigned. A mutable object stored inside a tuple can still change, so immutability refers to the tuple's own sequence of references. A C++ tuple is a related record container but is not inherently immutable. Also, a Python tuple is </a:t>
            </a:r>
            <a:r>
              <a:rPr dirty="0" err="1"/>
              <a:t>hashable</a:t>
            </a:r>
            <a:r>
              <a:rPr dirty="0"/>
              <a:t> only when all of its elements are </a:t>
            </a:r>
            <a:r>
              <a:rPr dirty="0" err="1"/>
              <a:t>hashable</a:t>
            </a:r>
            <a:r>
              <a:rPr dirty="0"/>
              <a:t>.</a:t>
            </a:r>
          </a:p>
          <a:p>
            <a:endParaRPr/>
          </a:p>
          <a:p>
            <a:r>
              <a:rPr dirty="0"/>
              <a:t>CODE SETUP (not spoken)</a:t>
            </a:r>
          </a:p>
          <a:p>
            <a:r>
              <a:rPr dirty="0"/>
              <a:t>C++17 snippets omit standard-library #include headers and the surrounding int main() for readability. Function template definitions belong outside main; example calls belong inside main. Python examples are runnable in the companion notebook.</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PRESENTER SCRIPT</a:t>
            </a:r>
          </a:p>
          <a:p>
            <a:endParaRPr/>
          </a:p>
          <a:p>
            <a:r>
              <a:rPr dirty="0"/>
              <a:t>A set removes duplicates by its membership rule. Inserting one twice and then two leaves two distinct values. The membership question asks whether two is present. Python prints True, while the C++ count call prints one to indicate one matching key. These are the same logical answer. Sets are useful for tracking which values have already been seen or for finding common values. With these hash-based implementations, do not rely on iteration order. Equality and hashing must agree about which keys count as the same.</a:t>
            </a:r>
          </a:p>
          <a:p>
            <a:endParaRPr/>
          </a:p>
          <a:p>
            <a:r>
              <a:rPr dirty="0"/>
              <a:t>CODE SETUP (not spoken)</a:t>
            </a:r>
          </a:p>
          <a:p>
            <a:r>
              <a:rPr dirty="0"/>
              <a:t>C++17 snippets omit standard-library #include headers and the surrounding int main() for readability. Function template definitions belong outside main; example calls belong inside main. Python examples are runnable in the companion notebook.</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PRESENTER SCRIPT</a:t>
            </a:r>
          </a:p>
          <a:p>
            <a:endParaRPr/>
          </a:p>
          <a:p>
            <a:r>
              <a:rPr dirty="0"/>
              <a:t>Two lists can contain the same values while being two different objects. Equality asks about the values, and identity asks whether we are referring to the very same object. Mutability tells us whether the object can change after creation. Lists are mutable, while integer objects are immutable. Assigning a new integer to a variable changes its binding rather than modifying the old integer. </a:t>
            </a:r>
            <a:r>
              <a:rPr dirty="0" err="1"/>
              <a:t>Hashable</a:t>
            </a:r>
            <a:r>
              <a:rPr dirty="0"/>
              <a:t> keys need a stable hash and compatible equality. Strings and integers are common keys, while lists cannot be dictionary keys.</a:t>
            </a:r>
          </a:p>
          <a:p>
            <a:endParaRPr b="1"/>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PRESENTER SCRIPT</a:t>
            </a:r>
          </a:p>
          <a:p>
            <a:endParaRPr/>
          </a:p>
          <a:p>
            <a:r>
              <a:rPr dirty="0"/>
              <a:t>A linked list organizes an ordered sequence as nodes with links. A singly linked node points to the next node. A doubly linked node also has a link to the previous one. To find a later item, we normally follow links from a known position. Inserting after a known node can be cheap, but finding that node may take linear time. Unlike a vector, a linked list does not provide constant-time indexed access. We only need to recognize this organization today.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PRESENTER SCRIPT</a:t>
            </a:r>
          </a:p>
          <a:p>
            <a:endParaRPr/>
          </a:p>
          <a:p>
            <a:r>
              <a:rPr dirty="0"/>
              <a:t>Imagine stacking two plates. The second plate must come off first. We add ten and then twenty, so twenty is the next value removed. C++ top reads the value and pop removes it. Python list pop does both and returns the removed value. A stack is useful for undo operations and checking nested brackets. Before removing from a stack in general, check that it is not empty. Here the insertions establish that there is an item available.</a:t>
            </a:r>
          </a:p>
          <a:p>
            <a:endParaRPr/>
          </a:p>
          <a:p>
            <a:r>
              <a:rPr dirty="0"/>
              <a:t>CODE SETUP (not spoken)</a:t>
            </a:r>
          </a:p>
          <a:p>
            <a:r>
              <a:rPr dirty="0"/>
              <a:t>C++17 snippets omit standard-library #include headers and the surrounding int main() for readability. Function template definitions belong outside main; example calls belong inside main. Python examples are runnable in the companion notebook.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PRESENTER SCRIPT</a:t>
            </a:r>
          </a:p>
          <a:p>
            <a:endParaRPr/>
          </a:p>
          <a:p>
            <a:r>
              <a:rPr dirty="0"/>
              <a:t>A queue behaves like people waiting their turn. Ten arrives first and twenty arrives second, so ten leaves first. C++ front reads the next value, then pop removes it. Python deque </a:t>
            </a:r>
            <a:r>
              <a:rPr dirty="0" err="1"/>
              <a:t>popleft</a:t>
            </a:r>
            <a:r>
              <a:rPr dirty="0"/>
              <a:t> returns and removes it. A printer queue is a familiar application. Python list pop at index zero shifts later items, so deque is a better fit for repeated removals at the front. Again, general code should check for an empty queue before removal.</a:t>
            </a:r>
          </a:p>
          <a:p>
            <a:endParaRPr/>
          </a:p>
          <a:p>
            <a:r>
              <a:rPr dirty="0"/>
              <a:t>CODE SETUP (not spoken)</a:t>
            </a:r>
          </a:p>
          <a:p>
            <a:r>
              <a:rPr dirty="0"/>
              <a:t>C++17 snippets omit standard-library #include headers and the surrounding int main() for readability. Function template definitions belong outside main; example calls belong inside main. Python examples are runnable in the companion notebook.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PRESENTER SCRIPT</a:t>
            </a:r>
          </a:p>
          <a:p>
            <a:endParaRPr/>
          </a:p>
          <a:p>
            <a:r>
              <a:rPr dirty="0"/>
              <a:t>Deque is short for double-ended queue and is usually pronounced deck. We begin with one and two, add zero at the front, and add three at the rear. We then remove zero from the front and three from the rear. The two original values remain. Deques are useful when both ends must be active. Their endpoint operations are constant time for these standard implementations. Do not assume that every operation is constant: for example, indexed access in the middle of a Python deque can take linear time.</a:t>
            </a:r>
          </a:p>
          <a:p>
            <a:endParaRPr/>
          </a:p>
          <a:p>
            <a:r>
              <a:rPr dirty="0"/>
              <a:t>CODE SETUP (not spoken)</a:t>
            </a:r>
          </a:p>
          <a:p>
            <a:r>
              <a:rPr dirty="0"/>
              <a:t>C++17 snippets omit standard-library #include headers and the surrounding int main() for readability. Function template definitions belong outside main; example calls belong inside main. Python examples are runnable in the companion notebook.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PRESENTER SCRIPT</a:t>
            </a:r>
          </a:p>
          <a:p>
            <a:endParaRPr/>
          </a:p>
          <a:p>
            <a:r>
              <a:rPr dirty="0"/>
              <a:t>A tree connects values without creating a cycle. In this rooted example, ten is the root. Five and fifteen are its children. Two, seven, and fifteen are leaves because they have no children. A binary tree has at most two children per node. Depth counts edges from the root to a node, so seven has depth two. The tree height is two. With five nodes this tree has four edges. Trees are useful for hierarchies and for ordered searching when additional rules are imposed.</a:t>
            </a:r>
          </a:p>
          <a:p>
            <a:endParaRPr b="1"/>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PRESENTER SCRIPT</a:t>
            </a:r>
          </a:p>
          <a:p>
            <a:endParaRPr/>
          </a:p>
          <a:p>
            <a:r>
              <a:rPr dirty="0"/>
              <a:t>This same tree also follows the binary-search-tree ordering rule. Every value in the left subtree is smaller than the current node, and every value in the right subtree is larger. Searching for seven starts at ten, moves left to five, and then right to seven. The rule applies to entire subtrees, not only immediate children. Search cost follows the tree height. Balanced trees keep that height logarithmic, while a skewed tree can require linear work. We will recognize the distinction without studying balancing rotations today.</a:t>
            </a:r>
          </a:p>
          <a:p>
            <a:endParaRPr b="1"/>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PRESENTER SCRIPT</a:t>
            </a:r>
          </a:p>
          <a:p>
            <a:endParaRPr/>
          </a:p>
          <a:p>
            <a:r>
              <a:rPr dirty="0"/>
              <a:t>We can visit the same tree in different orders. Pre-order visits the node before its left and right subtrees, giving ten, five, two, seven, fifteen. In-order visits left, node, right, giving two, five, seven, ten, fifteen. Post-order visits the subtrees before the node, giving two, seven, five, fifteen, ten. Level-order visits one depth at a time. Each complete traversal visits every node once, so the time is linear. In-order produces sorted keys for a binary search tree, not for every binary tree.</a:t>
            </a:r>
          </a:p>
          <a:p>
            <a:endParaRPr b="1"/>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PRESENTER SCRIPT</a:t>
            </a:r>
          </a:p>
          <a:p>
            <a:endParaRPr/>
          </a:p>
          <a:p>
            <a:r>
              <a:rPr dirty="0"/>
              <a:t>This compact representation stores child links using structures we already know. The root ten maps to children five and fifteen. Five maps to two and seven. Empty child lists mark leaves. These particular examples always have either zero or two children, with the left child first. A general binary-tree representation would also need to distinguish a missing left child from a missing right child. The notebook uses a small node class for general traversal practice. This slide is simply a readable way to connect the tree drawing with stored data.</a:t>
            </a:r>
          </a:p>
          <a:p>
            <a:endParaRPr/>
          </a:p>
          <a:p>
            <a:r>
              <a:rPr dirty="0"/>
              <a:t>CODE SETUP (not spoken)</a:t>
            </a:r>
          </a:p>
          <a:p>
            <a:r>
              <a:rPr dirty="0"/>
              <a:t>C++17 snippets omit standard-library #include headers and the surrounding int main() for readability. Function template definitions belong outside main; example calls belong inside main. Python examples are runnable in the companion notebook.</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PRESENTER SCRIPT</a:t>
            </a:r>
          </a:p>
          <a:p>
            <a:endParaRPr/>
          </a:p>
          <a:p>
            <a:r>
              <a:rPr dirty="0"/>
              <a:t>A graph represents connections. The letters A, B, C, and D are vertices. Lines are edges. This undirected graph connects A to B and C, and connects both B and C to D. It contains a cycle: A, B, D, C, then back to A. A directed graph uses arrows, and a weighted graph associates a cost with each edge. A graph may also have disconnected parts. A tree is a special connected, acyclic graph. For this refresher we will focus on representing connections rather than route-planning algorithms.</a:t>
            </a:r>
          </a:p>
          <a:p>
            <a:endParaRPr b="1"/>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PRESENTER SCRIPT</a:t>
            </a:r>
          </a:p>
          <a:p>
            <a:endParaRPr/>
          </a:p>
          <a:p>
            <a:r>
              <a:rPr dirty="0"/>
              <a:t>The drawing becomes a collection of neighbor lists. A lists B and C. Because the graph is undirected, each edge appears at both ends: B lists A as well. This symmetry is easy to forget when writing examples. Adjacency lists are useful when the graph has relatively few edges. The neighbor storage grows with the vertices and edges, usually described as O of V plus E. The C++ map here is a convenient key container, not a claim that every map operation is constant time.</a:t>
            </a:r>
          </a:p>
          <a:p>
            <a:endParaRPr/>
          </a:p>
          <a:p>
            <a:r>
              <a:rPr dirty="0"/>
              <a:t>CODE SETUP (not spoken)</a:t>
            </a:r>
          </a:p>
          <a:p>
            <a:r>
              <a:rPr dirty="0"/>
              <a:t>C++17 snippets omit standard-library #include headers and the surrounding int main() for readability. Function template definitions belong outside main; example calls belong inside main. Python examples are runnable in the companion notebook.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PRESENTER SCRIPT</a:t>
            </a:r>
          </a:p>
          <a:p>
            <a:endParaRPr/>
          </a:p>
          <a:p>
            <a:r>
              <a:rPr dirty="0"/>
              <a:t>An adjacency matrix stores a row and column for every vertex. The order here is A, B, C, D. Row A has ones under B and C because those connections exist. The matrix is symmetric because our graph is undirected. It uses V squared entries, even when few edges exist. Checking one known pair is direct, while listing a vertex's neighbors requires scanning a row. In a weighted graph, an edge with weight zero can be valid, so we need an explicit missing-edge convention rather than automatically treating zero as no edge.</a:t>
            </a:r>
          </a:p>
          <a:p>
            <a:endParaRPr b="1"/>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PRESENTER SCRIPT</a:t>
            </a:r>
          </a:p>
          <a:p>
            <a:endParaRPr/>
          </a:p>
          <a:p>
            <a:r>
              <a:rPr dirty="0"/>
              <a:t>A heap maintains a partial ordering. In a min-heap the smallest value is at the root, and each parent is no greater than its children. A binary heap also has a complete-tree shape, filling levels from left to right. It is not a fully sorted sequence or a binary search tree. A max-heap reverses the comparison and keeps the largest value at the root. Heaps commonly implement priority queues. Reading the root takes constant time, while inserting or removing the root takes logarithmic time.</a:t>
            </a:r>
          </a:p>
          <a:p>
            <a:endParaRPr b="1"/>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PRESENTER SCRIPT</a:t>
            </a:r>
          </a:p>
          <a:p>
            <a:endParaRPr/>
          </a:p>
          <a:p>
            <a:r>
              <a:rPr dirty="0"/>
              <a:t>Python </a:t>
            </a:r>
            <a:r>
              <a:rPr dirty="0" err="1"/>
              <a:t>heapify</a:t>
            </a:r>
            <a:r>
              <a:rPr dirty="0"/>
              <a:t> turns the list into a min-heap, and </a:t>
            </a:r>
            <a:r>
              <a:rPr dirty="0" err="1"/>
              <a:t>heappop</a:t>
            </a:r>
            <a:r>
              <a:rPr dirty="0"/>
              <a:t> removes its smallest element. C++ </a:t>
            </a:r>
            <a:r>
              <a:rPr dirty="0" err="1"/>
              <a:t>priority_queue</a:t>
            </a:r>
            <a:r>
              <a:rPr dirty="0"/>
              <a:t> normally puts the largest element first. We supply greater as the comparison to obtain a min-heap for this example. Both remove five, after which ten is the smallest remaining value. The extra C++ template arguments configure the container; they are not a new algorithm to memorize. In practice we use these library operations instead of manually moving heap nodes around.</a:t>
            </a:r>
          </a:p>
          <a:p>
            <a:endParaRPr/>
          </a:p>
          <a:p>
            <a:r>
              <a:rPr dirty="0"/>
              <a:t>CODE SETUP (not spoken)</a:t>
            </a:r>
          </a:p>
          <a:p>
            <a:r>
              <a:rPr dirty="0"/>
              <a:t>C++17 snippets omit standard-library #include headers and the surrounding int main() for readability. Function template definitions belong outside main; example calls belong inside main. Python examples are runnable in the companion notebook.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PRESENTER SCRIPT</a:t>
            </a:r>
          </a:p>
          <a:p>
            <a:endParaRPr/>
          </a:p>
          <a:p>
            <a:r>
              <a:rPr dirty="0"/>
              <a:t>Sorting changes the order to two, four, six. Binary search can then use the sorted order to reduce its candidate range. Both examples find four. Python </a:t>
            </a:r>
            <a:r>
              <a:rPr dirty="0" err="1"/>
              <a:t>bisect_left</a:t>
            </a:r>
            <a:r>
              <a:rPr dirty="0"/>
              <a:t> returns an insertion position, so we still check that it points to the target. A linear search can inspect unsorted data and takes linear worst-case work. Binary search on a random-access sorted sequence takes logarithmic comparisons, but sorting first has its own cost. For one lookup, simply scanning may be the better choice.</a:t>
            </a:r>
          </a:p>
          <a:p>
            <a:endParaRPr/>
          </a:p>
          <a:p>
            <a:r>
              <a:rPr dirty="0"/>
              <a:t>CODE SETUP (not spoken)</a:t>
            </a:r>
          </a:p>
          <a:p>
            <a:r>
              <a:rPr dirty="0"/>
              <a:t>C++17 snippets omit standard-library #include headers and the surrounding int main() for readability. Function template definitions belong outside main; example calls belong inside main. Python examples are runnable in the companion notebook.</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PRESENTER SCRIPT</a:t>
            </a:r>
          </a:p>
          <a:p>
            <a:endParaRPr/>
          </a:p>
          <a:p>
            <a:r>
              <a:rPr dirty="0"/>
              <a:t>We have seen many names, so let us connect them to their purpose. Use an indexed sequence for ordered values. Use a dictionary to retrieve by key and a set to track distinct membership. A stack serves the latest item, a queue the earliest, and a priority queue the best priority. A deque exposes both ends. Trees express hierarchies and graphs express general connections. The right choice depends on operations, memory, and required order. You do not need every structure in every program.</a:t>
            </a:r>
          </a:p>
          <a:p>
            <a:endParaRPr b="1"/>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PRESENTER SCRIPT</a:t>
            </a:r>
          </a:p>
          <a:p>
            <a:endParaRPr/>
          </a:p>
          <a:p>
            <a:r>
              <a:rPr dirty="0"/>
              <a:t>Let us pause for a few short checks. What value leaves a stack after pushing ten then twenty? What leaves the queue? If a loop visits every one of n values exactly once, how does its work grow? What is the in-order traversal of our five-node search tree? Finally, which container fits a lookup from a name to a grade? Discuss the answers before running the examples. In the notebook, you can also reverse a list, count words, check brackets, and experiment with heaps.</a:t>
            </a:r>
            <a:endParaRPr b="1"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PRESENTER SCRIPT</a:t>
            </a:r>
          </a:p>
          <a:p>
            <a:endParaRPr/>
          </a:p>
          <a:p>
            <a:r>
              <a:rPr dirty="0"/>
              <a:t>The stack removes twenty because it was added last. The queue removes ten because it arrived first. A complete pass takes linear time when the work in each iteration is constant. In-order traversal gives two, five, seven, ten, fifteen. A dictionary is the natural name-to-grade lookup. If a result surprised you, change the small input and trace it again. The goal is to recognize the rule and reason about it, not just remember the example output.</a:t>
            </a:r>
            <a:endParaRPr b="1"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PRESENTER SCRIPT</a:t>
            </a:r>
          </a:p>
          <a:p>
            <a:endParaRPr/>
          </a:p>
          <a:p>
            <a:r>
              <a:rPr dirty="0"/>
              <a:t>The slide topics follow these four supplied materials. The Python and C++ documentation support the language examples, and MIT's algorithm material supports the corrected complexity terminology. The companion notebook contains the same Python examples, extra traversal practice, and short exercises with solutions. You can run it from top to bottom with a Python kernel. The complexity illustration is the image supplied for this lecture and is used as a qualitative comparison. Thank you. Which structure or complexity example would you like to revisit before we finish?</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a:extLst>
              <a:ext uri="{FF2B5EF4-FFF2-40B4-BE49-F238E27FC236}">
                <a16:creationId xmlns:a16="http://schemas.microsoft.com/office/drawing/2014/main" id="{941F26F8-AB08-4E83-AC59-30E2E5707C63}"/>
              </a:ext>
            </a:extLst>
          </p:cNvPr>
          <p:cNvSpPr>
            <a:spLocks noGrp="1"/>
          </p:cNvSpPr>
          <p:nvPr>
            <p:ph type="ctrTitle"/>
          </p:nvPr>
        </p:nvSpPr>
        <p:spPr>
          <a:xfrm>
            <a:off x="432435" y="1005903"/>
            <a:ext cx="4900930" cy="681418"/>
          </a:xfrm>
          <a:prstGeom prst="rect">
            <a:avLst/>
          </a:prstGeom>
        </p:spPr>
        <p:txBody>
          <a:bodyPr wrap="square" lIns="0" tIns="0" rIns="0" bIns="0">
            <a:spAutoFit/>
          </a:bodyPr>
          <a:lstStyle>
            <a:lvl1pPr>
              <a:buNone/>
              <a:defRPr sz="1600" b="1" i="0">
                <a:solidFill>
                  <a:srgbClr val="006ABA"/>
                </a:solidFill>
                <a:latin typeface="Arial"/>
                <a:ea typeface="Arial"/>
                <a:cs typeface="Arial"/>
              </a:defRPr>
            </a:lvl1pPr>
          </a:lstStyle>
          <a:p>
            <a:endParaRPr/>
          </a:p>
        </p:txBody>
      </p:sp>
      <p:sp>
        <p:nvSpPr>
          <p:cNvPr id="3" name="Holder 3">
            <a:extLst>
              <a:ext uri="{FF2B5EF4-FFF2-40B4-BE49-F238E27FC236}">
                <a16:creationId xmlns:a16="http://schemas.microsoft.com/office/drawing/2014/main" id="{301F6A49-97F8-41AA-B33F-3CA03AD62CBB}"/>
              </a:ext>
            </a:extLst>
          </p:cNvPr>
          <p:cNvSpPr>
            <a:spLocks noGrp="1"/>
          </p:cNvSpPr>
          <p:nvPr>
            <p:ph type="subTitle" idx="4"/>
          </p:nvPr>
        </p:nvSpPr>
        <p:spPr>
          <a:xfrm>
            <a:off x="864870" y="1817116"/>
            <a:ext cx="4036060" cy="811212"/>
          </a:xfrm>
          <a:prstGeom prst="rect">
            <a:avLst/>
          </a:prstGeom>
        </p:spPr>
        <p:txBody>
          <a:bodyPr wrap="square" lIns="0" tIns="0" rIns="0" bIns="0">
            <a:spAutoFit/>
          </a:bodyPr>
          <a:lstStyle>
            <a:lvl1pPr>
              <a:buNone/>
              <a:defRPr sz="1000" b="0" i="0">
                <a:solidFill>
                  <a:schemeClr val="tx1"/>
                </a:solidFill>
                <a:latin typeface="Arial"/>
                <a:ea typeface="Arial"/>
                <a:cs typeface="Arial"/>
              </a:defRPr>
            </a:lvl1pPr>
          </a:lstStyle>
          <a:p>
            <a:endParaRPr/>
          </a:p>
        </p:txBody>
      </p:sp>
      <p:sp>
        <p:nvSpPr>
          <p:cNvPr id="4" name="Holder 4">
            <a:extLst>
              <a:ext uri="{FF2B5EF4-FFF2-40B4-BE49-F238E27FC236}">
                <a16:creationId xmlns:a16="http://schemas.microsoft.com/office/drawing/2014/main" id="{3B8B45AF-7D36-4548-8615-C65CAD6E11FC}"/>
              </a:ext>
            </a:extLst>
          </p:cNvPr>
          <p:cNvSpPr>
            <a:spLocks noGrp="1"/>
          </p:cNvSpPr>
          <p:nvPr>
            <p:ph type="ftr" idx="5"/>
          </p:nvPr>
        </p:nvSpPr>
        <p:spPr/>
        <p:txBody>
          <a:bodyPr lIns="0" tIns="0" rIns="0" bIns="0"/>
          <a:lstStyle>
            <a:lvl1pPr algn="ctr">
              <a:buNone/>
              <a:defRPr>
                <a:solidFill>
                  <a:schemeClr val="tx1">
                    <a:tint val="75000"/>
                  </a:schemeClr>
                </a:solidFill>
              </a:defRPr>
            </a:lvl1pPr>
          </a:lstStyle>
          <a:p>
            <a:endParaRPr/>
          </a:p>
        </p:txBody>
      </p:sp>
      <p:sp>
        <p:nvSpPr>
          <p:cNvPr id="5" name="Holder 5">
            <a:extLst>
              <a:ext uri="{FF2B5EF4-FFF2-40B4-BE49-F238E27FC236}">
                <a16:creationId xmlns:a16="http://schemas.microsoft.com/office/drawing/2014/main" id="{F57F662C-6C83-4438-B3C8-5DDB92DAB6C0}"/>
              </a:ext>
            </a:extLst>
          </p:cNvPr>
          <p:cNvSpPr>
            <a:spLocks noGrp="1"/>
          </p:cNvSpPr>
          <p:nvPr>
            <p:ph type="dt" idx="6"/>
          </p:nvPr>
        </p:nvSpPr>
        <p:spPr/>
        <p:txBody>
          <a:bodyPr lIns="0" tIns="0" rIns="0" bIns="0"/>
          <a:lstStyle>
            <a:lvl1pPr algn="l">
              <a:buNone/>
              <a:defRPr>
                <a:solidFill>
                  <a:schemeClr val="tx1">
                    <a:tint val="75000"/>
                  </a:schemeClr>
                </a:solidFill>
              </a:defRPr>
            </a:lvl1pPr>
          </a:lstStyle>
          <a:p>
            <a:fld id="{1D8BD707-D9CF-40AE-B4C6-C98DA3205C09}" type="datetimeFigureOut">
              <a:t>9/16/2026</a:t>
            </a:fld>
            <a:endParaRPr/>
          </a:p>
        </p:txBody>
      </p:sp>
      <p:sp>
        <p:nvSpPr>
          <p:cNvPr id="6" name="Holder 6">
            <a:extLst>
              <a:ext uri="{FF2B5EF4-FFF2-40B4-BE49-F238E27FC236}">
                <a16:creationId xmlns:a16="http://schemas.microsoft.com/office/drawing/2014/main" id="{28369494-02DC-46E0-99A4-A67B8CDB0307}"/>
              </a:ext>
            </a:extLst>
          </p:cNvPr>
          <p:cNvSpPr>
            <a:spLocks noGrp="1"/>
          </p:cNvSpPr>
          <p:nvPr>
            <p:ph type="sldNum" idx="7"/>
          </p:nvPr>
        </p:nvSpPr>
        <p:spPr/>
        <p:txBody>
          <a:bodyPr lIns="0" tIns="0" rIns="0" bIns="0"/>
          <a:lstStyle>
            <a:lvl1pPr>
              <a:buNone/>
              <a:defRPr sz="550" b="0" i="0">
                <a:solidFill>
                  <a:schemeClr val="tx1"/>
                </a:solidFill>
                <a:latin typeface="Arial"/>
                <a:ea typeface="Arial"/>
                <a:cs typeface="Arial"/>
              </a:defRPr>
            </a:lvl1pPr>
          </a:lstStyle>
          <a:p>
            <a:pPr marL="38100">
              <a:lnSpc>
                <a:spcPct val="100000"/>
              </a:lnSpc>
              <a:spcBef>
                <a:spcPts val="90"/>
              </a:spcBef>
              <a:buNone/>
            </a:pPr>
            <a:fld id="{81D60167-4931-47E6-BA6A-407CBD079E47}" type="slidenum">
              <a:rPr spc="-10"/>
              <a:t>‹#›</a:t>
            </a:fld>
            <a:r>
              <a:rPr spc="-10"/>
              <a:t>/21</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a:extLst>
              <a:ext uri="{FF2B5EF4-FFF2-40B4-BE49-F238E27FC236}">
                <a16:creationId xmlns:a16="http://schemas.microsoft.com/office/drawing/2014/main" id="{88F41450-DB23-4AA8-B092-23D78F183EF2}"/>
              </a:ext>
            </a:extLst>
          </p:cNvPr>
          <p:cNvSpPr>
            <a:spLocks noGrp="1"/>
          </p:cNvSpPr>
          <p:nvPr>
            <p:ph type="title"/>
          </p:nvPr>
        </p:nvSpPr>
        <p:spPr/>
        <p:txBody>
          <a:bodyPr lIns="0" tIns="0" rIns="0" bIns="0"/>
          <a:lstStyle>
            <a:lvl1pPr>
              <a:buNone/>
              <a:defRPr sz="1600" b="1" i="0">
                <a:solidFill>
                  <a:srgbClr val="006ABA"/>
                </a:solidFill>
                <a:latin typeface="Arial"/>
                <a:ea typeface="Arial"/>
                <a:cs typeface="Arial"/>
              </a:defRPr>
            </a:lvl1pPr>
          </a:lstStyle>
          <a:p>
            <a:endParaRPr/>
          </a:p>
        </p:txBody>
      </p:sp>
      <p:sp>
        <p:nvSpPr>
          <p:cNvPr id="3" name="Holder 3">
            <a:extLst>
              <a:ext uri="{FF2B5EF4-FFF2-40B4-BE49-F238E27FC236}">
                <a16:creationId xmlns:a16="http://schemas.microsoft.com/office/drawing/2014/main" id="{2ACB625B-68AC-45B3-A30D-A79D9AC65883}"/>
              </a:ext>
            </a:extLst>
          </p:cNvPr>
          <p:cNvSpPr>
            <a:spLocks noGrp="1"/>
          </p:cNvSpPr>
          <p:nvPr>
            <p:ph type="body" idx="1"/>
          </p:nvPr>
        </p:nvSpPr>
        <p:spPr/>
        <p:txBody>
          <a:bodyPr lIns="0" tIns="0" rIns="0" bIns="0"/>
          <a:lstStyle>
            <a:lvl1pPr>
              <a:buNone/>
              <a:defRPr sz="1000" b="0" i="0">
                <a:solidFill>
                  <a:schemeClr val="tx1"/>
                </a:solidFill>
                <a:latin typeface="Arial"/>
                <a:ea typeface="Arial"/>
                <a:cs typeface="Arial"/>
              </a:defRPr>
            </a:lvl1pPr>
          </a:lstStyle>
          <a:p>
            <a:endParaRPr/>
          </a:p>
        </p:txBody>
      </p:sp>
      <p:sp>
        <p:nvSpPr>
          <p:cNvPr id="4" name="Holder 4">
            <a:extLst>
              <a:ext uri="{FF2B5EF4-FFF2-40B4-BE49-F238E27FC236}">
                <a16:creationId xmlns:a16="http://schemas.microsoft.com/office/drawing/2014/main" id="{DC4AC67C-2A56-4299-A035-50B371BB936F}"/>
              </a:ext>
            </a:extLst>
          </p:cNvPr>
          <p:cNvSpPr>
            <a:spLocks noGrp="1"/>
          </p:cNvSpPr>
          <p:nvPr>
            <p:ph type="ftr" idx="5"/>
          </p:nvPr>
        </p:nvSpPr>
        <p:spPr/>
        <p:txBody>
          <a:bodyPr lIns="0" tIns="0" rIns="0" bIns="0"/>
          <a:lstStyle>
            <a:lvl1pPr algn="ctr">
              <a:buNone/>
              <a:defRPr>
                <a:solidFill>
                  <a:schemeClr val="tx1">
                    <a:tint val="75000"/>
                  </a:schemeClr>
                </a:solidFill>
              </a:defRPr>
            </a:lvl1pPr>
          </a:lstStyle>
          <a:p>
            <a:endParaRPr/>
          </a:p>
        </p:txBody>
      </p:sp>
      <p:sp>
        <p:nvSpPr>
          <p:cNvPr id="5" name="Holder 5">
            <a:extLst>
              <a:ext uri="{FF2B5EF4-FFF2-40B4-BE49-F238E27FC236}">
                <a16:creationId xmlns:a16="http://schemas.microsoft.com/office/drawing/2014/main" id="{0EC7960F-E446-449F-A108-6DF416EC19C1}"/>
              </a:ext>
            </a:extLst>
          </p:cNvPr>
          <p:cNvSpPr>
            <a:spLocks noGrp="1"/>
          </p:cNvSpPr>
          <p:nvPr>
            <p:ph type="dt" idx="6"/>
          </p:nvPr>
        </p:nvSpPr>
        <p:spPr/>
        <p:txBody>
          <a:bodyPr lIns="0" tIns="0" rIns="0" bIns="0"/>
          <a:lstStyle>
            <a:lvl1pPr algn="l">
              <a:buNone/>
              <a:defRPr>
                <a:solidFill>
                  <a:schemeClr val="tx1">
                    <a:tint val="75000"/>
                  </a:schemeClr>
                </a:solidFill>
              </a:defRPr>
            </a:lvl1pPr>
          </a:lstStyle>
          <a:p>
            <a:fld id="{1D8BD707-D9CF-40AE-B4C6-C98DA3205C09}" type="datetimeFigureOut">
              <a:t>9/16/2026</a:t>
            </a:fld>
            <a:endParaRPr/>
          </a:p>
        </p:txBody>
      </p:sp>
      <p:sp>
        <p:nvSpPr>
          <p:cNvPr id="6" name="Holder 6">
            <a:extLst>
              <a:ext uri="{FF2B5EF4-FFF2-40B4-BE49-F238E27FC236}">
                <a16:creationId xmlns:a16="http://schemas.microsoft.com/office/drawing/2014/main" id="{DD92A8DD-FE28-48C8-B60D-F82D7DF906A6}"/>
              </a:ext>
            </a:extLst>
          </p:cNvPr>
          <p:cNvSpPr>
            <a:spLocks noGrp="1"/>
          </p:cNvSpPr>
          <p:nvPr>
            <p:ph type="sldNum" idx="7"/>
          </p:nvPr>
        </p:nvSpPr>
        <p:spPr/>
        <p:txBody>
          <a:bodyPr lIns="0" tIns="0" rIns="0" bIns="0"/>
          <a:lstStyle>
            <a:lvl1pPr>
              <a:buNone/>
              <a:defRPr sz="550" b="0" i="0">
                <a:solidFill>
                  <a:schemeClr val="tx1"/>
                </a:solidFill>
                <a:latin typeface="Arial"/>
                <a:ea typeface="Arial"/>
                <a:cs typeface="Arial"/>
              </a:defRPr>
            </a:lvl1pPr>
          </a:lstStyle>
          <a:p>
            <a:pPr marL="38100">
              <a:lnSpc>
                <a:spcPct val="100000"/>
              </a:lnSpc>
              <a:spcBef>
                <a:spcPts val="90"/>
              </a:spcBef>
              <a:buNone/>
            </a:pPr>
            <a:fld id="{81D60167-4931-47E6-BA6A-407CBD079E47}" type="slidenum">
              <a:rPr spc="-10"/>
              <a:t>‹#›</a:t>
            </a:fld>
            <a:r>
              <a:rPr spc="-10"/>
              <a:t>/21</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a:extLst>
              <a:ext uri="{FF2B5EF4-FFF2-40B4-BE49-F238E27FC236}">
                <a16:creationId xmlns:a16="http://schemas.microsoft.com/office/drawing/2014/main" id="{3B18D5D6-518C-4FB5-940D-DD351A450227}"/>
              </a:ext>
            </a:extLst>
          </p:cNvPr>
          <p:cNvSpPr>
            <a:spLocks noGrp="1"/>
          </p:cNvSpPr>
          <p:nvPr>
            <p:ph type="title"/>
          </p:nvPr>
        </p:nvSpPr>
        <p:spPr/>
        <p:txBody>
          <a:bodyPr lIns="0" tIns="0" rIns="0" bIns="0"/>
          <a:lstStyle>
            <a:lvl1pPr>
              <a:buNone/>
              <a:defRPr sz="1600" b="1" i="0">
                <a:solidFill>
                  <a:srgbClr val="006ABA"/>
                </a:solidFill>
                <a:latin typeface="Arial"/>
                <a:ea typeface="Arial"/>
                <a:cs typeface="Arial"/>
              </a:defRPr>
            </a:lvl1pPr>
          </a:lstStyle>
          <a:p>
            <a:endParaRPr/>
          </a:p>
        </p:txBody>
      </p:sp>
      <p:sp>
        <p:nvSpPr>
          <p:cNvPr id="3" name="Holder 3">
            <a:extLst>
              <a:ext uri="{FF2B5EF4-FFF2-40B4-BE49-F238E27FC236}">
                <a16:creationId xmlns:a16="http://schemas.microsoft.com/office/drawing/2014/main" id="{93431C75-0E1C-471C-8922-BA484B0D5381}"/>
              </a:ext>
            </a:extLst>
          </p:cNvPr>
          <p:cNvSpPr>
            <a:spLocks noGrp="1"/>
          </p:cNvSpPr>
          <p:nvPr>
            <p:ph idx="2"/>
          </p:nvPr>
        </p:nvSpPr>
        <p:spPr>
          <a:xfrm>
            <a:off x="288290" y="746315"/>
            <a:ext cx="2508123" cy="2141601"/>
          </a:xfrm>
          <a:prstGeom prst="rect">
            <a:avLst/>
          </a:prstGeom>
        </p:spPr>
        <p:txBody>
          <a:bodyPr wrap="square" lIns="0" tIns="0" rIns="0" bIns="0">
            <a:spAutoFit/>
          </a:bodyPr>
          <a:lstStyle>
            <a:lvl1pPr>
              <a:buNone/>
              <a:defRPr/>
            </a:lvl1pPr>
          </a:lstStyle>
          <a:p>
            <a:endParaRPr/>
          </a:p>
        </p:txBody>
      </p:sp>
      <p:sp>
        <p:nvSpPr>
          <p:cNvPr id="4" name="Holder 4">
            <a:extLst>
              <a:ext uri="{FF2B5EF4-FFF2-40B4-BE49-F238E27FC236}">
                <a16:creationId xmlns:a16="http://schemas.microsoft.com/office/drawing/2014/main" id="{6242A4D8-1F77-460A-801A-BA0B95F9FA81}"/>
              </a:ext>
            </a:extLst>
          </p:cNvPr>
          <p:cNvSpPr>
            <a:spLocks noGrp="1"/>
          </p:cNvSpPr>
          <p:nvPr>
            <p:ph idx="3"/>
          </p:nvPr>
        </p:nvSpPr>
        <p:spPr>
          <a:xfrm>
            <a:off x="2969387" y="746315"/>
            <a:ext cx="2508123" cy="2141601"/>
          </a:xfrm>
          <a:prstGeom prst="rect">
            <a:avLst/>
          </a:prstGeom>
        </p:spPr>
        <p:txBody>
          <a:bodyPr wrap="square" lIns="0" tIns="0" rIns="0" bIns="0">
            <a:spAutoFit/>
          </a:bodyPr>
          <a:lstStyle>
            <a:lvl1pPr>
              <a:buNone/>
              <a:defRPr/>
            </a:lvl1pPr>
          </a:lstStyle>
          <a:p>
            <a:endParaRPr/>
          </a:p>
        </p:txBody>
      </p:sp>
      <p:sp>
        <p:nvSpPr>
          <p:cNvPr id="5" name="Holder 5">
            <a:extLst>
              <a:ext uri="{FF2B5EF4-FFF2-40B4-BE49-F238E27FC236}">
                <a16:creationId xmlns:a16="http://schemas.microsoft.com/office/drawing/2014/main" id="{F0CC0CA0-752F-43A0-B65E-54238DDA57EC}"/>
              </a:ext>
            </a:extLst>
          </p:cNvPr>
          <p:cNvSpPr>
            <a:spLocks noGrp="1"/>
          </p:cNvSpPr>
          <p:nvPr>
            <p:ph type="ftr" idx="5"/>
          </p:nvPr>
        </p:nvSpPr>
        <p:spPr/>
        <p:txBody>
          <a:bodyPr lIns="0" tIns="0" rIns="0" bIns="0"/>
          <a:lstStyle>
            <a:lvl1pPr algn="ctr">
              <a:buNone/>
              <a:defRPr>
                <a:solidFill>
                  <a:schemeClr val="tx1">
                    <a:tint val="75000"/>
                  </a:schemeClr>
                </a:solidFill>
              </a:defRPr>
            </a:lvl1pPr>
          </a:lstStyle>
          <a:p>
            <a:endParaRPr/>
          </a:p>
        </p:txBody>
      </p:sp>
      <p:sp>
        <p:nvSpPr>
          <p:cNvPr id="6" name="Holder 6">
            <a:extLst>
              <a:ext uri="{FF2B5EF4-FFF2-40B4-BE49-F238E27FC236}">
                <a16:creationId xmlns:a16="http://schemas.microsoft.com/office/drawing/2014/main" id="{C8F9EDF2-FE66-4F07-BEE3-3A66F658197A}"/>
              </a:ext>
            </a:extLst>
          </p:cNvPr>
          <p:cNvSpPr>
            <a:spLocks noGrp="1"/>
          </p:cNvSpPr>
          <p:nvPr>
            <p:ph type="dt" idx="6"/>
          </p:nvPr>
        </p:nvSpPr>
        <p:spPr/>
        <p:txBody>
          <a:bodyPr lIns="0" tIns="0" rIns="0" bIns="0"/>
          <a:lstStyle>
            <a:lvl1pPr algn="l">
              <a:buNone/>
              <a:defRPr>
                <a:solidFill>
                  <a:schemeClr val="tx1">
                    <a:tint val="75000"/>
                  </a:schemeClr>
                </a:solidFill>
              </a:defRPr>
            </a:lvl1pPr>
          </a:lstStyle>
          <a:p>
            <a:fld id="{1D8BD707-D9CF-40AE-B4C6-C98DA3205C09}" type="datetimeFigureOut">
              <a:t>9/16/2026</a:t>
            </a:fld>
            <a:endParaRPr/>
          </a:p>
        </p:txBody>
      </p:sp>
      <p:sp>
        <p:nvSpPr>
          <p:cNvPr id="7" name="Holder 7">
            <a:extLst>
              <a:ext uri="{FF2B5EF4-FFF2-40B4-BE49-F238E27FC236}">
                <a16:creationId xmlns:a16="http://schemas.microsoft.com/office/drawing/2014/main" id="{88A8BFF7-78D8-46D8-A859-3018967DB185}"/>
              </a:ext>
            </a:extLst>
          </p:cNvPr>
          <p:cNvSpPr>
            <a:spLocks noGrp="1"/>
          </p:cNvSpPr>
          <p:nvPr>
            <p:ph type="sldNum" idx="7"/>
          </p:nvPr>
        </p:nvSpPr>
        <p:spPr/>
        <p:txBody>
          <a:bodyPr lIns="0" tIns="0" rIns="0" bIns="0"/>
          <a:lstStyle>
            <a:lvl1pPr>
              <a:buNone/>
              <a:defRPr sz="550" b="0" i="0">
                <a:solidFill>
                  <a:schemeClr val="tx1"/>
                </a:solidFill>
                <a:latin typeface="Arial"/>
                <a:ea typeface="Arial"/>
                <a:cs typeface="Arial"/>
              </a:defRPr>
            </a:lvl1pPr>
          </a:lstStyle>
          <a:p>
            <a:pPr marL="38100">
              <a:lnSpc>
                <a:spcPct val="100000"/>
              </a:lnSpc>
              <a:spcBef>
                <a:spcPts val="90"/>
              </a:spcBef>
              <a:buNone/>
            </a:pPr>
            <a:fld id="{81D60167-4931-47E6-BA6A-407CBD079E47}" type="slidenum">
              <a:rPr spc="-10"/>
              <a:t>‹#›</a:t>
            </a:fld>
            <a:r>
              <a:rPr spc="-10"/>
              <a:t>/21</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a:extLst>
              <a:ext uri="{FF2B5EF4-FFF2-40B4-BE49-F238E27FC236}">
                <a16:creationId xmlns:a16="http://schemas.microsoft.com/office/drawing/2014/main" id="{CE7B79E7-352A-480D-B03C-3ABFE22ABD5A}"/>
              </a:ext>
            </a:extLst>
          </p:cNvPr>
          <p:cNvSpPr>
            <a:spLocks noGrp="1"/>
          </p:cNvSpPr>
          <p:nvPr>
            <p:ph type="title"/>
          </p:nvPr>
        </p:nvSpPr>
        <p:spPr/>
        <p:txBody>
          <a:bodyPr lIns="0" tIns="0" rIns="0" bIns="0"/>
          <a:lstStyle>
            <a:lvl1pPr>
              <a:buNone/>
              <a:defRPr sz="1600" b="1" i="0">
                <a:solidFill>
                  <a:srgbClr val="006ABA"/>
                </a:solidFill>
                <a:latin typeface="Arial"/>
                <a:ea typeface="Arial"/>
                <a:cs typeface="Arial"/>
              </a:defRPr>
            </a:lvl1pPr>
          </a:lstStyle>
          <a:p>
            <a:endParaRPr/>
          </a:p>
        </p:txBody>
      </p:sp>
      <p:sp>
        <p:nvSpPr>
          <p:cNvPr id="3" name="Holder 3">
            <a:extLst>
              <a:ext uri="{FF2B5EF4-FFF2-40B4-BE49-F238E27FC236}">
                <a16:creationId xmlns:a16="http://schemas.microsoft.com/office/drawing/2014/main" id="{EC81E793-37D9-493D-8FC1-74A173B90E78}"/>
              </a:ext>
            </a:extLst>
          </p:cNvPr>
          <p:cNvSpPr>
            <a:spLocks noGrp="1"/>
          </p:cNvSpPr>
          <p:nvPr>
            <p:ph type="ftr" idx="5"/>
          </p:nvPr>
        </p:nvSpPr>
        <p:spPr/>
        <p:txBody>
          <a:bodyPr lIns="0" tIns="0" rIns="0" bIns="0"/>
          <a:lstStyle>
            <a:lvl1pPr algn="ctr">
              <a:buNone/>
              <a:defRPr>
                <a:solidFill>
                  <a:schemeClr val="tx1">
                    <a:tint val="75000"/>
                  </a:schemeClr>
                </a:solidFill>
              </a:defRPr>
            </a:lvl1pPr>
          </a:lstStyle>
          <a:p>
            <a:endParaRPr/>
          </a:p>
        </p:txBody>
      </p:sp>
      <p:sp>
        <p:nvSpPr>
          <p:cNvPr id="4" name="Holder 4">
            <a:extLst>
              <a:ext uri="{FF2B5EF4-FFF2-40B4-BE49-F238E27FC236}">
                <a16:creationId xmlns:a16="http://schemas.microsoft.com/office/drawing/2014/main" id="{73F0551A-89C7-49D5-8C07-3D01EDCF9053}"/>
              </a:ext>
            </a:extLst>
          </p:cNvPr>
          <p:cNvSpPr>
            <a:spLocks noGrp="1"/>
          </p:cNvSpPr>
          <p:nvPr>
            <p:ph type="dt" idx="6"/>
          </p:nvPr>
        </p:nvSpPr>
        <p:spPr/>
        <p:txBody>
          <a:bodyPr lIns="0" tIns="0" rIns="0" bIns="0"/>
          <a:lstStyle>
            <a:lvl1pPr algn="l">
              <a:buNone/>
              <a:defRPr>
                <a:solidFill>
                  <a:schemeClr val="tx1">
                    <a:tint val="75000"/>
                  </a:schemeClr>
                </a:solidFill>
              </a:defRPr>
            </a:lvl1pPr>
          </a:lstStyle>
          <a:p>
            <a:fld id="{1D8BD707-D9CF-40AE-B4C6-C98DA3205C09}" type="datetimeFigureOut">
              <a:t>9/16/2026</a:t>
            </a:fld>
            <a:endParaRPr/>
          </a:p>
        </p:txBody>
      </p:sp>
      <p:sp>
        <p:nvSpPr>
          <p:cNvPr id="5" name="Holder 5">
            <a:extLst>
              <a:ext uri="{FF2B5EF4-FFF2-40B4-BE49-F238E27FC236}">
                <a16:creationId xmlns:a16="http://schemas.microsoft.com/office/drawing/2014/main" id="{E7EDEFE0-743C-47A5-AB28-56F327DEA434}"/>
              </a:ext>
            </a:extLst>
          </p:cNvPr>
          <p:cNvSpPr>
            <a:spLocks noGrp="1"/>
          </p:cNvSpPr>
          <p:nvPr>
            <p:ph type="sldNum" idx="7"/>
          </p:nvPr>
        </p:nvSpPr>
        <p:spPr/>
        <p:txBody>
          <a:bodyPr lIns="0" tIns="0" rIns="0" bIns="0"/>
          <a:lstStyle>
            <a:lvl1pPr>
              <a:buNone/>
              <a:defRPr sz="550" b="0" i="0">
                <a:solidFill>
                  <a:schemeClr val="tx1"/>
                </a:solidFill>
                <a:latin typeface="Arial"/>
                <a:ea typeface="Arial"/>
                <a:cs typeface="Arial"/>
              </a:defRPr>
            </a:lvl1pPr>
          </a:lstStyle>
          <a:p>
            <a:pPr marL="38100">
              <a:lnSpc>
                <a:spcPct val="100000"/>
              </a:lnSpc>
              <a:spcBef>
                <a:spcPts val="90"/>
              </a:spcBef>
              <a:buNone/>
            </a:pPr>
            <a:fld id="{81D60167-4931-47E6-BA6A-407CBD079E47}" type="slidenum">
              <a:rPr spc="-10"/>
              <a:t>‹#›</a:t>
            </a:fld>
            <a:r>
              <a:rPr spc="-10"/>
              <a:t>/21</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a:extLst>
              <a:ext uri="{FF2B5EF4-FFF2-40B4-BE49-F238E27FC236}">
                <a16:creationId xmlns:a16="http://schemas.microsoft.com/office/drawing/2014/main" id="{33A0E189-BA42-4CC6-87FD-3E8299C8CA3E}"/>
              </a:ext>
            </a:extLst>
          </p:cNvPr>
          <p:cNvSpPr>
            <a:spLocks noGrp="1"/>
          </p:cNvSpPr>
          <p:nvPr>
            <p:ph type="ftr" idx="5"/>
          </p:nvPr>
        </p:nvSpPr>
        <p:spPr/>
        <p:txBody>
          <a:bodyPr lIns="0" tIns="0" rIns="0" bIns="0"/>
          <a:lstStyle>
            <a:lvl1pPr algn="ctr">
              <a:buNone/>
              <a:defRPr>
                <a:solidFill>
                  <a:schemeClr val="tx1">
                    <a:tint val="75000"/>
                  </a:schemeClr>
                </a:solidFill>
              </a:defRPr>
            </a:lvl1pPr>
          </a:lstStyle>
          <a:p>
            <a:endParaRPr/>
          </a:p>
        </p:txBody>
      </p:sp>
      <p:sp>
        <p:nvSpPr>
          <p:cNvPr id="3" name="Holder 3">
            <a:extLst>
              <a:ext uri="{FF2B5EF4-FFF2-40B4-BE49-F238E27FC236}">
                <a16:creationId xmlns:a16="http://schemas.microsoft.com/office/drawing/2014/main" id="{ADB1DFB1-3E74-47E6-94C2-098A9FE91829}"/>
              </a:ext>
            </a:extLst>
          </p:cNvPr>
          <p:cNvSpPr>
            <a:spLocks noGrp="1"/>
          </p:cNvSpPr>
          <p:nvPr>
            <p:ph type="dt" idx="6"/>
          </p:nvPr>
        </p:nvSpPr>
        <p:spPr/>
        <p:txBody>
          <a:bodyPr lIns="0" tIns="0" rIns="0" bIns="0"/>
          <a:lstStyle>
            <a:lvl1pPr algn="l">
              <a:buNone/>
              <a:defRPr>
                <a:solidFill>
                  <a:schemeClr val="tx1">
                    <a:tint val="75000"/>
                  </a:schemeClr>
                </a:solidFill>
              </a:defRPr>
            </a:lvl1pPr>
          </a:lstStyle>
          <a:p>
            <a:fld id="{1D8BD707-D9CF-40AE-B4C6-C98DA3205C09}" type="datetimeFigureOut">
              <a:t>9/16/2026</a:t>
            </a:fld>
            <a:endParaRPr/>
          </a:p>
        </p:txBody>
      </p:sp>
      <p:sp>
        <p:nvSpPr>
          <p:cNvPr id="4" name="Holder 4">
            <a:extLst>
              <a:ext uri="{FF2B5EF4-FFF2-40B4-BE49-F238E27FC236}">
                <a16:creationId xmlns:a16="http://schemas.microsoft.com/office/drawing/2014/main" id="{3C18AFE8-7D7A-4C99-B8BC-D091439EDD71}"/>
              </a:ext>
            </a:extLst>
          </p:cNvPr>
          <p:cNvSpPr>
            <a:spLocks noGrp="1"/>
          </p:cNvSpPr>
          <p:nvPr>
            <p:ph type="sldNum" idx="7"/>
          </p:nvPr>
        </p:nvSpPr>
        <p:spPr/>
        <p:txBody>
          <a:bodyPr lIns="0" tIns="0" rIns="0" bIns="0"/>
          <a:lstStyle>
            <a:lvl1pPr>
              <a:buNone/>
              <a:defRPr sz="550" b="0" i="0">
                <a:solidFill>
                  <a:schemeClr val="tx1"/>
                </a:solidFill>
                <a:latin typeface="Arial"/>
                <a:ea typeface="Arial"/>
                <a:cs typeface="Arial"/>
              </a:defRPr>
            </a:lvl1pPr>
          </a:lstStyle>
          <a:p>
            <a:pPr marL="38100">
              <a:lnSpc>
                <a:spcPct val="100000"/>
              </a:lnSpc>
              <a:spcBef>
                <a:spcPts val="90"/>
              </a:spcBef>
              <a:buNone/>
            </a:pPr>
            <a:fld id="{81D60167-4931-47E6-BA6A-407CBD079E47}" type="slidenum">
              <a:rPr spc="-10"/>
              <a:t>‹#›</a:t>
            </a:fld>
            <a:r>
              <a:rPr spc="-10"/>
              <a:t>/21</a:t>
            </a: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a:extLst>
              <a:ext uri="{FF2B5EF4-FFF2-40B4-BE49-F238E27FC236}">
                <a16:creationId xmlns:a16="http://schemas.microsoft.com/office/drawing/2014/main" id="{87047609-6E31-40AB-939D-5E7A644B86EC}"/>
              </a:ext>
            </a:extLst>
          </p:cNvPr>
          <p:cNvSpPr>
            <a:spLocks noGrp="1"/>
          </p:cNvSpPr>
          <p:nvPr>
            <p:ph type="title"/>
          </p:nvPr>
        </p:nvSpPr>
        <p:spPr>
          <a:xfrm>
            <a:off x="347294" y="102252"/>
            <a:ext cx="3441065" cy="274955"/>
          </a:xfrm>
          <a:prstGeom prst="rect">
            <a:avLst/>
          </a:prstGeom>
        </p:spPr>
        <p:txBody>
          <a:bodyPr wrap="square" lIns="0" tIns="0" rIns="0" bIns="0">
            <a:spAutoFit/>
          </a:bodyPr>
          <a:lstStyle>
            <a:lvl1pPr>
              <a:buNone/>
              <a:defRPr sz="1600" b="1" i="0">
                <a:solidFill>
                  <a:srgbClr val="006ABA"/>
                </a:solidFill>
                <a:latin typeface="Arial"/>
                <a:ea typeface="Arial"/>
                <a:cs typeface="Arial"/>
              </a:defRPr>
            </a:lvl1pPr>
          </a:lstStyle>
          <a:p>
            <a:endParaRPr/>
          </a:p>
        </p:txBody>
      </p:sp>
      <p:sp>
        <p:nvSpPr>
          <p:cNvPr id="3" name="Holder 3">
            <a:extLst>
              <a:ext uri="{FF2B5EF4-FFF2-40B4-BE49-F238E27FC236}">
                <a16:creationId xmlns:a16="http://schemas.microsoft.com/office/drawing/2014/main" id="{254EA77F-54BE-450C-9C53-2977062974FB}"/>
              </a:ext>
            </a:extLst>
          </p:cNvPr>
          <p:cNvSpPr>
            <a:spLocks noGrp="1"/>
          </p:cNvSpPr>
          <p:nvPr>
            <p:ph type="body" idx="1"/>
          </p:nvPr>
        </p:nvSpPr>
        <p:spPr>
          <a:xfrm>
            <a:off x="445350" y="1468511"/>
            <a:ext cx="4864100" cy="1036319"/>
          </a:xfrm>
          <a:prstGeom prst="rect">
            <a:avLst/>
          </a:prstGeom>
        </p:spPr>
        <p:txBody>
          <a:bodyPr wrap="square" lIns="0" tIns="0" rIns="0" bIns="0">
            <a:spAutoFit/>
          </a:bodyPr>
          <a:lstStyle>
            <a:lvl1pPr>
              <a:buNone/>
              <a:defRPr sz="1000" b="0" i="0">
                <a:solidFill>
                  <a:schemeClr val="tx1"/>
                </a:solidFill>
                <a:latin typeface="Arial"/>
                <a:ea typeface="Arial"/>
                <a:cs typeface="Arial"/>
              </a:defRPr>
            </a:lvl1pPr>
          </a:lstStyle>
          <a:p>
            <a:endParaRPr/>
          </a:p>
        </p:txBody>
      </p:sp>
      <p:sp>
        <p:nvSpPr>
          <p:cNvPr id="4" name="Holder 4">
            <a:extLst>
              <a:ext uri="{FF2B5EF4-FFF2-40B4-BE49-F238E27FC236}">
                <a16:creationId xmlns:a16="http://schemas.microsoft.com/office/drawing/2014/main" id="{5B370E31-4480-47EB-878C-BFEE29B643D6}"/>
              </a:ext>
            </a:extLst>
          </p:cNvPr>
          <p:cNvSpPr>
            <a:spLocks noGrp="1"/>
          </p:cNvSpPr>
          <p:nvPr>
            <p:ph type="ftr" idx="5"/>
          </p:nvPr>
        </p:nvSpPr>
        <p:spPr>
          <a:xfrm>
            <a:off x="1960372" y="3017710"/>
            <a:ext cx="1845056" cy="162242"/>
          </a:xfrm>
          <a:prstGeom prst="rect">
            <a:avLst/>
          </a:prstGeom>
        </p:spPr>
        <p:txBody>
          <a:bodyPr wrap="square" lIns="0" tIns="0" rIns="0" bIns="0">
            <a:spAutoFit/>
          </a:bodyPr>
          <a:lstStyle>
            <a:lvl1pPr algn="ctr">
              <a:buNone/>
              <a:defRPr>
                <a:solidFill>
                  <a:schemeClr val="tx1">
                    <a:tint val="75000"/>
                  </a:schemeClr>
                </a:solidFill>
              </a:defRPr>
            </a:lvl1pPr>
          </a:lstStyle>
          <a:p>
            <a:endParaRPr/>
          </a:p>
        </p:txBody>
      </p:sp>
      <p:sp>
        <p:nvSpPr>
          <p:cNvPr id="5" name="Holder 5">
            <a:extLst>
              <a:ext uri="{FF2B5EF4-FFF2-40B4-BE49-F238E27FC236}">
                <a16:creationId xmlns:a16="http://schemas.microsoft.com/office/drawing/2014/main" id="{8979D7A2-BEA3-4DB4-8F7F-F950B2752B41}"/>
              </a:ext>
            </a:extLst>
          </p:cNvPr>
          <p:cNvSpPr>
            <a:spLocks noGrp="1"/>
          </p:cNvSpPr>
          <p:nvPr>
            <p:ph type="dt" idx="6"/>
          </p:nvPr>
        </p:nvSpPr>
        <p:spPr>
          <a:xfrm>
            <a:off x="288290" y="3017710"/>
            <a:ext cx="1326134" cy="162242"/>
          </a:xfrm>
          <a:prstGeom prst="rect">
            <a:avLst/>
          </a:prstGeom>
        </p:spPr>
        <p:txBody>
          <a:bodyPr wrap="square" lIns="0" tIns="0" rIns="0" bIns="0">
            <a:spAutoFit/>
          </a:bodyPr>
          <a:lstStyle>
            <a:lvl1pPr algn="l">
              <a:buNone/>
              <a:defRPr>
                <a:solidFill>
                  <a:schemeClr val="tx1">
                    <a:tint val="75000"/>
                  </a:schemeClr>
                </a:solidFill>
              </a:defRPr>
            </a:lvl1pPr>
          </a:lstStyle>
          <a:p>
            <a:fld id="{1D8BD707-D9CF-40AE-B4C6-C98DA3205C09}" type="datetimeFigureOut">
              <a:t>9/16/2026</a:t>
            </a:fld>
            <a:endParaRPr/>
          </a:p>
        </p:txBody>
      </p:sp>
      <p:sp>
        <p:nvSpPr>
          <p:cNvPr id="6" name="Holder 6">
            <a:extLst>
              <a:ext uri="{FF2B5EF4-FFF2-40B4-BE49-F238E27FC236}">
                <a16:creationId xmlns:a16="http://schemas.microsoft.com/office/drawing/2014/main" id="{B7875DAE-DCB3-49F0-95BF-2EB529F027BF}"/>
              </a:ext>
            </a:extLst>
          </p:cNvPr>
          <p:cNvSpPr>
            <a:spLocks noGrp="1"/>
          </p:cNvSpPr>
          <p:nvPr>
            <p:ph type="sldNum" idx="7"/>
          </p:nvPr>
        </p:nvSpPr>
        <p:spPr>
          <a:xfrm>
            <a:off x="5451893" y="3053819"/>
            <a:ext cx="231775" cy="114935"/>
          </a:xfrm>
          <a:prstGeom prst="rect">
            <a:avLst/>
          </a:prstGeom>
        </p:spPr>
        <p:txBody>
          <a:bodyPr wrap="square" lIns="0" tIns="0" rIns="0" bIns="0">
            <a:spAutoFit/>
          </a:bodyPr>
          <a:lstStyle>
            <a:lvl1pPr>
              <a:buNone/>
              <a:defRPr sz="550" b="0" i="0">
                <a:solidFill>
                  <a:schemeClr val="tx1"/>
                </a:solidFill>
                <a:latin typeface="Arial"/>
                <a:ea typeface="Arial"/>
                <a:cs typeface="Arial"/>
              </a:defRPr>
            </a:lvl1pPr>
          </a:lstStyle>
          <a:p>
            <a:pPr marL="38100">
              <a:lnSpc>
                <a:spcPct val="100000"/>
              </a:lnSpc>
              <a:spcBef>
                <a:spcPts val="90"/>
              </a:spcBef>
              <a:buNone/>
            </a:pPr>
            <a:fld id="{81D60167-4931-47E6-BA6A-407CBD079E47}" type="slidenum">
              <a:rPr spc="-10"/>
              <a:t>‹#›</a:t>
            </a:fld>
            <a:r>
              <a:rPr spc="-10"/>
              <a:t>/21</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buNone/>
        <a:defRPr>
          <a:latin typeface="+mj-lt"/>
          <a:ea typeface="+mj-lt"/>
          <a:cs typeface="+mj-lt"/>
        </a:defRPr>
      </a:lvl1pPr>
    </p:titleStyle>
    <p:bodyStyle>
      <a:lvl1pPr marL="0">
        <a:buNone/>
        <a:defRPr>
          <a:latin typeface="+mn-lt"/>
          <a:ea typeface="+mn-lt"/>
          <a:cs typeface="+mn-lt"/>
        </a:defRPr>
      </a:lvl1pPr>
      <a:lvl2pPr marL="457200">
        <a:buNone/>
        <a:defRPr>
          <a:latin typeface="+mn-lt"/>
          <a:ea typeface="+mn-lt"/>
          <a:cs typeface="+mn-lt"/>
        </a:defRPr>
      </a:lvl2pPr>
      <a:lvl3pPr marL="914400">
        <a:buNone/>
        <a:defRPr>
          <a:latin typeface="+mn-lt"/>
          <a:ea typeface="+mn-lt"/>
          <a:cs typeface="+mn-lt"/>
        </a:defRPr>
      </a:lvl3pPr>
      <a:lvl4pPr marL="1371600">
        <a:buNone/>
        <a:defRPr>
          <a:latin typeface="+mn-lt"/>
          <a:ea typeface="+mn-lt"/>
          <a:cs typeface="+mn-lt"/>
        </a:defRPr>
      </a:lvl4pPr>
      <a:lvl5pPr marL="1828800">
        <a:buNone/>
        <a:defRPr>
          <a:latin typeface="+mn-lt"/>
          <a:ea typeface="+mn-lt"/>
          <a:cs typeface="+mn-lt"/>
        </a:defRPr>
      </a:lvl5pPr>
      <a:lvl6pPr marL="2286000">
        <a:buNone/>
        <a:defRPr>
          <a:latin typeface="+mn-lt"/>
          <a:ea typeface="+mn-lt"/>
          <a:cs typeface="+mn-lt"/>
        </a:defRPr>
      </a:lvl6pPr>
      <a:lvl7pPr marL="2743200">
        <a:buNone/>
        <a:defRPr>
          <a:latin typeface="+mn-lt"/>
          <a:ea typeface="+mn-lt"/>
          <a:cs typeface="+mn-lt"/>
        </a:defRPr>
      </a:lvl7pPr>
      <a:lvl8pPr marL="3200400">
        <a:buNone/>
        <a:defRPr>
          <a:latin typeface="+mn-lt"/>
          <a:ea typeface="+mn-lt"/>
          <a:cs typeface="+mn-lt"/>
        </a:defRPr>
      </a:lvl8pPr>
      <a:lvl9pPr marL="3657600">
        <a:buNone/>
        <a:defRPr>
          <a:latin typeface="+mn-lt"/>
          <a:ea typeface="+mn-lt"/>
          <a:cs typeface="+mn-lt"/>
        </a:defRPr>
      </a:lvl9pPr>
    </p:bodyStyle>
    <p:otherStyle>
      <a:lvl1pPr marL="0">
        <a:buNone/>
        <a:defRPr>
          <a:latin typeface="+mn-lt"/>
          <a:ea typeface="+mn-lt"/>
          <a:cs typeface="+mn-lt"/>
        </a:defRPr>
      </a:lvl1pPr>
      <a:lvl2pPr marL="457200">
        <a:buNone/>
        <a:defRPr>
          <a:latin typeface="+mn-lt"/>
          <a:ea typeface="+mn-lt"/>
          <a:cs typeface="+mn-lt"/>
        </a:defRPr>
      </a:lvl2pPr>
      <a:lvl3pPr marL="914400">
        <a:buNone/>
        <a:defRPr>
          <a:latin typeface="+mn-lt"/>
          <a:ea typeface="+mn-lt"/>
          <a:cs typeface="+mn-lt"/>
        </a:defRPr>
      </a:lvl3pPr>
      <a:lvl4pPr marL="1371600">
        <a:buNone/>
        <a:defRPr>
          <a:latin typeface="+mn-lt"/>
          <a:ea typeface="+mn-lt"/>
          <a:cs typeface="+mn-lt"/>
        </a:defRPr>
      </a:lvl4pPr>
      <a:lvl5pPr marL="1828800">
        <a:buNone/>
        <a:defRPr>
          <a:latin typeface="+mn-lt"/>
          <a:ea typeface="+mn-lt"/>
          <a:cs typeface="+mn-lt"/>
        </a:defRPr>
      </a:lvl5pPr>
      <a:lvl6pPr marL="2286000">
        <a:buNone/>
        <a:defRPr>
          <a:latin typeface="+mn-lt"/>
          <a:ea typeface="+mn-lt"/>
          <a:cs typeface="+mn-lt"/>
        </a:defRPr>
      </a:lvl6pPr>
      <a:lvl7pPr marL="2743200">
        <a:buNone/>
        <a:defRPr>
          <a:latin typeface="+mn-lt"/>
          <a:ea typeface="+mn-lt"/>
          <a:cs typeface="+mn-lt"/>
        </a:defRPr>
      </a:lvl7pPr>
      <a:lvl8pPr marL="3200400">
        <a:buNone/>
        <a:defRPr>
          <a:latin typeface="+mn-lt"/>
          <a:ea typeface="+mn-lt"/>
          <a:cs typeface="+mn-lt"/>
        </a:defRPr>
      </a:lvl8pPr>
      <a:lvl9pPr marL="3657600">
        <a:buNone/>
        <a:defRPr>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8" name="object 2"/>
          <p:cNvPicPr>
            <a:picLocks noChangeAspect="1"/>
          </p:cNvPicPr>
          <p:nvPr/>
        </p:nvPicPr>
        <p:blipFill>
          <a:blip r:embed="rId3"/>
          <a:stretch>
            <a:fillRect/>
          </a:stretch>
        </p:blipFill>
        <p:spPr>
          <a:xfrm>
            <a:off x="63500" y="259279"/>
            <a:ext cx="2002258" cy="359956"/>
          </a:xfrm>
          <a:prstGeom prst="rect">
            <a:avLst/>
          </a:prstGeom>
        </p:spPr>
      </p:pic>
      <p:sp>
        <p:nvSpPr>
          <p:cNvPr id="4" name="object 4">
            <a:extLst>
              <a:ext uri="{FF2B5EF4-FFF2-40B4-BE49-F238E27FC236}">
                <a16:creationId xmlns:a16="http://schemas.microsoft.com/office/drawing/2014/main" id="{42D821B9-EF04-4035-8227-11340A9B288B}"/>
              </a:ext>
            </a:extLst>
          </p:cNvPr>
          <p:cNvSpPr>
            <a:spLocks noGrp="1"/>
          </p:cNvSpPr>
          <p:nvPr>
            <p:ph type="title"/>
          </p:nvPr>
        </p:nvSpPr>
        <p:spPr>
          <a:xfrm>
            <a:off x="276225" y="1143000"/>
            <a:ext cx="5210175" cy="838200"/>
          </a:xfrm>
          <a:prstGeom prst="rect">
            <a:avLst/>
          </a:prstGeom>
        </p:spPr>
        <p:txBody>
          <a:bodyPr vert="horz" wrap="square" lIns="0" tIns="0" rIns="0" bIns="0">
            <a:noAutofit/>
          </a:bodyPr>
          <a:lstStyle/>
          <a:p>
            <a:pPr marL="12700" algn="ctr">
              <a:lnSpc>
                <a:spcPct val="110000"/>
              </a:lnSpc>
              <a:spcBef>
                <a:spcPts val="135"/>
              </a:spcBef>
              <a:buNone/>
              <a:defRPr sz="1400">
                <a:solidFill>
                  <a:srgbClr val="006ABA"/>
                </a:solidFill>
                <a:latin typeface="Arial"/>
                <a:ea typeface="Arial"/>
                <a:cs typeface="Arial"/>
              </a:defRPr>
            </a:pPr>
            <a:r>
              <a:rPr sz="1400" b="0" i="0">
                <a:solidFill>
                  <a:srgbClr val="006ABA"/>
                </a:solidFill>
                <a:latin typeface="Arial"/>
                <a:ea typeface="Arial"/>
                <a:cs typeface="Arial"/>
              </a:rPr>
              <a:t>Concepts of Theoretical Computer Science,</a:t>
            </a:r>
            <a:endParaRPr sz="1400" spc="-10">
              <a:latin typeface="Times New Roman"/>
              <a:ea typeface="Times New Roman"/>
              <a:cs typeface="Times New Roman"/>
            </a:endParaRPr>
          </a:p>
          <a:p>
            <a:pPr marL="12700" algn="ctr">
              <a:lnSpc>
                <a:spcPct val="110000"/>
              </a:lnSpc>
              <a:spcBef>
                <a:spcPts val="135"/>
              </a:spcBef>
              <a:buNone/>
              <a:defRPr sz="1400">
                <a:solidFill>
                  <a:srgbClr val="006ABA"/>
                </a:solidFill>
                <a:latin typeface="Arial"/>
                <a:ea typeface="Arial"/>
                <a:cs typeface="Arial"/>
              </a:defRPr>
            </a:pPr>
            <a:r>
              <a:rPr sz="1400" b="0" i="0">
                <a:solidFill>
                  <a:srgbClr val="006ABA"/>
                </a:solidFill>
                <a:latin typeface="Arial"/>
                <a:ea typeface="Arial"/>
                <a:cs typeface="Arial"/>
              </a:rPr>
              <a:t>Data Structures and Algorithms</a:t>
            </a:r>
            <a:endParaRPr sz="1400" spc="-10">
              <a:latin typeface="Times New Roman"/>
              <a:ea typeface="Times New Roman"/>
              <a:cs typeface="Times New Roman"/>
            </a:endParaRPr>
          </a:p>
        </p:txBody>
      </p:sp>
      <p:sp>
        <p:nvSpPr>
          <p:cNvPr id="5" name="object 5">
            <a:extLst>
              <a:ext uri="{FF2B5EF4-FFF2-40B4-BE49-F238E27FC236}">
                <a16:creationId xmlns:a16="http://schemas.microsoft.com/office/drawing/2014/main" id="{2295C362-49C2-41B2-AC17-0B4EC7F5B0DA}"/>
              </a:ext>
            </a:extLst>
          </p:cNvPr>
          <p:cNvSpPr>
            <a:spLocks noGrp="1"/>
          </p:cNvSpPr>
          <p:nvPr/>
        </p:nvSpPr>
        <p:spPr>
          <a:xfrm>
            <a:off x="619125" y="2124075"/>
            <a:ext cx="4524375" cy="647700"/>
          </a:xfrm>
          <a:prstGeom prst="rect">
            <a:avLst/>
          </a:prstGeom>
        </p:spPr>
        <p:txBody>
          <a:bodyPr vert="horz" wrap="square" lIns="0" tIns="0" rIns="0" bIns="0" anchor="t">
            <a:noAutofit/>
          </a:bodyPr>
          <a:lstStyle/>
          <a:p>
            <a:pPr marL="12700" algn="ctr">
              <a:lnSpc>
                <a:spcPct val="110000"/>
              </a:lnSpc>
              <a:defRPr sz="825">
                <a:solidFill>
                  <a:srgbClr val="202020"/>
                </a:solidFill>
                <a:latin typeface="Arial"/>
                <a:ea typeface="Arial"/>
                <a:cs typeface="Arial"/>
              </a:defRPr>
            </a:pPr>
            <a:r>
              <a:rPr lang="en-US" sz="800" dirty="0">
                <a:solidFill>
                  <a:srgbClr val="202020"/>
                </a:solidFill>
                <a:latin typeface="Arial"/>
                <a:ea typeface="Arial"/>
                <a:cs typeface="Arial"/>
              </a:rPr>
              <a:t>Foundations Course – WS 2026</a:t>
            </a:r>
            <a:endParaRPr lang="en-US" sz="800" dirty="0">
              <a:solidFill>
                <a:srgbClr val="000000"/>
              </a:solidFill>
              <a:latin typeface="Arial"/>
              <a:ea typeface="Arial"/>
              <a:cs typeface="Arial"/>
            </a:endParaRPr>
          </a:p>
          <a:p>
            <a:pPr marL="12700" algn="ctr">
              <a:lnSpc>
                <a:spcPct val="110000"/>
              </a:lnSpc>
              <a:defRPr sz="825">
                <a:solidFill>
                  <a:srgbClr val="202020"/>
                </a:solidFill>
                <a:latin typeface="Arial"/>
                <a:ea typeface="Arial"/>
                <a:cs typeface="Arial"/>
              </a:defRPr>
            </a:pPr>
            <a:r>
              <a:rPr lang="en-US" sz="800" b="1" i="0" u="none" cap="none" spc="0" dirty="0" err="1">
                <a:ln>
                  <a:noFill/>
                </a:ln>
                <a:solidFill>
                  <a:srgbClr val="202020"/>
                </a:solidFill>
                <a:latin typeface="Arial"/>
                <a:ea typeface="Arial"/>
                <a:cs typeface="Arial"/>
              </a:rPr>
              <a:t>Kamendu</a:t>
            </a:r>
            <a:r>
              <a:rPr lang="en-US" sz="800" b="1" dirty="0">
                <a:solidFill>
                  <a:srgbClr val="202020"/>
                </a:solidFill>
                <a:latin typeface="Arial"/>
                <a:ea typeface="Arial"/>
                <a:cs typeface="Arial"/>
              </a:rPr>
              <a:t> </a:t>
            </a:r>
            <a:r>
              <a:rPr lang="en-US" sz="800" b="1" i="0" u="none" cap="none" spc="0" dirty="0">
                <a:ln>
                  <a:noFill/>
                </a:ln>
                <a:solidFill>
                  <a:srgbClr val="202020"/>
                </a:solidFill>
                <a:latin typeface="Arial"/>
                <a:ea typeface="Arial"/>
                <a:cs typeface="Arial"/>
              </a:rPr>
              <a:t>Panchal</a:t>
            </a:r>
            <a:endParaRPr lang="en-US" sz="800" i="0" u="none" cap="none" spc="0" dirty="0">
              <a:ln>
                <a:noFill/>
              </a:ln>
              <a:solidFill>
                <a:srgbClr val="000000"/>
              </a:solidFill>
              <a:latin typeface="Arial"/>
              <a:ea typeface="Arial"/>
              <a:cs typeface="Arial"/>
            </a:endParaRPr>
          </a:p>
          <a:p>
            <a:pPr marL="12700" algn="ctr">
              <a:lnSpc>
                <a:spcPct val="110000"/>
              </a:lnSpc>
              <a:buNone/>
              <a:defRPr sz="825">
                <a:solidFill>
                  <a:srgbClr val="202020"/>
                </a:solidFill>
                <a:latin typeface="Arial"/>
                <a:ea typeface="Arial"/>
                <a:cs typeface="Arial"/>
              </a:defRPr>
            </a:pPr>
            <a:r>
              <a:rPr lang="en-US" sz="800" dirty="0">
                <a:solidFill>
                  <a:srgbClr val="202020"/>
                </a:solidFill>
                <a:latin typeface="Arial"/>
                <a:ea typeface="Arial"/>
                <a:cs typeface="Arial"/>
              </a:rPr>
              <a:t>Hochschule Bonn-Rhein-Sieg</a:t>
            </a:r>
            <a:endParaRPr lang="en-US" sz="800" dirty="0">
              <a:solidFill>
                <a:srgbClr val="000000"/>
              </a:solidFill>
              <a:latin typeface="Arial"/>
              <a:ea typeface="Arial"/>
              <a:cs typeface="Arial"/>
            </a:endParaRPr>
          </a:p>
        </p:txBody>
      </p:sp>
      <p:pic>
        <p:nvPicPr>
          <p:cNvPr id="11" name="object 3"/>
          <p:cNvPicPr>
            <a:picLocks noChangeAspect="1"/>
          </p:cNvPicPr>
          <p:nvPr/>
        </p:nvPicPr>
        <p:blipFill>
          <a:blip r:embed="rId4"/>
          <a:stretch>
            <a:fillRect/>
          </a:stretch>
        </p:blipFill>
        <p:spPr>
          <a:xfrm>
            <a:off x="4127220" y="255611"/>
            <a:ext cx="1357473" cy="359989"/>
          </a:xfrm>
          <a:prstGeom prst="rect">
            <a:avLst/>
          </a:prstGeom>
        </p:spPr>
      </p:pic>
    </p:spTree>
    <p:extLst>
      <p:ext uri="{BB962C8B-B14F-4D97-AF65-F5344CB8AC3E}">
        <p14:creationId xmlns:p14="http://schemas.microsoft.com/office/powerpoint/2010/main" val="297592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19C03931-4A28-44C2-9238-650F85D8C2AD}"/>
              </a:ext>
            </a:extLst>
          </p:cNvPr>
          <p:cNvSpPr>
            <a:spLocks noGrp="1"/>
          </p:cNvSpPr>
          <p:nvPr>
            <p:ph type="title"/>
          </p:nvPr>
        </p:nvSpPr>
        <p:spPr>
          <a:xfrm>
            <a:off x="171450" y="95250"/>
            <a:ext cx="5429250" cy="304800"/>
          </a:xfrm>
          <a:prstGeom prst="rect">
            <a:avLst/>
          </a:prstGeom>
        </p:spPr>
        <p:txBody>
          <a:bodyPr vert="horz" wrap="square" lIns="0" tIns="0" rIns="0" bIns="0">
            <a:noAutofit/>
          </a:bodyPr>
          <a:lstStyle/>
          <a:p>
            <a:pPr marL="12700" algn="l">
              <a:lnSpc>
                <a:spcPct val="110000"/>
              </a:lnSpc>
              <a:spcBef>
                <a:spcPts val="135"/>
              </a:spcBef>
              <a:buNone/>
              <a:defRPr sz="1400">
                <a:solidFill>
                  <a:srgbClr val="006ABA"/>
                </a:solidFill>
                <a:latin typeface="Arial"/>
                <a:ea typeface="Arial"/>
                <a:cs typeface="Arial"/>
              </a:defRPr>
            </a:pPr>
            <a:r>
              <a:rPr sz="1400" b="0" spc="-10">
                <a:solidFill>
                  <a:srgbClr val="006ABA"/>
                </a:solidFill>
                <a:latin typeface="Arial"/>
                <a:ea typeface="Arial"/>
                <a:cs typeface="Arial"/>
              </a:rPr>
              <a:t>Topics in this refresher</a:t>
            </a:r>
            <a:endParaRPr sz="1400" b="0" spc="-10">
              <a:latin typeface="Arial"/>
              <a:ea typeface="Arial"/>
              <a:cs typeface="Arial"/>
            </a:endParaRPr>
          </a:p>
        </p:txBody>
      </p:sp>
      <p:pic>
        <p:nvPicPr>
          <p:cNvPr id="24" name="object 4"/>
          <p:cNvPicPr>
            <a:picLocks noChangeAspect="1"/>
          </p:cNvPicPr>
          <p:nvPr/>
        </p:nvPicPr>
        <p:blipFill>
          <a:blip r:embed="rId3"/>
          <a:stretch>
            <a:fillRect/>
          </a:stretch>
        </p:blipFill>
        <p:spPr>
          <a:xfrm>
            <a:off x="152565" y="2988507"/>
            <a:ext cx="900668" cy="161917"/>
          </a:xfrm>
          <a:prstGeom prst="rect">
            <a:avLst/>
          </a:prstGeom>
        </p:spPr>
      </p:pic>
      <p:pic>
        <p:nvPicPr>
          <p:cNvPr id="25" name="object 5"/>
          <p:cNvPicPr>
            <a:picLocks noChangeAspect="1"/>
          </p:cNvPicPr>
          <p:nvPr/>
        </p:nvPicPr>
        <p:blipFill>
          <a:blip r:embed="rId4"/>
          <a:stretch>
            <a:fillRect/>
          </a:stretch>
        </p:blipFill>
        <p:spPr>
          <a:xfrm>
            <a:off x="1286560" y="2988417"/>
            <a:ext cx="610912" cy="162008"/>
          </a:xfrm>
          <a:prstGeom prst="rect">
            <a:avLst/>
          </a:prstGeom>
        </p:spPr>
      </p:pic>
      <p:sp>
        <p:nvSpPr>
          <p:cNvPr id="10" name="Footer Placeholder 7">
            <a:extLst>
              <a:ext uri="{FF2B5EF4-FFF2-40B4-BE49-F238E27FC236}">
                <a16:creationId xmlns:a16="http://schemas.microsoft.com/office/drawing/2014/main" id="{197FE2C8-8EE2-4937-3F30-294DB47641D6}"/>
              </a:ext>
            </a:extLst>
          </p:cNvPr>
          <p:cNvSpPr>
            <a:spLocks noGrp="1"/>
          </p:cNvSpPr>
          <p:nvPr>
            <p:ph type="ftr" idx="5"/>
          </p:nvPr>
        </p:nvSpPr>
        <p:spPr>
          <a:xfrm>
            <a:off x="2590800" y="3105150"/>
            <a:ext cx="2743200" cy="95250"/>
          </a:xfrm>
        </p:spPr>
        <p:txBody>
          <a:bodyPr wrap="square" lIns="0" tIns="0" rIns="0" bIns="0">
            <a:noAutofit/>
          </a:bodyPr>
          <a:lstStyle/>
          <a:p>
            <a:pPr algn="r">
              <a:lnSpc>
                <a:spcPct val="110000"/>
              </a:lnSpc>
              <a:buNone/>
              <a:defRPr sz="500">
                <a:solidFill>
                  <a:srgbClr val="888888"/>
                </a:solidFill>
                <a:latin typeface="Arial"/>
                <a:ea typeface="Arial"/>
                <a:cs typeface="Arial"/>
              </a:defRPr>
            </a:pPr>
            <a:r>
              <a:rPr sz="500">
                <a:solidFill>
                  <a:srgbClr val="888888"/>
                </a:solidFill>
                <a:latin typeface="Arial"/>
                <a:ea typeface="Arial"/>
                <a:cs typeface="Arial"/>
              </a:rPr>
              <a:t>MAS Foundations - Kamendu Panchal</a:t>
            </a:r>
            <a:endParaRPr sz="500" b="1">
              <a:solidFill>
                <a:schemeClr val="tx1"/>
              </a:solidFill>
              <a:latin typeface="Arial"/>
              <a:ea typeface="Arial"/>
              <a:cs typeface="Arial"/>
            </a:endParaRPr>
          </a:p>
        </p:txBody>
      </p:sp>
      <p:sp>
        <p:nvSpPr>
          <p:cNvPr id="3" name="TextBox 2">
            <a:extLst>
              <a:ext uri="{FF2B5EF4-FFF2-40B4-BE49-F238E27FC236}">
                <a16:creationId xmlns:a16="http://schemas.microsoft.com/office/drawing/2014/main" id="{DCE8FEB4-DA15-74FB-D091-FA2B80C9B501}"/>
              </a:ext>
            </a:extLst>
          </p:cNvPr>
          <p:cNvSpPr>
            <a:spLocks noGrp="1"/>
          </p:cNvSpPr>
          <p:nvPr/>
        </p:nvSpPr>
        <p:spPr>
          <a:xfrm>
            <a:off x="5438775" y="3086100"/>
            <a:ext cx="209550" cy="175260"/>
          </a:xfrm>
          <a:prstGeom prst="rect">
            <a:avLst/>
          </a:prstGeom>
          <a:noFill/>
        </p:spPr>
        <p:txBody>
          <a:bodyPr wrap="square" lIns="0" tIns="0" rIns="0" bIns="0">
            <a:noAutofit/>
          </a:bodyPr>
          <a:lstStyle/>
          <a:p>
            <a:pPr algn="r">
              <a:lnSpc>
                <a:spcPct val="110000"/>
              </a:lnSpc>
              <a:buNone/>
              <a:defRPr sz="500">
                <a:solidFill>
                  <a:srgbClr val="202020"/>
                </a:solidFill>
                <a:latin typeface="Arial"/>
                <a:ea typeface="Arial"/>
                <a:cs typeface="Arial"/>
              </a:defRPr>
            </a:pPr>
            <a:r>
              <a:rPr sz="500">
                <a:solidFill>
                  <a:srgbClr val="202020"/>
                </a:solidFill>
                <a:latin typeface="Arial"/>
                <a:ea typeface="Arial"/>
                <a:cs typeface="Arial"/>
              </a:rPr>
              <a:t>1</a:t>
            </a:r>
          </a:p>
        </p:txBody>
      </p:sp>
      <p:sp>
        <p:nvSpPr>
          <p:cNvPr id="13" name="text">
            <a:extLst>
              <a:ext uri="{FF2B5EF4-FFF2-40B4-BE49-F238E27FC236}">
                <a16:creationId xmlns:a16="http://schemas.microsoft.com/office/drawing/2014/main" id="{3FB5DF30-8FF9-4E14-95E7-3258E0E5757E}"/>
              </a:ext>
            </a:extLst>
          </p:cNvPr>
          <p:cNvSpPr>
            <a:spLocks noGrp="1"/>
          </p:cNvSpPr>
          <p:nvPr/>
        </p:nvSpPr>
        <p:spPr>
          <a:xfrm>
            <a:off x="228600" y="504825"/>
            <a:ext cx="5314950" cy="381000"/>
          </a:xfrm>
          <a:prstGeom prst="rect">
            <a:avLst/>
          </a:prstGeom>
          <a:noFill/>
          <a:ln w="0">
            <a:noFill/>
          </a:ln>
        </p:spPr>
        <p:txBody>
          <a:bodyPr wrap="square" lIns="0" tIns="0" rIns="0" bIns="0" anchor="t">
            <a:noAutofit/>
          </a:bodyPr>
          <a:lstStyle/>
          <a:p>
            <a:pPr algn="l">
              <a:lnSpc>
                <a:spcPct val="110000"/>
              </a:lnSpc>
              <a:buNone/>
              <a:defRPr sz="998" b="0">
                <a:solidFill>
                  <a:srgbClr val="202020"/>
                </a:solidFill>
                <a:latin typeface="Arial"/>
                <a:ea typeface="Arial"/>
                <a:cs typeface="Arial"/>
              </a:defRPr>
            </a:pPr>
            <a:r>
              <a:rPr sz="998" b="0">
                <a:solidFill>
                  <a:srgbClr val="202020"/>
                </a:solidFill>
                <a:latin typeface="Arial"/>
                <a:ea typeface="Arial"/>
                <a:cs typeface="Arial"/>
              </a:rPr>
              <a:t>Definitions first, followed by small examples and short practice.</a:t>
            </a:r>
          </a:p>
        </p:txBody>
      </p:sp>
      <p:sp>
        <p:nvSpPr>
          <p:cNvPr id="14" name="text">
            <a:extLst>
              <a:ext uri="{FF2B5EF4-FFF2-40B4-BE49-F238E27FC236}">
                <a16:creationId xmlns:a16="http://schemas.microsoft.com/office/drawing/2014/main" id="{011735A1-DD8F-40A9-9F71-BDC4BD6E2A27}"/>
              </a:ext>
            </a:extLst>
          </p:cNvPr>
          <p:cNvSpPr>
            <a:spLocks noGrp="1"/>
          </p:cNvSpPr>
          <p:nvPr/>
        </p:nvSpPr>
        <p:spPr>
          <a:xfrm>
            <a:off x="285750" y="1000125"/>
            <a:ext cx="1952625" cy="285750"/>
          </a:xfrm>
          <a:prstGeom prst="rect">
            <a:avLst/>
          </a:prstGeom>
          <a:noFill/>
          <a:ln w="0">
            <a:noFill/>
          </a:ln>
        </p:spPr>
        <p:txBody>
          <a:bodyPr wrap="square" lIns="0" tIns="0" rIns="0" bIns="0" anchor="t">
            <a:noAutofit/>
          </a:bodyPr>
          <a:lstStyle/>
          <a:p>
            <a:pPr algn="l">
              <a:lnSpc>
                <a:spcPct val="110000"/>
              </a:lnSpc>
              <a:buNone/>
              <a:defRPr sz="1050" b="1">
                <a:solidFill>
                  <a:srgbClr val="006ABA"/>
                </a:solidFill>
                <a:latin typeface="Arial"/>
                <a:ea typeface="Arial"/>
                <a:cs typeface="Arial"/>
              </a:defRPr>
            </a:pPr>
            <a:r>
              <a:rPr sz="1050" b="1">
                <a:solidFill>
                  <a:srgbClr val="006ABA"/>
                </a:solidFill>
                <a:latin typeface="Arial"/>
                <a:ea typeface="Arial"/>
                <a:cs typeface="Arial"/>
              </a:rPr>
              <a:t>Algorithms</a:t>
            </a:r>
          </a:p>
        </p:txBody>
      </p:sp>
      <p:sp>
        <p:nvSpPr>
          <p:cNvPr id="15" name="text">
            <a:extLst>
              <a:ext uri="{FF2B5EF4-FFF2-40B4-BE49-F238E27FC236}">
                <a16:creationId xmlns:a16="http://schemas.microsoft.com/office/drawing/2014/main" id="{D4F8B678-3878-41C3-AE98-FE166A5ABAC0}"/>
              </a:ext>
            </a:extLst>
          </p:cNvPr>
          <p:cNvSpPr>
            <a:spLocks noGrp="1"/>
          </p:cNvSpPr>
          <p:nvPr/>
        </p:nvSpPr>
        <p:spPr>
          <a:xfrm>
            <a:off x="2409825" y="1000125"/>
            <a:ext cx="3067050" cy="304800"/>
          </a:xfrm>
          <a:prstGeom prst="rect">
            <a:avLst/>
          </a:prstGeom>
          <a:noFill/>
          <a:ln w="0">
            <a:noFill/>
          </a:ln>
        </p:spPr>
        <p:txBody>
          <a:bodyPr wrap="square" lIns="0" tIns="0" rIns="0" bIns="0" anchor="t">
            <a:noAutofit/>
          </a:bodyPr>
          <a:lstStyle/>
          <a:p>
            <a:pPr algn="l">
              <a:lnSpc>
                <a:spcPct val="110000"/>
              </a:lnSpc>
              <a:buNone/>
              <a:defRPr sz="1050" b="0">
                <a:solidFill>
                  <a:srgbClr val="202020"/>
                </a:solidFill>
                <a:latin typeface="Arial"/>
                <a:ea typeface="Arial"/>
                <a:cs typeface="Arial"/>
              </a:defRPr>
            </a:pPr>
            <a:r>
              <a:rPr sz="1050" b="0">
                <a:solidFill>
                  <a:srgbClr val="202020"/>
                </a:solidFill>
                <a:latin typeface="Arial"/>
                <a:ea typeface="Arial"/>
                <a:cs typeface="Arial"/>
              </a:rPr>
              <a:t>Properties, searching and sorting</a:t>
            </a:r>
          </a:p>
        </p:txBody>
      </p:sp>
      <p:sp>
        <p:nvSpPr>
          <p:cNvPr id="16" name="text">
            <a:extLst>
              <a:ext uri="{FF2B5EF4-FFF2-40B4-BE49-F238E27FC236}">
                <a16:creationId xmlns:a16="http://schemas.microsoft.com/office/drawing/2014/main" id="{75AFE138-BB61-4BD2-93C3-A2E63835542F}"/>
              </a:ext>
            </a:extLst>
          </p:cNvPr>
          <p:cNvSpPr>
            <a:spLocks noGrp="1"/>
          </p:cNvSpPr>
          <p:nvPr/>
        </p:nvSpPr>
        <p:spPr>
          <a:xfrm>
            <a:off x="285750" y="1390650"/>
            <a:ext cx="1952625" cy="285750"/>
          </a:xfrm>
          <a:prstGeom prst="rect">
            <a:avLst/>
          </a:prstGeom>
          <a:noFill/>
          <a:ln w="0">
            <a:noFill/>
          </a:ln>
        </p:spPr>
        <p:txBody>
          <a:bodyPr wrap="square" lIns="0" tIns="0" rIns="0" bIns="0" anchor="t">
            <a:noAutofit/>
          </a:bodyPr>
          <a:lstStyle/>
          <a:p>
            <a:pPr algn="l">
              <a:lnSpc>
                <a:spcPct val="110000"/>
              </a:lnSpc>
              <a:buNone/>
              <a:defRPr sz="1050" b="1">
                <a:solidFill>
                  <a:srgbClr val="006ABA"/>
                </a:solidFill>
                <a:latin typeface="Arial"/>
                <a:ea typeface="Arial"/>
                <a:cs typeface="Arial"/>
              </a:defRPr>
            </a:pPr>
            <a:r>
              <a:rPr sz="1050" b="1">
                <a:solidFill>
                  <a:srgbClr val="006ABA"/>
                </a:solidFill>
                <a:latin typeface="Arial"/>
                <a:ea typeface="Arial"/>
                <a:cs typeface="Arial"/>
              </a:rPr>
              <a:t>Complexity</a:t>
            </a:r>
          </a:p>
        </p:txBody>
      </p:sp>
      <p:sp>
        <p:nvSpPr>
          <p:cNvPr id="17" name="text">
            <a:extLst>
              <a:ext uri="{FF2B5EF4-FFF2-40B4-BE49-F238E27FC236}">
                <a16:creationId xmlns:a16="http://schemas.microsoft.com/office/drawing/2014/main" id="{022E38C2-A3B0-4ECD-8AA8-299D5F186FBC}"/>
              </a:ext>
            </a:extLst>
          </p:cNvPr>
          <p:cNvSpPr>
            <a:spLocks noGrp="1"/>
          </p:cNvSpPr>
          <p:nvPr/>
        </p:nvSpPr>
        <p:spPr>
          <a:xfrm>
            <a:off x="2409825" y="1390650"/>
            <a:ext cx="3067050" cy="304800"/>
          </a:xfrm>
          <a:prstGeom prst="rect">
            <a:avLst/>
          </a:prstGeom>
          <a:noFill/>
          <a:ln w="0">
            <a:noFill/>
          </a:ln>
        </p:spPr>
        <p:txBody>
          <a:bodyPr wrap="square" lIns="0" tIns="0" rIns="0" bIns="0" anchor="t">
            <a:noAutofit/>
          </a:bodyPr>
          <a:lstStyle/>
          <a:p>
            <a:pPr algn="l">
              <a:lnSpc>
                <a:spcPct val="110000"/>
              </a:lnSpc>
              <a:buNone/>
              <a:defRPr sz="1050" b="0">
                <a:solidFill>
                  <a:srgbClr val="202020"/>
                </a:solidFill>
                <a:latin typeface="Arial"/>
                <a:ea typeface="Arial"/>
                <a:cs typeface="Arial"/>
              </a:defRPr>
            </a:pPr>
            <a:r>
              <a:rPr sz="1050" b="0">
                <a:solidFill>
                  <a:srgbClr val="202020"/>
                </a:solidFill>
                <a:latin typeface="Arial"/>
                <a:ea typeface="Arial"/>
                <a:cs typeface="Arial"/>
              </a:rPr>
              <a:t>Time, space and Big O</a:t>
            </a:r>
          </a:p>
        </p:txBody>
      </p:sp>
      <p:sp>
        <p:nvSpPr>
          <p:cNvPr id="18" name="text">
            <a:extLst>
              <a:ext uri="{FF2B5EF4-FFF2-40B4-BE49-F238E27FC236}">
                <a16:creationId xmlns:a16="http://schemas.microsoft.com/office/drawing/2014/main" id="{91C2A161-7A77-44CD-85FA-66EADF02B732}"/>
              </a:ext>
            </a:extLst>
          </p:cNvPr>
          <p:cNvSpPr>
            <a:spLocks noGrp="1"/>
          </p:cNvSpPr>
          <p:nvPr/>
        </p:nvSpPr>
        <p:spPr>
          <a:xfrm>
            <a:off x="285750" y="1781175"/>
            <a:ext cx="1952625" cy="285750"/>
          </a:xfrm>
          <a:prstGeom prst="rect">
            <a:avLst/>
          </a:prstGeom>
          <a:noFill/>
          <a:ln w="0">
            <a:noFill/>
          </a:ln>
        </p:spPr>
        <p:txBody>
          <a:bodyPr wrap="square" lIns="0" tIns="0" rIns="0" bIns="0" anchor="t">
            <a:noAutofit/>
          </a:bodyPr>
          <a:lstStyle/>
          <a:p>
            <a:pPr algn="l">
              <a:lnSpc>
                <a:spcPct val="110000"/>
              </a:lnSpc>
              <a:buNone/>
              <a:defRPr sz="1050" b="1">
                <a:solidFill>
                  <a:srgbClr val="006ABA"/>
                </a:solidFill>
                <a:latin typeface="Arial"/>
                <a:ea typeface="Arial"/>
                <a:cs typeface="Arial"/>
              </a:defRPr>
            </a:pPr>
            <a:r>
              <a:rPr sz="1050" b="1">
                <a:solidFill>
                  <a:srgbClr val="006ABA"/>
                </a:solidFill>
                <a:latin typeface="Arial"/>
                <a:ea typeface="Arial"/>
                <a:cs typeface="Arial"/>
              </a:rPr>
              <a:t>Data structures</a:t>
            </a:r>
          </a:p>
        </p:txBody>
      </p:sp>
      <p:sp>
        <p:nvSpPr>
          <p:cNvPr id="19" name="text">
            <a:extLst>
              <a:ext uri="{FF2B5EF4-FFF2-40B4-BE49-F238E27FC236}">
                <a16:creationId xmlns:a16="http://schemas.microsoft.com/office/drawing/2014/main" id="{D6788943-837A-4784-9910-0C89718ED793}"/>
              </a:ext>
            </a:extLst>
          </p:cNvPr>
          <p:cNvSpPr>
            <a:spLocks noGrp="1"/>
          </p:cNvSpPr>
          <p:nvPr/>
        </p:nvSpPr>
        <p:spPr>
          <a:xfrm>
            <a:off x="2409825" y="1781175"/>
            <a:ext cx="3067050" cy="304800"/>
          </a:xfrm>
          <a:prstGeom prst="rect">
            <a:avLst/>
          </a:prstGeom>
          <a:noFill/>
          <a:ln w="0">
            <a:noFill/>
          </a:ln>
        </p:spPr>
        <p:txBody>
          <a:bodyPr wrap="square" lIns="0" tIns="0" rIns="0" bIns="0" anchor="t">
            <a:noAutofit/>
          </a:bodyPr>
          <a:lstStyle/>
          <a:p>
            <a:pPr algn="l">
              <a:lnSpc>
                <a:spcPct val="110000"/>
              </a:lnSpc>
              <a:buNone/>
              <a:defRPr sz="1050" b="0">
                <a:solidFill>
                  <a:srgbClr val="202020"/>
                </a:solidFill>
                <a:latin typeface="Arial"/>
                <a:ea typeface="Arial"/>
                <a:cs typeface="Arial"/>
              </a:defRPr>
            </a:pPr>
            <a:r>
              <a:rPr sz="1050" b="0">
                <a:solidFill>
                  <a:srgbClr val="202020"/>
                </a:solidFill>
                <a:latin typeface="Arial"/>
                <a:ea typeface="Arial"/>
                <a:cs typeface="Arial"/>
              </a:rPr>
              <a:t>Sequences, maps, stacks and queues</a:t>
            </a:r>
          </a:p>
        </p:txBody>
      </p:sp>
      <p:sp>
        <p:nvSpPr>
          <p:cNvPr id="20" name="text">
            <a:extLst>
              <a:ext uri="{FF2B5EF4-FFF2-40B4-BE49-F238E27FC236}">
                <a16:creationId xmlns:a16="http://schemas.microsoft.com/office/drawing/2014/main" id="{F11F0F73-6520-4F72-8DA2-4651C7EF19F9}"/>
              </a:ext>
            </a:extLst>
          </p:cNvPr>
          <p:cNvSpPr>
            <a:spLocks noGrp="1"/>
          </p:cNvSpPr>
          <p:nvPr/>
        </p:nvSpPr>
        <p:spPr>
          <a:xfrm>
            <a:off x="285750" y="2171700"/>
            <a:ext cx="1952625" cy="285750"/>
          </a:xfrm>
          <a:prstGeom prst="rect">
            <a:avLst/>
          </a:prstGeom>
          <a:noFill/>
          <a:ln w="0">
            <a:noFill/>
          </a:ln>
        </p:spPr>
        <p:txBody>
          <a:bodyPr wrap="square" lIns="0" tIns="0" rIns="0" bIns="0" anchor="t">
            <a:noAutofit/>
          </a:bodyPr>
          <a:lstStyle/>
          <a:p>
            <a:pPr algn="l">
              <a:lnSpc>
                <a:spcPct val="110000"/>
              </a:lnSpc>
              <a:buNone/>
              <a:defRPr sz="1050" b="1">
                <a:solidFill>
                  <a:srgbClr val="006ABA"/>
                </a:solidFill>
                <a:latin typeface="Arial"/>
                <a:ea typeface="Arial"/>
                <a:cs typeface="Arial"/>
              </a:defRPr>
            </a:pPr>
            <a:r>
              <a:rPr sz="1050" b="1">
                <a:solidFill>
                  <a:srgbClr val="006ABA"/>
                </a:solidFill>
                <a:latin typeface="Arial"/>
                <a:ea typeface="Arial"/>
                <a:cs typeface="Arial"/>
              </a:rPr>
              <a:t>Connected data</a:t>
            </a:r>
          </a:p>
        </p:txBody>
      </p:sp>
      <p:sp>
        <p:nvSpPr>
          <p:cNvPr id="21" name="text">
            <a:extLst>
              <a:ext uri="{FF2B5EF4-FFF2-40B4-BE49-F238E27FC236}">
                <a16:creationId xmlns:a16="http://schemas.microsoft.com/office/drawing/2014/main" id="{49E0806F-C8E4-4517-AB67-601F36ED8441}"/>
              </a:ext>
            </a:extLst>
          </p:cNvPr>
          <p:cNvSpPr>
            <a:spLocks noGrp="1"/>
          </p:cNvSpPr>
          <p:nvPr/>
        </p:nvSpPr>
        <p:spPr>
          <a:xfrm>
            <a:off x="2409825" y="2171700"/>
            <a:ext cx="3067050" cy="304800"/>
          </a:xfrm>
          <a:prstGeom prst="rect">
            <a:avLst/>
          </a:prstGeom>
          <a:noFill/>
          <a:ln w="0">
            <a:noFill/>
          </a:ln>
        </p:spPr>
        <p:txBody>
          <a:bodyPr wrap="square" lIns="0" tIns="0" rIns="0" bIns="0" anchor="t">
            <a:noAutofit/>
          </a:bodyPr>
          <a:lstStyle/>
          <a:p>
            <a:pPr algn="l">
              <a:lnSpc>
                <a:spcPct val="110000"/>
              </a:lnSpc>
              <a:buNone/>
              <a:defRPr sz="1050" b="0">
                <a:solidFill>
                  <a:srgbClr val="202020"/>
                </a:solidFill>
                <a:latin typeface="Arial"/>
                <a:ea typeface="Arial"/>
                <a:cs typeface="Arial"/>
              </a:defRPr>
            </a:pPr>
            <a:r>
              <a:rPr sz="1050" b="0">
                <a:solidFill>
                  <a:srgbClr val="202020"/>
                </a:solidFill>
                <a:latin typeface="Arial"/>
                <a:ea typeface="Arial"/>
                <a:cs typeface="Arial"/>
              </a:rPr>
              <a:t>Trees, traversal, graphs and heaps</a:t>
            </a:r>
          </a:p>
        </p:txBody>
      </p:sp>
      <p:sp>
        <p:nvSpPr>
          <p:cNvPr id="22" name="text">
            <a:extLst>
              <a:ext uri="{FF2B5EF4-FFF2-40B4-BE49-F238E27FC236}">
                <a16:creationId xmlns:a16="http://schemas.microsoft.com/office/drawing/2014/main" id="{7B6CDCE0-810C-4129-8D0F-6E3FEC52C19D}"/>
              </a:ext>
            </a:extLst>
          </p:cNvPr>
          <p:cNvSpPr>
            <a:spLocks noGrp="1"/>
          </p:cNvSpPr>
          <p:nvPr/>
        </p:nvSpPr>
        <p:spPr>
          <a:xfrm>
            <a:off x="228600" y="2867025"/>
            <a:ext cx="5334000" cy="95250"/>
          </a:xfrm>
          <a:prstGeom prst="rect">
            <a:avLst/>
          </a:prstGeom>
          <a:noFill/>
          <a:ln w="0">
            <a:noFill/>
          </a:ln>
        </p:spPr>
        <p:txBody>
          <a:bodyPr wrap="square" lIns="0" tIns="0" rIns="0" bIns="0" anchor="t">
            <a:noAutofit/>
          </a:bodyPr>
          <a:lstStyle/>
          <a:p>
            <a:pPr algn="l">
              <a:lnSpc>
                <a:spcPct val="110000"/>
              </a:lnSpc>
              <a:buNone/>
              <a:defRPr sz="510" b="0">
                <a:solidFill>
                  <a:srgbClr val="66717C"/>
                </a:solidFill>
                <a:latin typeface="Arial"/>
                <a:ea typeface="Arial"/>
                <a:cs typeface="Arial"/>
              </a:defRPr>
            </a:pPr>
            <a:r>
              <a:rPr sz="510" b="0">
                <a:solidFill>
                  <a:srgbClr val="66717C"/>
                </a:solidFill>
                <a:latin typeface="Arial"/>
                <a:ea typeface="Arial"/>
                <a:cs typeface="Arial"/>
              </a:rPr>
              <a:t>[I]  [A]  [P]  [M]</a:t>
            </a:r>
          </a:p>
        </p:txBody>
      </p:sp>
    </p:spTree>
    <p:extLst>
      <p:ext uri="{BB962C8B-B14F-4D97-AF65-F5344CB8AC3E}">
        <p14:creationId xmlns:p14="http://schemas.microsoft.com/office/powerpoint/2010/main" val="36456721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19C03931-4A28-44C2-9238-650F85D8C2AD}"/>
              </a:ext>
            </a:extLst>
          </p:cNvPr>
          <p:cNvSpPr>
            <a:spLocks noGrp="1"/>
          </p:cNvSpPr>
          <p:nvPr>
            <p:ph type="title"/>
          </p:nvPr>
        </p:nvSpPr>
        <p:spPr>
          <a:xfrm>
            <a:off x="171450" y="95250"/>
            <a:ext cx="5429250" cy="304800"/>
          </a:xfrm>
          <a:prstGeom prst="rect">
            <a:avLst/>
          </a:prstGeom>
        </p:spPr>
        <p:txBody>
          <a:bodyPr vert="horz" wrap="square" lIns="0" tIns="0" rIns="0" bIns="0">
            <a:noAutofit/>
          </a:bodyPr>
          <a:lstStyle/>
          <a:p>
            <a:pPr marL="12700" algn="l">
              <a:lnSpc>
                <a:spcPct val="110000"/>
              </a:lnSpc>
              <a:spcBef>
                <a:spcPts val="135"/>
              </a:spcBef>
              <a:buNone/>
              <a:defRPr sz="1400">
                <a:solidFill>
                  <a:srgbClr val="006ABA"/>
                </a:solidFill>
                <a:latin typeface="Arial"/>
                <a:ea typeface="Arial"/>
                <a:cs typeface="Arial"/>
              </a:defRPr>
            </a:pPr>
            <a:r>
              <a:rPr sz="1400" b="0" spc="-10">
                <a:solidFill>
                  <a:srgbClr val="006ABA"/>
                </a:solidFill>
                <a:latin typeface="Arial"/>
                <a:ea typeface="Arial"/>
                <a:cs typeface="Arial"/>
              </a:rPr>
              <a:t>Theoretical computer science</a:t>
            </a:r>
            <a:endParaRPr sz="1400" b="0" spc="-10">
              <a:latin typeface="Arial"/>
              <a:ea typeface="Arial"/>
              <a:cs typeface="Arial"/>
            </a:endParaRPr>
          </a:p>
        </p:txBody>
      </p:sp>
      <p:pic>
        <p:nvPicPr>
          <p:cNvPr id="22" name="object 4"/>
          <p:cNvPicPr>
            <a:picLocks noChangeAspect="1"/>
          </p:cNvPicPr>
          <p:nvPr/>
        </p:nvPicPr>
        <p:blipFill>
          <a:blip r:embed="rId3"/>
          <a:stretch>
            <a:fillRect/>
          </a:stretch>
        </p:blipFill>
        <p:spPr>
          <a:xfrm>
            <a:off x="152565" y="2988507"/>
            <a:ext cx="900668" cy="161917"/>
          </a:xfrm>
          <a:prstGeom prst="rect">
            <a:avLst/>
          </a:prstGeom>
        </p:spPr>
      </p:pic>
      <p:pic>
        <p:nvPicPr>
          <p:cNvPr id="23" name="object 5"/>
          <p:cNvPicPr>
            <a:picLocks noChangeAspect="1"/>
          </p:cNvPicPr>
          <p:nvPr/>
        </p:nvPicPr>
        <p:blipFill>
          <a:blip r:embed="rId4"/>
          <a:stretch>
            <a:fillRect/>
          </a:stretch>
        </p:blipFill>
        <p:spPr>
          <a:xfrm>
            <a:off x="1286560" y="2988417"/>
            <a:ext cx="610912" cy="162008"/>
          </a:xfrm>
          <a:prstGeom prst="rect">
            <a:avLst/>
          </a:prstGeom>
        </p:spPr>
      </p:pic>
      <p:sp>
        <p:nvSpPr>
          <p:cNvPr id="10" name="Footer Placeholder 7">
            <a:extLst>
              <a:ext uri="{FF2B5EF4-FFF2-40B4-BE49-F238E27FC236}">
                <a16:creationId xmlns:a16="http://schemas.microsoft.com/office/drawing/2014/main" id="{197FE2C8-8EE2-4937-3F30-294DB47641D6}"/>
              </a:ext>
            </a:extLst>
          </p:cNvPr>
          <p:cNvSpPr>
            <a:spLocks noGrp="1"/>
          </p:cNvSpPr>
          <p:nvPr>
            <p:ph type="ftr" idx="5"/>
          </p:nvPr>
        </p:nvSpPr>
        <p:spPr>
          <a:xfrm>
            <a:off x="2590800" y="3105150"/>
            <a:ext cx="2743200" cy="95250"/>
          </a:xfrm>
        </p:spPr>
        <p:txBody>
          <a:bodyPr wrap="square" lIns="0" tIns="0" rIns="0" bIns="0">
            <a:noAutofit/>
          </a:bodyPr>
          <a:lstStyle/>
          <a:p>
            <a:pPr algn="r">
              <a:lnSpc>
                <a:spcPct val="110000"/>
              </a:lnSpc>
              <a:buNone/>
              <a:defRPr sz="500">
                <a:solidFill>
                  <a:srgbClr val="888888"/>
                </a:solidFill>
                <a:latin typeface="Arial"/>
                <a:ea typeface="Arial"/>
                <a:cs typeface="Arial"/>
              </a:defRPr>
            </a:pPr>
            <a:r>
              <a:rPr sz="500">
                <a:solidFill>
                  <a:srgbClr val="888888"/>
                </a:solidFill>
                <a:latin typeface="Arial"/>
                <a:ea typeface="Arial"/>
                <a:cs typeface="Arial"/>
              </a:rPr>
              <a:t>MAS Foundations - Kamendu Panchal</a:t>
            </a:r>
            <a:endParaRPr sz="500" b="1">
              <a:solidFill>
                <a:schemeClr val="tx1"/>
              </a:solidFill>
              <a:latin typeface="Arial"/>
              <a:ea typeface="Arial"/>
              <a:cs typeface="Arial"/>
            </a:endParaRPr>
          </a:p>
        </p:txBody>
      </p:sp>
      <p:sp>
        <p:nvSpPr>
          <p:cNvPr id="3" name="TextBox 2">
            <a:extLst>
              <a:ext uri="{FF2B5EF4-FFF2-40B4-BE49-F238E27FC236}">
                <a16:creationId xmlns:a16="http://schemas.microsoft.com/office/drawing/2014/main" id="{DCE8FEB4-DA15-74FB-D091-FA2B80C9B501}"/>
              </a:ext>
            </a:extLst>
          </p:cNvPr>
          <p:cNvSpPr>
            <a:spLocks noGrp="1"/>
          </p:cNvSpPr>
          <p:nvPr/>
        </p:nvSpPr>
        <p:spPr>
          <a:xfrm>
            <a:off x="5438775" y="3086100"/>
            <a:ext cx="209550" cy="175260"/>
          </a:xfrm>
          <a:prstGeom prst="rect">
            <a:avLst/>
          </a:prstGeom>
          <a:noFill/>
        </p:spPr>
        <p:txBody>
          <a:bodyPr wrap="square" lIns="0" tIns="0" rIns="0" bIns="0">
            <a:noAutofit/>
          </a:bodyPr>
          <a:lstStyle/>
          <a:p>
            <a:pPr algn="r">
              <a:lnSpc>
                <a:spcPct val="110000"/>
              </a:lnSpc>
              <a:buNone/>
              <a:defRPr sz="500">
                <a:solidFill>
                  <a:srgbClr val="202020"/>
                </a:solidFill>
                <a:latin typeface="Arial"/>
                <a:ea typeface="Arial"/>
                <a:cs typeface="Arial"/>
              </a:defRPr>
            </a:pPr>
            <a:r>
              <a:rPr sz="500">
                <a:solidFill>
                  <a:srgbClr val="202020"/>
                </a:solidFill>
                <a:latin typeface="Arial"/>
                <a:ea typeface="Arial"/>
                <a:cs typeface="Arial"/>
              </a:rPr>
              <a:t>2</a:t>
            </a:r>
          </a:p>
        </p:txBody>
      </p:sp>
      <p:sp>
        <p:nvSpPr>
          <p:cNvPr id="13" name="text">
            <a:extLst>
              <a:ext uri="{FF2B5EF4-FFF2-40B4-BE49-F238E27FC236}">
                <a16:creationId xmlns:a16="http://schemas.microsoft.com/office/drawing/2014/main" id="{4811DE53-A33E-43C4-A3E5-3E56E3787CC8}"/>
              </a:ext>
            </a:extLst>
          </p:cNvPr>
          <p:cNvSpPr>
            <a:spLocks noGrp="1"/>
          </p:cNvSpPr>
          <p:nvPr/>
        </p:nvSpPr>
        <p:spPr>
          <a:xfrm>
            <a:off x="228600" y="504825"/>
            <a:ext cx="5314950" cy="381000"/>
          </a:xfrm>
          <a:prstGeom prst="rect">
            <a:avLst/>
          </a:prstGeom>
          <a:noFill/>
          <a:ln w="0">
            <a:noFill/>
          </a:ln>
        </p:spPr>
        <p:txBody>
          <a:bodyPr wrap="square" lIns="0" tIns="0" rIns="0" bIns="0" anchor="t">
            <a:noAutofit/>
          </a:bodyPr>
          <a:lstStyle/>
          <a:p>
            <a:pPr algn="l">
              <a:lnSpc>
                <a:spcPct val="110000"/>
              </a:lnSpc>
              <a:buNone/>
              <a:defRPr sz="998" b="0">
                <a:solidFill>
                  <a:srgbClr val="202020"/>
                </a:solidFill>
                <a:latin typeface="Arial"/>
                <a:ea typeface="Arial"/>
                <a:cs typeface="Arial"/>
              </a:defRPr>
            </a:pPr>
            <a:r>
              <a:rPr sz="998" b="0">
                <a:solidFill>
                  <a:srgbClr val="202020"/>
                </a:solidFill>
                <a:latin typeface="Arial"/>
                <a:ea typeface="Arial"/>
                <a:cs typeface="Arial"/>
              </a:rPr>
              <a:t>The study of computation and the reasoning behind programs.</a:t>
            </a:r>
          </a:p>
        </p:txBody>
      </p:sp>
      <p:sp>
        <p:nvSpPr>
          <p:cNvPr id="14" name="text">
            <a:extLst>
              <a:ext uri="{FF2B5EF4-FFF2-40B4-BE49-F238E27FC236}">
                <a16:creationId xmlns:a16="http://schemas.microsoft.com/office/drawing/2014/main" id="{A99CBFE7-268E-4035-92F1-9155A0195011}"/>
              </a:ext>
            </a:extLst>
          </p:cNvPr>
          <p:cNvSpPr>
            <a:spLocks noGrp="1"/>
          </p:cNvSpPr>
          <p:nvPr/>
        </p:nvSpPr>
        <p:spPr>
          <a:xfrm>
            <a:off x="285750" y="1000125"/>
            <a:ext cx="1952625" cy="285750"/>
          </a:xfrm>
          <a:prstGeom prst="rect">
            <a:avLst/>
          </a:prstGeom>
          <a:noFill/>
          <a:ln w="0">
            <a:noFill/>
          </a:ln>
        </p:spPr>
        <p:txBody>
          <a:bodyPr wrap="square" lIns="0" tIns="0" rIns="0" bIns="0" anchor="t">
            <a:noAutofit/>
          </a:bodyPr>
          <a:lstStyle/>
          <a:p>
            <a:pPr algn="l">
              <a:lnSpc>
                <a:spcPct val="110000"/>
              </a:lnSpc>
              <a:buNone/>
              <a:defRPr sz="1050" b="1">
                <a:solidFill>
                  <a:srgbClr val="006ABA"/>
                </a:solidFill>
                <a:latin typeface="Arial"/>
                <a:ea typeface="Arial"/>
                <a:cs typeface="Arial"/>
              </a:defRPr>
            </a:pPr>
            <a:r>
              <a:rPr sz="1050" b="1">
                <a:solidFill>
                  <a:srgbClr val="006ABA"/>
                </a:solidFill>
                <a:latin typeface="Arial"/>
                <a:ea typeface="Arial"/>
                <a:cs typeface="Arial"/>
              </a:rPr>
              <a:t>Computability</a:t>
            </a:r>
          </a:p>
        </p:txBody>
      </p:sp>
      <p:sp>
        <p:nvSpPr>
          <p:cNvPr id="15" name="text">
            <a:extLst>
              <a:ext uri="{FF2B5EF4-FFF2-40B4-BE49-F238E27FC236}">
                <a16:creationId xmlns:a16="http://schemas.microsoft.com/office/drawing/2014/main" id="{F4262A3F-782B-4839-A940-DAF2FCDF78DE}"/>
              </a:ext>
            </a:extLst>
          </p:cNvPr>
          <p:cNvSpPr>
            <a:spLocks noGrp="1"/>
          </p:cNvSpPr>
          <p:nvPr/>
        </p:nvSpPr>
        <p:spPr>
          <a:xfrm>
            <a:off x="2409825" y="1000125"/>
            <a:ext cx="3067050" cy="304800"/>
          </a:xfrm>
          <a:prstGeom prst="rect">
            <a:avLst/>
          </a:prstGeom>
          <a:noFill/>
          <a:ln w="0">
            <a:noFill/>
          </a:ln>
        </p:spPr>
        <p:txBody>
          <a:bodyPr wrap="square" lIns="0" tIns="0" rIns="0" bIns="0" anchor="t">
            <a:noAutofit/>
          </a:bodyPr>
          <a:lstStyle/>
          <a:p>
            <a:pPr algn="l">
              <a:lnSpc>
                <a:spcPct val="110000"/>
              </a:lnSpc>
              <a:buNone/>
              <a:defRPr sz="1050" b="0">
                <a:solidFill>
                  <a:srgbClr val="202020"/>
                </a:solidFill>
                <a:latin typeface="Arial"/>
                <a:ea typeface="Arial"/>
                <a:cs typeface="Arial"/>
              </a:defRPr>
            </a:pPr>
            <a:r>
              <a:rPr sz="1050" b="0">
                <a:solidFill>
                  <a:srgbClr val="202020"/>
                </a:solidFill>
                <a:latin typeface="Arial"/>
                <a:ea typeface="Arial"/>
                <a:cs typeface="Arial"/>
              </a:rPr>
              <a:t>Can a problem be solved?</a:t>
            </a:r>
          </a:p>
        </p:txBody>
      </p:sp>
      <p:sp>
        <p:nvSpPr>
          <p:cNvPr id="16" name="text">
            <a:extLst>
              <a:ext uri="{FF2B5EF4-FFF2-40B4-BE49-F238E27FC236}">
                <a16:creationId xmlns:a16="http://schemas.microsoft.com/office/drawing/2014/main" id="{905E4E25-A9FB-4F7B-B6E2-0CF1AA196BC9}"/>
              </a:ext>
            </a:extLst>
          </p:cNvPr>
          <p:cNvSpPr>
            <a:spLocks noGrp="1"/>
          </p:cNvSpPr>
          <p:nvPr/>
        </p:nvSpPr>
        <p:spPr>
          <a:xfrm>
            <a:off x="285750" y="1390650"/>
            <a:ext cx="1952625" cy="285750"/>
          </a:xfrm>
          <a:prstGeom prst="rect">
            <a:avLst/>
          </a:prstGeom>
          <a:noFill/>
          <a:ln w="0">
            <a:noFill/>
          </a:ln>
        </p:spPr>
        <p:txBody>
          <a:bodyPr wrap="square" lIns="0" tIns="0" rIns="0" bIns="0" anchor="t">
            <a:noAutofit/>
          </a:bodyPr>
          <a:lstStyle/>
          <a:p>
            <a:pPr algn="l">
              <a:lnSpc>
                <a:spcPct val="110000"/>
              </a:lnSpc>
              <a:buNone/>
              <a:defRPr sz="1050" b="1">
                <a:solidFill>
                  <a:srgbClr val="006ABA"/>
                </a:solidFill>
                <a:latin typeface="Arial"/>
                <a:ea typeface="Arial"/>
                <a:cs typeface="Arial"/>
              </a:defRPr>
            </a:pPr>
            <a:r>
              <a:rPr sz="1050" b="1">
                <a:solidFill>
                  <a:srgbClr val="006ABA"/>
                </a:solidFill>
                <a:latin typeface="Arial"/>
                <a:ea typeface="Arial"/>
                <a:cs typeface="Arial"/>
              </a:rPr>
              <a:t>Correctness</a:t>
            </a:r>
          </a:p>
        </p:txBody>
      </p:sp>
      <p:sp>
        <p:nvSpPr>
          <p:cNvPr id="17" name="text">
            <a:extLst>
              <a:ext uri="{FF2B5EF4-FFF2-40B4-BE49-F238E27FC236}">
                <a16:creationId xmlns:a16="http://schemas.microsoft.com/office/drawing/2014/main" id="{8D213492-CC59-4C13-A51F-B8C8577EBE16}"/>
              </a:ext>
            </a:extLst>
          </p:cNvPr>
          <p:cNvSpPr>
            <a:spLocks noGrp="1"/>
          </p:cNvSpPr>
          <p:nvPr/>
        </p:nvSpPr>
        <p:spPr>
          <a:xfrm>
            <a:off x="2409825" y="1390650"/>
            <a:ext cx="3067050" cy="304800"/>
          </a:xfrm>
          <a:prstGeom prst="rect">
            <a:avLst/>
          </a:prstGeom>
          <a:noFill/>
          <a:ln w="0">
            <a:noFill/>
          </a:ln>
        </p:spPr>
        <p:txBody>
          <a:bodyPr wrap="square" lIns="0" tIns="0" rIns="0" bIns="0" anchor="t">
            <a:noAutofit/>
          </a:bodyPr>
          <a:lstStyle/>
          <a:p>
            <a:pPr algn="l">
              <a:lnSpc>
                <a:spcPct val="110000"/>
              </a:lnSpc>
              <a:buNone/>
              <a:defRPr sz="1050" b="0">
                <a:solidFill>
                  <a:srgbClr val="202020"/>
                </a:solidFill>
                <a:latin typeface="Arial"/>
                <a:ea typeface="Arial"/>
                <a:cs typeface="Arial"/>
              </a:defRPr>
            </a:pPr>
            <a:r>
              <a:rPr sz="1050" b="0">
                <a:solidFill>
                  <a:srgbClr val="202020"/>
                </a:solidFill>
                <a:latin typeface="Arial"/>
                <a:ea typeface="Arial"/>
                <a:cs typeface="Arial"/>
              </a:rPr>
              <a:t>Does the procedure give the right result?</a:t>
            </a:r>
          </a:p>
        </p:txBody>
      </p:sp>
      <p:sp>
        <p:nvSpPr>
          <p:cNvPr id="18" name="text">
            <a:extLst>
              <a:ext uri="{FF2B5EF4-FFF2-40B4-BE49-F238E27FC236}">
                <a16:creationId xmlns:a16="http://schemas.microsoft.com/office/drawing/2014/main" id="{D5D703F8-89F3-4478-8EBF-9C6FB4B00735}"/>
              </a:ext>
            </a:extLst>
          </p:cNvPr>
          <p:cNvSpPr>
            <a:spLocks noGrp="1"/>
          </p:cNvSpPr>
          <p:nvPr/>
        </p:nvSpPr>
        <p:spPr>
          <a:xfrm>
            <a:off x="285750" y="1781175"/>
            <a:ext cx="1952625" cy="285750"/>
          </a:xfrm>
          <a:prstGeom prst="rect">
            <a:avLst/>
          </a:prstGeom>
          <a:noFill/>
          <a:ln w="0">
            <a:noFill/>
          </a:ln>
        </p:spPr>
        <p:txBody>
          <a:bodyPr wrap="square" lIns="0" tIns="0" rIns="0" bIns="0" anchor="t">
            <a:noAutofit/>
          </a:bodyPr>
          <a:lstStyle/>
          <a:p>
            <a:pPr algn="l">
              <a:lnSpc>
                <a:spcPct val="110000"/>
              </a:lnSpc>
              <a:buNone/>
              <a:defRPr sz="1050" b="1">
                <a:solidFill>
                  <a:srgbClr val="006ABA"/>
                </a:solidFill>
                <a:latin typeface="Arial"/>
                <a:ea typeface="Arial"/>
                <a:cs typeface="Arial"/>
              </a:defRPr>
            </a:pPr>
            <a:r>
              <a:rPr sz="1050" b="1">
                <a:solidFill>
                  <a:srgbClr val="006ABA"/>
                </a:solidFill>
                <a:latin typeface="Arial"/>
                <a:ea typeface="Arial"/>
                <a:cs typeface="Arial"/>
              </a:rPr>
              <a:t>Complexity</a:t>
            </a:r>
          </a:p>
        </p:txBody>
      </p:sp>
      <p:sp>
        <p:nvSpPr>
          <p:cNvPr id="19" name="text">
            <a:extLst>
              <a:ext uri="{FF2B5EF4-FFF2-40B4-BE49-F238E27FC236}">
                <a16:creationId xmlns:a16="http://schemas.microsoft.com/office/drawing/2014/main" id="{D3E80782-1C52-4505-B1B7-19DB7DEF6BE7}"/>
              </a:ext>
            </a:extLst>
          </p:cNvPr>
          <p:cNvSpPr>
            <a:spLocks noGrp="1"/>
          </p:cNvSpPr>
          <p:nvPr/>
        </p:nvSpPr>
        <p:spPr>
          <a:xfrm>
            <a:off x="2409825" y="1781175"/>
            <a:ext cx="3067050" cy="304800"/>
          </a:xfrm>
          <a:prstGeom prst="rect">
            <a:avLst/>
          </a:prstGeom>
          <a:noFill/>
          <a:ln w="0">
            <a:noFill/>
          </a:ln>
        </p:spPr>
        <p:txBody>
          <a:bodyPr wrap="square" lIns="0" tIns="0" rIns="0" bIns="0" anchor="t">
            <a:noAutofit/>
          </a:bodyPr>
          <a:lstStyle/>
          <a:p>
            <a:pPr algn="l">
              <a:lnSpc>
                <a:spcPct val="110000"/>
              </a:lnSpc>
              <a:buNone/>
              <a:defRPr sz="1050" b="0">
                <a:solidFill>
                  <a:srgbClr val="202020"/>
                </a:solidFill>
                <a:latin typeface="Arial"/>
                <a:ea typeface="Arial"/>
                <a:cs typeface="Arial"/>
              </a:defRPr>
            </a:pPr>
            <a:r>
              <a:rPr sz="1050" b="0">
                <a:solidFill>
                  <a:srgbClr val="202020"/>
                </a:solidFill>
                <a:latin typeface="Arial"/>
                <a:ea typeface="Arial"/>
                <a:cs typeface="Arial"/>
              </a:rPr>
              <a:t>How do time and memory needs grow?</a:t>
            </a:r>
          </a:p>
        </p:txBody>
      </p:sp>
      <p:sp>
        <p:nvSpPr>
          <p:cNvPr id="20" name="text">
            <a:extLst>
              <a:ext uri="{FF2B5EF4-FFF2-40B4-BE49-F238E27FC236}">
                <a16:creationId xmlns:a16="http://schemas.microsoft.com/office/drawing/2014/main" id="{FAD25932-69E1-427C-97C1-951DAA80DDA5}"/>
              </a:ext>
            </a:extLst>
          </p:cNvPr>
          <p:cNvSpPr>
            <a:spLocks noGrp="1"/>
          </p:cNvSpPr>
          <p:nvPr/>
        </p:nvSpPr>
        <p:spPr>
          <a:xfrm>
            <a:off x="228600" y="2867025"/>
            <a:ext cx="5334000" cy="95250"/>
          </a:xfrm>
          <a:prstGeom prst="rect">
            <a:avLst/>
          </a:prstGeom>
          <a:noFill/>
          <a:ln w="0">
            <a:noFill/>
          </a:ln>
        </p:spPr>
        <p:txBody>
          <a:bodyPr wrap="square" lIns="0" tIns="0" rIns="0" bIns="0" anchor="t">
            <a:noAutofit/>
          </a:bodyPr>
          <a:lstStyle/>
          <a:p>
            <a:pPr algn="l">
              <a:lnSpc>
                <a:spcPct val="110000"/>
              </a:lnSpc>
              <a:buNone/>
              <a:defRPr sz="510" b="0">
                <a:solidFill>
                  <a:srgbClr val="66717C"/>
                </a:solidFill>
                <a:latin typeface="Arial"/>
                <a:ea typeface="Arial"/>
                <a:cs typeface="Arial"/>
              </a:defRPr>
            </a:pPr>
            <a:r>
              <a:rPr sz="510" b="0">
                <a:solidFill>
                  <a:srgbClr val="66717C"/>
                </a:solidFill>
                <a:latin typeface="Arial"/>
                <a:ea typeface="Arial"/>
                <a:cs typeface="Arial"/>
              </a:rPr>
              <a:t>[T]</a:t>
            </a:r>
          </a:p>
        </p:txBody>
      </p:sp>
    </p:spTree>
    <p:extLst>
      <p:ext uri="{BB962C8B-B14F-4D97-AF65-F5344CB8AC3E}">
        <p14:creationId xmlns:p14="http://schemas.microsoft.com/office/powerpoint/2010/main" val="36456721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19C03931-4A28-44C2-9238-650F85D8C2AD}"/>
              </a:ext>
            </a:extLst>
          </p:cNvPr>
          <p:cNvSpPr>
            <a:spLocks noGrp="1"/>
          </p:cNvSpPr>
          <p:nvPr>
            <p:ph type="title"/>
          </p:nvPr>
        </p:nvSpPr>
        <p:spPr>
          <a:xfrm>
            <a:off x="171450" y="95250"/>
            <a:ext cx="5429250" cy="304800"/>
          </a:xfrm>
          <a:prstGeom prst="rect">
            <a:avLst/>
          </a:prstGeom>
        </p:spPr>
        <p:txBody>
          <a:bodyPr vert="horz" wrap="square" lIns="0" tIns="0" rIns="0" bIns="0">
            <a:noAutofit/>
          </a:bodyPr>
          <a:lstStyle/>
          <a:p>
            <a:pPr marL="12700" algn="l">
              <a:lnSpc>
                <a:spcPct val="110000"/>
              </a:lnSpc>
              <a:spcBef>
                <a:spcPts val="135"/>
              </a:spcBef>
              <a:buNone/>
              <a:defRPr sz="1400">
                <a:solidFill>
                  <a:srgbClr val="006ABA"/>
                </a:solidFill>
                <a:latin typeface="Arial"/>
                <a:ea typeface="Arial"/>
                <a:cs typeface="Arial"/>
              </a:defRPr>
            </a:pPr>
            <a:r>
              <a:rPr sz="1400" b="0" spc="-10">
                <a:solidFill>
                  <a:srgbClr val="006ABA"/>
                </a:solidFill>
                <a:latin typeface="Arial"/>
                <a:ea typeface="Arial"/>
                <a:cs typeface="Arial"/>
              </a:rPr>
              <a:t>What is an algorithm?</a:t>
            </a:r>
            <a:endParaRPr sz="1400" b="0" spc="-10">
              <a:latin typeface="Arial"/>
              <a:ea typeface="Arial"/>
              <a:cs typeface="Arial"/>
            </a:endParaRPr>
          </a:p>
        </p:txBody>
      </p:sp>
      <p:pic>
        <p:nvPicPr>
          <p:cNvPr id="21" name="object 4"/>
          <p:cNvPicPr>
            <a:picLocks noChangeAspect="1"/>
          </p:cNvPicPr>
          <p:nvPr/>
        </p:nvPicPr>
        <p:blipFill>
          <a:blip r:embed="rId3"/>
          <a:stretch>
            <a:fillRect/>
          </a:stretch>
        </p:blipFill>
        <p:spPr>
          <a:xfrm>
            <a:off x="152565" y="2988507"/>
            <a:ext cx="900668" cy="161917"/>
          </a:xfrm>
          <a:prstGeom prst="rect">
            <a:avLst/>
          </a:prstGeom>
        </p:spPr>
      </p:pic>
      <p:pic>
        <p:nvPicPr>
          <p:cNvPr id="22" name="object 5"/>
          <p:cNvPicPr>
            <a:picLocks noChangeAspect="1"/>
          </p:cNvPicPr>
          <p:nvPr/>
        </p:nvPicPr>
        <p:blipFill>
          <a:blip r:embed="rId4"/>
          <a:stretch>
            <a:fillRect/>
          </a:stretch>
        </p:blipFill>
        <p:spPr>
          <a:xfrm>
            <a:off x="1286560" y="2988417"/>
            <a:ext cx="610912" cy="162008"/>
          </a:xfrm>
          <a:prstGeom prst="rect">
            <a:avLst/>
          </a:prstGeom>
        </p:spPr>
      </p:pic>
      <p:sp>
        <p:nvSpPr>
          <p:cNvPr id="10" name="Footer Placeholder 7">
            <a:extLst>
              <a:ext uri="{FF2B5EF4-FFF2-40B4-BE49-F238E27FC236}">
                <a16:creationId xmlns:a16="http://schemas.microsoft.com/office/drawing/2014/main" id="{197FE2C8-8EE2-4937-3F30-294DB47641D6}"/>
              </a:ext>
            </a:extLst>
          </p:cNvPr>
          <p:cNvSpPr>
            <a:spLocks noGrp="1"/>
          </p:cNvSpPr>
          <p:nvPr>
            <p:ph type="ftr" idx="5"/>
          </p:nvPr>
        </p:nvSpPr>
        <p:spPr>
          <a:xfrm>
            <a:off x="2590800" y="3105150"/>
            <a:ext cx="2743200" cy="95250"/>
          </a:xfrm>
        </p:spPr>
        <p:txBody>
          <a:bodyPr wrap="square" lIns="0" tIns="0" rIns="0" bIns="0">
            <a:noAutofit/>
          </a:bodyPr>
          <a:lstStyle/>
          <a:p>
            <a:pPr algn="r">
              <a:lnSpc>
                <a:spcPct val="110000"/>
              </a:lnSpc>
              <a:buNone/>
              <a:defRPr sz="500">
                <a:solidFill>
                  <a:srgbClr val="888888"/>
                </a:solidFill>
                <a:latin typeface="Arial"/>
                <a:ea typeface="Arial"/>
                <a:cs typeface="Arial"/>
              </a:defRPr>
            </a:pPr>
            <a:r>
              <a:rPr sz="500">
                <a:solidFill>
                  <a:srgbClr val="888888"/>
                </a:solidFill>
                <a:latin typeface="Arial"/>
                <a:ea typeface="Arial"/>
                <a:cs typeface="Arial"/>
              </a:rPr>
              <a:t>MAS Foundations - Kamendu Panchal</a:t>
            </a:r>
            <a:endParaRPr sz="500" b="1">
              <a:solidFill>
                <a:schemeClr val="tx1"/>
              </a:solidFill>
              <a:latin typeface="Arial"/>
              <a:ea typeface="Arial"/>
              <a:cs typeface="Arial"/>
            </a:endParaRPr>
          </a:p>
        </p:txBody>
      </p:sp>
      <p:sp>
        <p:nvSpPr>
          <p:cNvPr id="3" name="TextBox 2">
            <a:extLst>
              <a:ext uri="{FF2B5EF4-FFF2-40B4-BE49-F238E27FC236}">
                <a16:creationId xmlns:a16="http://schemas.microsoft.com/office/drawing/2014/main" id="{DCE8FEB4-DA15-74FB-D091-FA2B80C9B501}"/>
              </a:ext>
            </a:extLst>
          </p:cNvPr>
          <p:cNvSpPr>
            <a:spLocks noGrp="1"/>
          </p:cNvSpPr>
          <p:nvPr/>
        </p:nvSpPr>
        <p:spPr>
          <a:xfrm>
            <a:off x="5438775" y="3086100"/>
            <a:ext cx="209550" cy="175260"/>
          </a:xfrm>
          <a:prstGeom prst="rect">
            <a:avLst/>
          </a:prstGeom>
          <a:noFill/>
        </p:spPr>
        <p:txBody>
          <a:bodyPr wrap="square" lIns="0" tIns="0" rIns="0" bIns="0">
            <a:noAutofit/>
          </a:bodyPr>
          <a:lstStyle/>
          <a:p>
            <a:pPr algn="r">
              <a:lnSpc>
                <a:spcPct val="110000"/>
              </a:lnSpc>
              <a:buNone/>
              <a:defRPr sz="500">
                <a:solidFill>
                  <a:srgbClr val="202020"/>
                </a:solidFill>
                <a:latin typeface="Arial"/>
                <a:ea typeface="Arial"/>
                <a:cs typeface="Arial"/>
              </a:defRPr>
            </a:pPr>
            <a:r>
              <a:rPr sz="500">
                <a:solidFill>
                  <a:srgbClr val="202020"/>
                </a:solidFill>
                <a:latin typeface="Arial"/>
                <a:ea typeface="Arial"/>
                <a:cs typeface="Arial"/>
              </a:rPr>
              <a:t>3</a:t>
            </a:r>
          </a:p>
        </p:txBody>
      </p:sp>
      <p:sp>
        <p:nvSpPr>
          <p:cNvPr id="13" name="text">
            <a:extLst>
              <a:ext uri="{FF2B5EF4-FFF2-40B4-BE49-F238E27FC236}">
                <a16:creationId xmlns:a16="http://schemas.microsoft.com/office/drawing/2014/main" id="{AB926364-45D5-45F0-AF43-5BF43E542B88}"/>
              </a:ext>
            </a:extLst>
          </p:cNvPr>
          <p:cNvSpPr>
            <a:spLocks noGrp="1"/>
          </p:cNvSpPr>
          <p:nvPr/>
        </p:nvSpPr>
        <p:spPr>
          <a:xfrm>
            <a:off x="228600" y="504825"/>
            <a:ext cx="5314950" cy="381000"/>
          </a:xfrm>
          <a:prstGeom prst="rect">
            <a:avLst/>
          </a:prstGeom>
          <a:noFill/>
          <a:ln w="0">
            <a:noFill/>
          </a:ln>
        </p:spPr>
        <p:txBody>
          <a:bodyPr wrap="square" lIns="0" tIns="0" rIns="0" bIns="0" anchor="t">
            <a:noAutofit/>
          </a:bodyPr>
          <a:lstStyle/>
          <a:p>
            <a:pPr algn="l">
              <a:lnSpc>
                <a:spcPct val="110000"/>
              </a:lnSpc>
              <a:buNone/>
              <a:defRPr sz="998" b="0">
                <a:solidFill>
                  <a:srgbClr val="202020"/>
                </a:solidFill>
                <a:latin typeface="Arial"/>
                <a:ea typeface="Arial"/>
                <a:cs typeface="Arial"/>
              </a:defRPr>
            </a:pPr>
            <a:r>
              <a:rPr sz="998" b="0">
                <a:solidFill>
                  <a:srgbClr val="202020"/>
                </a:solidFill>
                <a:latin typeface="Arial"/>
                <a:ea typeface="Arial"/>
                <a:cs typeface="Arial"/>
              </a:rPr>
              <a:t>An algorithm is a clear sequence of steps for solving a problem.</a:t>
            </a:r>
          </a:p>
        </p:txBody>
      </p:sp>
      <p:sp>
        <p:nvSpPr>
          <p:cNvPr id="14" name="diagram-node">
            <a:extLst>
              <a:ext uri="{FF2B5EF4-FFF2-40B4-BE49-F238E27FC236}">
                <a16:creationId xmlns:a16="http://schemas.microsoft.com/office/drawing/2014/main" id="{7ED21C26-F0A1-4F49-9A5C-47AC7DBEF57B}"/>
              </a:ext>
            </a:extLst>
          </p:cNvPr>
          <p:cNvSpPr>
            <a:spLocks noGrp="1"/>
          </p:cNvSpPr>
          <p:nvPr/>
        </p:nvSpPr>
        <p:spPr>
          <a:xfrm>
            <a:off x="257175" y="1304925"/>
            <a:ext cx="1524000" cy="666750"/>
          </a:xfrm>
          <a:prstGeom prst="rect">
            <a:avLst/>
          </a:prstGeom>
          <a:solidFill>
            <a:srgbClr val="FFFFFF"/>
          </a:solidFill>
          <a:ln w="11430">
            <a:solidFill>
              <a:srgbClr val="006ABA"/>
            </a:solidFill>
          </a:ln>
        </p:spPr>
        <p:txBody>
          <a:bodyPr wrap="square" lIns="47625" tIns="28575" rIns="47625" bIns="28575" anchor="ctr">
            <a:noAutofit/>
          </a:bodyPr>
          <a:lstStyle/>
          <a:p>
            <a:pPr algn="ctr">
              <a:lnSpc>
                <a:spcPct val="107000"/>
              </a:lnSpc>
              <a:buNone/>
              <a:defRPr sz="975">
                <a:solidFill>
                  <a:srgbClr val="202020"/>
                </a:solidFill>
                <a:latin typeface="Arial"/>
                <a:ea typeface="Arial"/>
                <a:cs typeface="Arial"/>
              </a:defRPr>
            </a:pPr>
            <a:r>
              <a:rPr sz="975">
                <a:solidFill>
                  <a:srgbClr val="202020"/>
                </a:solidFill>
                <a:latin typeface="Arial"/>
                <a:ea typeface="Arial"/>
                <a:cs typeface="Arial"/>
              </a:rPr>
              <a:t>Input</a:t>
            </a:r>
          </a:p>
          <a:p>
            <a:pPr algn="ctr">
              <a:lnSpc>
                <a:spcPct val="107000"/>
              </a:lnSpc>
              <a:buNone/>
              <a:defRPr sz="975">
                <a:solidFill>
                  <a:srgbClr val="202020"/>
                </a:solidFill>
                <a:latin typeface="Arial"/>
                <a:ea typeface="Arial"/>
                <a:cs typeface="Arial"/>
              </a:defRPr>
            </a:pPr>
            <a:r>
              <a:rPr sz="975">
                <a:solidFill>
                  <a:srgbClr val="202020"/>
                </a:solidFill>
                <a:latin typeface="Arial"/>
                <a:ea typeface="Arial"/>
                <a:cs typeface="Arial"/>
              </a:rPr>
              <a:t>2, 4, 6</a:t>
            </a:r>
          </a:p>
        </p:txBody>
      </p:sp>
      <p:sp>
        <p:nvSpPr>
          <p:cNvPr id="15" name="diagram-node">
            <a:extLst>
              <a:ext uri="{FF2B5EF4-FFF2-40B4-BE49-F238E27FC236}">
                <a16:creationId xmlns:a16="http://schemas.microsoft.com/office/drawing/2014/main" id="{E8991C12-574B-4AB7-98DE-865C991EB770}"/>
              </a:ext>
            </a:extLst>
          </p:cNvPr>
          <p:cNvSpPr>
            <a:spLocks noGrp="1"/>
          </p:cNvSpPr>
          <p:nvPr/>
        </p:nvSpPr>
        <p:spPr>
          <a:xfrm>
            <a:off x="2124075" y="1304925"/>
            <a:ext cx="1524000" cy="666750"/>
          </a:xfrm>
          <a:prstGeom prst="rect">
            <a:avLst/>
          </a:prstGeom>
          <a:solidFill>
            <a:srgbClr val="FFFFFF"/>
          </a:solidFill>
          <a:ln w="11430">
            <a:solidFill>
              <a:srgbClr val="006ABA"/>
            </a:solidFill>
          </a:ln>
        </p:spPr>
        <p:txBody>
          <a:bodyPr wrap="square" lIns="47625" tIns="28575" rIns="47625" bIns="28575" anchor="ctr">
            <a:noAutofit/>
          </a:bodyPr>
          <a:lstStyle/>
          <a:p>
            <a:pPr algn="ctr">
              <a:lnSpc>
                <a:spcPct val="107000"/>
              </a:lnSpc>
              <a:buNone/>
              <a:defRPr sz="975">
                <a:solidFill>
                  <a:srgbClr val="202020"/>
                </a:solidFill>
                <a:latin typeface="Arial"/>
                <a:ea typeface="Arial"/>
                <a:cs typeface="Arial"/>
              </a:defRPr>
            </a:pPr>
            <a:r>
              <a:rPr sz="975">
                <a:solidFill>
                  <a:srgbClr val="202020"/>
                </a:solidFill>
                <a:latin typeface="Arial"/>
                <a:ea typeface="Arial"/>
                <a:cs typeface="Arial"/>
              </a:rPr>
              <a:t>Add each number</a:t>
            </a:r>
          </a:p>
          <a:p>
            <a:pPr algn="ctr">
              <a:lnSpc>
                <a:spcPct val="107000"/>
              </a:lnSpc>
              <a:buNone/>
              <a:defRPr sz="975">
                <a:solidFill>
                  <a:srgbClr val="202020"/>
                </a:solidFill>
                <a:latin typeface="Arial"/>
                <a:ea typeface="Arial"/>
                <a:cs typeface="Arial"/>
              </a:defRPr>
            </a:pPr>
            <a:r>
              <a:rPr sz="975">
                <a:solidFill>
                  <a:srgbClr val="202020"/>
                </a:solidFill>
                <a:latin typeface="Arial"/>
                <a:ea typeface="Arial"/>
                <a:cs typeface="Arial"/>
              </a:rPr>
              <a:t>to a total</a:t>
            </a:r>
          </a:p>
        </p:txBody>
      </p:sp>
      <p:sp>
        <p:nvSpPr>
          <p:cNvPr id="16" name="diagram-node">
            <a:extLst>
              <a:ext uri="{FF2B5EF4-FFF2-40B4-BE49-F238E27FC236}">
                <a16:creationId xmlns:a16="http://schemas.microsoft.com/office/drawing/2014/main" id="{EF3D3A63-6BF2-45A5-B99F-5578D9F3D065}"/>
              </a:ext>
            </a:extLst>
          </p:cNvPr>
          <p:cNvSpPr>
            <a:spLocks noGrp="1"/>
          </p:cNvSpPr>
          <p:nvPr/>
        </p:nvSpPr>
        <p:spPr>
          <a:xfrm>
            <a:off x="3990975" y="1304925"/>
            <a:ext cx="1524000" cy="666750"/>
          </a:xfrm>
          <a:prstGeom prst="rect">
            <a:avLst/>
          </a:prstGeom>
          <a:solidFill>
            <a:srgbClr val="FFFFFF"/>
          </a:solidFill>
          <a:ln w="11430">
            <a:solidFill>
              <a:srgbClr val="006ABA"/>
            </a:solidFill>
          </a:ln>
        </p:spPr>
        <p:txBody>
          <a:bodyPr wrap="square" lIns="47625" tIns="28575" rIns="47625" bIns="28575" anchor="ctr">
            <a:noAutofit/>
          </a:bodyPr>
          <a:lstStyle/>
          <a:p>
            <a:pPr algn="ctr">
              <a:lnSpc>
                <a:spcPct val="107000"/>
              </a:lnSpc>
              <a:buNone/>
              <a:defRPr sz="975">
                <a:solidFill>
                  <a:srgbClr val="202020"/>
                </a:solidFill>
                <a:latin typeface="Arial"/>
                <a:ea typeface="Arial"/>
                <a:cs typeface="Arial"/>
              </a:defRPr>
            </a:pPr>
            <a:r>
              <a:rPr sz="975">
                <a:solidFill>
                  <a:srgbClr val="202020"/>
                </a:solidFill>
                <a:latin typeface="Arial"/>
                <a:ea typeface="Arial"/>
                <a:cs typeface="Arial"/>
              </a:rPr>
              <a:t>Output</a:t>
            </a:r>
          </a:p>
          <a:p>
            <a:pPr algn="ctr">
              <a:lnSpc>
                <a:spcPct val="107000"/>
              </a:lnSpc>
              <a:buNone/>
              <a:defRPr sz="975">
                <a:solidFill>
                  <a:srgbClr val="202020"/>
                </a:solidFill>
                <a:latin typeface="Arial"/>
                <a:ea typeface="Arial"/>
                <a:cs typeface="Arial"/>
              </a:defRPr>
            </a:pPr>
            <a:r>
              <a:rPr sz="975">
                <a:solidFill>
                  <a:srgbClr val="202020"/>
                </a:solidFill>
                <a:latin typeface="Arial"/>
                <a:ea typeface="Arial"/>
                <a:cs typeface="Arial"/>
              </a:rPr>
              <a:t>12</a:t>
            </a:r>
          </a:p>
        </p:txBody>
      </p:sp>
      <p:cxnSp>
        <p:nvCxnSpPr>
          <p:cNvPr id="29" name="Straight Arrow Connector 28"/>
          <p:cNvCxnSpPr>
            <a:stCxn id="14" idx="3"/>
            <a:endCxn id="15" idx="1"/>
          </p:cNvCxnSpPr>
          <p:nvPr/>
        </p:nvCxnSpPr>
        <p:spPr>
          <a:xfrm>
            <a:off x="1781175" y="1638300"/>
            <a:ext cx="342900" cy="0"/>
          </a:xfrm>
          <a:prstGeom prst="straightConnector1">
            <a:avLst/>
          </a:prstGeom>
          <a:ln w="11430">
            <a:solidFill>
              <a:srgbClr val="66717C"/>
            </a:solidFill>
            <a:headEnd type="none" w="med" len="med"/>
            <a:tailEnd type="triangle" w="sm" len="sm"/>
          </a:ln>
        </p:spPr>
      </p:cxnSp>
      <p:cxnSp>
        <p:nvCxnSpPr>
          <p:cNvPr id="30" name="Straight Arrow Connector 29"/>
          <p:cNvCxnSpPr>
            <a:stCxn id="15" idx="3"/>
            <a:endCxn id="16" idx="1"/>
          </p:cNvCxnSpPr>
          <p:nvPr/>
        </p:nvCxnSpPr>
        <p:spPr>
          <a:xfrm>
            <a:off x="3648075" y="1638300"/>
            <a:ext cx="342900" cy="0"/>
          </a:xfrm>
          <a:prstGeom prst="straightConnector1">
            <a:avLst/>
          </a:prstGeom>
          <a:ln w="11430">
            <a:solidFill>
              <a:srgbClr val="66717C"/>
            </a:solidFill>
            <a:headEnd type="none" w="med" len="med"/>
            <a:tailEnd type="triangle" w="sm" len="sm"/>
          </a:ln>
        </p:spPr>
      </p:cxnSp>
      <p:sp>
        <p:nvSpPr>
          <p:cNvPr id="19" name="text">
            <a:extLst>
              <a:ext uri="{FF2B5EF4-FFF2-40B4-BE49-F238E27FC236}">
                <a16:creationId xmlns:a16="http://schemas.microsoft.com/office/drawing/2014/main" id="{13F3A3A8-5A26-4D0E-BE63-4D5CE505ABF9}"/>
              </a:ext>
            </a:extLst>
          </p:cNvPr>
          <p:cNvSpPr>
            <a:spLocks noGrp="1"/>
          </p:cNvSpPr>
          <p:nvPr/>
        </p:nvSpPr>
        <p:spPr>
          <a:xfrm>
            <a:off x="228600" y="2867025"/>
            <a:ext cx="5334000" cy="95250"/>
          </a:xfrm>
          <a:prstGeom prst="rect">
            <a:avLst/>
          </a:prstGeom>
          <a:noFill/>
          <a:ln w="0">
            <a:noFill/>
          </a:ln>
        </p:spPr>
        <p:txBody>
          <a:bodyPr wrap="square" lIns="0" tIns="0" rIns="0" bIns="0" anchor="t">
            <a:noAutofit/>
          </a:bodyPr>
          <a:lstStyle/>
          <a:p>
            <a:pPr algn="l">
              <a:lnSpc>
                <a:spcPct val="110000"/>
              </a:lnSpc>
              <a:buNone/>
              <a:defRPr sz="510" b="0">
                <a:solidFill>
                  <a:srgbClr val="66717C"/>
                </a:solidFill>
                <a:latin typeface="Arial"/>
                <a:ea typeface="Arial"/>
                <a:cs typeface="Arial"/>
              </a:defRPr>
            </a:pPr>
            <a:r>
              <a:rPr sz="510" b="0">
                <a:solidFill>
                  <a:srgbClr val="66717C"/>
                </a:solidFill>
                <a:latin typeface="Arial"/>
                <a:ea typeface="Arial"/>
                <a:cs typeface="Arial"/>
              </a:rPr>
              <a:t>[P]  [M]</a:t>
            </a:r>
          </a:p>
        </p:txBody>
      </p:sp>
    </p:spTree>
    <p:extLst>
      <p:ext uri="{BB962C8B-B14F-4D97-AF65-F5344CB8AC3E}">
        <p14:creationId xmlns:p14="http://schemas.microsoft.com/office/powerpoint/2010/main" val="36456721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19C03931-4A28-44C2-9238-650F85D8C2AD}"/>
              </a:ext>
            </a:extLst>
          </p:cNvPr>
          <p:cNvSpPr>
            <a:spLocks noGrp="1"/>
          </p:cNvSpPr>
          <p:nvPr>
            <p:ph type="title"/>
          </p:nvPr>
        </p:nvSpPr>
        <p:spPr>
          <a:xfrm>
            <a:off x="171450" y="95250"/>
            <a:ext cx="5429250" cy="304800"/>
          </a:xfrm>
          <a:prstGeom prst="rect">
            <a:avLst/>
          </a:prstGeom>
        </p:spPr>
        <p:txBody>
          <a:bodyPr vert="horz" wrap="square" lIns="0" tIns="0" rIns="0" bIns="0">
            <a:noAutofit/>
          </a:bodyPr>
          <a:lstStyle/>
          <a:p>
            <a:pPr marL="12700" algn="l">
              <a:lnSpc>
                <a:spcPct val="110000"/>
              </a:lnSpc>
              <a:spcBef>
                <a:spcPts val="135"/>
              </a:spcBef>
              <a:buNone/>
              <a:defRPr sz="1400">
                <a:solidFill>
                  <a:srgbClr val="006ABA"/>
                </a:solidFill>
                <a:latin typeface="Arial"/>
                <a:ea typeface="Arial"/>
                <a:cs typeface="Arial"/>
              </a:defRPr>
            </a:pPr>
            <a:r>
              <a:rPr sz="1400" b="0" spc="-10">
                <a:solidFill>
                  <a:srgbClr val="006ABA"/>
                </a:solidFill>
                <a:latin typeface="Arial"/>
                <a:ea typeface="Arial"/>
                <a:cs typeface="Arial"/>
              </a:rPr>
              <a:t>Properties of an algorithm</a:t>
            </a:r>
            <a:endParaRPr sz="1400" b="0" spc="-10">
              <a:latin typeface="Arial"/>
              <a:ea typeface="Arial"/>
              <a:cs typeface="Arial"/>
            </a:endParaRPr>
          </a:p>
        </p:txBody>
      </p:sp>
      <p:pic>
        <p:nvPicPr>
          <p:cNvPr id="24" name="object 4"/>
          <p:cNvPicPr>
            <a:picLocks noChangeAspect="1"/>
          </p:cNvPicPr>
          <p:nvPr/>
        </p:nvPicPr>
        <p:blipFill>
          <a:blip r:embed="rId3"/>
          <a:stretch>
            <a:fillRect/>
          </a:stretch>
        </p:blipFill>
        <p:spPr>
          <a:xfrm>
            <a:off x="152565" y="2988507"/>
            <a:ext cx="900668" cy="161917"/>
          </a:xfrm>
          <a:prstGeom prst="rect">
            <a:avLst/>
          </a:prstGeom>
        </p:spPr>
      </p:pic>
      <p:pic>
        <p:nvPicPr>
          <p:cNvPr id="25" name="object 5"/>
          <p:cNvPicPr>
            <a:picLocks noChangeAspect="1"/>
          </p:cNvPicPr>
          <p:nvPr/>
        </p:nvPicPr>
        <p:blipFill>
          <a:blip r:embed="rId4"/>
          <a:stretch>
            <a:fillRect/>
          </a:stretch>
        </p:blipFill>
        <p:spPr>
          <a:xfrm>
            <a:off x="1286560" y="2988417"/>
            <a:ext cx="610912" cy="162008"/>
          </a:xfrm>
          <a:prstGeom prst="rect">
            <a:avLst/>
          </a:prstGeom>
        </p:spPr>
      </p:pic>
      <p:sp>
        <p:nvSpPr>
          <p:cNvPr id="10" name="Footer Placeholder 7">
            <a:extLst>
              <a:ext uri="{FF2B5EF4-FFF2-40B4-BE49-F238E27FC236}">
                <a16:creationId xmlns:a16="http://schemas.microsoft.com/office/drawing/2014/main" id="{197FE2C8-8EE2-4937-3F30-294DB47641D6}"/>
              </a:ext>
            </a:extLst>
          </p:cNvPr>
          <p:cNvSpPr>
            <a:spLocks noGrp="1"/>
          </p:cNvSpPr>
          <p:nvPr>
            <p:ph type="ftr" idx="5"/>
          </p:nvPr>
        </p:nvSpPr>
        <p:spPr>
          <a:xfrm>
            <a:off x="2590800" y="3105150"/>
            <a:ext cx="2743200" cy="95250"/>
          </a:xfrm>
        </p:spPr>
        <p:txBody>
          <a:bodyPr wrap="square" lIns="0" tIns="0" rIns="0" bIns="0">
            <a:noAutofit/>
          </a:bodyPr>
          <a:lstStyle/>
          <a:p>
            <a:pPr algn="r">
              <a:lnSpc>
                <a:spcPct val="110000"/>
              </a:lnSpc>
              <a:buNone/>
              <a:defRPr sz="500">
                <a:solidFill>
                  <a:srgbClr val="888888"/>
                </a:solidFill>
                <a:latin typeface="Arial"/>
                <a:ea typeface="Arial"/>
                <a:cs typeface="Arial"/>
              </a:defRPr>
            </a:pPr>
            <a:r>
              <a:rPr sz="500">
                <a:solidFill>
                  <a:srgbClr val="888888"/>
                </a:solidFill>
                <a:latin typeface="Arial"/>
                <a:ea typeface="Arial"/>
                <a:cs typeface="Arial"/>
              </a:rPr>
              <a:t>MAS Foundations - Kamendu Panchal</a:t>
            </a:r>
            <a:endParaRPr sz="500" b="1">
              <a:solidFill>
                <a:schemeClr val="tx1"/>
              </a:solidFill>
              <a:latin typeface="Arial"/>
              <a:ea typeface="Arial"/>
              <a:cs typeface="Arial"/>
            </a:endParaRPr>
          </a:p>
        </p:txBody>
      </p:sp>
      <p:sp>
        <p:nvSpPr>
          <p:cNvPr id="3" name="TextBox 2">
            <a:extLst>
              <a:ext uri="{FF2B5EF4-FFF2-40B4-BE49-F238E27FC236}">
                <a16:creationId xmlns:a16="http://schemas.microsoft.com/office/drawing/2014/main" id="{DCE8FEB4-DA15-74FB-D091-FA2B80C9B501}"/>
              </a:ext>
            </a:extLst>
          </p:cNvPr>
          <p:cNvSpPr>
            <a:spLocks noGrp="1"/>
          </p:cNvSpPr>
          <p:nvPr/>
        </p:nvSpPr>
        <p:spPr>
          <a:xfrm>
            <a:off x="5438775" y="3086100"/>
            <a:ext cx="209550" cy="175260"/>
          </a:xfrm>
          <a:prstGeom prst="rect">
            <a:avLst/>
          </a:prstGeom>
          <a:noFill/>
        </p:spPr>
        <p:txBody>
          <a:bodyPr wrap="square" lIns="0" tIns="0" rIns="0" bIns="0">
            <a:noAutofit/>
          </a:bodyPr>
          <a:lstStyle/>
          <a:p>
            <a:pPr algn="r">
              <a:lnSpc>
                <a:spcPct val="110000"/>
              </a:lnSpc>
              <a:buNone/>
              <a:defRPr sz="500">
                <a:solidFill>
                  <a:srgbClr val="202020"/>
                </a:solidFill>
                <a:latin typeface="Arial"/>
                <a:ea typeface="Arial"/>
                <a:cs typeface="Arial"/>
              </a:defRPr>
            </a:pPr>
            <a:r>
              <a:rPr sz="500">
                <a:solidFill>
                  <a:srgbClr val="202020"/>
                </a:solidFill>
                <a:latin typeface="Arial"/>
                <a:ea typeface="Arial"/>
                <a:cs typeface="Arial"/>
              </a:rPr>
              <a:t>4</a:t>
            </a:r>
          </a:p>
        </p:txBody>
      </p:sp>
      <p:sp>
        <p:nvSpPr>
          <p:cNvPr id="13" name="text">
            <a:extLst>
              <a:ext uri="{FF2B5EF4-FFF2-40B4-BE49-F238E27FC236}">
                <a16:creationId xmlns:a16="http://schemas.microsoft.com/office/drawing/2014/main" id="{ACDFFF3C-2BAA-4AF6-9AA5-5789D769B480}"/>
              </a:ext>
            </a:extLst>
          </p:cNvPr>
          <p:cNvSpPr>
            <a:spLocks noGrp="1"/>
          </p:cNvSpPr>
          <p:nvPr/>
        </p:nvSpPr>
        <p:spPr>
          <a:xfrm>
            <a:off x="228600" y="504825"/>
            <a:ext cx="5314950" cy="381000"/>
          </a:xfrm>
          <a:prstGeom prst="rect">
            <a:avLst/>
          </a:prstGeom>
          <a:noFill/>
          <a:ln w="0">
            <a:noFill/>
          </a:ln>
        </p:spPr>
        <p:txBody>
          <a:bodyPr wrap="square" lIns="0" tIns="0" rIns="0" bIns="0" anchor="t">
            <a:noAutofit/>
          </a:bodyPr>
          <a:lstStyle/>
          <a:p>
            <a:pPr algn="l">
              <a:lnSpc>
                <a:spcPct val="110000"/>
              </a:lnSpc>
              <a:buNone/>
              <a:defRPr sz="998" b="0">
                <a:solidFill>
                  <a:srgbClr val="202020"/>
                </a:solidFill>
                <a:latin typeface="Arial"/>
                <a:ea typeface="Arial"/>
                <a:cs typeface="Arial"/>
              </a:defRPr>
            </a:pPr>
            <a:r>
              <a:rPr sz="998" b="0">
                <a:solidFill>
                  <a:srgbClr val="202020"/>
                </a:solidFill>
                <a:latin typeface="Arial"/>
                <a:ea typeface="Arial"/>
                <a:cs typeface="Arial"/>
              </a:rPr>
              <a:t>For these classroom problems, the procedure must finish.</a:t>
            </a:r>
          </a:p>
        </p:txBody>
      </p:sp>
      <p:sp>
        <p:nvSpPr>
          <p:cNvPr id="14" name="text">
            <a:extLst>
              <a:ext uri="{FF2B5EF4-FFF2-40B4-BE49-F238E27FC236}">
                <a16:creationId xmlns:a16="http://schemas.microsoft.com/office/drawing/2014/main" id="{0F2D732B-F431-44ED-B7D6-3B16AE2690F5}"/>
              </a:ext>
            </a:extLst>
          </p:cNvPr>
          <p:cNvSpPr>
            <a:spLocks noGrp="1"/>
          </p:cNvSpPr>
          <p:nvPr/>
        </p:nvSpPr>
        <p:spPr>
          <a:xfrm>
            <a:off x="285750" y="1000125"/>
            <a:ext cx="1952625" cy="285750"/>
          </a:xfrm>
          <a:prstGeom prst="rect">
            <a:avLst/>
          </a:prstGeom>
          <a:noFill/>
          <a:ln w="0">
            <a:noFill/>
          </a:ln>
        </p:spPr>
        <p:txBody>
          <a:bodyPr wrap="square" lIns="0" tIns="0" rIns="0" bIns="0" anchor="t">
            <a:noAutofit/>
          </a:bodyPr>
          <a:lstStyle/>
          <a:p>
            <a:pPr algn="l">
              <a:lnSpc>
                <a:spcPct val="110000"/>
              </a:lnSpc>
              <a:buNone/>
              <a:defRPr sz="1050" b="1">
                <a:solidFill>
                  <a:srgbClr val="006ABA"/>
                </a:solidFill>
                <a:latin typeface="Arial"/>
                <a:ea typeface="Arial"/>
                <a:cs typeface="Arial"/>
              </a:defRPr>
            </a:pPr>
            <a:r>
              <a:rPr sz="1050" b="1">
                <a:solidFill>
                  <a:srgbClr val="006ABA"/>
                </a:solidFill>
                <a:latin typeface="Arial"/>
                <a:ea typeface="Arial"/>
                <a:cs typeface="Arial"/>
              </a:rPr>
              <a:t>Input and output</a:t>
            </a:r>
          </a:p>
        </p:txBody>
      </p:sp>
      <p:sp>
        <p:nvSpPr>
          <p:cNvPr id="15" name="text">
            <a:extLst>
              <a:ext uri="{FF2B5EF4-FFF2-40B4-BE49-F238E27FC236}">
                <a16:creationId xmlns:a16="http://schemas.microsoft.com/office/drawing/2014/main" id="{FA481EEB-D0AB-4F4B-96BD-0B0CCA2DF1A8}"/>
              </a:ext>
            </a:extLst>
          </p:cNvPr>
          <p:cNvSpPr>
            <a:spLocks noGrp="1"/>
          </p:cNvSpPr>
          <p:nvPr/>
        </p:nvSpPr>
        <p:spPr>
          <a:xfrm>
            <a:off x="2409825" y="1000125"/>
            <a:ext cx="3067050" cy="304800"/>
          </a:xfrm>
          <a:prstGeom prst="rect">
            <a:avLst/>
          </a:prstGeom>
          <a:noFill/>
          <a:ln w="0">
            <a:noFill/>
          </a:ln>
        </p:spPr>
        <p:txBody>
          <a:bodyPr wrap="square" lIns="0" tIns="0" rIns="0" bIns="0" anchor="t">
            <a:noAutofit/>
          </a:bodyPr>
          <a:lstStyle/>
          <a:p>
            <a:pPr algn="l">
              <a:lnSpc>
                <a:spcPct val="110000"/>
              </a:lnSpc>
              <a:buNone/>
              <a:defRPr sz="1050" b="0">
                <a:solidFill>
                  <a:srgbClr val="202020"/>
                </a:solidFill>
                <a:latin typeface="Arial"/>
                <a:ea typeface="Arial"/>
                <a:cs typeface="Arial"/>
              </a:defRPr>
            </a:pPr>
            <a:r>
              <a:rPr sz="1050" b="0">
                <a:solidFill>
                  <a:srgbClr val="202020"/>
                </a:solidFill>
                <a:latin typeface="Arial"/>
                <a:ea typeface="Arial"/>
                <a:cs typeface="Arial"/>
              </a:rPr>
              <a:t>Receive data and produce a result</a:t>
            </a:r>
          </a:p>
        </p:txBody>
      </p:sp>
      <p:sp>
        <p:nvSpPr>
          <p:cNvPr id="16" name="text">
            <a:extLst>
              <a:ext uri="{FF2B5EF4-FFF2-40B4-BE49-F238E27FC236}">
                <a16:creationId xmlns:a16="http://schemas.microsoft.com/office/drawing/2014/main" id="{1E21D6D8-E329-47AB-9928-86B74E34979C}"/>
              </a:ext>
            </a:extLst>
          </p:cNvPr>
          <p:cNvSpPr>
            <a:spLocks noGrp="1"/>
          </p:cNvSpPr>
          <p:nvPr/>
        </p:nvSpPr>
        <p:spPr>
          <a:xfrm>
            <a:off x="285750" y="1390650"/>
            <a:ext cx="1952625" cy="285750"/>
          </a:xfrm>
          <a:prstGeom prst="rect">
            <a:avLst/>
          </a:prstGeom>
          <a:noFill/>
          <a:ln w="0">
            <a:noFill/>
          </a:ln>
        </p:spPr>
        <p:txBody>
          <a:bodyPr wrap="square" lIns="0" tIns="0" rIns="0" bIns="0" anchor="t">
            <a:noAutofit/>
          </a:bodyPr>
          <a:lstStyle/>
          <a:p>
            <a:pPr algn="l">
              <a:lnSpc>
                <a:spcPct val="110000"/>
              </a:lnSpc>
              <a:buNone/>
              <a:defRPr sz="1050" b="1">
                <a:solidFill>
                  <a:srgbClr val="006ABA"/>
                </a:solidFill>
                <a:latin typeface="Arial"/>
                <a:ea typeface="Arial"/>
                <a:cs typeface="Arial"/>
              </a:defRPr>
            </a:pPr>
            <a:r>
              <a:rPr sz="1050" b="1">
                <a:solidFill>
                  <a:srgbClr val="006ABA"/>
                </a:solidFill>
                <a:latin typeface="Arial"/>
                <a:ea typeface="Arial"/>
                <a:cs typeface="Arial"/>
              </a:rPr>
              <a:t>Clear steps</a:t>
            </a:r>
          </a:p>
        </p:txBody>
      </p:sp>
      <p:sp>
        <p:nvSpPr>
          <p:cNvPr id="17" name="text">
            <a:extLst>
              <a:ext uri="{FF2B5EF4-FFF2-40B4-BE49-F238E27FC236}">
                <a16:creationId xmlns:a16="http://schemas.microsoft.com/office/drawing/2014/main" id="{1E27A3B5-1947-4895-B18B-1D42AF1C4D1F}"/>
              </a:ext>
            </a:extLst>
          </p:cNvPr>
          <p:cNvSpPr>
            <a:spLocks noGrp="1"/>
          </p:cNvSpPr>
          <p:nvPr/>
        </p:nvSpPr>
        <p:spPr>
          <a:xfrm>
            <a:off x="2409825" y="1390650"/>
            <a:ext cx="3067050" cy="304800"/>
          </a:xfrm>
          <a:prstGeom prst="rect">
            <a:avLst/>
          </a:prstGeom>
          <a:noFill/>
          <a:ln w="0">
            <a:noFill/>
          </a:ln>
        </p:spPr>
        <p:txBody>
          <a:bodyPr wrap="square" lIns="0" tIns="0" rIns="0" bIns="0" anchor="t">
            <a:noAutofit/>
          </a:bodyPr>
          <a:lstStyle/>
          <a:p>
            <a:pPr algn="l">
              <a:lnSpc>
                <a:spcPct val="110000"/>
              </a:lnSpc>
              <a:buNone/>
              <a:defRPr sz="1050" b="0">
                <a:solidFill>
                  <a:srgbClr val="202020"/>
                </a:solidFill>
                <a:latin typeface="Arial"/>
                <a:ea typeface="Arial"/>
                <a:cs typeface="Arial"/>
              </a:defRPr>
            </a:pPr>
            <a:r>
              <a:rPr sz="1050" b="0">
                <a:solidFill>
                  <a:srgbClr val="202020"/>
                </a:solidFill>
                <a:latin typeface="Arial"/>
                <a:ea typeface="Arial"/>
                <a:cs typeface="Arial"/>
              </a:rPr>
              <a:t>Each instruction has a precise meaning</a:t>
            </a:r>
          </a:p>
        </p:txBody>
      </p:sp>
      <p:sp>
        <p:nvSpPr>
          <p:cNvPr id="18" name="text">
            <a:extLst>
              <a:ext uri="{FF2B5EF4-FFF2-40B4-BE49-F238E27FC236}">
                <a16:creationId xmlns:a16="http://schemas.microsoft.com/office/drawing/2014/main" id="{C0A2531A-28DD-4B1C-B60D-C4166BF8F3AA}"/>
              </a:ext>
            </a:extLst>
          </p:cNvPr>
          <p:cNvSpPr>
            <a:spLocks noGrp="1"/>
          </p:cNvSpPr>
          <p:nvPr/>
        </p:nvSpPr>
        <p:spPr>
          <a:xfrm>
            <a:off x="285750" y="1781175"/>
            <a:ext cx="1952625" cy="285750"/>
          </a:xfrm>
          <a:prstGeom prst="rect">
            <a:avLst/>
          </a:prstGeom>
          <a:noFill/>
          <a:ln w="0">
            <a:noFill/>
          </a:ln>
        </p:spPr>
        <p:txBody>
          <a:bodyPr wrap="square" lIns="0" tIns="0" rIns="0" bIns="0" anchor="t">
            <a:noAutofit/>
          </a:bodyPr>
          <a:lstStyle/>
          <a:p>
            <a:pPr algn="l">
              <a:lnSpc>
                <a:spcPct val="110000"/>
              </a:lnSpc>
              <a:buNone/>
              <a:defRPr sz="1050" b="1">
                <a:solidFill>
                  <a:srgbClr val="006ABA"/>
                </a:solidFill>
                <a:latin typeface="Arial"/>
                <a:ea typeface="Arial"/>
                <a:cs typeface="Arial"/>
              </a:defRPr>
            </a:pPr>
            <a:r>
              <a:rPr sz="1050" b="1">
                <a:solidFill>
                  <a:srgbClr val="006ABA"/>
                </a:solidFill>
                <a:latin typeface="Arial"/>
                <a:ea typeface="Arial"/>
                <a:cs typeface="Arial"/>
              </a:rPr>
              <a:t>Termination</a:t>
            </a:r>
          </a:p>
        </p:txBody>
      </p:sp>
      <p:sp>
        <p:nvSpPr>
          <p:cNvPr id="19" name="text">
            <a:extLst>
              <a:ext uri="{FF2B5EF4-FFF2-40B4-BE49-F238E27FC236}">
                <a16:creationId xmlns:a16="http://schemas.microsoft.com/office/drawing/2014/main" id="{6C434A63-B88F-4D95-A46D-8ED7EB19ED7A}"/>
              </a:ext>
            </a:extLst>
          </p:cNvPr>
          <p:cNvSpPr>
            <a:spLocks noGrp="1"/>
          </p:cNvSpPr>
          <p:nvPr/>
        </p:nvSpPr>
        <p:spPr>
          <a:xfrm>
            <a:off x="2409825" y="1781175"/>
            <a:ext cx="3067050" cy="304800"/>
          </a:xfrm>
          <a:prstGeom prst="rect">
            <a:avLst/>
          </a:prstGeom>
          <a:noFill/>
          <a:ln w="0">
            <a:noFill/>
          </a:ln>
        </p:spPr>
        <p:txBody>
          <a:bodyPr wrap="square" lIns="0" tIns="0" rIns="0" bIns="0" anchor="t">
            <a:noAutofit/>
          </a:bodyPr>
          <a:lstStyle/>
          <a:p>
            <a:pPr algn="l">
              <a:lnSpc>
                <a:spcPct val="110000"/>
              </a:lnSpc>
              <a:buNone/>
              <a:defRPr sz="1050" b="0">
                <a:solidFill>
                  <a:srgbClr val="202020"/>
                </a:solidFill>
                <a:latin typeface="Arial"/>
                <a:ea typeface="Arial"/>
                <a:cs typeface="Arial"/>
              </a:defRPr>
            </a:pPr>
            <a:r>
              <a:rPr sz="1050" b="0">
                <a:solidFill>
                  <a:srgbClr val="202020"/>
                </a:solidFill>
                <a:latin typeface="Arial"/>
                <a:ea typeface="Arial"/>
                <a:cs typeface="Arial"/>
              </a:rPr>
              <a:t>Finish after a finite number of steps</a:t>
            </a:r>
          </a:p>
        </p:txBody>
      </p:sp>
      <p:sp>
        <p:nvSpPr>
          <p:cNvPr id="20" name="text">
            <a:extLst>
              <a:ext uri="{FF2B5EF4-FFF2-40B4-BE49-F238E27FC236}">
                <a16:creationId xmlns:a16="http://schemas.microsoft.com/office/drawing/2014/main" id="{5B98BFA1-D8C5-483F-BEA7-A5ACF11515FE}"/>
              </a:ext>
            </a:extLst>
          </p:cNvPr>
          <p:cNvSpPr>
            <a:spLocks noGrp="1"/>
          </p:cNvSpPr>
          <p:nvPr/>
        </p:nvSpPr>
        <p:spPr>
          <a:xfrm>
            <a:off x="285750" y="2171700"/>
            <a:ext cx="1952625" cy="285750"/>
          </a:xfrm>
          <a:prstGeom prst="rect">
            <a:avLst/>
          </a:prstGeom>
          <a:noFill/>
          <a:ln w="0">
            <a:noFill/>
          </a:ln>
        </p:spPr>
        <p:txBody>
          <a:bodyPr wrap="square" lIns="0" tIns="0" rIns="0" bIns="0" anchor="t">
            <a:noAutofit/>
          </a:bodyPr>
          <a:lstStyle/>
          <a:p>
            <a:pPr algn="l">
              <a:lnSpc>
                <a:spcPct val="110000"/>
              </a:lnSpc>
              <a:buNone/>
              <a:defRPr sz="1050" b="1">
                <a:solidFill>
                  <a:srgbClr val="006ABA"/>
                </a:solidFill>
                <a:latin typeface="Arial"/>
                <a:ea typeface="Arial"/>
                <a:cs typeface="Arial"/>
              </a:defRPr>
            </a:pPr>
            <a:r>
              <a:rPr sz="1050" b="1">
                <a:solidFill>
                  <a:srgbClr val="006ABA"/>
                </a:solidFill>
                <a:latin typeface="Arial"/>
                <a:ea typeface="Arial"/>
                <a:cs typeface="Arial"/>
              </a:rPr>
              <a:t>Correctness</a:t>
            </a:r>
          </a:p>
        </p:txBody>
      </p:sp>
      <p:sp>
        <p:nvSpPr>
          <p:cNvPr id="21" name="text">
            <a:extLst>
              <a:ext uri="{FF2B5EF4-FFF2-40B4-BE49-F238E27FC236}">
                <a16:creationId xmlns:a16="http://schemas.microsoft.com/office/drawing/2014/main" id="{6A7A2FB2-1127-4552-8B37-D66C916F70BB}"/>
              </a:ext>
            </a:extLst>
          </p:cNvPr>
          <p:cNvSpPr>
            <a:spLocks noGrp="1"/>
          </p:cNvSpPr>
          <p:nvPr/>
        </p:nvSpPr>
        <p:spPr>
          <a:xfrm>
            <a:off x="2409825" y="2171700"/>
            <a:ext cx="3067050" cy="304800"/>
          </a:xfrm>
          <a:prstGeom prst="rect">
            <a:avLst/>
          </a:prstGeom>
          <a:noFill/>
          <a:ln w="0">
            <a:noFill/>
          </a:ln>
        </p:spPr>
        <p:txBody>
          <a:bodyPr wrap="square" lIns="0" tIns="0" rIns="0" bIns="0" anchor="t">
            <a:noAutofit/>
          </a:bodyPr>
          <a:lstStyle/>
          <a:p>
            <a:pPr algn="l">
              <a:lnSpc>
                <a:spcPct val="110000"/>
              </a:lnSpc>
              <a:buNone/>
              <a:defRPr sz="1050" b="0">
                <a:solidFill>
                  <a:srgbClr val="202020"/>
                </a:solidFill>
                <a:latin typeface="Arial"/>
                <a:ea typeface="Arial"/>
                <a:cs typeface="Arial"/>
              </a:defRPr>
            </a:pPr>
            <a:r>
              <a:rPr sz="1050" b="0">
                <a:solidFill>
                  <a:srgbClr val="202020"/>
                </a:solidFill>
                <a:latin typeface="Arial"/>
                <a:ea typeface="Arial"/>
                <a:cs typeface="Arial"/>
              </a:rPr>
              <a:t>Meet the problem’s requirements</a:t>
            </a:r>
          </a:p>
        </p:txBody>
      </p:sp>
      <p:sp>
        <p:nvSpPr>
          <p:cNvPr id="22" name="text">
            <a:extLst>
              <a:ext uri="{FF2B5EF4-FFF2-40B4-BE49-F238E27FC236}">
                <a16:creationId xmlns:a16="http://schemas.microsoft.com/office/drawing/2014/main" id="{78079BB2-64AD-4468-B171-EACA04CDEF0E}"/>
              </a:ext>
            </a:extLst>
          </p:cNvPr>
          <p:cNvSpPr>
            <a:spLocks noGrp="1"/>
          </p:cNvSpPr>
          <p:nvPr/>
        </p:nvSpPr>
        <p:spPr>
          <a:xfrm>
            <a:off x="228600" y="2867025"/>
            <a:ext cx="5334000" cy="95250"/>
          </a:xfrm>
          <a:prstGeom prst="rect">
            <a:avLst/>
          </a:prstGeom>
          <a:noFill/>
          <a:ln w="0">
            <a:noFill/>
          </a:ln>
        </p:spPr>
        <p:txBody>
          <a:bodyPr wrap="square" lIns="0" tIns="0" rIns="0" bIns="0" anchor="t">
            <a:noAutofit/>
          </a:bodyPr>
          <a:lstStyle/>
          <a:p>
            <a:pPr algn="l">
              <a:lnSpc>
                <a:spcPct val="110000"/>
              </a:lnSpc>
              <a:buNone/>
              <a:defRPr sz="510" b="0">
                <a:solidFill>
                  <a:srgbClr val="66717C"/>
                </a:solidFill>
                <a:latin typeface="Arial"/>
                <a:ea typeface="Arial"/>
                <a:cs typeface="Arial"/>
              </a:defRPr>
            </a:pPr>
            <a:r>
              <a:rPr sz="510" b="0">
                <a:solidFill>
                  <a:srgbClr val="66717C"/>
                </a:solidFill>
                <a:latin typeface="Arial"/>
                <a:ea typeface="Arial"/>
                <a:cs typeface="Arial"/>
              </a:rPr>
              <a:t>[P]  [M]  [T]</a:t>
            </a:r>
          </a:p>
        </p:txBody>
      </p:sp>
    </p:spTree>
    <p:extLst>
      <p:ext uri="{BB962C8B-B14F-4D97-AF65-F5344CB8AC3E}">
        <p14:creationId xmlns:p14="http://schemas.microsoft.com/office/powerpoint/2010/main" val="36456721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19C03931-4A28-44C2-9238-650F85D8C2AD}"/>
              </a:ext>
            </a:extLst>
          </p:cNvPr>
          <p:cNvSpPr>
            <a:spLocks noGrp="1"/>
          </p:cNvSpPr>
          <p:nvPr>
            <p:ph type="title"/>
          </p:nvPr>
        </p:nvSpPr>
        <p:spPr>
          <a:xfrm>
            <a:off x="171450" y="95250"/>
            <a:ext cx="5429250" cy="304800"/>
          </a:xfrm>
          <a:prstGeom prst="rect">
            <a:avLst/>
          </a:prstGeom>
        </p:spPr>
        <p:txBody>
          <a:bodyPr vert="horz" wrap="square" lIns="0" tIns="0" rIns="0" bIns="0">
            <a:noAutofit/>
          </a:bodyPr>
          <a:lstStyle/>
          <a:p>
            <a:pPr marL="12700" algn="l">
              <a:lnSpc>
                <a:spcPct val="110000"/>
              </a:lnSpc>
              <a:spcBef>
                <a:spcPts val="135"/>
              </a:spcBef>
              <a:buNone/>
              <a:defRPr sz="1400">
                <a:solidFill>
                  <a:srgbClr val="006ABA"/>
                </a:solidFill>
                <a:latin typeface="Arial"/>
                <a:ea typeface="Arial"/>
                <a:cs typeface="Arial"/>
              </a:defRPr>
            </a:pPr>
            <a:r>
              <a:rPr sz="1400" b="0" spc="-10">
                <a:solidFill>
                  <a:srgbClr val="006ABA"/>
                </a:solidFill>
                <a:latin typeface="Arial"/>
                <a:ea typeface="Arial"/>
                <a:cs typeface="Arial"/>
              </a:rPr>
              <a:t>Time complexity and Big O</a:t>
            </a:r>
            <a:endParaRPr sz="1400" b="0" spc="-10">
              <a:latin typeface="Arial"/>
              <a:ea typeface="Arial"/>
              <a:cs typeface="Arial"/>
            </a:endParaRPr>
          </a:p>
        </p:txBody>
      </p:sp>
      <p:pic>
        <p:nvPicPr>
          <p:cNvPr id="24" name="object 4"/>
          <p:cNvPicPr>
            <a:picLocks noChangeAspect="1"/>
          </p:cNvPicPr>
          <p:nvPr/>
        </p:nvPicPr>
        <p:blipFill>
          <a:blip r:embed="rId3"/>
          <a:stretch>
            <a:fillRect/>
          </a:stretch>
        </p:blipFill>
        <p:spPr>
          <a:xfrm>
            <a:off x="152565" y="2988507"/>
            <a:ext cx="900668" cy="161917"/>
          </a:xfrm>
          <a:prstGeom prst="rect">
            <a:avLst/>
          </a:prstGeom>
        </p:spPr>
      </p:pic>
      <p:pic>
        <p:nvPicPr>
          <p:cNvPr id="25" name="object 5"/>
          <p:cNvPicPr>
            <a:picLocks noChangeAspect="1"/>
          </p:cNvPicPr>
          <p:nvPr/>
        </p:nvPicPr>
        <p:blipFill>
          <a:blip r:embed="rId4"/>
          <a:stretch>
            <a:fillRect/>
          </a:stretch>
        </p:blipFill>
        <p:spPr>
          <a:xfrm>
            <a:off x="1286560" y="2988417"/>
            <a:ext cx="610912" cy="162008"/>
          </a:xfrm>
          <a:prstGeom prst="rect">
            <a:avLst/>
          </a:prstGeom>
        </p:spPr>
      </p:pic>
      <p:sp>
        <p:nvSpPr>
          <p:cNvPr id="10" name="Footer Placeholder 7">
            <a:extLst>
              <a:ext uri="{FF2B5EF4-FFF2-40B4-BE49-F238E27FC236}">
                <a16:creationId xmlns:a16="http://schemas.microsoft.com/office/drawing/2014/main" id="{197FE2C8-8EE2-4937-3F30-294DB47641D6}"/>
              </a:ext>
            </a:extLst>
          </p:cNvPr>
          <p:cNvSpPr>
            <a:spLocks noGrp="1"/>
          </p:cNvSpPr>
          <p:nvPr>
            <p:ph type="ftr" idx="5"/>
          </p:nvPr>
        </p:nvSpPr>
        <p:spPr>
          <a:xfrm>
            <a:off x="2590800" y="3105150"/>
            <a:ext cx="2743200" cy="95250"/>
          </a:xfrm>
        </p:spPr>
        <p:txBody>
          <a:bodyPr wrap="square" lIns="0" tIns="0" rIns="0" bIns="0">
            <a:noAutofit/>
          </a:bodyPr>
          <a:lstStyle/>
          <a:p>
            <a:pPr algn="r">
              <a:lnSpc>
                <a:spcPct val="110000"/>
              </a:lnSpc>
              <a:buNone/>
              <a:defRPr sz="500">
                <a:solidFill>
                  <a:srgbClr val="888888"/>
                </a:solidFill>
                <a:latin typeface="Arial"/>
                <a:ea typeface="Arial"/>
                <a:cs typeface="Arial"/>
              </a:defRPr>
            </a:pPr>
            <a:r>
              <a:rPr sz="500">
                <a:solidFill>
                  <a:srgbClr val="888888"/>
                </a:solidFill>
                <a:latin typeface="Arial"/>
                <a:ea typeface="Arial"/>
                <a:cs typeface="Arial"/>
              </a:rPr>
              <a:t>MAS Foundations - Kamendu Panchal</a:t>
            </a:r>
            <a:endParaRPr sz="500" b="1">
              <a:solidFill>
                <a:schemeClr val="tx1"/>
              </a:solidFill>
              <a:latin typeface="Arial"/>
              <a:ea typeface="Arial"/>
              <a:cs typeface="Arial"/>
            </a:endParaRPr>
          </a:p>
        </p:txBody>
      </p:sp>
      <p:sp>
        <p:nvSpPr>
          <p:cNvPr id="3" name="TextBox 2">
            <a:extLst>
              <a:ext uri="{FF2B5EF4-FFF2-40B4-BE49-F238E27FC236}">
                <a16:creationId xmlns:a16="http://schemas.microsoft.com/office/drawing/2014/main" id="{DCE8FEB4-DA15-74FB-D091-FA2B80C9B501}"/>
              </a:ext>
            </a:extLst>
          </p:cNvPr>
          <p:cNvSpPr>
            <a:spLocks noGrp="1"/>
          </p:cNvSpPr>
          <p:nvPr/>
        </p:nvSpPr>
        <p:spPr>
          <a:xfrm>
            <a:off x="5438775" y="3086100"/>
            <a:ext cx="209550" cy="175260"/>
          </a:xfrm>
          <a:prstGeom prst="rect">
            <a:avLst/>
          </a:prstGeom>
          <a:noFill/>
        </p:spPr>
        <p:txBody>
          <a:bodyPr wrap="square" lIns="0" tIns="0" rIns="0" bIns="0">
            <a:noAutofit/>
          </a:bodyPr>
          <a:lstStyle/>
          <a:p>
            <a:pPr algn="r">
              <a:lnSpc>
                <a:spcPct val="110000"/>
              </a:lnSpc>
              <a:buNone/>
              <a:defRPr sz="500">
                <a:solidFill>
                  <a:srgbClr val="202020"/>
                </a:solidFill>
                <a:latin typeface="Arial"/>
                <a:ea typeface="Arial"/>
                <a:cs typeface="Arial"/>
              </a:defRPr>
            </a:pPr>
            <a:r>
              <a:rPr sz="500">
                <a:solidFill>
                  <a:srgbClr val="202020"/>
                </a:solidFill>
                <a:latin typeface="Arial"/>
                <a:ea typeface="Arial"/>
                <a:cs typeface="Arial"/>
              </a:rPr>
              <a:t>5</a:t>
            </a:r>
          </a:p>
        </p:txBody>
      </p:sp>
      <p:sp>
        <p:nvSpPr>
          <p:cNvPr id="13" name="text">
            <a:extLst>
              <a:ext uri="{FF2B5EF4-FFF2-40B4-BE49-F238E27FC236}">
                <a16:creationId xmlns:a16="http://schemas.microsoft.com/office/drawing/2014/main" id="{9C347C7C-31D6-40F0-891A-5EEB795A48B7}"/>
              </a:ext>
            </a:extLst>
          </p:cNvPr>
          <p:cNvSpPr>
            <a:spLocks noGrp="1"/>
          </p:cNvSpPr>
          <p:nvPr/>
        </p:nvSpPr>
        <p:spPr>
          <a:xfrm>
            <a:off x="228600" y="504825"/>
            <a:ext cx="5314950" cy="381000"/>
          </a:xfrm>
          <a:prstGeom prst="rect">
            <a:avLst/>
          </a:prstGeom>
          <a:noFill/>
          <a:ln w="0">
            <a:noFill/>
          </a:ln>
        </p:spPr>
        <p:txBody>
          <a:bodyPr wrap="square" lIns="0" tIns="0" rIns="0" bIns="0" anchor="t">
            <a:noAutofit/>
          </a:bodyPr>
          <a:lstStyle/>
          <a:p>
            <a:pPr algn="l">
              <a:lnSpc>
                <a:spcPct val="110000"/>
              </a:lnSpc>
              <a:buNone/>
              <a:defRPr sz="998" b="0">
                <a:solidFill>
                  <a:srgbClr val="202020"/>
                </a:solidFill>
                <a:latin typeface="Arial"/>
                <a:ea typeface="Arial"/>
                <a:cs typeface="Arial"/>
              </a:defRPr>
            </a:pPr>
            <a:r>
              <a:rPr sz="998" b="0">
                <a:solidFill>
                  <a:srgbClr val="202020"/>
                </a:solidFill>
                <a:latin typeface="Arial"/>
                <a:ea typeface="Arial"/>
                <a:cs typeface="Arial"/>
              </a:rPr>
              <a:t>Time complexity describes how the amount of work grows with input size n.</a:t>
            </a:r>
          </a:p>
        </p:txBody>
      </p:sp>
      <p:sp>
        <p:nvSpPr>
          <p:cNvPr id="14" name="text">
            <a:extLst>
              <a:ext uri="{FF2B5EF4-FFF2-40B4-BE49-F238E27FC236}">
                <a16:creationId xmlns:a16="http://schemas.microsoft.com/office/drawing/2014/main" id="{151426E3-CC3D-4845-B656-B82BFCB8456E}"/>
              </a:ext>
            </a:extLst>
          </p:cNvPr>
          <p:cNvSpPr>
            <a:spLocks noGrp="1"/>
          </p:cNvSpPr>
          <p:nvPr/>
        </p:nvSpPr>
        <p:spPr>
          <a:xfrm>
            <a:off x="285750" y="1000125"/>
            <a:ext cx="1952625" cy="285750"/>
          </a:xfrm>
          <a:prstGeom prst="rect">
            <a:avLst/>
          </a:prstGeom>
          <a:noFill/>
          <a:ln w="0">
            <a:noFill/>
          </a:ln>
        </p:spPr>
        <p:txBody>
          <a:bodyPr wrap="square" lIns="0" tIns="0" rIns="0" bIns="0" anchor="t">
            <a:noAutofit/>
          </a:bodyPr>
          <a:lstStyle/>
          <a:p>
            <a:pPr algn="l">
              <a:lnSpc>
                <a:spcPct val="110000"/>
              </a:lnSpc>
              <a:buNone/>
              <a:defRPr sz="1050" b="1">
                <a:solidFill>
                  <a:srgbClr val="006ABA"/>
                </a:solidFill>
                <a:latin typeface="Arial"/>
                <a:ea typeface="Arial"/>
                <a:cs typeface="Arial"/>
              </a:defRPr>
            </a:pPr>
            <a:r>
              <a:rPr sz="1050" b="1">
                <a:solidFill>
                  <a:srgbClr val="006ABA"/>
                </a:solidFill>
                <a:latin typeface="Arial"/>
                <a:ea typeface="Arial"/>
                <a:cs typeface="Arial"/>
              </a:rPr>
              <a:t>Input size n</a:t>
            </a:r>
          </a:p>
        </p:txBody>
      </p:sp>
      <p:sp>
        <p:nvSpPr>
          <p:cNvPr id="15" name="text">
            <a:extLst>
              <a:ext uri="{FF2B5EF4-FFF2-40B4-BE49-F238E27FC236}">
                <a16:creationId xmlns:a16="http://schemas.microsoft.com/office/drawing/2014/main" id="{8A16DB15-BCE9-451B-BB7E-938432F4ACE6}"/>
              </a:ext>
            </a:extLst>
          </p:cNvPr>
          <p:cNvSpPr>
            <a:spLocks noGrp="1"/>
          </p:cNvSpPr>
          <p:nvPr/>
        </p:nvSpPr>
        <p:spPr>
          <a:xfrm>
            <a:off x="2409825" y="1000125"/>
            <a:ext cx="3067050" cy="304800"/>
          </a:xfrm>
          <a:prstGeom prst="rect">
            <a:avLst/>
          </a:prstGeom>
          <a:noFill/>
          <a:ln w="0">
            <a:noFill/>
          </a:ln>
        </p:spPr>
        <p:txBody>
          <a:bodyPr wrap="square" lIns="0" tIns="0" rIns="0" bIns="0" anchor="t">
            <a:noAutofit/>
          </a:bodyPr>
          <a:lstStyle/>
          <a:p>
            <a:pPr algn="l">
              <a:lnSpc>
                <a:spcPct val="110000"/>
              </a:lnSpc>
              <a:buNone/>
              <a:defRPr sz="1050" b="0">
                <a:solidFill>
                  <a:srgbClr val="202020"/>
                </a:solidFill>
                <a:latin typeface="Arial"/>
                <a:ea typeface="Arial"/>
                <a:cs typeface="Arial"/>
              </a:defRPr>
            </a:pPr>
            <a:r>
              <a:rPr sz="1050" b="0">
                <a:solidFill>
                  <a:srgbClr val="202020"/>
                </a:solidFill>
                <a:latin typeface="Arial"/>
                <a:ea typeface="Arial"/>
                <a:cs typeface="Arial"/>
              </a:rPr>
              <a:t>For a list: the number of elements</a:t>
            </a:r>
          </a:p>
        </p:txBody>
      </p:sp>
      <p:sp>
        <p:nvSpPr>
          <p:cNvPr id="16" name="text">
            <a:extLst>
              <a:ext uri="{FF2B5EF4-FFF2-40B4-BE49-F238E27FC236}">
                <a16:creationId xmlns:a16="http://schemas.microsoft.com/office/drawing/2014/main" id="{DB176CFC-3ED0-4A2C-91C3-C26552FF0C95}"/>
              </a:ext>
            </a:extLst>
          </p:cNvPr>
          <p:cNvSpPr>
            <a:spLocks noGrp="1"/>
          </p:cNvSpPr>
          <p:nvPr/>
        </p:nvSpPr>
        <p:spPr>
          <a:xfrm>
            <a:off x="285750" y="1390650"/>
            <a:ext cx="1952625" cy="285750"/>
          </a:xfrm>
          <a:prstGeom prst="rect">
            <a:avLst/>
          </a:prstGeom>
          <a:noFill/>
          <a:ln w="0">
            <a:noFill/>
          </a:ln>
        </p:spPr>
        <p:txBody>
          <a:bodyPr wrap="square" lIns="0" tIns="0" rIns="0" bIns="0" anchor="t">
            <a:noAutofit/>
          </a:bodyPr>
          <a:lstStyle/>
          <a:p>
            <a:pPr algn="l">
              <a:lnSpc>
                <a:spcPct val="110000"/>
              </a:lnSpc>
              <a:buNone/>
              <a:defRPr sz="1050" b="1">
                <a:solidFill>
                  <a:srgbClr val="006ABA"/>
                </a:solidFill>
                <a:latin typeface="Arial"/>
                <a:ea typeface="Arial"/>
                <a:cs typeface="Arial"/>
              </a:defRPr>
            </a:pPr>
            <a:r>
              <a:rPr sz="1050" b="1">
                <a:solidFill>
                  <a:srgbClr val="006ABA"/>
                </a:solidFill>
                <a:latin typeface="Arial"/>
                <a:ea typeface="Arial"/>
                <a:cs typeface="Arial"/>
              </a:rPr>
              <a:t>Basic operation</a:t>
            </a:r>
          </a:p>
        </p:txBody>
      </p:sp>
      <p:sp>
        <p:nvSpPr>
          <p:cNvPr id="17" name="text">
            <a:extLst>
              <a:ext uri="{FF2B5EF4-FFF2-40B4-BE49-F238E27FC236}">
                <a16:creationId xmlns:a16="http://schemas.microsoft.com/office/drawing/2014/main" id="{CB0E79BC-C260-4BCD-BEFA-57F49AC4C549}"/>
              </a:ext>
            </a:extLst>
          </p:cNvPr>
          <p:cNvSpPr>
            <a:spLocks noGrp="1"/>
          </p:cNvSpPr>
          <p:nvPr/>
        </p:nvSpPr>
        <p:spPr>
          <a:xfrm>
            <a:off x="2409825" y="1390650"/>
            <a:ext cx="3067050" cy="304800"/>
          </a:xfrm>
          <a:prstGeom prst="rect">
            <a:avLst/>
          </a:prstGeom>
          <a:noFill/>
          <a:ln w="0">
            <a:noFill/>
          </a:ln>
        </p:spPr>
        <p:txBody>
          <a:bodyPr wrap="square" lIns="0" tIns="0" rIns="0" bIns="0" anchor="t">
            <a:noAutofit/>
          </a:bodyPr>
          <a:lstStyle/>
          <a:p>
            <a:pPr algn="l">
              <a:lnSpc>
                <a:spcPct val="110000"/>
              </a:lnSpc>
              <a:buNone/>
              <a:defRPr sz="1050" b="0">
                <a:solidFill>
                  <a:srgbClr val="202020"/>
                </a:solidFill>
                <a:latin typeface="Arial"/>
                <a:ea typeface="Arial"/>
                <a:cs typeface="Arial"/>
              </a:defRPr>
            </a:pPr>
            <a:r>
              <a:rPr sz="1050" b="0">
                <a:solidFill>
                  <a:srgbClr val="202020"/>
                </a:solidFill>
                <a:latin typeface="Arial"/>
                <a:ea typeface="Arial"/>
                <a:cs typeface="Arial"/>
              </a:rPr>
              <a:t>A comparison, addition or indexed read</a:t>
            </a:r>
          </a:p>
        </p:txBody>
      </p:sp>
      <p:sp>
        <p:nvSpPr>
          <p:cNvPr id="18" name="text">
            <a:extLst>
              <a:ext uri="{FF2B5EF4-FFF2-40B4-BE49-F238E27FC236}">
                <a16:creationId xmlns:a16="http://schemas.microsoft.com/office/drawing/2014/main" id="{865BF0AB-AE05-46E8-8F2F-5D173F3C76E4}"/>
              </a:ext>
            </a:extLst>
          </p:cNvPr>
          <p:cNvSpPr>
            <a:spLocks noGrp="1"/>
          </p:cNvSpPr>
          <p:nvPr/>
        </p:nvSpPr>
        <p:spPr>
          <a:xfrm>
            <a:off x="285750" y="1781175"/>
            <a:ext cx="1952625" cy="285750"/>
          </a:xfrm>
          <a:prstGeom prst="rect">
            <a:avLst/>
          </a:prstGeom>
          <a:noFill/>
          <a:ln w="0">
            <a:noFill/>
          </a:ln>
        </p:spPr>
        <p:txBody>
          <a:bodyPr wrap="square" lIns="0" tIns="0" rIns="0" bIns="0" anchor="t">
            <a:noAutofit/>
          </a:bodyPr>
          <a:lstStyle/>
          <a:p>
            <a:pPr algn="l">
              <a:lnSpc>
                <a:spcPct val="110000"/>
              </a:lnSpc>
              <a:buNone/>
              <a:defRPr sz="1050" b="1">
                <a:solidFill>
                  <a:srgbClr val="006ABA"/>
                </a:solidFill>
                <a:latin typeface="Arial"/>
                <a:ea typeface="Arial"/>
                <a:cs typeface="Arial"/>
              </a:defRPr>
            </a:pPr>
            <a:r>
              <a:rPr sz="1050" b="1">
                <a:solidFill>
                  <a:srgbClr val="006ABA"/>
                </a:solidFill>
                <a:latin typeface="Arial"/>
                <a:ea typeface="Arial"/>
                <a:cs typeface="Arial"/>
              </a:rPr>
              <a:t>Big O</a:t>
            </a:r>
          </a:p>
        </p:txBody>
      </p:sp>
      <p:sp>
        <p:nvSpPr>
          <p:cNvPr id="19" name="text">
            <a:extLst>
              <a:ext uri="{FF2B5EF4-FFF2-40B4-BE49-F238E27FC236}">
                <a16:creationId xmlns:a16="http://schemas.microsoft.com/office/drawing/2014/main" id="{3DA5FEA3-8E93-4D70-AE94-94A8BFA1F880}"/>
              </a:ext>
            </a:extLst>
          </p:cNvPr>
          <p:cNvSpPr>
            <a:spLocks noGrp="1"/>
          </p:cNvSpPr>
          <p:nvPr/>
        </p:nvSpPr>
        <p:spPr>
          <a:xfrm>
            <a:off x="2409825" y="1781175"/>
            <a:ext cx="3067050" cy="304800"/>
          </a:xfrm>
          <a:prstGeom prst="rect">
            <a:avLst/>
          </a:prstGeom>
          <a:noFill/>
          <a:ln w="0">
            <a:noFill/>
          </a:ln>
        </p:spPr>
        <p:txBody>
          <a:bodyPr wrap="square" lIns="0" tIns="0" rIns="0" bIns="0" anchor="t">
            <a:noAutofit/>
          </a:bodyPr>
          <a:lstStyle/>
          <a:p>
            <a:pPr algn="l">
              <a:lnSpc>
                <a:spcPct val="110000"/>
              </a:lnSpc>
              <a:buNone/>
              <a:defRPr sz="1050" b="0">
                <a:solidFill>
                  <a:srgbClr val="202020"/>
                </a:solidFill>
                <a:latin typeface="Arial"/>
                <a:ea typeface="Arial"/>
                <a:cs typeface="Arial"/>
              </a:defRPr>
            </a:pPr>
            <a:r>
              <a:rPr sz="1050" b="0">
                <a:solidFill>
                  <a:srgbClr val="202020"/>
                </a:solidFill>
                <a:latin typeface="Arial"/>
                <a:ea typeface="Arial"/>
                <a:cs typeface="Arial"/>
              </a:rPr>
              <a:t>An upper bound on the rate of growth</a:t>
            </a:r>
          </a:p>
        </p:txBody>
      </p:sp>
      <p:sp>
        <p:nvSpPr>
          <p:cNvPr id="20" name="text">
            <a:extLst>
              <a:ext uri="{FF2B5EF4-FFF2-40B4-BE49-F238E27FC236}">
                <a16:creationId xmlns:a16="http://schemas.microsoft.com/office/drawing/2014/main" id="{92C4B876-4A50-4131-BF40-53898B261C37}"/>
              </a:ext>
            </a:extLst>
          </p:cNvPr>
          <p:cNvSpPr>
            <a:spLocks noGrp="1"/>
          </p:cNvSpPr>
          <p:nvPr/>
        </p:nvSpPr>
        <p:spPr>
          <a:xfrm>
            <a:off x="285750" y="2171700"/>
            <a:ext cx="1952625" cy="285750"/>
          </a:xfrm>
          <a:prstGeom prst="rect">
            <a:avLst/>
          </a:prstGeom>
          <a:noFill/>
          <a:ln w="0">
            <a:noFill/>
          </a:ln>
        </p:spPr>
        <p:txBody>
          <a:bodyPr wrap="square" lIns="0" tIns="0" rIns="0" bIns="0" anchor="t">
            <a:noAutofit/>
          </a:bodyPr>
          <a:lstStyle/>
          <a:p>
            <a:pPr algn="l">
              <a:lnSpc>
                <a:spcPct val="110000"/>
              </a:lnSpc>
              <a:buNone/>
              <a:defRPr sz="1050" b="1">
                <a:solidFill>
                  <a:srgbClr val="006ABA"/>
                </a:solidFill>
                <a:latin typeface="Arial"/>
                <a:ea typeface="Arial"/>
                <a:cs typeface="Arial"/>
              </a:defRPr>
            </a:pPr>
            <a:r>
              <a:rPr sz="1050" b="1">
                <a:solidFill>
                  <a:srgbClr val="006ABA"/>
                </a:solidFill>
                <a:latin typeface="Arial"/>
                <a:ea typeface="Arial"/>
                <a:cs typeface="Arial"/>
              </a:rPr>
              <a:t>Simplification</a:t>
            </a:r>
          </a:p>
        </p:txBody>
      </p:sp>
      <p:sp>
        <p:nvSpPr>
          <p:cNvPr id="21" name="text">
            <a:extLst>
              <a:ext uri="{FF2B5EF4-FFF2-40B4-BE49-F238E27FC236}">
                <a16:creationId xmlns:a16="http://schemas.microsoft.com/office/drawing/2014/main" id="{7625EF6F-EF15-4CC7-95BF-039AEAAEC1CB}"/>
              </a:ext>
            </a:extLst>
          </p:cNvPr>
          <p:cNvSpPr>
            <a:spLocks noGrp="1"/>
          </p:cNvSpPr>
          <p:nvPr/>
        </p:nvSpPr>
        <p:spPr>
          <a:xfrm>
            <a:off x="2409825" y="2171700"/>
            <a:ext cx="3067050" cy="304800"/>
          </a:xfrm>
          <a:prstGeom prst="rect">
            <a:avLst/>
          </a:prstGeom>
          <a:noFill/>
          <a:ln w="0">
            <a:noFill/>
          </a:ln>
        </p:spPr>
        <p:txBody>
          <a:bodyPr wrap="square" lIns="0" tIns="0" rIns="0" bIns="0" anchor="t">
            <a:noAutofit/>
          </a:bodyPr>
          <a:lstStyle/>
          <a:p>
            <a:pPr algn="l">
              <a:lnSpc>
                <a:spcPct val="110000"/>
              </a:lnSpc>
              <a:buNone/>
              <a:defRPr sz="1050" b="0">
                <a:solidFill>
                  <a:srgbClr val="202020"/>
                </a:solidFill>
                <a:latin typeface="Arial"/>
                <a:ea typeface="Arial"/>
                <a:cs typeface="Arial"/>
              </a:defRPr>
            </a:pPr>
            <a:r>
              <a:rPr sz="1050" b="0">
                <a:solidFill>
                  <a:srgbClr val="202020"/>
                </a:solidFill>
                <a:latin typeface="Arial"/>
                <a:ea typeface="Arial"/>
                <a:cs typeface="Arial"/>
              </a:rPr>
              <a:t>3n + 2 grows linearly: O(n)</a:t>
            </a:r>
          </a:p>
        </p:txBody>
      </p:sp>
      <p:sp>
        <p:nvSpPr>
          <p:cNvPr id="22" name="text">
            <a:extLst>
              <a:ext uri="{FF2B5EF4-FFF2-40B4-BE49-F238E27FC236}">
                <a16:creationId xmlns:a16="http://schemas.microsoft.com/office/drawing/2014/main" id="{A31985D0-82AB-48C5-B67F-DE1F1A3F299E}"/>
              </a:ext>
            </a:extLst>
          </p:cNvPr>
          <p:cNvSpPr>
            <a:spLocks noGrp="1"/>
          </p:cNvSpPr>
          <p:nvPr/>
        </p:nvSpPr>
        <p:spPr>
          <a:xfrm>
            <a:off x="228600" y="2867025"/>
            <a:ext cx="5334000" cy="95250"/>
          </a:xfrm>
          <a:prstGeom prst="rect">
            <a:avLst/>
          </a:prstGeom>
          <a:noFill/>
          <a:ln w="0">
            <a:noFill/>
          </a:ln>
        </p:spPr>
        <p:txBody>
          <a:bodyPr wrap="square" lIns="0" tIns="0" rIns="0" bIns="0" anchor="t">
            <a:noAutofit/>
          </a:bodyPr>
          <a:lstStyle/>
          <a:p>
            <a:pPr algn="l">
              <a:lnSpc>
                <a:spcPct val="110000"/>
              </a:lnSpc>
              <a:buNone/>
              <a:defRPr sz="510" b="0">
                <a:solidFill>
                  <a:srgbClr val="66717C"/>
                </a:solidFill>
                <a:latin typeface="Arial"/>
                <a:ea typeface="Arial"/>
                <a:cs typeface="Arial"/>
              </a:defRPr>
            </a:pPr>
            <a:r>
              <a:rPr sz="510" b="0">
                <a:solidFill>
                  <a:srgbClr val="66717C"/>
                </a:solidFill>
                <a:latin typeface="Arial"/>
                <a:ea typeface="Arial"/>
                <a:cs typeface="Arial"/>
              </a:rPr>
              <a:t>[P]  [M]  [T]</a:t>
            </a:r>
          </a:p>
        </p:txBody>
      </p:sp>
    </p:spTree>
    <p:extLst>
      <p:ext uri="{BB962C8B-B14F-4D97-AF65-F5344CB8AC3E}">
        <p14:creationId xmlns:p14="http://schemas.microsoft.com/office/powerpoint/2010/main" val="36456721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19C03931-4A28-44C2-9238-650F85D8C2AD}"/>
              </a:ext>
            </a:extLst>
          </p:cNvPr>
          <p:cNvSpPr>
            <a:spLocks noGrp="1"/>
          </p:cNvSpPr>
          <p:nvPr>
            <p:ph type="title"/>
          </p:nvPr>
        </p:nvSpPr>
        <p:spPr>
          <a:xfrm>
            <a:off x="171450" y="95250"/>
            <a:ext cx="5429250" cy="304800"/>
          </a:xfrm>
          <a:prstGeom prst="rect">
            <a:avLst/>
          </a:prstGeom>
        </p:spPr>
        <p:txBody>
          <a:bodyPr vert="horz" wrap="square" lIns="0" tIns="0" rIns="0" bIns="0">
            <a:noAutofit/>
          </a:bodyPr>
          <a:lstStyle/>
          <a:p>
            <a:pPr marL="12700" algn="l">
              <a:lnSpc>
                <a:spcPct val="110000"/>
              </a:lnSpc>
              <a:spcBef>
                <a:spcPts val="135"/>
              </a:spcBef>
              <a:buNone/>
              <a:defRPr sz="1400">
                <a:solidFill>
                  <a:srgbClr val="006ABA"/>
                </a:solidFill>
                <a:latin typeface="Arial"/>
                <a:ea typeface="Arial"/>
                <a:cs typeface="Arial"/>
              </a:defRPr>
            </a:pPr>
            <a:r>
              <a:rPr sz="1400" b="0" spc="-10">
                <a:solidFill>
                  <a:srgbClr val="006ABA"/>
                </a:solidFill>
                <a:latin typeface="Arial"/>
                <a:ea typeface="Arial"/>
                <a:cs typeface="Arial"/>
              </a:rPr>
              <a:t>Comparing growth rates</a:t>
            </a:r>
            <a:endParaRPr sz="1400" b="0" spc="-10">
              <a:latin typeface="Arial"/>
              <a:ea typeface="Arial"/>
              <a:cs typeface="Arial"/>
            </a:endParaRPr>
          </a:p>
        </p:txBody>
      </p:sp>
      <p:pic>
        <p:nvPicPr>
          <p:cNvPr id="20" name="object 4"/>
          <p:cNvPicPr>
            <a:picLocks noChangeAspect="1"/>
          </p:cNvPicPr>
          <p:nvPr/>
        </p:nvPicPr>
        <p:blipFill>
          <a:blip r:embed="rId3"/>
          <a:stretch>
            <a:fillRect/>
          </a:stretch>
        </p:blipFill>
        <p:spPr>
          <a:xfrm>
            <a:off x="152565" y="2988507"/>
            <a:ext cx="900668" cy="161917"/>
          </a:xfrm>
          <a:prstGeom prst="rect">
            <a:avLst/>
          </a:prstGeom>
        </p:spPr>
      </p:pic>
      <p:pic>
        <p:nvPicPr>
          <p:cNvPr id="21" name="object 5"/>
          <p:cNvPicPr>
            <a:picLocks noChangeAspect="1"/>
          </p:cNvPicPr>
          <p:nvPr/>
        </p:nvPicPr>
        <p:blipFill>
          <a:blip r:embed="rId4"/>
          <a:stretch>
            <a:fillRect/>
          </a:stretch>
        </p:blipFill>
        <p:spPr>
          <a:xfrm>
            <a:off x="1286560" y="2988417"/>
            <a:ext cx="610912" cy="162008"/>
          </a:xfrm>
          <a:prstGeom prst="rect">
            <a:avLst/>
          </a:prstGeom>
        </p:spPr>
      </p:pic>
      <p:sp>
        <p:nvSpPr>
          <p:cNvPr id="10" name="Footer Placeholder 7">
            <a:extLst>
              <a:ext uri="{FF2B5EF4-FFF2-40B4-BE49-F238E27FC236}">
                <a16:creationId xmlns:a16="http://schemas.microsoft.com/office/drawing/2014/main" id="{197FE2C8-8EE2-4937-3F30-294DB47641D6}"/>
              </a:ext>
            </a:extLst>
          </p:cNvPr>
          <p:cNvSpPr>
            <a:spLocks noGrp="1"/>
          </p:cNvSpPr>
          <p:nvPr>
            <p:ph type="ftr" idx="5"/>
          </p:nvPr>
        </p:nvSpPr>
        <p:spPr>
          <a:xfrm>
            <a:off x="2590800" y="3105150"/>
            <a:ext cx="2743200" cy="95250"/>
          </a:xfrm>
        </p:spPr>
        <p:txBody>
          <a:bodyPr wrap="square" lIns="0" tIns="0" rIns="0" bIns="0">
            <a:noAutofit/>
          </a:bodyPr>
          <a:lstStyle/>
          <a:p>
            <a:pPr algn="r">
              <a:lnSpc>
                <a:spcPct val="110000"/>
              </a:lnSpc>
              <a:buNone/>
              <a:defRPr sz="500">
                <a:solidFill>
                  <a:srgbClr val="888888"/>
                </a:solidFill>
                <a:latin typeface="Arial"/>
                <a:ea typeface="Arial"/>
                <a:cs typeface="Arial"/>
              </a:defRPr>
            </a:pPr>
            <a:r>
              <a:rPr sz="500">
                <a:solidFill>
                  <a:srgbClr val="888888"/>
                </a:solidFill>
                <a:latin typeface="Arial"/>
                <a:ea typeface="Arial"/>
                <a:cs typeface="Arial"/>
              </a:rPr>
              <a:t>MAS Foundations - Kamendu Panchal</a:t>
            </a:r>
            <a:endParaRPr sz="500" b="1">
              <a:solidFill>
                <a:schemeClr val="tx1"/>
              </a:solidFill>
              <a:latin typeface="Arial"/>
              <a:ea typeface="Arial"/>
              <a:cs typeface="Arial"/>
            </a:endParaRPr>
          </a:p>
        </p:txBody>
      </p:sp>
      <p:sp>
        <p:nvSpPr>
          <p:cNvPr id="3" name="TextBox 2">
            <a:extLst>
              <a:ext uri="{FF2B5EF4-FFF2-40B4-BE49-F238E27FC236}">
                <a16:creationId xmlns:a16="http://schemas.microsoft.com/office/drawing/2014/main" id="{DCE8FEB4-DA15-74FB-D091-FA2B80C9B501}"/>
              </a:ext>
            </a:extLst>
          </p:cNvPr>
          <p:cNvSpPr>
            <a:spLocks noGrp="1"/>
          </p:cNvSpPr>
          <p:nvPr/>
        </p:nvSpPr>
        <p:spPr>
          <a:xfrm>
            <a:off x="5438775" y="3086100"/>
            <a:ext cx="209550" cy="175260"/>
          </a:xfrm>
          <a:prstGeom prst="rect">
            <a:avLst/>
          </a:prstGeom>
          <a:noFill/>
        </p:spPr>
        <p:txBody>
          <a:bodyPr wrap="square" lIns="0" tIns="0" rIns="0" bIns="0">
            <a:noAutofit/>
          </a:bodyPr>
          <a:lstStyle/>
          <a:p>
            <a:pPr algn="r">
              <a:lnSpc>
                <a:spcPct val="110000"/>
              </a:lnSpc>
              <a:buNone/>
              <a:defRPr sz="500">
                <a:solidFill>
                  <a:srgbClr val="202020"/>
                </a:solidFill>
                <a:latin typeface="Arial"/>
                <a:ea typeface="Arial"/>
                <a:cs typeface="Arial"/>
              </a:defRPr>
            </a:pPr>
            <a:r>
              <a:rPr sz="500">
                <a:solidFill>
                  <a:srgbClr val="202020"/>
                </a:solidFill>
                <a:latin typeface="Arial"/>
                <a:ea typeface="Arial"/>
                <a:cs typeface="Arial"/>
              </a:rPr>
              <a:t>6</a:t>
            </a:r>
          </a:p>
        </p:txBody>
      </p:sp>
      <p:sp>
        <p:nvSpPr>
          <p:cNvPr id="13" name="text">
            <a:extLst>
              <a:ext uri="{FF2B5EF4-FFF2-40B4-BE49-F238E27FC236}">
                <a16:creationId xmlns:a16="http://schemas.microsoft.com/office/drawing/2014/main" id="{53EC55AC-01CA-42CF-997D-06CD6FE995ED}"/>
              </a:ext>
            </a:extLst>
          </p:cNvPr>
          <p:cNvSpPr>
            <a:spLocks noGrp="1"/>
          </p:cNvSpPr>
          <p:nvPr/>
        </p:nvSpPr>
        <p:spPr>
          <a:xfrm>
            <a:off x="228600" y="504825"/>
            <a:ext cx="5314950" cy="381000"/>
          </a:xfrm>
          <a:prstGeom prst="rect">
            <a:avLst/>
          </a:prstGeom>
          <a:noFill/>
          <a:ln w="0">
            <a:noFill/>
          </a:ln>
        </p:spPr>
        <p:txBody>
          <a:bodyPr wrap="square" lIns="0" tIns="0" rIns="0" bIns="0" anchor="t">
            <a:noAutofit/>
          </a:bodyPr>
          <a:lstStyle/>
          <a:p>
            <a:pPr algn="l">
              <a:lnSpc>
                <a:spcPct val="110000"/>
              </a:lnSpc>
              <a:buNone/>
              <a:defRPr sz="998" b="0">
                <a:solidFill>
                  <a:srgbClr val="202020"/>
                </a:solidFill>
                <a:latin typeface="Arial"/>
                <a:ea typeface="Arial"/>
                <a:cs typeface="Arial"/>
              </a:defRPr>
            </a:pPr>
            <a:r>
              <a:rPr sz="998" b="0">
                <a:solidFill>
                  <a:srgbClr val="202020"/>
                </a:solidFill>
                <a:latin typeface="Arial"/>
                <a:ea typeface="Arial"/>
                <a:cs typeface="Arial"/>
              </a:rPr>
              <a:t>The supplied graph illustrates how growth rates differ.</a:t>
            </a:r>
          </a:p>
        </p:txBody>
      </p:sp>
      <p:pic>
        <p:nvPicPr>
          <p:cNvPr id="25" name="Picture 24"/>
          <p:cNvPicPr>
            <a:picLocks noChangeAspect="1"/>
          </p:cNvPicPr>
          <p:nvPr/>
        </p:nvPicPr>
        <p:blipFill>
          <a:blip r:embed="rId5"/>
          <a:stretch/>
        </p:blipFill>
        <p:spPr>
          <a:xfrm>
            <a:off x="750882" y="742950"/>
            <a:ext cx="2536835" cy="2066925"/>
          </a:xfrm>
          <a:prstGeom prst="rect">
            <a:avLst/>
          </a:prstGeom>
        </p:spPr>
      </p:pic>
      <p:sp>
        <p:nvSpPr>
          <p:cNvPr id="15" name="text">
            <a:extLst>
              <a:ext uri="{FF2B5EF4-FFF2-40B4-BE49-F238E27FC236}">
                <a16:creationId xmlns:a16="http://schemas.microsoft.com/office/drawing/2014/main" id="{AB501A0D-9D39-4E9F-897B-3525B8CF2588}"/>
              </a:ext>
            </a:extLst>
          </p:cNvPr>
          <p:cNvSpPr>
            <a:spLocks noGrp="1"/>
          </p:cNvSpPr>
          <p:nvPr/>
        </p:nvSpPr>
        <p:spPr>
          <a:xfrm>
            <a:off x="3971925" y="1066800"/>
            <a:ext cx="1524000" cy="219075"/>
          </a:xfrm>
          <a:prstGeom prst="rect">
            <a:avLst/>
          </a:prstGeom>
          <a:noFill/>
          <a:ln w="0">
            <a:noFill/>
          </a:ln>
        </p:spPr>
        <p:txBody>
          <a:bodyPr wrap="square" lIns="0" tIns="0" rIns="0" bIns="0" anchor="t">
            <a:noAutofit/>
          </a:bodyPr>
          <a:lstStyle/>
          <a:p>
            <a:pPr algn="l">
              <a:lnSpc>
                <a:spcPct val="110000"/>
              </a:lnSpc>
              <a:buNone/>
              <a:defRPr sz="1125" b="1">
                <a:solidFill>
                  <a:srgbClr val="006ABA"/>
                </a:solidFill>
                <a:latin typeface="Arial"/>
                <a:ea typeface="Arial"/>
                <a:cs typeface="Arial"/>
              </a:defRPr>
            </a:pPr>
            <a:r>
              <a:rPr sz="1125" b="1">
                <a:solidFill>
                  <a:srgbClr val="006ABA"/>
                </a:solidFill>
                <a:latin typeface="Arial"/>
                <a:ea typeface="Arial"/>
                <a:cs typeface="Arial"/>
              </a:rPr>
              <a:t>Input size n</a:t>
            </a:r>
          </a:p>
        </p:txBody>
      </p:sp>
      <p:sp>
        <p:nvSpPr>
          <p:cNvPr id="16" name="text">
            <a:extLst>
              <a:ext uri="{FF2B5EF4-FFF2-40B4-BE49-F238E27FC236}">
                <a16:creationId xmlns:a16="http://schemas.microsoft.com/office/drawing/2014/main" id="{F5460D9D-FC14-4DF4-8526-9A25CF9812A5}"/>
              </a:ext>
            </a:extLst>
          </p:cNvPr>
          <p:cNvSpPr>
            <a:spLocks noGrp="1"/>
          </p:cNvSpPr>
          <p:nvPr/>
        </p:nvSpPr>
        <p:spPr>
          <a:xfrm>
            <a:off x="3971925" y="1371600"/>
            <a:ext cx="1552575" cy="409575"/>
          </a:xfrm>
          <a:prstGeom prst="rect">
            <a:avLst/>
          </a:prstGeom>
          <a:noFill/>
          <a:ln w="0">
            <a:noFill/>
          </a:ln>
        </p:spPr>
        <p:txBody>
          <a:bodyPr wrap="square" lIns="0" tIns="0" rIns="0" bIns="0" anchor="t">
            <a:noAutofit/>
          </a:bodyPr>
          <a:lstStyle/>
          <a:p>
            <a:pPr algn="l">
              <a:lnSpc>
                <a:spcPct val="110000"/>
              </a:lnSpc>
              <a:buNone/>
              <a:defRPr sz="1050" b="0">
                <a:solidFill>
                  <a:srgbClr val="202020"/>
                </a:solidFill>
                <a:latin typeface="Arial"/>
                <a:ea typeface="Arial"/>
                <a:cs typeface="Arial"/>
              </a:defRPr>
            </a:pPr>
            <a:r>
              <a:rPr sz="1050" b="0">
                <a:solidFill>
                  <a:srgbClr val="202020"/>
                </a:solidFill>
                <a:latin typeface="Arial"/>
                <a:ea typeface="Arial"/>
                <a:cs typeface="Arial"/>
              </a:rPr>
              <a:t>Compare growth as</a:t>
            </a:r>
          </a:p>
          <a:p>
            <a:pPr algn="l">
              <a:lnSpc>
                <a:spcPct val="110000"/>
              </a:lnSpc>
              <a:buNone/>
              <a:defRPr sz="1050" b="0">
                <a:solidFill>
                  <a:srgbClr val="202020"/>
                </a:solidFill>
                <a:latin typeface="Arial"/>
                <a:ea typeface="Arial"/>
                <a:cs typeface="Arial"/>
              </a:defRPr>
            </a:pPr>
            <a:r>
              <a:rPr sz="1050" b="0">
                <a:solidFill>
                  <a:srgbClr val="202020"/>
                </a:solidFill>
                <a:latin typeface="Arial"/>
                <a:ea typeface="Arial"/>
                <a:cs typeface="Arial"/>
              </a:rPr>
              <a:t>input size increases.</a:t>
            </a:r>
          </a:p>
        </p:txBody>
      </p:sp>
      <p:sp>
        <p:nvSpPr>
          <p:cNvPr id="17" name="text">
            <a:extLst>
              <a:ext uri="{FF2B5EF4-FFF2-40B4-BE49-F238E27FC236}">
                <a16:creationId xmlns:a16="http://schemas.microsoft.com/office/drawing/2014/main" id="{E3A4A97A-6C06-4D02-BFBB-3D4C0D24A608}"/>
              </a:ext>
            </a:extLst>
          </p:cNvPr>
          <p:cNvSpPr>
            <a:spLocks noGrp="1"/>
          </p:cNvSpPr>
          <p:nvPr/>
        </p:nvSpPr>
        <p:spPr>
          <a:xfrm>
            <a:off x="3971925" y="1990725"/>
            <a:ext cx="1571625" cy="466725"/>
          </a:xfrm>
          <a:prstGeom prst="rect">
            <a:avLst/>
          </a:prstGeom>
          <a:noFill/>
          <a:ln w="0">
            <a:noFill/>
          </a:ln>
        </p:spPr>
        <p:txBody>
          <a:bodyPr wrap="square" lIns="0" tIns="0" rIns="0" bIns="0" anchor="t">
            <a:noAutofit/>
          </a:bodyPr>
          <a:lstStyle/>
          <a:p>
            <a:pPr algn="l">
              <a:lnSpc>
                <a:spcPct val="110000"/>
              </a:lnSpc>
              <a:buNone/>
              <a:defRPr sz="900" b="0">
                <a:solidFill>
                  <a:srgbClr val="66717C"/>
                </a:solidFill>
                <a:latin typeface="Arial"/>
                <a:ea typeface="Arial"/>
                <a:cs typeface="Arial"/>
              </a:defRPr>
            </a:pPr>
            <a:r>
              <a:rPr sz="900" b="0">
                <a:solidFill>
                  <a:srgbClr val="66717C"/>
                </a:solidFill>
                <a:latin typeface="Arial"/>
                <a:ea typeface="Arial"/>
                <a:cs typeface="Arial"/>
              </a:rPr>
              <a:t>Schematic curves</a:t>
            </a:r>
          </a:p>
          <a:p>
            <a:pPr algn="l">
              <a:lnSpc>
                <a:spcPct val="110000"/>
              </a:lnSpc>
              <a:buNone/>
              <a:defRPr sz="900" b="0">
                <a:solidFill>
                  <a:srgbClr val="66717C"/>
                </a:solidFill>
                <a:latin typeface="Arial"/>
                <a:ea typeface="Arial"/>
                <a:cs typeface="Arial"/>
              </a:defRPr>
            </a:pPr>
            <a:r>
              <a:rPr sz="900" b="0">
                <a:solidFill>
                  <a:srgbClr val="66717C"/>
                </a:solidFill>
                <a:latin typeface="Arial"/>
                <a:ea typeface="Arial"/>
                <a:cs typeface="Arial"/>
              </a:rPr>
              <a:t>No measured timings</a:t>
            </a:r>
          </a:p>
        </p:txBody>
      </p:sp>
      <p:sp>
        <p:nvSpPr>
          <p:cNvPr id="18" name="text">
            <a:extLst>
              <a:ext uri="{FF2B5EF4-FFF2-40B4-BE49-F238E27FC236}">
                <a16:creationId xmlns:a16="http://schemas.microsoft.com/office/drawing/2014/main" id="{F2D0D77D-BD7B-4686-A9F2-042E717823E7}"/>
              </a:ext>
            </a:extLst>
          </p:cNvPr>
          <p:cNvSpPr>
            <a:spLocks noGrp="1"/>
          </p:cNvSpPr>
          <p:nvPr/>
        </p:nvSpPr>
        <p:spPr>
          <a:xfrm>
            <a:off x="228600" y="2867025"/>
            <a:ext cx="5334000" cy="95250"/>
          </a:xfrm>
          <a:prstGeom prst="rect">
            <a:avLst/>
          </a:prstGeom>
          <a:noFill/>
          <a:ln w="0">
            <a:noFill/>
          </a:ln>
        </p:spPr>
        <p:txBody>
          <a:bodyPr wrap="square" lIns="0" tIns="0" rIns="0" bIns="0" anchor="t">
            <a:noAutofit/>
          </a:bodyPr>
          <a:lstStyle/>
          <a:p>
            <a:pPr algn="l">
              <a:lnSpc>
                <a:spcPct val="110000"/>
              </a:lnSpc>
              <a:buNone/>
              <a:defRPr sz="510" b="0">
                <a:solidFill>
                  <a:srgbClr val="66717C"/>
                </a:solidFill>
                <a:latin typeface="Arial"/>
                <a:ea typeface="Arial"/>
                <a:cs typeface="Arial"/>
              </a:defRPr>
            </a:pPr>
            <a:r>
              <a:rPr sz="510" b="0">
                <a:solidFill>
                  <a:srgbClr val="66717C"/>
                </a:solidFill>
                <a:latin typeface="Arial"/>
                <a:ea typeface="Arial"/>
                <a:cs typeface="Arial"/>
              </a:rPr>
              <a:t>[G]  [P]  [T]</a:t>
            </a:r>
          </a:p>
        </p:txBody>
      </p:sp>
    </p:spTree>
    <p:extLst>
      <p:ext uri="{BB962C8B-B14F-4D97-AF65-F5344CB8AC3E}">
        <p14:creationId xmlns:p14="http://schemas.microsoft.com/office/powerpoint/2010/main" val="36456721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19C03931-4A28-44C2-9238-650F85D8C2AD}"/>
              </a:ext>
            </a:extLst>
          </p:cNvPr>
          <p:cNvSpPr>
            <a:spLocks noGrp="1"/>
          </p:cNvSpPr>
          <p:nvPr>
            <p:ph type="title"/>
          </p:nvPr>
        </p:nvSpPr>
        <p:spPr>
          <a:xfrm>
            <a:off x="171450" y="95250"/>
            <a:ext cx="5429250" cy="304800"/>
          </a:xfrm>
          <a:prstGeom prst="rect">
            <a:avLst/>
          </a:prstGeom>
        </p:spPr>
        <p:txBody>
          <a:bodyPr vert="horz" wrap="square" lIns="0" tIns="0" rIns="0" bIns="0">
            <a:noAutofit/>
          </a:bodyPr>
          <a:lstStyle/>
          <a:p>
            <a:pPr marL="12700" algn="l">
              <a:lnSpc>
                <a:spcPct val="110000"/>
              </a:lnSpc>
              <a:spcBef>
                <a:spcPts val="135"/>
              </a:spcBef>
              <a:buNone/>
              <a:defRPr sz="1400">
                <a:solidFill>
                  <a:srgbClr val="006ABA"/>
                </a:solidFill>
                <a:latin typeface="Arial"/>
                <a:ea typeface="Arial"/>
                <a:cs typeface="Arial"/>
              </a:defRPr>
            </a:pPr>
            <a:r>
              <a:rPr sz="1400" b="0" spc="-10">
                <a:solidFill>
                  <a:srgbClr val="006ABA"/>
                </a:solidFill>
                <a:latin typeface="Arial"/>
                <a:ea typeface="Arial"/>
                <a:cs typeface="Arial"/>
              </a:rPr>
              <a:t>O(1): direct access</a:t>
            </a:r>
            <a:endParaRPr sz="1400" b="0" spc="-10">
              <a:latin typeface="Arial"/>
              <a:ea typeface="Arial"/>
              <a:cs typeface="Arial"/>
            </a:endParaRPr>
          </a:p>
        </p:txBody>
      </p:sp>
      <p:pic>
        <p:nvPicPr>
          <p:cNvPr id="27" name="object 4"/>
          <p:cNvPicPr>
            <a:picLocks noChangeAspect="1"/>
          </p:cNvPicPr>
          <p:nvPr/>
        </p:nvPicPr>
        <p:blipFill>
          <a:blip r:embed="rId3"/>
          <a:stretch>
            <a:fillRect/>
          </a:stretch>
        </p:blipFill>
        <p:spPr>
          <a:xfrm>
            <a:off x="152565" y="2988507"/>
            <a:ext cx="900668" cy="161917"/>
          </a:xfrm>
          <a:prstGeom prst="rect">
            <a:avLst/>
          </a:prstGeom>
        </p:spPr>
      </p:pic>
      <p:pic>
        <p:nvPicPr>
          <p:cNvPr id="28" name="object 5"/>
          <p:cNvPicPr>
            <a:picLocks noChangeAspect="1"/>
          </p:cNvPicPr>
          <p:nvPr/>
        </p:nvPicPr>
        <p:blipFill>
          <a:blip r:embed="rId4"/>
          <a:stretch>
            <a:fillRect/>
          </a:stretch>
        </p:blipFill>
        <p:spPr>
          <a:xfrm>
            <a:off x="1286560" y="2988417"/>
            <a:ext cx="610912" cy="162008"/>
          </a:xfrm>
          <a:prstGeom prst="rect">
            <a:avLst/>
          </a:prstGeom>
        </p:spPr>
      </p:pic>
      <p:sp>
        <p:nvSpPr>
          <p:cNvPr id="10" name="Footer Placeholder 7">
            <a:extLst>
              <a:ext uri="{FF2B5EF4-FFF2-40B4-BE49-F238E27FC236}">
                <a16:creationId xmlns:a16="http://schemas.microsoft.com/office/drawing/2014/main" id="{197FE2C8-8EE2-4937-3F30-294DB47641D6}"/>
              </a:ext>
            </a:extLst>
          </p:cNvPr>
          <p:cNvSpPr>
            <a:spLocks noGrp="1"/>
          </p:cNvSpPr>
          <p:nvPr>
            <p:ph type="ftr" idx="5"/>
          </p:nvPr>
        </p:nvSpPr>
        <p:spPr>
          <a:xfrm>
            <a:off x="2590800" y="3105150"/>
            <a:ext cx="2743200" cy="95250"/>
          </a:xfrm>
        </p:spPr>
        <p:txBody>
          <a:bodyPr wrap="square" lIns="0" tIns="0" rIns="0" bIns="0">
            <a:noAutofit/>
          </a:bodyPr>
          <a:lstStyle/>
          <a:p>
            <a:pPr algn="r">
              <a:lnSpc>
                <a:spcPct val="110000"/>
              </a:lnSpc>
              <a:buNone/>
              <a:defRPr sz="500">
                <a:solidFill>
                  <a:srgbClr val="888888"/>
                </a:solidFill>
                <a:latin typeface="Arial"/>
                <a:ea typeface="Arial"/>
                <a:cs typeface="Arial"/>
              </a:defRPr>
            </a:pPr>
            <a:r>
              <a:rPr sz="500">
                <a:solidFill>
                  <a:srgbClr val="888888"/>
                </a:solidFill>
                <a:latin typeface="Arial"/>
                <a:ea typeface="Arial"/>
                <a:cs typeface="Arial"/>
              </a:rPr>
              <a:t>MAS Foundations - Kamendu Panchal</a:t>
            </a:r>
            <a:endParaRPr sz="500" b="1">
              <a:solidFill>
                <a:schemeClr val="tx1"/>
              </a:solidFill>
              <a:latin typeface="Arial"/>
              <a:ea typeface="Arial"/>
              <a:cs typeface="Arial"/>
            </a:endParaRPr>
          </a:p>
        </p:txBody>
      </p:sp>
      <p:sp>
        <p:nvSpPr>
          <p:cNvPr id="3" name="TextBox 2">
            <a:extLst>
              <a:ext uri="{FF2B5EF4-FFF2-40B4-BE49-F238E27FC236}">
                <a16:creationId xmlns:a16="http://schemas.microsoft.com/office/drawing/2014/main" id="{DCE8FEB4-DA15-74FB-D091-FA2B80C9B501}"/>
              </a:ext>
            </a:extLst>
          </p:cNvPr>
          <p:cNvSpPr>
            <a:spLocks noGrp="1"/>
          </p:cNvSpPr>
          <p:nvPr/>
        </p:nvSpPr>
        <p:spPr>
          <a:xfrm>
            <a:off x="5438775" y="3086100"/>
            <a:ext cx="209550" cy="175260"/>
          </a:xfrm>
          <a:prstGeom prst="rect">
            <a:avLst/>
          </a:prstGeom>
          <a:noFill/>
        </p:spPr>
        <p:txBody>
          <a:bodyPr wrap="square" lIns="0" tIns="0" rIns="0" bIns="0">
            <a:noAutofit/>
          </a:bodyPr>
          <a:lstStyle/>
          <a:p>
            <a:pPr algn="r">
              <a:lnSpc>
                <a:spcPct val="110000"/>
              </a:lnSpc>
              <a:buNone/>
              <a:defRPr sz="500">
                <a:solidFill>
                  <a:srgbClr val="202020"/>
                </a:solidFill>
                <a:latin typeface="Arial"/>
                <a:ea typeface="Arial"/>
                <a:cs typeface="Arial"/>
              </a:defRPr>
            </a:pPr>
            <a:r>
              <a:rPr sz="500">
                <a:solidFill>
                  <a:srgbClr val="202020"/>
                </a:solidFill>
                <a:latin typeface="Arial"/>
                <a:ea typeface="Arial"/>
                <a:cs typeface="Arial"/>
              </a:rPr>
              <a:t>7</a:t>
            </a:r>
          </a:p>
        </p:txBody>
      </p:sp>
      <p:sp>
        <p:nvSpPr>
          <p:cNvPr id="13" name="text">
            <a:extLst>
              <a:ext uri="{FF2B5EF4-FFF2-40B4-BE49-F238E27FC236}">
                <a16:creationId xmlns:a16="http://schemas.microsoft.com/office/drawing/2014/main" id="{EE781266-12F0-4D9A-9B2B-B930465A0E8E}"/>
              </a:ext>
            </a:extLst>
          </p:cNvPr>
          <p:cNvSpPr>
            <a:spLocks noGrp="1"/>
          </p:cNvSpPr>
          <p:nvPr/>
        </p:nvSpPr>
        <p:spPr>
          <a:xfrm>
            <a:off x="228600" y="504825"/>
            <a:ext cx="5314950" cy="381000"/>
          </a:xfrm>
          <a:prstGeom prst="rect">
            <a:avLst/>
          </a:prstGeom>
          <a:noFill/>
          <a:ln w="0">
            <a:noFill/>
          </a:ln>
        </p:spPr>
        <p:txBody>
          <a:bodyPr wrap="square" lIns="0" tIns="0" rIns="0" bIns="0" anchor="t">
            <a:noAutofit/>
          </a:bodyPr>
          <a:lstStyle/>
          <a:p>
            <a:pPr algn="l">
              <a:lnSpc>
                <a:spcPct val="110000"/>
              </a:lnSpc>
              <a:buNone/>
              <a:defRPr sz="998" b="0">
                <a:solidFill>
                  <a:srgbClr val="202020"/>
                </a:solidFill>
                <a:latin typeface="Arial"/>
                <a:ea typeface="Arial"/>
                <a:cs typeface="Arial"/>
              </a:defRPr>
            </a:pPr>
            <a:r>
              <a:rPr sz="998" b="0">
                <a:solidFill>
                  <a:srgbClr val="202020"/>
                </a:solidFill>
                <a:latin typeface="Arial"/>
                <a:ea typeface="Arial"/>
                <a:cs typeface="Arial"/>
              </a:rPr>
              <a:t>Reading one valid array index takes constant work.</a:t>
            </a:r>
          </a:p>
        </p:txBody>
      </p:sp>
      <p:sp>
        <p:nvSpPr>
          <p:cNvPr id="14" name="Rectangle 13">
            <a:extLst>
              <a:ext uri="{FF2B5EF4-FFF2-40B4-BE49-F238E27FC236}">
                <a16:creationId xmlns:a16="http://schemas.microsoft.com/office/drawing/2014/main" id="{E8CD8BA8-F366-4BFE-889D-CE9DE657FD6C}"/>
              </a:ext>
            </a:extLst>
          </p:cNvPr>
          <p:cNvSpPr>
            <a:spLocks noGrp="1"/>
          </p:cNvSpPr>
          <p:nvPr/>
        </p:nvSpPr>
        <p:spPr>
          <a:xfrm>
            <a:off x="228600" y="981075"/>
            <a:ext cx="2600325" cy="1504950"/>
          </a:xfrm>
          <a:prstGeom prst="rect">
            <a:avLst/>
          </a:prstGeom>
          <a:solidFill>
            <a:srgbClr val="101827"/>
          </a:solidFill>
          <a:ln w="0">
            <a:noFill/>
          </a:ln>
        </p:spPr>
      </p:sp>
      <p:sp>
        <p:nvSpPr>
          <p:cNvPr id="15" name="Rectangle 14">
            <a:extLst>
              <a:ext uri="{FF2B5EF4-FFF2-40B4-BE49-F238E27FC236}">
                <a16:creationId xmlns:a16="http://schemas.microsoft.com/office/drawing/2014/main" id="{B19EBD5A-6C26-48D3-B97B-6D8F78F395E7}"/>
              </a:ext>
            </a:extLst>
          </p:cNvPr>
          <p:cNvSpPr>
            <a:spLocks noGrp="1"/>
          </p:cNvSpPr>
          <p:nvPr/>
        </p:nvSpPr>
        <p:spPr>
          <a:xfrm>
            <a:off x="228600" y="800100"/>
            <a:ext cx="2600325" cy="180975"/>
          </a:xfrm>
          <a:prstGeom prst="rect">
            <a:avLst/>
          </a:prstGeom>
          <a:solidFill>
            <a:srgbClr val="006ABA"/>
          </a:solidFill>
          <a:ln w="0">
            <a:noFill/>
          </a:ln>
        </p:spPr>
      </p:sp>
      <p:sp>
        <p:nvSpPr>
          <p:cNvPr id="16" name="text">
            <a:extLst>
              <a:ext uri="{FF2B5EF4-FFF2-40B4-BE49-F238E27FC236}">
                <a16:creationId xmlns:a16="http://schemas.microsoft.com/office/drawing/2014/main" id="{D0EA6CB2-8096-43C3-A77B-214701BF33F2}"/>
              </a:ext>
            </a:extLst>
          </p:cNvPr>
          <p:cNvSpPr>
            <a:spLocks noGrp="1"/>
          </p:cNvSpPr>
          <p:nvPr/>
        </p:nvSpPr>
        <p:spPr>
          <a:xfrm>
            <a:off x="228600" y="819150"/>
            <a:ext cx="2600325" cy="161925"/>
          </a:xfrm>
          <a:prstGeom prst="rect">
            <a:avLst/>
          </a:prstGeom>
          <a:noFill/>
          <a:ln w="0">
            <a:noFill/>
          </a:ln>
        </p:spPr>
        <p:txBody>
          <a:bodyPr wrap="square" lIns="0" tIns="0" rIns="0" bIns="0" anchor="t">
            <a:noAutofit/>
          </a:bodyPr>
          <a:lstStyle/>
          <a:p>
            <a:pPr algn="ctr">
              <a:lnSpc>
                <a:spcPct val="110000"/>
              </a:lnSpc>
              <a:buNone/>
              <a:defRPr sz="825" b="1">
                <a:solidFill>
                  <a:srgbClr val="FFFFFF"/>
                </a:solidFill>
                <a:latin typeface="Arial"/>
                <a:ea typeface="Arial"/>
                <a:cs typeface="Arial"/>
              </a:defRPr>
            </a:pPr>
            <a:r>
              <a:rPr sz="825" b="1">
                <a:solidFill>
                  <a:srgbClr val="FFFFFF"/>
                </a:solidFill>
                <a:latin typeface="Arial"/>
                <a:ea typeface="Arial"/>
                <a:cs typeface="Arial"/>
              </a:rPr>
              <a:t>C++17</a:t>
            </a:r>
          </a:p>
        </p:txBody>
      </p:sp>
      <p:sp>
        <p:nvSpPr>
          <p:cNvPr id="17" name="text">
            <a:extLst>
              <a:ext uri="{FF2B5EF4-FFF2-40B4-BE49-F238E27FC236}">
                <a16:creationId xmlns:a16="http://schemas.microsoft.com/office/drawing/2014/main" id="{023D5F71-B2ED-4BCD-AEE9-B108074AF2BF}"/>
              </a:ext>
            </a:extLst>
          </p:cNvPr>
          <p:cNvSpPr>
            <a:spLocks noGrp="1"/>
          </p:cNvSpPr>
          <p:nvPr/>
        </p:nvSpPr>
        <p:spPr>
          <a:xfrm>
            <a:off x="295275" y="106680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std::vector&lt;int&gt; a{2, 4, 6};</a:t>
            </a:r>
          </a:p>
        </p:txBody>
      </p:sp>
      <p:sp>
        <p:nvSpPr>
          <p:cNvPr id="18" name="text">
            <a:extLst>
              <a:ext uri="{FF2B5EF4-FFF2-40B4-BE49-F238E27FC236}">
                <a16:creationId xmlns:a16="http://schemas.microsoft.com/office/drawing/2014/main" id="{D0E82898-931E-4EA4-BD61-4C08087165F0}"/>
              </a:ext>
            </a:extLst>
          </p:cNvPr>
          <p:cNvSpPr>
            <a:spLocks noGrp="1"/>
          </p:cNvSpPr>
          <p:nvPr/>
        </p:nvSpPr>
        <p:spPr>
          <a:xfrm>
            <a:off x="295275" y="119634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std::cout &lt;&lt; a[1] &lt;&lt; "\n";</a:t>
            </a:r>
          </a:p>
        </p:txBody>
      </p:sp>
      <p:sp>
        <p:nvSpPr>
          <p:cNvPr id="19" name="Rectangle 18">
            <a:extLst>
              <a:ext uri="{FF2B5EF4-FFF2-40B4-BE49-F238E27FC236}">
                <a16:creationId xmlns:a16="http://schemas.microsoft.com/office/drawing/2014/main" id="{80BC0122-BC2D-4C16-8591-4CE74E83E963}"/>
              </a:ext>
            </a:extLst>
          </p:cNvPr>
          <p:cNvSpPr>
            <a:spLocks noGrp="1"/>
          </p:cNvSpPr>
          <p:nvPr/>
        </p:nvSpPr>
        <p:spPr>
          <a:xfrm>
            <a:off x="2990850" y="981075"/>
            <a:ext cx="2600325" cy="1504950"/>
          </a:xfrm>
          <a:prstGeom prst="rect">
            <a:avLst/>
          </a:prstGeom>
          <a:solidFill>
            <a:srgbClr val="101827"/>
          </a:solidFill>
          <a:ln w="0">
            <a:noFill/>
          </a:ln>
        </p:spPr>
      </p:sp>
      <p:sp>
        <p:nvSpPr>
          <p:cNvPr id="20" name="Rectangle 19">
            <a:extLst>
              <a:ext uri="{FF2B5EF4-FFF2-40B4-BE49-F238E27FC236}">
                <a16:creationId xmlns:a16="http://schemas.microsoft.com/office/drawing/2014/main" id="{296A6F41-9741-440D-853B-C5D33F776D69}"/>
              </a:ext>
            </a:extLst>
          </p:cNvPr>
          <p:cNvSpPr>
            <a:spLocks noGrp="1"/>
          </p:cNvSpPr>
          <p:nvPr/>
        </p:nvSpPr>
        <p:spPr>
          <a:xfrm>
            <a:off x="2990850" y="800100"/>
            <a:ext cx="2600325" cy="180975"/>
          </a:xfrm>
          <a:prstGeom prst="rect">
            <a:avLst/>
          </a:prstGeom>
          <a:solidFill>
            <a:srgbClr val="1AA260"/>
          </a:solidFill>
          <a:ln w="0">
            <a:noFill/>
          </a:ln>
        </p:spPr>
      </p:sp>
      <p:sp>
        <p:nvSpPr>
          <p:cNvPr id="21" name="text">
            <a:extLst>
              <a:ext uri="{FF2B5EF4-FFF2-40B4-BE49-F238E27FC236}">
                <a16:creationId xmlns:a16="http://schemas.microsoft.com/office/drawing/2014/main" id="{0CE2597E-62D9-42B1-B6AC-D3058F89018F}"/>
              </a:ext>
            </a:extLst>
          </p:cNvPr>
          <p:cNvSpPr>
            <a:spLocks noGrp="1"/>
          </p:cNvSpPr>
          <p:nvPr/>
        </p:nvSpPr>
        <p:spPr>
          <a:xfrm>
            <a:off x="2990850" y="819150"/>
            <a:ext cx="2600325" cy="161925"/>
          </a:xfrm>
          <a:prstGeom prst="rect">
            <a:avLst/>
          </a:prstGeom>
          <a:noFill/>
          <a:ln w="0">
            <a:noFill/>
          </a:ln>
        </p:spPr>
        <p:txBody>
          <a:bodyPr wrap="square" lIns="0" tIns="0" rIns="0" bIns="0" anchor="t">
            <a:noAutofit/>
          </a:bodyPr>
          <a:lstStyle/>
          <a:p>
            <a:pPr algn="ctr">
              <a:lnSpc>
                <a:spcPct val="110000"/>
              </a:lnSpc>
              <a:buNone/>
              <a:defRPr sz="825" b="1">
                <a:solidFill>
                  <a:srgbClr val="FFFFFF"/>
                </a:solidFill>
                <a:latin typeface="Arial"/>
                <a:ea typeface="Arial"/>
                <a:cs typeface="Arial"/>
              </a:defRPr>
            </a:pPr>
            <a:r>
              <a:rPr sz="825" b="1">
                <a:solidFill>
                  <a:srgbClr val="FFFFFF"/>
                </a:solidFill>
                <a:latin typeface="Arial"/>
                <a:ea typeface="Arial"/>
                <a:cs typeface="Arial"/>
              </a:rPr>
              <a:t>Python 3</a:t>
            </a:r>
          </a:p>
        </p:txBody>
      </p:sp>
      <p:sp>
        <p:nvSpPr>
          <p:cNvPr id="22" name="text">
            <a:extLst>
              <a:ext uri="{FF2B5EF4-FFF2-40B4-BE49-F238E27FC236}">
                <a16:creationId xmlns:a16="http://schemas.microsoft.com/office/drawing/2014/main" id="{24BDE705-69F0-451B-AEDB-906E846E118E}"/>
              </a:ext>
            </a:extLst>
          </p:cNvPr>
          <p:cNvSpPr>
            <a:spLocks noGrp="1"/>
          </p:cNvSpPr>
          <p:nvPr/>
        </p:nvSpPr>
        <p:spPr>
          <a:xfrm>
            <a:off x="3057525" y="106680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a = [2, 4, 6]</a:t>
            </a:r>
          </a:p>
        </p:txBody>
      </p:sp>
      <p:sp>
        <p:nvSpPr>
          <p:cNvPr id="23" name="text">
            <a:extLst>
              <a:ext uri="{FF2B5EF4-FFF2-40B4-BE49-F238E27FC236}">
                <a16:creationId xmlns:a16="http://schemas.microsoft.com/office/drawing/2014/main" id="{9B2B535D-9295-4345-BFD9-ECE11FF1364A}"/>
              </a:ext>
            </a:extLst>
          </p:cNvPr>
          <p:cNvSpPr>
            <a:spLocks noGrp="1"/>
          </p:cNvSpPr>
          <p:nvPr/>
        </p:nvSpPr>
        <p:spPr>
          <a:xfrm>
            <a:off x="3057525" y="119634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print(a[1])</a:t>
            </a:r>
          </a:p>
        </p:txBody>
      </p:sp>
      <p:sp>
        <p:nvSpPr>
          <p:cNvPr id="24" name="text">
            <a:extLst>
              <a:ext uri="{FF2B5EF4-FFF2-40B4-BE49-F238E27FC236}">
                <a16:creationId xmlns:a16="http://schemas.microsoft.com/office/drawing/2014/main" id="{1E6E4A4B-5C50-433C-BE7E-D0D99C7FBAF3}"/>
              </a:ext>
            </a:extLst>
          </p:cNvPr>
          <p:cNvSpPr>
            <a:spLocks noGrp="1"/>
          </p:cNvSpPr>
          <p:nvPr/>
        </p:nvSpPr>
        <p:spPr>
          <a:xfrm>
            <a:off x="228600" y="2600325"/>
            <a:ext cx="5314950" cy="228600"/>
          </a:xfrm>
          <a:prstGeom prst="rect">
            <a:avLst/>
          </a:prstGeom>
          <a:noFill/>
          <a:ln w="0">
            <a:noFill/>
          </a:ln>
        </p:spPr>
        <p:txBody>
          <a:bodyPr wrap="square" lIns="0" tIns="0" rIns="0" bIns="0" anchor="t">
            <a:noAutofit/>
          </a:bodyPr>
          <a:lstStyle/>
          <a:p>
            <a:pPr algn="l">
              <a:lnSpc>
                <a:spcPct val="110000"/>
              </a:lnSpc>
              <a:buNone/>
              <a:defRPr sz="885" b="0">
                <a:solidFill>
                  <a:srgbClr val="006ABA"/>
                </a:solidFill>
                <a:latin typeface="Arial"/>
                <a:ea typeface="Arial"/>
                <a:cs typeface="Arial"/>
              </a:defRPr>
            </a:pPr>
            <a:r>
              <a:rPr sz="885" b="0">
                <a:solidFill>
                  <a:srgbClr val="006ABA"/>
                </a:solidFill>
                <a:latin typeface="Arial"/>
                <a:ea typeface="Arial"/>
                <a:cs typeface="Arial"/>
              </a:rPr>
              <a:t>Output: 4. The access operation is O(1).</a:t>
            </a:r>
          </a:p>
        </p:txBody>
      </p:sp>
      <p:sp>
        <p:nvSpPr>
          <p:cNvPr id="25" name="text">
            <a:extLst>
              <a:ext uri="{FF2B5EF4-FFF2-40B4-BE49-F238E27FC236}">
                <a16:creationId xmlns:a16="http://schemas.microsoft.com/office/drawing/2014/main" id="{492776E9-294F-4999-A0D2-4C1B3E222F29}"/>
              </a:ext>
            </a:extLst>
          </p:cNvPr>
          <p:cNvSpPr>
            <a:spLocks noGrp="1"/>
          </p:cNvSpPr>
          <p:nvPr/>
        </p:nvSpPr>
        <p:spPr>
          <a:xfrm>
            <a:off x="228600" y="2867025"/>
            <a:ext cx="5334000" cy="95250"/>
          </a:xfrm>
          <a:prstGeom prst="rect">
            <a:avLst/>
          </a:prstGeom>
          <a:noFill/>
          <a:ln w="0">
            <a:noFill/>
          </a:ln>
        </p:spPr>
        <p:txBody>
          <a:bodyPr wrap="square" lIns="0" tIns="0" rIns="0" bIns="0" anchor="t">
            <a:noAutofit/>
          </a:bodyPr>
          <a:lstStyle/>
          <a:p>
            <a:pPr algn="l">
              <a:lnSpc>
                <a:spcPct val="110000"/>
              </a:lnSpc>
              <a:buNone/>
              <a:defRPr sz="510" b="0">
                <a:solidFill>
                  <a:srgbClr val="66717C"/>
                </a:solidFill>
                <a:latin typeface="Arial"/>
                <a:ea typeface="Arial"/>
                <a:cs typeface="Arial"/>
              </a:defRPr>
            </a:pPr>
            <a:r>
              <a:rPr sz="510" b="0">
                <a:solidFill>
                  <a:srgbClr val="66717C"/>
                </a:solidFill>
                <a:latin typeface="Arial"/>
                <a:ea typeface="Arial"/>
                <a:cs typeface="Arial"/>
              </a:rPr>
              <a:t>[P]  [M]  [C]  [PY]</a:t>
            </a:r>
          </a:p>
        </p:txBody>
      </p:sp>
    </p:spTree>
    <p:extLst>
      <p:ext uri="{BB962C8B-B14F-4D97-AF65-F5344CB8AC3E}">
        <p14:creationId xmlns:p14="http://schemas.microsoft.com/office/powerpoint/2010/main" val="36456721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19C03931-4A28-44C2-9238-650F85D8C2AD}"/>
              </a:ext>
            </a:extLst>
          </p:cNvPr>
          <p:cNvSpPr>
            <a:spLocks noGrp="1"/>
          </p:cNvSpPr>
          <p:nvPr>
            <p:ph type="title"/>
          </p:nvPr>
        </p:nvSpPr>
        <p:spPr>
          <a:xfrm>
            <a:off x="171450" y="95250"/>
            <a:ext cx="5429250" cy="304800"/>
          </a:xfrm>
          <a:prstGeom prst="rect">
            <a:avLst/>
          </a:prstGeom>
        </p:spPr>
        <p:txBody>
          <a:bodyPr vert="horz" wrap="square" lIns="0" tIns="0" rIns="0" bIns="0">
            <a:noAutofit/>
          </a:bodyPr>
          <a:lstStyle/>
          <a:p>
            <a:pPr marL="12700" algn="l">
              <a:lnSpc>
                <a:spcPct val="110000"/>
              </a:lnSpc>
              <a:spcBef>
                <a:spcPts val="135"/>
              </a:spcBef>
              <a:buNone/>
              <a:defRPr sz="1400">
                <a:solidFill>
                  <a:srgbClr val="006ABA"/>
                </a:solidFill>
                <a:latin typeface="Arial"/>
                <a:ea typeface="Arial"/>
                <a:cs typeface="Arial"/>
              </a:defRPr>
            </a:pPr>
            <a:r>
              <a:rPr sz="1400" b="0" spc="-10">
                <a:solidFill>
                  <a:srgbClr val="006ABA"/>
                </a:solidFill>
                <a:latin typeface="Arial"/>
                <a:ea typeface="Arial"/>
                <a:cs typeface="Arial"/>
              </a:rPr>
              <a:t>O(n): one full pass</a:t>
            </a:r>
            <a:endParaRPr sz="1400" b="0" spc="-10">
              <a:latin typeface="Arial"/>
              <a:ea typeface="Arial"/>
              <a:cs typeface="Arial"/>
            </a:endParaRPr>
          </a:p>
        </p:txBody>
      </p:sp>
      <p:pic>
        <p:nvPicPr>
          <p:cNvPr id="34" name="object 4"/>
          <p:cNvPicPr>
            <a:picLocks noChangeAspect="1"/>
          </p:cNvPicPr>
          <p:nvPr/>
        </p:nvPicPr>
        <p:blipFill>
          <a:blip r:embed="rId3"/>
          <a:stretch>
            <a:fillRect/>
          </a:stretch>
        </p:blipFill>
        <p:spPr>
          <a:xfrm>
            <a:off x="152565" y="2988507"/>
            <a:ext cx="900668" cy="161917"/>
          </a:xfrm>
          <a:prstGeom prst="rect">
            <a:avLst/>
          </a:prstGeom>
        </p:spPr>
      </p:pic>
      <p:pic>
        <p:nvPicPr>
          <p:cNvPr id="35" name="object 5"/>
          <p:cNvPicPr>
            <a:picLocks noChangeAspect="1"/>
          </p:cNvPicPr>
          <p:nvPr/>
        </p:nvPicPr>
        <p:blipFill>
          <a:blip r:embed="rId4"/>
          <a:stretch>
            <a:fillRect/>
          </a:stretch>
        </p:blipFill>
        <p:spPr>
          <a:xfrm>
            <a:off x="1286560" y="2988417"/>
            <a:ext cx="610912" cy="162008"/>
          </a:xfrm>
          <a:prstGeom prst="rect">
            <a:avLst/>
          </a:prstGeom>
        </p:spPr>
      </p:pic>
      <p:sp>
        <p:nvSpPr>
          <p:cNvPr id="10" name="Footer Placeholder 7">
            <a:extLst>
              <a:ext uri="{FF2B5EF4-FFF2-40B4-BE49-F238E27FC236}">
                <a16:creationId xmlns:a16="http://schemas.microsoft.com/office/drawing/2014/main" id="{197FE2C8-8EE2-4937-3F30-294DB47641D6}"/>
              </a:ext>
            </a:extLst>
          </p:cNvPr>
          <p:cNvSpPr>
            <a:spLocks noGrp="1"/>
          </p:cNvSpPr>
          <p:nvPr>
            <p:ph type="ftr" idx="5"/>
          </p:nvPr>
        </p:nvSpPr>
        <p:spPr>
          <a:xfrm>
            <a:off x="2590800" y="3105150"/>
            <a:ext cx="2743200" cy="95250"/>
          </a:xfrm>
        </p:spPr>
        <p:txBody>
          <a:bodyPr wrap="square" lIns="0" tIns="0" rIns="0" bIns="0">
            <a:noAutofit/>
          </a:bodyPr>
          <a:lstStyle/>
          <a:p>
            <a:pPr algn="r">
              <a:lnSpc>
                <a:spcPct val="110000"/>
              </a:lnSpc>
              <a:buNone/>
              <a:defRPr sz="500">
                <a:solidFill>
                  <a:srgbClr val="888888"/>
                </a:solidFill>
                <a:latin typeface="Arial"/>
                <a:ea typeface="Arial"/>
                <a:cs typeface="Arial"/>
              </a:defRPr>
            </a:pPr>
            <a:r>
              <a:rPr sz="500">
                <a:solidFill>
                  <a:srgbClr val="888888"/>
                </a:solidFill>
                <a:latin typeface="Arial"/>
                <a:ea typeface="Arial"/>
                <a:cs typeface="Arial"/>
              </a:rPr>
              <a:t>MAS Foundations - Kamendu Panchal</a:t>
            </a:r>
            <a:endParaRPr sz="500" b="1">
              <a:solidFill>
                <a:schemeClr val="tx1"/>
              </a:solidFill>
              <a:latin typeface="Arial"/>
              <a:ea typeface="Arial"/>
              <a:cs typeface="Arial"/>
            </a:endParaRPr>
          </a:p>
        </p:txBody>
      </p:sp>
      <p:sp>
        <p:nvSpPr>
          <p:cNvPr id="3" name="TextBox 2">
            <a:extLst>
              <a:ext uri="{FF2B5EF4-FFF2-40B4-BE49-F238E27FC236}">
                <a16:creationId xmlns:a16="http://schemas.microsoft.com/office/drawing/2014/main" id="{DCE8FEB4-DA15-74FB-D091-FA2B80C9B501}"/>
              </a:ext>
            </a:extLst>
          </p:cNvPr>
          <p:cNvSpPr>
            <a:spLocks noGrp="1"/>
          </p:cNvSpPr>
          <p:nvPr/>
        </p:nvSpPr>
        <p:spPr>
          <a:xfrm>
            <a:off x="5438775" y="3086100"/>
            <a:ext cx="209550" cy="175260"/>
          </a:xfrm>
          <a:prstGeom prst="rect">
            <a:avLst/>
          </a:prstGeom>
          <a:noFill/>
        </p:spPr>
        <p:txBody>
          <a:bodyPr wrap="square" lIns="0" tIns="0" rIns="0" bIns="0">
            <a:noAutofit/>
          </a:bodyPr>
          <a:lstStyle/>
          <a:p>
            <a:pPr algn="r">
              <a:lnSpc>
                <a:spcPct val="110000"/>
              </a:lnSpc>
              <a:buNone/>
              <a:defRPr sz="500">
                <a:solidFill>
                  <a:srgbClr val="202020"/>
                </a:solidFill>
                <a:latin typeface="Arial"/>
                <a:ea typeface="Arial"/>
                <a:cs typeface="Arial"/>
              </a:defRPr>
            </a:pPr>
            <a:r>
              <a:rPr sz="500">
                <a:solidFill>
                  <a:srgbClr val="202020"/>
                </a:solidFill>
                <a:latin typeface="Arial"/>
                <a:ea typeface="Arial"/>
                <a:cs typeface="Arial"/>
              </a:rPr>
              <a:t>8</a:t>
            </a:r>
          </a:p>
        </p:txBody>
      </p:sp>
      <p:sp>
        <p:nvSpPr>
          <p:cNvPr id="13" name="text">
            <a:extLst>
              <a:ext uri="{FF2B5EF4-FFF2-40B4-BE49-F238E27FC236}">
                <a16:creationId xmlns:a16="http://schemas.microsoft.com/office/drawing/2014/main" id="{C1EE13DA-D24F-402E-9C7B-FFC443E73898}"/>
              </a:ext>
            </a:extLst>
          </p:cNvPr>
          <p:cNvSpPr>
            <a:spLocks noGrp="1"/>
          </p:cNvSpPr>
          <p:nvPr/>
        </p:nvSpPr>
        <p:spPr>
          <a:xfrm>
            <a:off x="228600" y="504825"/>
            <a:ext cx="5314950" cy="381000"/>
          </a:xfrm>
          <a:prstGeom prst="rect">
            <a:avLst/>
          </a:prstGeom>
          <a:noFill/>
          <a:ln w="0">
            <a:noFill/>
          </a:ln>
        </p:spPr>
        <p:txBody>
          <a:bodyPr wrap="square" lIns="0" tIns="0" rIns="0" bIns="0" anchor="t">
            <a:noAutofit/>
          </a:bodyPr>
          <a:lstStyle/>
          <a:p>
            <a:pPr algn="l">
              <a:lnSpc>
                <a:spcPct val="110000"/>
              </a:lnSpc>
              <a:buNone/>
              <a:defRPr sz="998" b="0">
                <a:solidFill>
                  <a:srgbClr val="202020"/>
                </a:solidFill>
                <a:latin typeface="Arial"/>
                <a:ea typeface="Arial"/>
                <a:cs typeface="Arial"/>
              </a:defRPr>
            </a:pPr>
            <a:r>
              <a:rPr sz="998" b="0">
                <a:solidFill>
                  <a:srgbClr val="202020"/>
                </a:solidFill>
                <a:latin typeface="Arial"/>
                <a:ea typeface="Arial"/>
                <a:cs typeface="Arial"/>
              </a:rPr>
              <a:t>Adding n values requires a linear number of additions.</a:t>
            </a:r>
          </a:p>
        </p:txBody>
      </p:sp>
      <p:sp>
        <p:nvSpPr>
          <p:cNvPr id="14" name="Rectangle 13">
            <a:extLst>
              <a:ext uri="{FF2B5EF4-FFF2-40B4-BE49-F238E27FC236}">
                <a16:creationId xmlns:a16="http://schemas.microsoft.com/office/drawing/2014/main" id="{FA94BBE0-3F0C-4AEA-B52A-A41C8F0D5DBD}"/>
              </a:ext>
            </a:extLst>
          </p:cNvPr>
          <p:cNvSpPr>
            <a:spLocks noGrp="1"/>
          </p:cNvSpPr>
          <p:nvPr/>
        </p:nvSpPr>
        <p:spPr>
          <a:xfrm>
            <a:off x="228600" y="981075"/>
            <a:ext cx="2600325" cy="1504950"/>
          </a:xfrm>
          <a:prstGeom prst="rect">
            <a:avLst/>
          </a:prstGeom>
          <a:solidFill>
            <a:srgbClr val="101827"/>
          </a:solidFill>
          <a:ln w="0">
            <a:noFill/>
          </a:ln>
        </p:spPr>
      </p:sp>
      <p:sp>
        <p:nvSpPr>
          <p:cNvPr id="15" name="Rectangle 14">
            <a:extLst>
              <a:ext uri="{FF2B5EF4-FFF2-40B4-BE49-F238E27FC236}">
                <a16:creationId xmlns:a16="http://schemas.microsoft.com/office/drawing/2014/main" id="{0661C913-93BA-4307-9417-5BF72C92D5E1}"/>
              </a:ext>
            </a:extLst>
          </p:cNvPr>
          <p:cNvSpPr>
            <a:spLocks noGrp="1"/>
          </p:cNvSpPr>
          <p:nvPr/>
        </p:nvSpPr>
        <p:spPr>
          <a:xfrm>
            <a:off x="228600" y="800100"/>
            <a:ext cx="2600325" cy="180975"/>
          </a:xfrm>
          <a:prstGeom prst="rect">
            <a:avLst/>
          </a:prstGeom>
          <a:solidFill>
            <a:srgbClr val="006ABA"/>
          </a:solidFill>
          <a:ln w="0">
            <a:noFill/>
          </a:ln>
        </p:spPr>
      </p:sp>
      <p:sp>
        <p:nvSpPr>
          <p:cNvPr id="16" name="text">
            <a:extLst>
              <a:ext uri="{FF2B5EF4-FFF2-40B4-BE49-F238E27FC236}">
                <a16:creationId xmlns:a16="http://schemas.microsoft.com/office/drawing/2014/main" id="{FCBFE448-4B86-4C2B-89DE-0CA9BE87FDE0}"/>
              </a:ext>
            </a:extLst>
          </p:cNvPr>
          <p:cNvSpPr>
            <a:spLocks noGrp="1"/>
          </p:cNvSpPr>
          <p:nvPr/>
        </p:nvSpPr>
        <p:spPr>
          <a:xfrm>
            <a:off x="228600" y="819150"/>
            <a:ext cx="2600325" cy="161925"/>
          </a:xfrm>
          <a:prstGeom prst="rect">
            <a:avLst/>
          </a:prstGeom>
          <a:noFill/>
          <a:ln w="0">
            <a:noFill/>
          </a:ln>
        </p:spPr>
        <p:txBody>
          <a:bodyPr wrap="square" lIns="0" tIns="0" rIns="0" bIns="0" anchor="t">
            <a:noAutofit/>
          </a:bodyPr>
          <a:lstStyle/>
          <a:p>
            <a:pPr algn="ctr">
              <a:lnSpc>
                <a:spcPct val="110000"/>
              </a:lnSpc>
              <a:buNone/>
              <a:defRPr sz="825" b="1">
                <a:solidFill>
                  <a:srgbClr val="FFFFFF"/>
                </a:solidFill>
                <a:latin typeface="Arial"/>
                <a:ea typeface="Arial"/>
                <a:cs typeface="Arial"/>
              </a:defRPr>
            </a:pPr>
            <a:r>
              <a:rPr sz="825" b="1">
                <a:solidFill>
                  <a:srgbClr val="FFFFFF"/>
                </a:solidFill>
                <a:latin typeface="Arial"/>
                <a:ea typeface="Arial"/>
                <a:cs typeface="Arial"/>
              </a:rPr>
              <a:t>C++17</a:t>
            </a:r>
          </a:p>
        </p:txBody>
      </p:sp>
      <p:sp>
        <p:nvSpPr>
          <p:cNvPr id="17" name="text">
            <a:extLst>
              <a:ext uri="{FF2B5EF4-FFF2-40B4-BE49-F238E27FC236}">
                <a16:creationId xmlns:a16="http://schemas.microsoft.com/office/drawing/2014/main" id="{D1ABCEC3-7072-483D-96ED-398C1F16D7BA}"/>
              </a:ext>
            </a:extLst>
          </p:cNvPr>
          <p:cNvSpPr>
            <a:spLocks noGrp="1"/>
          </p:cNvSpPr>
          <p:nvPr/>
        </p:nvSpPr>
        <p:spPr>
          <a:xfrm>
            <a:off x="295275" y="106680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std::vector&lt;int&gt; a{2, 4, 6};</a:t>
            </a:r>
          </a:p>
        </p:txBody>
      </p:sp>
      <p:sp>
        <p:nvSpPr>
          <p:cNvPr id="18" name="text">
            <a:extLst>
              <a:ext uri="{FF2B5EF4-FFF2-40B4-BE49-F238E27FC236}">
                <a16:creationId xmlns:a16="http://schemas.microsoft.com/office/drawing/2014/main" id="{4D426432-B268-417D-A2A5-18603A6EED83}"/>
              </a:ext>
            </a:extLst>
          </p:cNvPr>
          <p:cNvSpPr>
            <a:spLocks noGrp="1"/>
          </p:cNvSpPr>
          <p:nvPr/>
        </p:nvSpPr>
        <p:spPr>
          <a:xfrm>
            <a:off x="295275" y="119634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int total = 0;</a:t>
            </a:r>
          </a:p>
        </p:txBody>
      </p:sp>
      <p:sp>
        <p:nvSpPr>
          <p:cNvPr id="19" name="text">
            <a:extLst>
              <a:ext uri="{FF2B5EF4-FFF2-40B4-BE49-F238E27FC236}">
                <a16:creationId xmlns:a16="http://schemas.microsoft.com/office/drawing/2014/main" id="{1AFAEC59-5A9E-4DF7-8677-1F512F253D47}"/>
              </a:ext>
            </a:extLst>
          </p:cNvPr>
          <p:cNvSpPr>
            <a:spLocks noGrp="1"/>
          </p:cNvSpPr>
          <p:nvPr/>
        </p:nvSpPr>
        <p:spPr>
          <a:xfrm>
            <a:off x="295275" y="132588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for (int x : a) {</a:t>
            </a:r>
          </a:p>
        </p:txBody>
      </p:sp>
      <p:sp>
        <p:nvSpPr>
          <p:cNvPr id="20" name="text">
            <a:extLst>
              <a:ext uri="{FF2B5EF4-FFF2-40B4-BE49-F238E27FC236}">
                <a16:creationId xmlns:a16="http://schemas.microsoft.com/office/drawing/2014/main" id="{1CEA6DCC-CC6A-4132-8C5C-482D0AFE1FF1}"/>
              </a:ext>
            </a:extLst>
          </p:cNvPr>
          <p:cNvSpPr>
            <a:spLocks noGrp="1"/>
          </p:cNvSpPr>
          <p:nvPr/>
        </p:nvSpPr>
        <p:spPr>
          <a:xfrm>
            <a:off x="295275" y="145542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  total += x;</a:t>
            </a:r>
          </a:p>
        </p:txBody>
      </p:sp>
      <p:sp>
        <p:nvSpPr>
          <p:cNvPr id="21" name="text">
            <a:extLst>
              <a:ext uri="{FF2B5EF4-FFF2-40B4-BE49-F238E27FC236}">
                <a16:creationId xmlns:a16="http://schemas.microsoft.com/office/drawing/2014/main" id="{04C5E941-C492-4993-B0F9-6C7FF53795D9}"/>
              </a:ext>
            </a:extLst>
          </p:cNvPr>
          <p:cNvSpPr>
            <a:spLocks noGrp="1"/>
          </p:cNvSpPr>
          <p:nvPr/>
        </p:nvSpPr>
        <p:spPr>
          <a:xfrm>
            <a:off x="295275" y="158496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a:t>
            </a:r>
          </a:p>
        </p:txBody>
      </p:sp>
      <p:sp>
        <p:nvSpPr>
          <p:cNvPr id="22" name="text">
            <a:extLst>
              <a:ext uri="{FF2B5EF4-FFF2-40B4-BE49-F238E27FC236}">
                <a16:creationId xmlns:a16="http://schemas.microsoft.com/office/drawing/2014/main" id="{D2FD4CC6-1B4C-464D-8590-B55350DEA616}"/>
              </a:ext>
            </a:extLst>
          </p:cNvPr>
          <p:cNvSpPr>
            <a:spLocks noGrp="1"/>
          </p:cNvSpPr>
          <p:nvPr/>
        </p:nvSpPr>
        <p:spPr>
          <a:xfrm>
            <a:off x="295275" y="171450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std::cout &lt;&lt; total &lt;&lt; "\n";</a:t>
            </a:r>
          </a:p>
        </p:txBody>
      </p:sp>
      <p:sp>
        <p:nvSpPr>
          <p:cNvPr id="23" name="Rectangle 22">
            <a:extLst>
              <a:ext uri="{FF2B5EF4-FFF2-40B4-BE49-F238E27FC236}">
                <a16:creationId xmlns:a16="http://schemas.microsoft.com/office/drawing/2014/main" id="{08C1E0F4-CCEA-4D79-9524-37B84C38C08C}"/>
              </a:ext>
            </a:extLst>
          </p:cNvPr>
          <p:cNvSpPr>
            <a:spLocks noGrp="1"/>
          </p:cNvSpPr>
          <p:nvPr/>
        </p:nvSpPr>
        <p:spPr>
          <a:xfrm>
            <a:off x="2990850" y="981075"/>
            <a:ext cx="2600325" cy="1504950"/>
          </a:xfrm>
          <a:prstGeom prst="rect">
            <a:avLst/>
          </a:prstGeom>
          <a:solidFill>
            <a:srgbClr val="101827"/>
          </a:solidFill>
          <a:ln w="0">
            <a:noFill/>
          </a:ln>
        </p:spPr>
      </p:sp>
      <p:sp>
        <p:nvSpPr>
          <p:cNvPr id="24" name="Rectangle 23">
            <a:extLst>
              <a:ext uri="{FF2B5EF4-FFF2-40B4-BE49-F238E27FC236}">
                <a16:creationId xmlns:a16="http://schemas.microsoft.com/office/drawing/2014/main" id="{E36A2DD4-9051-4332-96B6-0EC9BFFAB2DB}"/>
              </a:ext>
            </a:extLst>
          </p:cNvPr>
          <p:cNvSpPr>
            <a:spLocks noGrp="1"/>
          </p:cNvSpPr>
          <p:nvPr/>
        </p:nvSpPr>
        <p:spPr>
          <a:xfrm>
            <a:off x="2990850" y="800100"/>
            <a:ext cx="2600325" cy="180975"/>
          </a:xfrm>
          <a:prstGeom prst="rect">
            <a:avLst/>
          </a:prstGeom>
          <a:solidFill>
            <a:srgbClr val="1AA260"/>
          </a:solidFill>
          <a:ln w="0">
            <a:noFill/>
          </a:ln>
        </p:spPr>
      </p:sp>
      <p:sp>
        <p:nvSpPr>
          <p:cNvPr id="25" name="text">
            <a:extLst>
              <a:ext uri="{FF2B5EF4-FFF2-40B4-BE49-F238E27FC236}">
                <a16:creationId xmlns:a16="http://schemas.microsoft.com/office/drawing/2014/main" id="{76E5F7BF-4E77-4181-9DC5-4316B0A11E2D}"/>
              </a:ext>
            </a:extLst>
          </p:cNvPr>
          <p:cNvSpPr>
            <a:spLocks noGrp="1"/>
          </p:cNvSpPr>
          <p:nvPr/>
        </p:nvSpPr>
        <p:spPr>
          <a:xfrm>
            <a:off x="2990850" y="819150"/>
            <a:ext cx="2600325" cy="161925"/>
          </a:xfrm>
          <a:prstGeom prst="rect">
            <a:avLst/>
          </a:prstGeom>
          <a:noFill/>
          <a:ln w="0">
            <a:noFill/>
          </a:ln>
        </p:spPr>
        <p:txBody>
          <a:bodyPr wrap="square" lIns="0" tIns="0" rIns="0" bIns="0" anchor="t">
            <a:noAutofit/>
          </a:bodyPr>
          <a:lstStyle/>
          <a:p>
            <a:pPr algn="ctr">
              <a:lnSpc>
                <a:spcPct val="110000"/>
              </a:lnSpc>
              <a:buNone/>
              <a:defRPr sz="825" b="1">
                <a:solidFill>
                  <a:srgbClr val="FFFFFF"/>
                </a:solidFill>
                <a:latin typeface="Arial"/>
                <a:ea typeface="Arial"/>
                <a:cs typeface="Arial"/>
              </a:defRPr>
            </a:pPr>
            <a:r>
              <a:rPr sz="825" b="1">
                <a:solidFill>
                  <a:srgbClr val="FFFFFF"/>
                </a:solidFill>
                <a:latin typeface="Arial"/>
                <a:ea typeface="Arial"/>
                <a:cs typeface="Arial"/>
              </a:rPr>
              <a:t>Python 3</a:t>
            </a:r>
          </a:p>
        </p:txBody>
      </p:sp>
      <p:sp>
        <p:nvSpPr>
          <p:cNvPr id="26" name="text">
            <a:extLst>
              <a:ext uri="{FF2B5EF4-FFF2-40B4-BE49-F238E27FC236}">
                <a16:creationId xmlns:a16="http://schemas.microsoft.com/office/drawing/2014/main" id="{A6135489-E80A-44F6-81EB-CD18968598FB}"/>
              </a:ext>
            </a:extLst>
          </p:cNvPr>
          <p:cNvSpPr>
            <a:spLocks noGrp="1"/>
          </p:cNvSpPr>
          <p:nvPr/>
        </p:nvSpPr>
        <p:spPr>
          <a:xfrm>
            <a:off x="3057525" y="106680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a = [2, 4, 6]</a:t>
            </a:r>
          </a:p>
        </p:txBody>
      </p:sp>
      <p:sp>
        <p:nvSpPr>
          <p:cNvPr id="27" name="text">
            <a:extLst>
              <a:ext uri="{FF2B5EF4-FFF2-40B4-BE49-F238E27FC236}">
                <a16:creationId xmlns:a16="http://schemas.microsoft.com/office/drawing/2014/main" id="{3890DA6A-592A-44B0-AF95-1E09A02045B3}"/>
              </a:ext>
            </a:extLst>
          </p:cNvPr>
          <p:cNvSpPr>
            <a:spLocks noGrp="1"/>
          </p:cNvSpPr>
          <p:nvPr/>
        </p:nvSpPr>
        <p:spPr>
          <a:xfrm>
            <a:off x="3057525" y="119634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total = 0</a:t>
            </a:r>
          </a:p>
        </p:txBody>
      </p:sp>
      <p:sp>
        <p:nvSpPr>
          <p:cNvPr id="28" name="text">
            <a:extLst>
              <a:ext uri="{FF2B5EF4-FFF2-40B4-BE49-F238E27FC236}">
                <a16:creationId xmlns:a16="http://schemas.microsoft.com/office/drawing/2014/main" id="{E305A27B-91F9-4598-8632-990CEB697364}"/>
              </a:ext>
            </a:extLst>
          </p:cNvPr>
          <p:cNvSpPr>
            <a:spLocks noGrp="1"/>
          </p:cNvSpPr>
          <p:nvPr/>
        </p:nvSpPr>
        <p:spPr>
          <a:xfrm>
            <a:off x="3057525" y="132588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for x in a:</a:t>
            </a:r>
          </a:p>
        </p:txBody>
      </p:sp>
      <p:sp>
        <p:nvSpPr>
          <p:cNvPr id="29" name="text">
            <a:extLst>
              <a:ext uri="{FF2B5EF4-FFF2-40B4-BE49-F238E27FC236}">
                <a16:creationId xmlns:a16="http://schemas.microsoft.com/office/drawing/2014/main" id="{25F70992-7823-4392-B7CF-867CAFD47049}"/>
              </a:ext>
            </a:extLst>
          </p:cNvPr>
          <p:cNvSpPr>
            <a:spLocks noGrp="1"/>
          </p:cNvSpPr>
          <p:nvPr/>
        </p:nvSpPr>
        <p:spPr>
          <a:xfrm>
            <a:off x="3057525" y="145542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    total += x</a:t>
            </a:r>
          </a:p>
        </p:txBody>
      </p:sp>
      <p:sp>
        <p:nvSpPr>
          <p:cNvPr id="30" name="text">
            <a:extLst>
              <a:ext uri="{FF2B5EF4-FFF2-40B4-BE49-F238E27FC236}">
                <a16:creationId xmlns:a16="http://schemas.microsoft.com/office/drawing/2014/main" id="{1F8C049F-667D-4ADB-8801-88FD45ECEC54}"/>
              </a:ext>
            </a:extLst>
          </p:cNvPr>
          <p:cNvSpPr>
            <a:spLocks noGrp="1"/>
          </p:cNvSpPr>
          <p:nvPr/>
        </p:nvSpPr>
        <p:spPr>
          <a:xfrm>
            <a:off x="3057525" y="158496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print(total)</a:t>
            </a:r>
          </a:p>
        </p:txBody>
      </p:sp>
      <p:sp>
        <p:nvSpPr>
          <p:cNvPr id="31" name="text">
            <a:extLst>
              <a:ext uri="{FF2B5EF4-FFF2-40B4-BE49-F238E27FC236}">
                <a16:creationId xmlns:a16="http://schemas.microsoft.com/office/drawing/2014/main" id="{D20E4CBE-D618-41FF-9AF4-597F72E918C3}"/>
              </a:ext>
            </a:extLst>
          </p:cNvPr>
          <p:cNvSpPr>
            <a:spLocks noGrp="1"/>
          </p:cNvSpPr>
          <p:nvPr/>
        </p:nvSpPr>
        <p:spPr>
          <a:xfrm>
            <a:off x="228600" y="2600325"/>
            <a:ext cx="5314950" cy="228600"/>
          </a:xfrm>
          <a:prstGeom prst="rect">
            <a:avLst/>
          </a:prstGeom>
          <a:noFill/>
          <a:ln w="0">
            <a:noFill/>
          </a:ln>
        </p:spPr>
        <p:txBody>
          <a:bodyPr wrap="square" lIns="0" tIns="0" rIns="0" bIns="0" anchor="t">
            <a:noAutofit/>
          </a:bodyPr>
          <a:lstStyle/>
          <a:p>
            <a:pPr algn="l">
              <a:lnSpc>
                <a:spcPct val="110000"/>
              </a:lnSpc>
              <a:buNone/>
              <a:defRPr sz="885" b="0">
                <a:solidFill>
                  <a:srgbClr val="006ABA"/>
                </a:solidFill>
                <a:latin typeface="Arial"/>
                <a:ea typeface="Arial"/>
                <a:cs typeface="Arial"/>
              </a:defRPr>
            </a:pPr>
            <a:r>
              <a:rPr sz="885" b="0">
                <a:solidFill>
                  <a:srgbClr val="006ABA"/>
                </a:solidFill>
                <a:latin typeface="Arial"/>
                <a:ea typeface="Arial"/>
                <a:cs typeface="Arial"/>
              </a:rPr>
              <a:t>Output: 12. n values mean n loop iterations.</a:t>
            </a:r>
          </a:p>
        </p:txBody>
      </p:sp>
      <p:sp>
        <p:nvSpPr>
          <p:cNvPr id="32" name="text">
            <a:extLst>
              <a:ext uri="{FF2B5EF4-FFF2-40B4-BE49-F238E27FC236}">
                <a16:creationId xmlns:a16="http://schemas.microsoft.com/office/drawing/2014/main" id="{E602FA01-24CD-4288-B69E-E39D3A62CDFF}"/>
              </a:ext>
            </a:extLst>
          </p:cNvPr>
          <p:cNvSpPr>
            <a:spLocks noGrp="1"/>
          </p:cNvSpPr>
          <p:nvPr/>
        </p:nvSpPr>
        <p:spPr>
          <a:xfrm>
            <a:off x="228600" y="2867025"/>
            <a:ext cx="5334000" cy="95250"/>
          </a:xfrm>
          <a:prstGeom prst="rect">
            <a:avLst/>
          </a:prstGeom>
          <a:noFill/>
          <a:ln w="0">
            <a:noFill/>
          </a:ln>
        </p:spPr>
        <p:txBody>
          <a:bodyPr wrap="square" lIns="0" tIns="0" rIns="0" bIns="0" anchor="t">
            <a:noAutofit/>
          </a:bodyPr>
          <a:lstStyle/>
          <a:p>
            <a:pPr algn="l">
              <a:lnSpc>
                <a:spcPct val="110000"/>
              </a:lnSpc>
              <a:buNone/>
              <a:defRPr sz="510" b="0">
                <a:solidFill>
                  <a:srgbClr val="66717C"/>
                </a:solidFill>
                <a:latin typeface="Arial"/>
                <a:ea typeface="Arial"/>
                <a:cs typeface="Arial"/>
              </a:defRPr>
            </a:pPr>
            <a:r>
              <a:rPr sz="510" b="0">
                <a:solidFill>
                  <a:srgbClr val="66717C"/>
                </a:solidFill>
                <a:latin typeface="Arial"/>
                <a:ea typeface="Arial"/>
                <a:cs typeface="Arial"/>
              </a:rPr>
              <a:t>[P]  [M]</a:t>
            </a:r>
          </a:p>
        </p:txBody>
      </p:sp>
    </p:spTree>
    <p:extLst>
      <p:ext uri="{BB962C8B-B14F-4D97-AF65-F5344CB8AC3E}">
        <p14:creationId xmlns:p14="http://schemas.microsoft.com/office/powerpoint/2010/main" val="36456721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19C03931-4A28-44C2-9238-650F85D8C2AD}"/>
              </a:ext>
            </a:extLst>
          </p:cNvPr>
          <p:cNvSpPr>
            <a:spLocks noGrp="1"/>
          </p:cNvSpPr>
          <p:nvPr>
            <p:ph type="title"/>
          </p:nvPr>
        </p:nvSpPr>
        <p:spPr>
          <a:xfrm>
            <a:off x="171450" y="95250"/>
            <a:ext cx="5429250" cy="304800"/>
          </a:xfrm>
          <a:prstGeom prst="rect">
            <a:avLst/>
          </a:prstGeom>
        </p:spPr>
        <p:txBody>
          <a:bodyPr vert="horz" wrap="square" lIns="0" tIns="0" rIns="0" bIns="0">
            <a:noAutofit/>
          </a:bodyPr>
          <a:lstStyle/>
          <a:p>
            <a:pPr marL="12700" algn="l">
              <a:lnSpc>
                <a:spcPct val="110000"/>
              </a:lnSpc>
              <a:spcBef>
                <a:spcPts val="135"/>
              </a:spcBef>
              <a:buNone/>
              <a:defRPr sz="1400">
                <a:solidFill>
                  <a:srgbClr val="006ABA"/>
                </a:solidFill>
                <a:latin typeface="Arial"/>
                <a:ea typeface="Arial"/>
                <a:cs typeface="Arial"/>
              </a:defRPr>
            </a:pPr>
            <a:r>
              <a:rPr sz="1400" b="0" spc="-10">
                <a:solidFill>
                  <a:srgbClr val="006ABA"/>
                </a:solidFill>
                <a:latin typeface="Arial"/>
                <a:ea typeface="Arial"/>
                <a:cs typeface="Arial"/>
              </a:rPr>
              <a:t>O(n²): two full nested loops</a:t>
            </a:r>
            <a:endParaRPr sz="1400" b="0" spc="-10">
              <a:latin typeface="Arial"/>
              <a:ea typeface="Arial"/>
              <a:cs typeface="Arial"/>
            </a:endParaRPr>
          </a:p>
        </p:txBody>
      </p:sp>
      <p:pic>
        <p:nvPicPr>
          <p:cNvPr id="37" name="object 4"/>
          <p:cNvPicPr>
            <a:picLocks noChangeAspect="1"/>
          </p:cNvPicPr>
          <p:nvPr/>
        </p:nvPicPr>
        <p:blipFill>
          <a:blip r:embed="rId3"/>
          <a:stretch>
            <a:fillRect/>
          </a:stretch>
        </p:blipFill>
        <p:spPr>
          <a:xfrm>
            <a:off x="152565" y="2988507"/>
            <a:ext cx="900668" cy="161917"/>
          </a:xfrm>
          <a:prstGeom prst="rect">
            <a:avLst/>
          </a:prstGeom>
        </p:spPr>
      </p:pic>
      <p:pic>
        <p:nvPicPr>
          <p:cNvPr id="38" name="object 5"/>
          <p:cNvPicPr>
            <a:picLocks noChangeAspect="1"/>
          </p:cNvPicPr>
          <p:nvPr/>
        </p:nvPicPr>
        <p:blipFill>
          <a:blip r:embed="rId4"/>
          <a:stretch>
            <a:fillRect/>
          </a:stretch>
        </p:blipFill>
        <p:spPr>
          <a:xfrm>
            <a:off x="1286560" y="2988417"/>
            <a:ext cx="610912" cy="162008"/>
          </a:xfrm>
          <a:prstGeom prst="rect">
            <a:avLst/>
          </a:prstGeom>
        </p:spPr>
      </p:pic>
      <p:sp>
        <p:nvSpPr>
          <p:cNvPr id="10" name="Footer Placeholder 7">
            <a:extLst>
              <a:ext uri="{FF2B5EF4-FFF2-40B4-BE49-F238E27FC236}">
                <a16:creationId xmlns:a16="http://schemas.microsoft.com/office/drawing/2014/main" id="{197FE2C8-8EE2-4937-3F30-294DB47641D6}"/>
              </a:ext>
            </a:extLst>
          </p:cNvPr>
          <p:cNvSpPr>
            <a:spLocks noGrp="1"/>
          </p:cNvSpPr>
          <p:nvPr>
            <p:ph type="ftr" idx="5"/>
          </p:nvPr>
        </p:nvSpPr>
        <p:spPr>
          <a:xfrm>
            <a:off x="2590800" y="3105150"/>
            <a:ext cx="2743200" cy="95250"/>
          </a:xfrm>
        </p:spPr>
        <p:txBody>
          <a:bodyPr wrap="square" lIns="0" tIns="0" rIns="0" bIns="0">
            <a:noAutofit/>
          </a:bodyPr>
          <a:lstStyle/>
          <a:p>
            <a:pPr algn="r">
              <a:lnSpc>
                <a:spcPct val="110000"/>
              </a:lnSpc>
              <a:buNone/>
              <a:defRPr sz="500">
                <a:solidFill>
                  <a:srgbClr val="888888"/>
                </a:solidFill>
                <a:latin typeface="Arial"/>
                <a:ea typeface="Arial"/>
                <a:cs typeface="Arial"/>
              </a:defRPr>
            </a:pPr>
            <a:r>
              <a:rPr sz="500">
                <a:solidFill>
                  <a:srgbClr val="888888"/>
                </a:solidFill>
                <a:latin typeface="Arial"/>
                <a:ea typeface="Arial"/>
                <a:cs typeface="Arial"/>
              </a:rPr>
              <a:t>MAS Foundations - Kamendu Panchal</a:t>
            </a:r>
            <a:endParaRPr sz="500" b="1">
              <a:solidFill>
                <a:schemeClr val="tx1"/>
              </a:solidFill>
              <a:latin typeface="Arial"/>
              <a:ea typeface="Arial"/>
              <a:cs typeface="Arial"/>
            </a:endParaRPr>
          </a:p>
        </p:txBody>
      </p:sp>
      <p:sp>
        <p:nvSpPr>
          <p:cNvPr id="3" name="TextBox 2">
            <a:extLst>
              <a:ext uri="{FF2B5EF4-FFF2-40B4-BE49-F238E27FC236}">
                <a16:creationId xmlns:a16="http://schemas.microsoft.com/office/drawing/2014/main" id="{DCE8FEB4-DA15-74FB-D091-FA2B80C9B501}"/>
              </a:ext>
            </a:extLst>
          </p:cNvPr>
          <p:cNvSpPr>
            <a:spLocks noGrp="1"/>
          </p:cNvSpPr>
          <p:nvPr/>
        </p:nvSpPr>
        <p:spPr>
          <a:xfrm>
            <a:off x="5438775" y="3086100"/>
            <a:ext cx="209550" cy="175260"/>
          </a:xfrm>
          <a:prstGeom prst="rect">
            <a:avLst/>
          </a:prstGeom>
          <a:noFill/>
        </p:spPr>
        <p:txBody>
          <a:bodyPr wrap="square" lIns="0" tIns="0" rIns="0" bIns="0">
            <a:noAutofit/>
          </a:bodyPr>
          <a:lstStyle/>
          <a:p>
            <a:pPr algn="r">
              <a:lnSpc>
                <a:spcPct val="110000"/>
              </a:lnSpc>
              <a:buNone/>
              <a:defRPr sz="500">
                <a:solidFill>
                  <a:srgbClr val="202020"/>
                </a:solidFill>
                <a:latin typeface="Arial"/>
                <a:ea typeface="Arial"/>
                <a:cs typeface="Arial"/>
              </a:defRPr>
            </a:pPr>
            <a:r>
              <a:rPr sz="500">
                <a:solidFill>
                  <a:srgbClr val="202020"/>
                </a:solidFill>
                <a:latin typeface="Arial"/>
                <a:ea typeface="Arial"/>
                <a:cs typeface="Arial"/>
              </a:rPr>
              <a:t>9</a:t>
            </a:r>
          </a:p>
        </p:txBody>
      </p:sp>
      <p:sp>
        <p:nvSpPr>
          <p:cNvPr id="13" name="text">
            <a:extLst>
              <a:ext uri="{FF2B5EF4-FFF2-40B4-BE49-F238E27FC236}">
                <a16:creationId xmlns:a16="http://schemas.microsoft.com/office/drawing/2014/main" id="{B907F38C-7321-4997-89E3-58E26A553F3B}"/>
              </a:ext>
            </a:extLst>
          </p:cNvPr>
          <p:cNvSpPr>
            <a:spLocks noGrp="1"/>
          </p:cNvSpPr>
          <p:nvPr/>
        </p:nvSpPr>
        <p:spPr>
          <a:xfrm>
            <a:off x="228600" y="504825"/>
            <a:ext cx="5314950" cy="381000"/>
          </a:xfrm>
          <a:prstGeom prst="rect">
            <a:avLst/>
          </a:prstGeom>
          <a:noFill/>
          <a:ln w="0">
            <a:noFill/>
          </a:ln>
        </p:spPr>
        <p:txBody>
          <a:bodyPr wrap="square" lIns="0" tIns="0" rIns="0" bIns="0" anchor="t">
            <a:noAutofit/>
          </a:bodyPr>
          <a:lstStyle/>
          <a:p>
            <a:pPr algn="l">
              <a:lnSpc>
                <a:spcPct val="110000"/>
              </a:lnSpc>
              <a:buNone/>
              <a:defRPr sz="998" b="0">
                <a:solidFill>
                  <a:srgbClr val="202020"/>
                </a:solidFill>
                <a:latin typeface="Arial"/>
                <a:ea typeface="Arial"/>
                <a:cs typeface="Arial"/>
              </a:defRPr>
            </a:pPr>
            <a:r>
              <a:rPr sz="998" b="0">
                <a:solidFill>
                  <a:srgbClr val="202020"/>
                </a:solidFill>
                <a:latin typeface="Arial"/>
                <a:ea typeface="Arial"/>
                <a:cs typeface="Arial"/>
              </a:rPr>
              <a:t>Comparing every item with every item produces n × n pairs.</a:t>
            </a:r>
          </a:p>
        </p:txBody>
      </p:sp>
      <p:sp>
        <p:nvSpPr>
          <p:cNvPr id="14" name="Rectangle 13">
            <a:extLst>
              <a:ext uri="{FF2B5EF4-FFF2-40B4-BE49-F238E27FC236}">
                <a16:creationId xmlns:a16="http://schemas.microsoft.com/office/drawing/2014/main" id="{A3FC38D7-4323-479B-9CA3-8C58EE4731E2}"/>
              </a:ext>
            </a:extLst>
          </p:cNvPr>
          <p:cNvSpPr>
            <a:spLocks noGrp="1"/>
          </p:cNvSpPr>
          <p:nvPr/>
        </p:nvSpPr>
        <p:spPr>
          <a:xfrm>
            <a:off x="228600" y="981075"/>
            <a:ext cx="2600325" cy="1504950"/>
          </a:xfrm>
          <a:prstGeom prst="rect">
            <a:avLst/>
          </a:prstGeom>
          <a:solidFill>
            <a:srgbClr val="101827"/>
          </a:solidFill>
          <a:ln w="0">
            <a:noFill/>
          </a:ln>
        </p:spPr>
      </p:sp>
      <p:sp>
        <p:nvSpPr>
          <p:cNvPr id="15" name="Rectangle 14">
            <a:extLst>
              <a:ext uri="{FF2B5EF4-FFF2-40B4-BE49-F238E27FC236}">
                <a16:creationId xmlns:a16="http://schemas.microsoft.com/office/drawing/2014/main" id="{50CE21AE-838F-425C-9DE7-4EEB511E8864}"/>
              </a:ext>
            </a:extLst>
          </p:cNvPr>
          <p:cNvSpPr>
            <a:spLocks noGrp="1"/>
          </p:cNvSpPr>
          <p:nvPr/>
        </p:nvSpPr>
        <p:spPr>
          <a:xfrm>
            <a:off x="228600" y="800100"/>
            <a:ext cx="2600325" cy="180975"/>
          </a:xfrm>
          <a:prstGeom prst="rect">
            <a:avLst/>
          </a:prstGeom>
          <a:solidFill>
            <a:srgbClr val="006ABA"/>
          </a:solidFill>
          <a:ln w="0">
            <a:noFill/>
          </a:ln>
        </p:spPr>
      </p:sp>
      <p:sp>
        <p:nvSpPr>
          <p:cNvPr id="16" name="text">
            <a:extLst>
              <a:ext uri="{FF2B5EF4-FFF2-40B4-BE49-F238E27FC236}">
                <a16:creationId xmlns:a16="http://schemas.microsoft.com/office/drawing/2014/main" id="{27B9594B-F90F-4F38-9B6F-FF9DF6E41E3A}"/>
              </a:ext>
            </a:extLst>
          </p:cNvPr>
          <p:cNvSpPr>
            <a:spLocks noGrp="1"/>
          </p:cNvSpPr>
          <p:nvPr/>
        </p:nvSpPr>
        <p:spPr>
          <a:xfrm>
            <a:off x="228600" y="819150"/>
            <a:ext cx="2600325" cy="161925"/>
          </a:xfrm>
          <a:prstGeom prst="rect">
            <a:avLst/>
          </a:prstGeom>
          <a:noFill/>
          <a:ln w="0">
            <a:noFill/>
          </a:ln>
        </p:spPr>
        <p:txBody>
          <a:bodyPr wrap="square" lIns="0" tIns="0" rIns="0" bIns="0" anchor="t">
            <a:noAutofit/>
          </a:bodyPr>
          <a:lstStyle/>
          <a:p>
            <a:pPr algn="ctr">
              <a:lnSpc>
                <a:spcPct val="110000"/>
              </a:lnSpc>
              <a:buNone/>
              <a:defRPr sz="825" b="1">
                <a:solidFill>
                  <a:srgbClr val="FFFFFF"/>
                </a:solidFill>
                <a:latin typeface="Arial"/>
                <a:ea typeface="Arial"/>
                <a:cs typeface="Arial"/>
              </a:defRPr>
            </a:pPr>
            <a:r>
              <a:rPr sz="825" b="1">
                <a:solidFill>
                  <a:srgbClr val="FFFFFF"/>
                </a:solidFill>
                <a:latin typeface="Arial"/>
                <a:ea typeface="Arial"/>
                <a:cs typeface="Arial"/>
              </a:rPr>
              <a:t>C++17</a:t>
            </a:r>
          </a:p>
        </p:txBody>
      </p:sp>
      <p:sp>
        <p:nvSpPr>
          <p:cNvPr id="17" name="text">
            <a:extLst>
              <a:ext uri="{FF2B5EF4-FFF2-40B4-BE49-F238E27FC236}">
                <a16:creationId xmlns:a16="http://schemas.microsoft.com/office/drawing/2014/main" id="{6C0DA0A6-B51D-4606-BD24-EC4BA64A35DC}"/>
              </a:ext>
            </a:extLst>
          </p:cNvPr>
          <p:cNvSpPr>
            <a:spLocks noGrp="1"/>
          </p:cNvSpPr>
          <p:nvPr/>
        </p:nvSpPr>
        <p:spPr>
          <a:xfrm>
            <a:off x="295275" y="106680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int n = 3;</a:t>
            </a:r>
          </a:p>
        </p:txBody>
      </p:sp>
      <p:sp>
        <p:nvSpPr>
          <p:cNvPr id="18" name="text">
            <a:extLst>
              <a:ext uri="{FF2B5EF4-FFF2-40B4-BE49-F238E27FC236}">
                <a16:creationId xmlns:a16="http://schemas.microsoft.com/office/drawing/2014/main" id="{B575749A-923A-41CB-8D14-63E25899B68F}"/>
              </a:ext>
            </a:extLst>
          </p:cNvPr>
          <p:cNvSpPr>
            <a:spLocks noGrp="1"/>
          </p:cNvSpPr>
          <p:nvPr/>
        </p:nvSpPr>
        <p:spPr>
          <a:xfrm>
            <a:off x="295275" y="119634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int count = 0;</a:t>
            </a:r>
          </a:p>
        </p:txBody>
      </p:sp>
      <p:sp>
        <p:nvSpPr>
          <p:cNvPr id="19" name="text">
            <a:extLst>
              <a:ext uri="{FF2B5EF4-FFF2-40B4-BE49-F238E27FC236}">
                <a16:creationId xmlns:a16="http://schemas.microsoft.com/office/drawing/2014/main" id="{3E89AC9A-EA9A-408C-ABD5-EE0473DE28D8}"/>
              </a:ext>
            </a:extLst>
          </p:cNvPr>
          <p:cNvSpPr>
            <a:spLocks noGrp="1"/>
          </p:cNvSpPr>
          <p:nvPr/>
        </p:nvSpPr>
        <p:spPr>
          <a:xfrm>
            <a:off x="295275" y="132588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for (int i = 0; i &lt; n; ++i) {</a:t>
            </a:r>
          </a:p>
        </p:txBody>
      </p:sp>
      <p:sp>
        <p:nvSpPr>
          <p:cNvPr id="20" name="text">
            <a:extLst>
              <a:ext uri="{FF2B5EF4-FFF2-40B4-BE49-F238E27FC236}">
                <a16:creationId xmlns:a16="http://schemas.microsoft.com/office/drawing/2014/main" id="{B18EBF86-F977-4515-B765-41506D2DF56B}"/>
              </a:ext>
            </a:extLst>
          </p:cNvPr>
          <p:cNvSpPr>
            <a:spLocks noGrp="1"/>
          </p:cNvSpPr>
          <p:nvPr/>
        </p:nvSpPr>
        <p:spPr>
          <a:xfrm>
            <a:off x="295275" y="145542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  for (int j = 0; j &lt; n; ++j) {</a:t>
            </a:r>
          </a:p>
        </p:txBody>
      </p:sp>
      <p:sp>
        <p:nvSpPr>
          <p:cNvPr id="21" name="text">
            <a:extLst>
              <a:ext uri="{FF2B5EF4-FFF2-40B4-BE49-F238E27FC236}">
                <a16:creationId xmlns:a16="http://schemas.microsoft.com/office/drawing/2014/main" id="{2E182F55-84DD-495F-8735-5D84BC714257}"/>
              </a:ext>
            </a:extLst>
          </p:cNvPr>
          <p:cNvSpPr>
            <a:spLocks noGrp="1"/>
          </p:cNvSpPr>
          <p:nvPr/>
        </p:nvSpPr>
        <p:spPr>
          <a:xfrm>
            <a:off x="295275" y="158496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    ++count;</a:t>
            </a:r>
          </a:p>
        </p:txBody>
      </p:sp>
      <p:sp>
        <p:nvSpPr>
          <p:cNvPr id="22" name="text">
            <a:extLst>
              <a:ext uri="{FF2B5EF4-FFF2-40B4-BE49-F238E27FC236}">
                <a16:creationId xmlns:a16="http://schemas.microsoft.com/office/drawing/2014/main" id="{F908F1D5-5BF9-4DFE-9FE1-EC54299573A8}"/>
              </a:ext>
            </a:extLst>
          </p:cNvPr>
          <p:cNvSpPr>
            <a:spLocks noGrp="1"/>
          </p:cNvSpPr>
          <p:nvPr/>
        </p:nvSpPr>
        <p:spPr>
          <a:xfrm>
            <a:off x="295275" y="171450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  }</a:t>
            </a:r>
          </a:p>
        </p:txBody>
      </p:sp>
      <p:sp>
        <p:nvSpPr>
          <p:cNvPr id="23" name="text">
            <a:extLst>
              <a:ext uri="{FF2B5EF4-FFF2-40B4-BE49-F238E27FC236}">
                <a16:creationId xmlns:a16="http://schemas.microsoft.com/office/drawing/2014/main" id="{92099EAB-1B44-4F1B-A5C2-6FF4683F6E28}"/>
              </a:ext>
            </a:extLst>
          </p:cNvPr>
          <p:cNvSpPr>
            <a:spLocks noGrp="1"/>
          </p:cNvSpPr>
          <p:nvPr/>
        </p:nvSpPr>
        <p:spPr>
          <a:xfrm>
            <a:off x="295275" y="184404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a:t>
            </a:r>
          </a:p>
        </p:txBody>
      </p:sp>
      <p:sp>
        <p:nvSpPr>
          <p:cNvPr id="24" name="text">
            <a:extLst>
              <a:ext uri="{FF2B5EF4-FFF2-40B4-BE49-F238E27FC236}">
                <a16:creationId xmlns:a16="http://schemas.microsoft.com/office/drawing/2014/main" id="{0FF37AE5-7806-489B-AFFE-05EFFCCEBB4A}"/>
              </a:ext>
            </a:extLst>
          </p:cNvPr>
          <p:cNvSpPr>
            <a:spLocks noGrp="1"/>
          </p:cNvSpPr>
          <p:nvPr/>
        </p:nvSpPr>
        <p:spPr>
          <a:xfrm>
            <a:off x="295275" y="197358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std::cout &lt;&lt; count &lt;&lt; "\n";</a:t>
            </a:r>
          </a:p>
        </p:txBody>
      </p:sp>
      <p:sp>
        <p:nvSpPr>
          <p:cNvPr id="25" name="Rectangle 24">
            <a:extLst>
              <a:ext uri="{FF2B5EF4-FFF2-40B4-BE49-F238E27FC236}">
                <a16:creationId xmlns:a16="http://schemas.microsoft.com/office/drawing/2014/main" id="{CBF499D0-F8AB-4D67-A08F-E45552303852}"/>
              </a:ext>
            </a:extLst>
          </p:cNvPr>
          <p:cNvSpPr>
            <a:spLocks noGrp="1"/>
          </p:cNvSpPr>
          <p:nvPr/>
        </p:nvSpPr>
        <p:spPr>
          <a:xfrm>
            <a:off x="2990850" y="981075"/>
            <a:ext cx="2600325" cy="1504950"/>
          </a:xfrm>
          <a:prstGeom prst="rect">
            <a:avLst/>
          </a:prstGeom>
          <a:solidFill>
            <a:srgbClr val="101827"/>
          </a:solidFill>
          <a:ln w="0">
            <a:noFill/>
          </a:ln>
        </p:spPr>
      </p:sp>
      <p:sp>
        <p:nvSpPr>
          <p:cNvPr id="26" name="Rectangle 25">
            <a:extLst>
              <a:ext uri="{FF2B5EF4-FFF2-40B4-BE49-F238E27FC236}">
                <a16:creationId xmlns:a16="http://schemas.microsoft.com/office/drawing/2014/main" id="{46F1A37D-98D4-4974-A5C1-4E3ECEC7BF9F}"/>
              </a:ext>
            </a:extLst>
          </p:cNvPr>
          <p:cNvSpPr>
            <a:spLocks noGrp="1"/>
          </p:cNvSpPr>
          <p:nvPr/>
        </p:nvSpPr>
        <p:spPr>
          <a:xfrm>
            <a:off x="2990850" y="800100"/>
            <a:ext cx="2600325" cy="180975"/>
          </a:xfrm>
          <a:prstGeom prst="rect">
            <a:avLst/>
          </a:prstGeom>
          <a:solidFill>
            <a:srgbClr val="1AA260"/>
          </a:solidFill>
          <a:ln w="0">
            <a:noFill/>
          </a:ln>
        </p:spPr>
      </p:sp>
      <p:sp>
        <p:nvSpPr>
          <p:cNvPr id="27" name="text">
            <a:extLst>
              <a:ext uri="{FF2B5EF4-FFF2-40B4-BE49-F238E27FC236}">
                <a16:creationId xmlns:a16="http://schemas.microsoft.com/office/drawing/2014/main" id="{E8E6BC03-AC6A-4BBC-863D-D9F359BA33AF}"/>
              </a:ext>
            </a:extLst>
          </p:cNvPr>
          <p:cNvSpPr>
            <a:spLocks noGrp="1"/>
          </p:cNvSpPr>
          <p:nvPr/>
        </p:nvSpPr>
        <p:spPr>
          <a:xfrm>
            <a:off x="2990850" y="819150"/>
            <a:ext cx="2600325" cy="161925"/>
          </a:xfrm>
          <a:prstGeom prst="rect">
            <a:avLst/>
          </a:prstGeom>
          <a:noFill/>
          <a:ln w="0">
            <a:noFill/>
          </a:ln>
        </p:spPr>
        <p:txBody>
          <a:bodyPr wrap="square" lIns="0" tIns="0" rIns="0" bIns="0" anchor="t">
            <a:noAutofit/>
          </a:bodyPr>
          <a:lstStyle/>
          <a:p>
            <a:pPr algn="ctr">
              <a:lnSpc>
                <a:spcPct val="110000"/>
              </a:lnSpc>
              <a:buNone/>
              <a:defRPr sz="825" b="1">
                <a:solidFill>
                  <a:srgbClr val="FFFFFF"/>
                </a:solidFill>
                <a:latin typeface="Arial"/>
                <a:ea typeface="Arial"/>
                <a:cs typeface="Arial"/>
              </a:defRPr>
            </a:pPr>
            <a:r>
              <a:rPr sz="825" b="1">
                <a:solidFill>
                  <a:srgbClr val="FFFFFF"/>
                </a:solidFill>
                <a:latin typeface="Arial"/>
                <a:ea typeface="Arial"/>
                <a:cs typeface="Arial"/>
              </a:rPr>
              <a:t>Python 3</a:t>
            </a:r>
          </a:p>
        </p:txBody>
      </p:sp>
      <p:sp>
        <p:nvSpPr>
          <p:cNvPr id="28" name="text">
            <a:extLst>
              <a:ext uri="{FF2B5EF4-FFF2-40B4-BE49-F238E27FC236}">
                <a16:creationId xmlns:a16="http://schemas.microsoft.com/office/drawing/2014/main" id="{47A51E8A-F182-467D-846A-9E5DF47E86EA}"/>
              </a:ext>
            </a:extLst>
          </p:cNvPr>
          <p:cNvSpPr>
            <a:spLocks noGrp="1"/>
          </p:cNvSpPr>
          <p:nvPr/>
        </p:nvSpPr>
        <p:spPr>
          <a:xfrm>
            <a:off x="3057525" y="106680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n = 3</a:t>
            </a:r>
          </a:p>
        </p:txBody>
      </p:sp>
      <p:sp>
        <p:nvSpPr>
          <p:cNvPr id="29" name="text">
            <a:extLst>
              <a:ext uri="{FF2B5EF4-FFF2-40B4-BE49-F238E27FC236}">
                <a16:creationId xmlns:a16="http://schemas.microsoft.com/office/drawing/2014/main" id="{31E3FE85-84CF-46E2-8C30-B0674BF50050}"/>
              </a:ext>
            </a:extLst>
          </p:cNvPr>
          <p:cNvSpPr>
            <a:spLocks noGrp="1"/>
          </p:cNvSpPr>
          <p:nvPr/>
        </p:nvSpPr>
        <p:spPr>
          <a:xfrm>
            <a:off x="3057525" y="119634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count = 0</a:t>
            </a:r>
          </a:p>
        </p:txBody>
      </p:sp>
      <p:sp>
        <p:nvSpPr>
          <p:cNvPr id="30" name="text">
            <a:extLst>
              <a:ext uri="{FF2B5EF4-FFF2-40B4-BE49-F238E27FC236}">
                <a16:creationId xmlns:a16="http://schemas.microsoft.com/office/drawing/2014/main" id="{AAF9384A-DFFB-456D-B2C5-78031A5B7AAD}"/>
              </a:ext>
            </a:extLst>
          </p:cNvPr>
          <p:cNvSpPr>
            <a:spLocks noGrp="1"/>
          </p:cNvSpPr>
          <p:nvPr/>
        </p:nvSpPr>
        <p:spPr>
          <a:xfrm>
            <a:off x="3057525" y="132588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for i in range(n):</a:t>
            </a:r>
          </a:p>
        </p:txBody>
      </p:sp>
      <p:sp>
        <p:nvSpPr>
          <p:cNvPr id="31" name="text">
            <a:extLst>
              <a:ext uri="{FF2B5EF4-FFF2-40B4-BE49-F238E27FC236}">
                <a16:creationId xmlns:a16="http://schemas.microsoft.com/office/drawing/2014/main" id="{BBB79AA6-6363-4B84-AEDA-48130E8F85DF}"/>
              </a:ext>
            </a:extLst>
          </p:cNvPr>
          <p:cNvSpPr>
            <a:spLocks noGrp="1"/>
          </p:cNvSpPr>
          <p:nvPr/>
        </p:nvSpPr>
        <p:spPr>
          <a:xfrm>
            <a:off x="3057525" y="145542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    for j in range(n):</a:t>
            </a:r>
          </a:p>
        </p:txBody>
      </p:sp>
      <p:sp>
        <p:nvSpPr>
          <p:cNvPr id="32" name="text">
            <a:extLst>
              <a:ext uri="{FF2B5EF4-FFF2-40B4-BE49-F238E27FC236}">
                <a16:creationId xmlns:a16="http://schemas.microsoft.com/office/drawing/2014/main" id="{E208C5F9-359A-47F0-B20A-B4C5A845F803}"/>
              </a:ext>
            </a:extLst>
          </p:cNvPr>
          <p:cNvSpPr>
            <a:spLocks noGrp="1"/>
          </p:cNvSpPr>
          <p:nvPr/>
        </p:nvSpPr>
        <p:spPr>
          <a:xfrm>
            <a:off x="3057525" y="158496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        count += 1</a:t>
            </a:r>
          </a:p>
        </p:txBody>
      </p:sp>
      <p:sp>
        <p:nvSpPr>
          <p:cNvPr id="33" name="text">
            <a:extLst>
              <a:ext uri="{FF2B5EF4-FFF2-40B4-BE49-F238E27FC236}">
                <a16:creationId xmlns:a16="http://schemas.microsoft.com/office/drawing/2014/main" id="{16CC9B9F-2223-4909-8877-6E24CE5EFA66}"/>
              </a:ext>
            </a:extLst>
          </p:cNvPr>
          <p:cNvSpPr>
            <a:spLocks noGrp="1"/>
          </p:cNvSpPr>
          <p:nvPr/>
        </p:nvSpPr>
        <p:spPr>
          <a:xfrm>
            <a:off x="3057525" y="171450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print(count)</a:t>
            </a:r>
          </a:p>
        </p:txBody>
      </p:sp>
      <p:sp>
        <p:nvSpPr>
          <p:cNvPr id="34" name="text">
            <a:extLst>
              <a:ext uri="{FF2B5EF4-FFF2-40B4-BE49-F238E27FC236}">
                <a16:creationId xmlns:a16="http://schemas.microsoft.com/office/drawing/2014/main" id="{A6FE62D9-9391-498F-BBF9-1D3BD28900CD}"/>
              </a:ext>
            </a:extLst>
          </p:cNvPr>
          <p:cNvSpPr>
            <a:spLocks noGrp="1"/>
          </p:cNvSpPr>
          <p:nvPr/>
        </p:nvSpPr>
        <p:spPr>
          <a:xfrm>
            <a:off x="228600" y="2600325"/>
            <a:ext cx="5314950" cy="228600"/>
          </a:xfrm>
          <a:prstGeom prst="rect">
            <a:avLst/>
          </a:prstGeom>
          <a:noFill/>
          <a:ln w="0">
            <a:noFill/>
          </a:ln>
        </p:spPr>
        <p:txBody>
          <a:bodyPr wrap="square" lIns="0" tIns="0" rIns="0" bIns="0" anchor="t">
            <a:noAutofit/>
          </a:bodyPr>
          <a:lstStyle/>
          <a:p>
            <a:pPr algn="l">
              <a:lnSpc>
                <a:spcPct val="110000"/>
              </a:lnSpc>
              <a:buNone/>
              <a:defRPr sz="885" b="0">
                <a:solidFill>
                  <a:srgbClr val="006ABA"/>
                </a:solidFill>
                <a:latin typeface="Arial"/>
                <a:ea typeface="Arial"/>
                <a:cs typeface="Arial"/>
              </a:defRPr>
            </a:pPr>
            <a:r>
              <a:rPr sz="885" b="0">
                <a:solidFill>
                  <a:srgbClr val="006ABA"/>
                </a:solidFill>
                <a:latin typeface="Arial"/>
                <a:ea typeface="Arial"/>
                <a:cs typeface="Arial"/>
              </a:rPr>
              <a:t>Output: 9. Two loops of n iterations give O(n²).</a:t>
            </a:r>
          </a:p>
        </p:txBody>
      </p:sp>
      <p:sp>
        <p:nvSpPr>
          <p:cNvPr id="35" name="text">
            <a:extLst>
              <a:ext uri="{FF2B5EF4-FFF2-40B4-BE49-F238E27FC236}">
                <a16:creationId xmlns:a16="http://schemas.microsoft.com/office/drawing/2014/main" id="{8BA67132-4FBF-41B0-9E96-282E422EE6CE}"/>
              </a:ext>
            </a:extLst>
          </p:cNvPr>
          <p:cNvSpPr>
            <a:spLocks noGrp="1"/>
          </p:cNvSpPr>
          <p:nvPr/>
        </p:nvSpPr>
        <p:spPr>
          <a:xfrm>
            <a:off x="228600" y="2867025"/>
            <a:ext cx="5334000" cy="95250"/>
          </a:xfrm>
          <a:prstGeom prst="rect">
            <a:avLst/>
          </a:prstGeom>
          <a:noFill/>
          <a:ln w="0">
            <a:noFill/>
          </a:ln>
        </p:spPr>
        <p:txBody>
          <a:bodyPr wrap="square" lIns="0" tIns="0" rIns="0" bIns="0" anchor="t">
            <a:noAutofit/>
          </a:bodyPr>
          <a:lstStyle/>
          <a:p>
            <a:pPr algn="l">
              <a:lnSpc>
                <a:spcPct val="110000"/>
              </a:lnSpc>
              <a:buNone/>
              <a:defRPr sz="510" b="0">
                <a:solidFill>
                  <a:srgbClr val="66717C"/>
                </a:solidFill>
                <a:latin typeface="Arial"/>
                <a:ea typeface="Arial"/>
                <a:cs typeface="Arial"/>
              </a:defRPr>
            </a:pPr>
            <a:r>
              <a:rPr sz="510" b="0">
                <a:solidFill>
                  <a:srgbClr val="66717C"/>
                </a:solidFill>
                <a:latin typeface="Arial"/>
                <a:ea typeface="Arial"/>
                <a:cs typeface="Arial"/>
              </a:rPr>
              <a:t>[P]  [T]</a:t>
            </a:r>
          </a:p>
        </p:txBody>
      </p:sp>
    </p:spTree>
    <p:extLst>
      <p:ext uri="{BB962C8B-B14F-4D97-AF65-F5344CB8AC3E}">
        <p14:creationId xmlns:p14="http://schemas.microsoft.com/office/powerpoint/2010/main" val="36456721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19C03931-4A28-44C2-9238-650F85D8C2AD}"/>
              </a:ext>
            </a:extLst>
          </p:cNvPr>
          <p:cNvSpPr>
            <a:spLocks noGrp="1"/>
          </p:cNvSpPr>
          <p:nvPr>
            <p:ph type="title"/>
          </p:nvPr>
        </p:nvSpPr>
        <p:spPr>
          <a:xfrm>
            <a:off x="171450" y="95250"/>
            <a:ext cx="5429250" cy="304800"/>
          </a:xfrm>
          <a:prstGeom prst="rect">
            <a:avLst/>
          </a:prstGeom>
        </p:spPr>
        <p:txBody>
          <a:bodyPr vert="horz" wrap="square" lIns="0" tIns="0" rIns="0" bIns="0">
            <a:noAutofit/>
          </a:bodyPr>
          <a:lstStyle/>
          <a:p>
            <a:pPr marL="12700" algn="l">
              <a:lnSpc>
                <a:spcPct val="110000"/>
              </a:lnSpc>
              <a:spcBef>
                <a:spcPts val="135"/>
              </a:spcBef>
              <a:buNone/>
              <a:defRPr sz="1400">
                <a:solidFill>
                  <a:srgbClr val="006ABA"/>
                </a:solidFill>
                <a:latin typeface="Arial"/>
                <a:ea typeface="Arial"/>
                <a:cs typeface="Arial"/>
              </a:defRPr>
            </a:pPr>
            <a:r>
              <a:rPr sz="1400" b="0" spc="-10">
                <a:solidFill>
                  <a:srgbClr val="006ABA"/>
                </a:solidFill>
                <a:latin typeface="Arial"/>
                <a:ea typeface="Arial"/>
                <a:cs typeface="Arial"/>
              </a:rPr>
              <a:t>O(log n): repeated halving</a:t>
            </a:r>
            <a:endParaRPr sz="1400" b="0" spc="-10">
              <a:latin typeface="Arial"/>
              <a:ea typeface="Arial"/>
              <a:cs typeface="Arial"/>
            </a:endParaRPr>
          </a:p>
        </p:txBody>
      </p:sp>
      <p:pic>
        <p:nvPicPr>
          <p:cNvPr id="36" name="object 4"/>
          <p:cNvPicPr>
            <a:picLocks noChangeAspect="1"/>
          </p:cNvPicPr>
          <p:nvPr/>
        </p:nvPicPr>
        <p:blipFill>
          <a:blip r:embed="rId3"/>
          <a:stretch>
            <a:fillRect/>
          </a:stretch>
        </p:blipFill>
        <p:spPr>
          <a:xfrm>
            <a:off x="152565" y="2988507"/>
            <a:ext cx="900668" cy="161917"/>
          </a:xfrm>
          <a:prstGeom prst="rect">
            <a:avLst/>
          </a:prstGeom>
        </p:spPr>
      </p:pic>
      <p:pic>
        <p:nvPicPr>
          <p:cNvPr id="37" name="object 5"/>
          <p:cNvPicPr>
            <a:picLocks noChangeAspect="1"/>
          </p:cNvPicPr>
          <p:nvPr/>
        </p:nvPicPr>
        <p:blipFill>
          <a:blip r:embed="rId4"/>
          <a:stretch>
            <a:fillRect/>
          </a:stretch>
        </p:blipFill>
        <p:spPr>
          <a:xfrm>
            <a:off x="1286560" y="2988417"/>
            <a:ext cx="610912" cy="162008"/>
          </a:xfrm>
          <a:prstGeom prst="rect">
            <a:avLst/>
          </a:prstGeom>
        </p:spPr>
      </p:pic>
      <p:sp>
        <p:nvSpPr>
          <p:cNvPr id="10" name="Footer Placeholder 7">
            <a:extLst>
              <a:ext uri="{FF2B5EF4-FFF2-40B4-BE49-F238E27FC236}">
                <a16:creationId xmlns:a16="http://schemas.microsoft.com/office/drawing/2014/main" id="{197FE2C8-8EE2-4937-3F30-294DB47641D6}"/>
              </a:ext>
            </a:extLst>
          </p:cNvPr>
          <p:cNvSpPr>
            <a:spLocks noGrp="1"/>
          </p:cNvSpPr>
          <p:nvPr>
            <p:ph type="ftr" idx="5"/>
          </p:nvPr>
        </p:nvSpPr>
        <p:spPr>
          <a:xfrm>
            <a:off x="2590800" y="3105150"/>
            <a:ext cx="2743200" cy="95250"/>
          </a:xfrm>
        </p:spPr>
        <p:txBody>
          <a:bodyPr wrap="square" lIns="0" tIns="0" rIns="0" bIns="0">
            <a:noAutofit/>
          </a:bodyPr>
          <a:lstStyle/>
          <a:p>
            <a:pPr algn="r">
              <a:lnSpc>
                <a:spcPct val="110000"/>
              </a:lnSpc>
              <a:buNone/>
              <a:defRPr sz="500">
                <a:solidFill>
                  <a:srgbClr val="888888"/>
                </a:solidFill>
                <a:latin typeface="Arial"/>
                <a:ea typeface="Arial"/>
                <a:cs typeface="Arial"/>
              </a:defRPr>
            </a:pPr>
            <a:r>
              <a:rPr sz="500">
                <a:solidFill>
                  <a:srgbClr val="888888"/>
                </a:solidFill>
                <a:latin typeface="Arial"/>
                <a:ea typeface="Arial"/>
                <a:cs typeface="Arial"/>
              </a:rPr>
              <a:t>MAS Foundations - Kamendu Panchal</a:t>
            </a:r>
            <a:endParaRPr sz="500" b="1">
              <a:solidFill>
                <a:schemeClr val="tx1"/>
              </a:solidFill>
              <a:latin typeface="Arial"/>
              <a:ea typeface="Arial"/>
              <a:cs typeface="Arial"/>
            </a:endParaRPr>
          </a:p>
        </p:txBody>
      </p:sp>
      <p:sp>
        <p:nvSpPr>
          <p:cNvPr id="3" name="TextBox 2">
            <a:extLst>
              <a:ext uri="{FF2B5EF4-FFF2-40B4-BE49-F238E27FC236}">
                <a16:creationId xmlns:a16="http://schemas.microsoft.com/office/drawing/2014/main" id="{DCE8FEB4-DA15-74FB-D091-FA2B80C9B501}"/>
              </a:ext>
            </a:extLst>
          </p:cNvPr>
          <p:cNvSpPr>
            <a:spLocks noGrp="1"/>
          </p:cNvSpPr>
          <p:nvPr/>
        </p:nvSpPr>
        <p:spPr>
          <a:xfrm>
            <a:off x="5438775" y="3086100"/>
            <a:ext cx="209550" cy="175260"/>
          </a:xfrm>
          <a:prstGeom prst="rect">
            <a:avLst/>
          </a:prstGeom>
          <a:noFill/>
        </p:spPr>
        <p:txBody>
          <a:bodyPr wrap="square" lIns="0" tIns="0" rIns="0" bIns="0">
            <a:noAutofit/>
          </a:bodyPr>
          <a:lstStyle/>
          <a:p>
            <a:pPr algn="r">
              <a:lnSpc>
                <a:spcPct val="110000"/>
              </a:lnSpc>
              <a:buNone/>
              <a:defRPr sz="500">
                <a:solidFill>
                  <a:srgbClr val="202020"/>
                </a:solidFill>
                <a:latin typeface="Arial"/>
                <a:ea typeface="Arial"/>
                <a:cs typeface="Arial"/>
              </a:defRPr>
            </a:pPr>
            <a:r>
              <a:rPr sz="500">
                <a:solidFill>
                  <a:srgbClr val="202020"/>
                </a:solidFill>
                <a:latin typeface="Arial"/>
                <a:ea typeface="Arial"/>
                <a:cs typeface="Arial"/>
              </a:rPr>
              <a:t>10</a:t>
            </a:r>
          </a:p>
        </p:txBody>
      </p:sp>
      <p:sp>
        <p:nvSpPr>
          <p:cNvPr id="13" name="text">
            <a:extLst>
              <a:ext uri="{FF2B5EF4-FFF2-40B4-BE49-F238E27FC236}">
                <a16:creationId xmlns:a16="http://schemas.microsoft.com/office/drawing/2014/main" id="{D110BEAA-3E5C-4E97-89EF-E91A16A031A7}"/>
              </a:ext>
            </a:extLst>
          </p:cNvPr>
          <p:cNvSpPr>
            <a:spLocks noGrp="1"/>
          </p:cNvSpPr>
          <p:nvPr/>
        </p:nvSpPr>
        <p:spPr>
          <a:xfrm>
            <a:off x="228600" y="504825"/>
            <a:ext cx="5314950" cy="381000"/>
          </a:xfrm>
          <a:prstGeom prst="rect">
            <a:avLst/>
          </a:prstGeom>
          <a:noFill/>
          <a:ln w="0">
            <a:noFill/>
          </a:ln>
        </p:spPr>
        <p:txBody>
          <a:bodyPr wrap="square" lIns="0" tIns="0" rIns="0" bIns="0" anchor="t">
            <a:noAutofit/>
          </a:bodyPr>
          <a:lstStyle/>
          <a:p>
            <a:pPr algn="l">
              <a:lnSpc>
                <a:spcPct val="110000"/>
              </a:lnSpc>
              <a:buNone/>
              <a:defRPr sz="998" b="0">
                <a:solidFill>
                  <a:srgbClr val="202020"/>
                </a:solidFill>
                <a:latin typeface="Arial"/>
                <a:ea typeface="Arial"/>
                <a:cs typeface="Arial"/>
              </a:defRPr>
            </a:pPr>
            <a:r>
              <a:rPr sz="998" b="0">
                <a:solidFill>
                  <a:srgbClr val="202020"/>
                </a:solidFill>
                <a:latin typeface="Arial"/>
                <a:ea typeface="Arial"/>
                <a:cs typeface="Arial"/>
              </a:rPr>
              <a:t>Halving the remaining problem gives logarithmic growth.</a:t>
            </a:r>
          </a:p>
        </p:txBody>
      </p:sp>
      <p:sp>
        <p:nvSpPr>
          <p:cNvPr id="14" name="Rectangle 13">
            <a:extLst>
              <a:ext uri="{FF2B5EF4-FFF2-40B4-BE49-F238E27FC236}">
                <a16:creationId xmlns:a16="http://schemas.microsoft.com/office/drawing/2014/main" id="{EDEA6F25-9F4E-48AE-ADDA-ACC2DC2E9E2B}"/>
              </a:ext>
            </a:extLst>
          </p:cNvPr>
          <p:cNvSpPr>
            <a:spLocks noGrp="1"/>
          </p:cNvSpPr>
          <p:nvPr/>
        </p:nvSpPr>
        <p:spPr>
          <a:xfrm>
            <a:off x="228600" y="981075"/>
            <a:ext cx="2600325" cy="1504950"/>
          </a:xfrm>
          <a:prstGeom prst="rect">
            <a:avLst/>
          </a:prstGeom>
          <a:solidFill>
            <a:srgbClr val="101827"/>
          </a:solidFill>
          <a:ln w="0">
            <a:noFill/>
          </a:ln>
        </p:spPr>
      </p:sp>
      <p:sp>
        <p:nvSpPr>
          <p:cNvPr id="15" name="Rectangle 14">
            <a:extLst>
              <a:ext uri="{FF2B5EF4-FFF2-40B4-BE49-F238E27FC236}">
                <a16:creationId xmlns:a16="http://schemas.microsoft.com/office/drawing/2014/main" id="{063E80F2-0460-428D-AEEE-D95955028DD9}"/>
              </a:ext>
            </a:extLst>
          </p:cNvPr>
          <p:cNvSpPr>
            <a:spLocks noGrp="1"/>
          </p:cNvSpPr>
          <p:nvPr/>
        </p:nvSpPr>
        <p:spPr>
          <a:xfrm>
            <a:off x="228600" y="800100"/>
            <a:ext cx="2600325" cy="180975"/>
          </a:xfrm>
          <a:prstGeom prst="rect">
            <a:avLst/>
          </a:prstGeom>
          <a:solidFill>
            <a:srgbClr val="006ABA"/>
          </a:solidFill>
          <a:ln w="0">
            <a:noFill/>
          </a:ln>
        </p:spPr>
      </p:sp>
      <p:sp>
        <p:nvSpPr>
          <p:cNvPr id="16" name="text">
            <a:extLst>
              <a:ext uri="{FF2B5EF4-FFF2-40B4-BE49-F238E27FC236}">
                <a16:creationId xmlns:a16="http://schemas.microsoft.com/office/drawing/2014/main" id="{A3E6AFC0-D9BD-4448-9246-BE723ED3C7C5}"/>
              </a:ext>
            </a:extLst>
          </p:cNvPr>
          <p:cNvSpPr>
            <a:spLocks noGrp="1"/>
          </p:cNvSpPr>
          <p:nvPr/>
        </p:nvSpPr>
        <p:spPr>
          <a:xfrm>
            <a:off x="228600" y="819150"/>
            <a:ext cx="2600325" cy="161925"/>
          </a:xfrm>
          <a:prstGeom prst="rect">
            <a:avLst/>
          </a:prstGeom>
          <a:noFill/>
          <a:ln w="0">
            <a:noFill/>
          </a:ln>
        </p:spPr>
        <p:txBody>
          <a:bodyPr wrap="square" lIns="0" tIns="0" rIns="0" bIns="0" anchor="t">
            <a:noAutofit/>
          </a:bodyPr>
          <a:lstStyle/>
          <a:p>
            <a:pPr algn="ctr">
              <a:lnSpc>
                <a:spcPct val="110000"/>
              </a:lnSpc>
              <a:buNone/>
              <a:defRPr sz="825" b="1">
                <a:solidFill>
                  <a:srgbClr val="FFFFFF"/>
                </a:solidFill>
                <a:latin typeface="Arial"/>
                <a:ea typeface="Arial"/>
                <a:cs typeface="Arial"/>
              </a:defRPr>
            </a:pPr>
            <a:r>
              <a:rPr sz="825" b="1">
                <a:solidFill>
                  <a:srgbClr val="FFFFFF"/>
                </a:solidFill>
                <a:latin typeface="Arial"/>
                <a:ea typeface="Arial"/>
                <a:cs typeface="Arial"/>
              </a:rPr>
              <a:t>C++17</a:t>
            </a:r>
          </a:p>
        </p:txBody>
      </p:sp>
      <p:sp>
        <p:nvSpPr>
          <p:cNvPr id="17" name="text">
            <a:extLst>
              <a:ext uri="{FF2B5EF4-FFF2-40B4-BE49-F238E27FC236}">
                <a16:creationId xmlns:a16="http://schemas.microsoft.com/office/drawing/2014/main" id="{700659AA-10DC-4A34-9C7F-DB4AAB0471C7}"/>
              </a:ext>
            </a:extLst>
          </p:cNvPr>
          <p:cNvSpPr>
            <a:spLocks noGrp="1"/>
          </p:cNvSpPr>
          <p:nvPr/>
        </p:nvSpPr>
        <p:spPr>
          <a:xfrm>
            <a:off x="295275" y="106680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int n = 16;</a:t>
            </a:r>
          </a:p>
        </p:txBody>
      </p:sp>
      <p:sp>
        <p:nvSpPr>
          <p:cNvPr id="18" name="text">
            <a:extLst>
              <a:ext uri="{FF2B5EF4-FFF2-40B4-BE49-F238E27FC236}">
                <a16:creationId xmlns:a16="http://schemas.microsoft.com/office/drawing/2014/main" id="{DE290AA6-09D5-4ABB-9439-6446DA6D389D}"/>
              </a:ext>
            </a:extLst>
          </p:cNvPr>
          <p:cNvSpPr>
            <a:spLocks noGrp="1"/>
          </p:cNvSpPr>
          <p:nvPr/>
        </p:nvSpPr>
        <p:spPr>
          <a:xfrm>
            <a:off x="295275" y="119634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int steps = 0;</a:t>
            </a:r>
          </a:p>
        </p:txBody>
      </p:sp>
      <p:sp>
        <p:nvSpPr>
          <p:cNvPr id="19" name="text">
            <a:extLst>
              <a:ext uri="{FF2B5EF4-FFF2-40B4-BE49-F238E27FC236}">
                <a16:creationId xmlns:a16="http://schemas.microsoft.com/office/drawing/2014/main" id="{EACE25C5-DD21-4CFC-B8C1-B8B24CCB4C80}"/>
              </a:ext>
            </a:extLst>
          </p:cNvPr>
          <p:cNvSpPr>
            <a:spLocks noGrp="1"/>
          </p:cNvSpPr>
          <p:nvPr/>
        </p:nvSpPr>
        <p:spPr>
          <a:xfrm>
            <a:off x="295275" y="132588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while (n &gt; 1) {</a:t>
            </a:r>
          </a:p>
        </p:txBody>
      </p:sp>
      <p:sp>
        <p:nvSpPr>
          <p:cNvPr id="20" name="text">
            <a:extLst>
              <a:ext uri="{FF2B5EF4-FFF2-40B4-BE49-F238E27FC236}">
                <a16:creationId xmlns:a16="http://schemas.microsoft.com/office/drawing/2014/main" id="{FA3B7FA8-F10A-41BE-9929-20687A1A3456}"/>
              </a:ext>
            </a:extLst>
          </p:cNvPr>
          <p:cNvSpPr>
            <a:spLocks noGrp="1"/>
          </p:cNvSpPr>
          <p:nvPr/>
        </p:nvSpPr>
        <p:spPr>
          <a:xfrm>
            <a:off x="295275" y="145542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  n /= 2;</a:t>
            </a:r>
          </a:p>
        </p:txBody>
      </p:sp>
      <p:sp>
        <p:nvSpPr>
          <p:cNvPr id="21" name="text">
            <a:extLst>
              <a:ext uri="{FF2B5EF4-FFF2-40B4-BE49-F238E27FC236}">
                <a16:creationId xmlns:a16="http://schemas.microsoft.com/office/drawing/2014/main" id="{AC872EA5-835E-4DBF-AFC9-51F9502F4AFA}"/>
              </a:ext>
            </a:extLst>
          </p:cNvPr>
          <p:cNvSpPr>
            <a:spLocks noGrp="1"/>
          </p:cNvSpPr>
          <p:nvPr/>
        </p:nvSpPr>
        <p:spPr>
          <a:xfrm>
            <a:off x="295275" y="158496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  ++steps;</a:t>
            </a:r>
          </a:p>
        </p:txBody>
      </p:sp>
      <p:sp>
        <p:nvSpPr>
          <p:cNvPr id="22" name="text">
            <a:extLst>
              <a:ext uri="{FF2B5EF4-FFF2-40B4-BE49-F238E27FC236}">
                <a16:creationId xmlns:a16="http://schemas.microsoft.com/office/drawing/2014/main" id="{F41BB270-6167-47FD-9D0F-3DC9373F156B}"/>
              </a:ext>
            </a:extLst>
          </p:cNvPr>
          <p:cNvSpPr>
            <a:spLocks noGrp="1"/>
          </p:cNvSpPr>
          <p:nvPr/>
        </p:nvSpPr>
        <p:spPr>
          <a:xfrm>
            <a:off x="295275" y="171450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a:t>
            </a:r>
          </a:p>
        </p:txBody>
      </p:sp>
      <p:sp>
        <p:nvSpPr>
          <p:cNvPr id="23" name="text">
            <a:extLst>
              <a:ext uri="{FF2B5EF4-FFF2-40B4-BE49-F238E27FC236}">
                <a16:creationId xmlns:a16="http://schemas.microsoft.com/office/drawing/2014/main" id="{8E60F4F9-042D-4CFE-8849-F4C2D4F2DB28}"/>
              </a:ext>
            </a:extLst>
          </p:cNvPr>
          <p:cNvSpPr>
            <a:spLocks noGrp="1"/>
          </p:cNvSpPr>
          <p:nvPr/>
        </p:nvSpPr>
        <p:spPr>
          <a:xfrm>
            <a:off x="295275" y="184404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std::cout &lt;&lt; steps &lt;&lt; "\n";</a:t>
            </a:r>
          </a:p>
        </p:txBody>
      </p:sp>
      <p:sp>
        <p:nvSpPr>
          <p:cNvPr id="24" name="Rectangle 23">
            <a:extLst>
              <a:ext uri="{FF2B5EF4-FFF2-40B4-BE49-F238E27FC236}">
                <a16:creationId xmlns:a16="http://schemas.microsoft.com/office/drawing/2014/main" id="{349ACE3C-A11A-4F9E-9210-7CCC8C23D641}"/>
              </a:ext>
            </a:extLst>
          </p:cNvPr>
          <p:cNvSpPr>
            <a:spLocks noGrp="1"/>
          </p:cNvSpPr>
          <p:nvPr/>
        </p:nvSpPr>
        <p:spPr>
          <a:xfrm>
            <a:off x="2990850" y="981075"/>
            <a:ext cx="2600325" cy="1504950"/>
          </a:xfrm>
          <a:prstGeom prst="rect">
            <a:avLst/>
          </a:prstGeom>
          <a:solidFill>
            <a:srgbClr val="101827"/>
          </a:solidFill>
          <a:ln w="0">
            <a:noFill/>
          </a:ln>
        </p:spPr>
      </p:sp>
      <p:sp>
        <p:nvSpPr>
          <p:cNvPr id="25" name="Rectangle 24">
            <a:extLst>
              <a:ext uri="{FF2B5EF4-FFF2-40B4-BE49-F238E27FC236}">
                <a16:creationId xmlns:a16="http://schemas.microsoft.com/office/drawing/2014/main" id="{39AFAB4E-14D2-4863-9B6F-E7F1B660AD1E}"/>
              </a:ext>
            </a:extLst>
          </p:cNvPr>
          <p:cNvSpPr>
            <a:spLocks noGrp="1"/>
          </p:cNvSpPr>
          <p:nvPr/>
        </p:nvSpPr>
        <p:spPr>
          <a:xfrm>
            <a:off x="2990850" y="800100"/>
            <a:ext cx="2600325" cy="180975"/>
          </a:xfrm>
          <a:prstGeom prst="rect">
            <a:avLst/>
          </a:prstGeom>
          <a:solidFill>
            <a:srgbClr val="1AA260"/>
          </a:solidFill>
          <a:ln w="0">
            <a:noFill/>
          </a:ln>
        </p:spPr>
      </p:sp>
      <p:sp>
        <p:nvSpPr>
          <p:cNvPr id="26" name="text">
            <a:extLst>
              <a:ext uri="{FF2B5EF4-FFF2-40B4-BE49-F238E27FC236}">
                <a16:creationId xmlns:a16="http://schemas.microsoft.com/office/drawing/2014/main" id="{A23B9F09-76C8-4FE6-BDFB-FE77CCB1BFFA}"/>
              </a:ext>
            </a:extLst>
          </p:cNvPr>
          <p:cNvSpPr>
            <a:spLocks noGrp="1"/>
          </p:cNvSpPr>
          <p:nvPr/>
        </p:nvSpPr>
        <p:spPr>
          <a:xfrm>
            <a:off x="2990850" y="819150"/>
            <a:ext cx="2600325" cy="161925"/>
          </a:xfrm>
          <a:prstGeom prst="rect">
            <a:avLst/>
          </a:prstGeom>
          <a:noFill/>
          <a:ln w="0">
            <a:noFill/>
          </a:ln>
        </p:spPr>
        <p:txBody>
          <a:bodyPr wrap="square" lIns="0" tIns="0" rIns="0" bIns="0" anchor="t">
            <a:noAutofit/>
          </a:bodyPr>
          <a:lstStyle/>
          <a:p>
            <a:pPr algn="ctr">
              <a:lnSpc>
                <a:spcPct val="110000"/>
              </a:lnSpc>
              <a:buNone/>
              <a:defRPr sz="825" b="1">
                <a:solidFill>
                  <a:srgbClr val="FFFFFF"/>
                </a:solidFill>
                <a:latin typeface="Arial"/>
                <a:ea typeface="Arial"/>
                <a:cs typeface="Arial"/>
              </a:defRPr>
            </a:pPr>
            <a:r>
              <a:rPr sz="825" b="1">
                <a:solidFill>
                  <a:srgbClr val="FFFFFF"/>
                </a:solidFill>
                <a:latin typeface="Arial"/>
                <a:ea typeface="Arial"/>
                <a:cs typeface="Arial"/>
              </a:rPr>
              <a:t>Python 3</a:t>
            </a:r>
          </a:p>
        </p:txBody>
      </p:sp>
      <p:sp>
        <p:nvSpPr>
          <p:cNvPr id="27" name="text">
            <a:extLst>
              <a:ext uri="{FF2B5EF4-FFF2-40B4-BE49-F238E27FC236}">
                <a16:creationId xmlns:a16="http://schemas.microsoft.com/office/drawing/2014/main" id="{A058092F-08E4-4FD5-9265-C084A16659DB}"/>
              </a:ext>
            </a:extLst>
          </p:cNvPr>
          <p:cNvSpPr>
            <a:spLocks noGrp="1"/>
          </p:cNvSpPr>
          <p:nvPr/>
        </p:nvSpPr>
        <p:spPr>
          <a:xfrm>
            <a:off x="3057525" y="106680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n = 16</a:t>
            </a:r>
          </a:p>
        </p:txBody>
      </p:sp>
      <p:sp>
        <p:nvSpPr>
          <p:cNvPr id="28" name="text">
            <a:extLst>
              <a:ext uri="{FF2B5EF4-FFF2-40B4-BE49-F238E27FC236}">
                <a16:creationId xmlns:a16="http://schemas.microsoft.com/office/drawing/2014/main" id="{2F0E4CCE-32DA-493A-B5E2-2FE4B50C9EEB}"/>
              </a:ext>
            </a:extLst>
          </p:cNvPr>
          <p:cNvSpPr>
            <a:spLocks noGrp="1"/>
          </p:cNvSpPr>
          <p:nvPr/>
        </p:nvSpPr>
        <p:spPr>
          <a:xfrm>
            <a:off x="3057525" y="119634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steps = 0</a:t>
            </a:r>
          </a:p>
        </p:txBody>
      </p:sp>
      <p:sp>
        <p:nvSpPr>
          <p:cNvPr id="29" name="text">
            <a:extLst>
              <a:ext uri="{FF2B5EF4-FFF2-40B4-BE49-F238E27FC236}">
                <a16:creationId xmlns:a16="http://schemas.microsoft.com/office/drawing/2014/main" id="{C94447AD-C8A1-4289-BE86-8E9443385EFD}"/>
              </a:ext>
            </a:extLst>
          </p:cNvPr>
          <p:cNvSpPr>
            <a:spLocks noGrp="1"/>
          </p:cNvSpPr>
          <p:nvPr/>
        </p:nvSpPr>
        <p:spPr>
          <a:xfrm>
            <a:off x="3057525" y="132588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while n &gt; 1:</a:t>
            </a:r>
          </a:p>
        </p:txBody>
      </p:sp>
      <p:sp>
        <p:nvSpPr>
          <p:cNvPr id="30" name="text">
            <a:extLst>
              <a:ext uri="{FF2B5EF4-FFF2-40B4-BE49-F238E27FC236}">
                <a16:creationId xmlns:a16="http://schemas.microsoft.com/office/drawing/2014/main" id="{13AA0119-285C-464F-A1E8-E0D73A6E66A5}"/>
              </a:ext>
            </a:extLst>
          </p:cNvPr>
          <p:cNvSpPr>
            <a:spLocks noGrp="1"/>
          </p:cNvSpPr>
          <p:nvPr/>
        </p:nvSpPr>
        <p:spPr>
          <a:xfrm>
            <a:off x="3057525" y="145542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    n //= 2</a:t>
            </a:r>
          </a:p>
        </p:txBody>
      </p:sp>
      <p:sp>
        <p:nvSpPr>
          <p:cNvPr id="31" name="text">
            <a:extLst>
              <a:ext uri="{FF2B5EF4-FFF2-40B4-BE49-F238E27FC236}">
                <a16:creationId xmlns:a16="http://schemas.microsoft.com/office/drawing/2014/main" id="{C2B6A4F1-4263-4723-AD70-E8E1C26FE206}"/>
              </a:ext>
            </a:extLst>
          </p:cNvPr>
          <p:cNvSpPr>
            <a:spLocks noGrp="1"/>
          </p:cNvSpPr>
          <p:nvPr/>
        </p:nvSpPr>
        <p:spPr>
          <a:xfrm>
            <a:off x="3057525" y="158496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    steps += 1</a:t>
            </a:r>
          </a:p>
        </p:txBody>
      </p:sp>
      <p:sp>
        <p:nvSpPr>
          <p:cNvPr id="32" name="text">
            <a:extLst>
              <a:ext uri="{FF2B5EF4-FFF2-40B4-BE49-F238E27FC236}">
                <a16:creationId xmlns:a16="http://schemas.microsoft.com/office/drawing/2014/main" id="{67CB6102-F2EA-423E-A660-47D12D5D1D42}"/>
              </a:ext>
            </a:extLst>
          </p:cNvPr>
          <p:cNvSpPr>
            <a:spLocks noGrp="1"/>
          </p:cNvSpPr>
          <p:nvPr/>
        </p:nvSpPr>
        <p:spPr>
          <a:xfrm>
            <a:off x="3057525" y="171450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print(steps)</a:t>
            </a:r>
          </a:p>
        </p:txBody>
      </p:sp>
      <p:sp>
        <p:nvSpPr>
          <p:cNvPr id="33" name="text">
            <a:extLst>
              <a:ext uri="{FF2B5EF4-FFF2-40B4-BE49-F238E27FC236}">
                <a16:creationId xmlns:a16="http://schemas.microsoft.com/office/drawing/2014/main" id="{28E81141-5363-4977-AE84-42429562303D}"/>
              </a:ext>
            </a:extLst>
          </p:cNvPr>
          <p:cNvSpPr>
            <a:spLocks noGrp="1"/>
          </p:cNvSpPr>
          <p:nvPr/>
        </p:nvSpPr>
        <p:spPr>
          <a:xfrm>
            <a:off x="228600" y="2600325"/>
            <a:ext cx="5314950" cy="228600"/>
          </a:xfrm>
          <a:prstGeom prst="rect">
            <a:avLst/>
          </a:prstGeom>
          <a:noFill/>
          <a:ln w="0">
            <a:noFill/>
          </a:ln>
        </p:spPr>
        <p:txBody>
          <a:bodyPr wrap="square" lIns="0" tIns="0" rIns="0" bIns="0" anchor="t">
            <a:noAutofit/>
          </a:bodyPr>
          <a:lstStyle/>
          <a:p>
            <a:pPr algn="l">
              <a:lnSpc>
                <a:spcPct val="110000"/>
              </a:lnSpc>
              <a:buNone/>
              <a:defRPr sz="885" b="0">
                <a:solidFill>
                  <a:srgbClr val="006ABA"/>
                </a:solidFill>
                <a:latin typeface="Arial"/>
                <a:ea typeface="Arial"/>
                <a:cs typeface="Arial"/>
              </a:defRPr>
            </a:pPr>
            <a:r>
              <a:rPr sz="885" b="0">
                <a:solidFill>
                  <a:srgbClr val="006ABA"/>
                </a:solidFill>
                <a:latin typeface="Arial"/>
                <a:ea typeface="Arial"/>
                <a:cs typeface="Arial"/>
              </a:rPr>
              <a:t>16 becomes 8, 4, 2, 1: four halvings.</a:t>
            </a:r>
          </a:p>
        </p:txBody>
      </p:sp>
      <p:sp>
        <p:nvSpPr>
          <p:cNvPr id="34" name="text">
            <a:extLst>
              <a:ext uri="{FF2B5EF4-FFF2-40B4-BE49-F238E27FC236}">
                <a16:creationId xmlns:a16="http://schemas.microsoft.com/office/drawing/2014/main" id="{734D62A2-35EA-4F5B-84E7-62718EA8EC0C}"/>
              </a:ext>
            </a:extLst>
          </p:cNvPr>
          <p:cNvSpPr>
            <a:spLocks noGrp="1"/>
          </p:cNvSpPr>
          <p:nvPr/>
        </p:nvSpPr>
        <p:spPr>
          <a:xfrm>
            <a:off x="228600" y="2867025"/>
            <a:ext cx="5334000" cy="95250"/>
          </a:xfrm>
          <a:prstGeom prst="rect">
            <a:avLst/>
          </a:prstGeom>
          <a:noFill/>
          <a:ln w="0">
            <a:noFill/>
          </a:ln>
        </p:spPr>
        <p:txBody>
          <a:bodyPr wrap="square" lIns="0" tIns="0" rIns="0" bIns="0" anchor="t">
            <a:noAutofit/>
          </a:bodyPr>
          <a:lstStyle/>
          <a:p>
            <a:pPr algn="l">
              <a:lnSpc>
                <a:spcPct val="110000"/>
              </a:lnSpc>
              <a:buNone/>
              <a:defRPr sz="510" b="0">
                <a:solidFill>
                  <a:srgbClr val="66717C"/>
                </a:solidFill>
                <a:latin typeface="Arial"/>
                <a:ea typeface="Arial"/>
                <a:cs typeface="Arial"/>
              </a:defRPr>
            </a:pPr>
            <a:r>
              <a:rPr sz="510" b="0">
                <a:solidFill>
                  <a:srgbClr val="66717C"/>
                </a:solidFill>
                <a:latin typeface="Arial"/>
                <a:ea typeface="Arial"/>
                <a:cs typeface="Arial"/>
              </a:rPr>
              <a:t>[P]  [T]</a:t>
            </a:r>
          </a:p>
        </p:txBody>
      </p:sp>
    </p:spTree>
    <p:extLst>
      <p:ext uri="{BB962C8B-B14F-4D97-AF65-F5344CB8AC3E}">
        <p14:creationId xmlns:p14="http://schemas.microsoft.com/office/powerpoint/2010/main" val="36456721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19C03931-4A28-44C2-9238-650F85D8C2AD}"/>
              </a:ext>
            </a:extLst>
          </p:cNvPr>
          <p:cNvSpPr>
            <a:spLocks noGrp="1"/>
          </p:cNvSpPr>
          <p:nvPr>
            <p:ph type="title"/>
          </p:nvPr>
        </p:nvSpPr>
        <p:spPr>
          <a:xfrm>
            <a:off x="171450" y="95250"/>
            <a:ext cx="5429250" cy="304800"/>
          </a:xfrm>
          <a:prstGeom prst="rect">
            <a:avLst/>
          </a:prstGeom>
        </p:spPr>
        <p:txBody>
          <a:bodyPr vert="horz" wrap="square" lIns="0" tIns="0" rIns="0" bIns="0">
            <a:noAutofit/>
          </a:bodyPr>
          <a:lstStyle/>
          <a:p>
            <a:pPr marL="12700" algn="l">
              <a:lnSpc>
                <a:spcPct val="110000"/>
              </a:lnSpc>
              <a:spcBef>
                <a:spcPts val="135"/>
              </a:spcBef>
              <a:buNone/>
              <a:defRPr sz="1400">
                <a:solidFill>
                  <a:srgbClr val="006ABA"/>
                </a:solidFill>
                <a:latin typeface="Arial"/>
                <a:ea typeface="Arial"/>
                <a:cs typeface="Arial"/>
              </a:defRPr>
            </a:pPr>
            <a:r>
              <a:rPr sz="1400" b="0" spc="-10">
                <a:solidFill>
                  <a:srgbClr val="006ABA"/>
                </a:solidFill>
                <a:latin typeface="Arial"/>
                <a:ea typeface="Arial"/>
                <a:cs typeface="Arial"/>
              </a:rPr>
              <a:t>Input cases and asymptotic bounds</a:t>
            </a:r>
            <a:endParaRPr sz="1400" b="0" spc="-10">
              <a:latin typeface="Arial"/>
              <a:ea typeface="Arial"/>
              <a:cs typeface="Arial"/>
            </a:endParaRPr>
          </a:p>
        </p:txBody>
      </p:sp>
      <p:pic>
        <p:nvPicPr>
          <p:cNvPr id="22" name="object 4"/>
          <p:cNvPicPr>
            <a:picLocks noChangeAspect="1"/>
          </p:cNvPicPr>
          <p:nvPr/>
        </p:nvPicPr>
        <p:blipFill>
          <a:blip r:embed="rId3"/>
          <a:stretch>
            <a:fillRect/>
          </a:stretch>
        </p:blipFill>
        <p:spPr>
          <a:xfrm>
            <a:off x="152565" y="2988507"/>
            <a:ext cx="900668" cy="161917"/>
          </a:xfrm>
          <a:prstGeom prst="rect">
            <a:avLst/>
          </a:prstGeom>
        </p:spPr>
      </p:pic>
      <p:pic>
        <p:nvPicPr>
          <p:cNvPr id="23" name="object 5"/>
          <p:cNvPicPr>
            <a:picLocks noChangeAspect="1"/>
          </p:cNvPicPr>
          <p:nvPr/>
        </p:nvPicPr>
        <p:blipFill>
          <a:blip r:embed="rId4"/>
          <a:stretch>
            <a:fillRect/>
          </a:stretch>
        </p:blipFill>
        <p:spPr>
          <a:xfrm>
            <a:off x="1286560" y="2988417"/>
            <a:ext cx="610912" cy="162008"/>
          </a:xfrm>
          <a:prstGeom prst="rect">
            <a:avLst/>
          </a:prstGeom>
        </p:spPr>
      </p:pic>
      <p:sp>
        <p:nvSpPr>
          <p:cNvPr id="10" name="Footer Placeholder 7">
            <a:extLst>
              <a:ext uri="{FF2B5EF4-FFF2-40B4-BE49-F238E27FC236}">
                <a16:creationId xmlns:a16="http://schemas.microsoft.com/office/drawing/2014/main" id="{197FE2C8-8EE2-4937-3F30-294DB47641D6}"/>
              </a:ext>
            </a:extLst>
          </p:cNvPr>
          <p:cNvSpPr>
            <a:spLocks noGrp="1"/>
          </p:cNvSpPr>
          <p:nvPr>
            <p:ph type="ftr" idx="5"/>
          </p:nvPr>
        </p:nvSpPr>
        <p:spPr>
          <a:xfrm>
            <a:off x="2590800" y="3105150"/>
            <a:ext cx="2743200" cy="95250"/>
          </a:xfrm>
        </p:spPr>
        <p:txBody>
          <a:bodyPr wrap="square" lIns="0" tIns="0" rIns="0" bIns="0">
            <a:noAutofit/>
          </a:bodyPr>
          <a:lstStyle/>
          <a:p>
            <a:pPr algn="r">
              <a:lnSpc>
                <a:spcPct val="110000"/>
              </a:lnSpc>
              <a:buNone/>
              <a:defRPr sz="500">
                <a:solidFill>
                  <a:srgbClr val="888888"/>
                </a:solidFill>
                <a:latin typeface="Arial"/>
                <a:ea typeface="Arial"/>
                <a:cs typeface="Arial"/>
              </a:defRPr>
            </a:pPr>
            <a:r>
              <a:rPr sz="500">
                <a:solidFill>
                  <a:srgbClr val="888888"/>
                </a:solidFill>
                <a:latin typeface="Arial"/>
                <a:ea typeface="Arial"/>
                <a:cs typeface="Arial"/>
              </a:rPr>
              <a:t>MAS Foundations - Kamendu Panchal</a:t>
            </a:r>
            <a:endParaRPr sz="500" b="1">
              <a:solidFill>
                <a:schemeClr val="tx1"/>
              </a:solidFill>
              <a:latin typeface="Arial"/>
              <a:ea typeface="Arial"/>
              <a:cs typeface="Arial"/>
            </a:endParaRPr>
          </a:p>
        </p:txBody>
      </p:sp>
      <p:sp>
        <p:nvSpPr>
          <p:cNvPr id="3" name="TextBox 2">
            <a:extLst>
              <a:ext uri="{FF2B5EF4-FFF2-40B4-BE49-F238E27FC236}">
                <a16:creationId xmlns:a16="http://schemas.microsoft.com/office/drawing/2014/main" id="{DCE8FEB4-DA15-74FB-D091-FA2B80C9B501}"/>
              </a:ext>
            </a:extLst>
          </p:cNvPr>
          <p:cNvSpPr>
            <a:spLocks noGrp="1"/>
          </p:cNvSpPr>
          <p:nvPr/>
        </p:nvSpPr>
        <p:spPr>
          <a:xfrm>
            <a:off x="5438775" y="3086100"/>
            <a:ext cx="209550" cy="175260"/>
          </a:xfrm>
          <a:prstGeom prst="rect">
            <a:avLst/>
          </a:prstGeom>
          <a:noFill/>
        </p:spPr>
        <p:txBody>
          <a:bodyPr wrap="square" lIns="0" tIns="0" rIns="0" bIns="0">
            <a:noAutofit/>
          </a:bodyPr>
          <a:lstStyle/>
          <a:p>
            <a:pPr algn="r">
              <a:lnSpc>
                <a:spcPct val="110000"/>
              </a:lnSpc>
              <a:buNone/>
              <a:defRPr sz="500">
                <a:solidFill>
                  <a:srgbClr val="202020"/>
                </a:solidFill>
                <a:latin typeface="Arial"/>
                <a:ea typeface="Arial"/>
                <a:cs typeface="Arial"/>
              </a:defRPr>
            </a:pPr>
            <a:r>
              <a:rPr sz="500">
                <a:solidFill>
                  <a:srgbClr val="202020"/>
                </a:solidFill>
                <a:latin typeface="Arial"/>
                <a:ea typeface="Arial"/>
                <a:cs typeface="Arial"/>
              </a:rPr>
              <a:t>11</a:t>
            </a:r>
          </a:p>
        </p:txBody>
      </p:sp>
      <p:sp>
        <p:nvSpPr>
          <p:cNvPr id="13" name="text">
            <a:extLst>
              <a:ext uri="{FF2B5EF4-FFF2-40B4-BE49-F238E27FC236}">
                <a16:creationId xmlns:a16="http://schemas.microsoft.com/office/drawing/2014/main" id="{658B7CEF-21A1-4838-9376-34D23C0F1B5E}"/>
              </a:ext>
            </a:extLst>
          </p:cNvPr>
          <p:cNvSpPr>
            <a:spLocks noGrp="1"/>
          </p:cNvSpPr>
          <p:nvPr/>
        </p:nvSpPr>
        <p:spPr>
          <a:xfrm>
            <a:off x="228600" y="504825"/>
            <a:ext cx="5314950" cy="381000"/>
          </a:xfrm>
          <a:prstGeom prst="rect">
            <a:avLst/>
          </a:prstGeom>
          <a:noFill/>
          <a:ln w="0">
            <a:noFill/>
          </a:ln>
        </p:spPr>
        <p:txBody>
          <a:bodyPr wrap="square" lIns="0" tIns="0" rIns="0" bIns="0" anchor="t">
            <a:noAutofit/>
          </a:bodyPr>
          <a:lstStyle/>
          <a:p>
            <a:pPr algn="l">
              <a:lnSpc>
                <a:spcPct val="110000"/>
              </a:lnSpc>
              <a:buNone/>
              <a:defRPr sz="998" b="0">
                <a:solidFill>
                  <a:srgbClr val="202020"/>
                </a:solidFill>
                <a:latin typeface="Arial"/>
                <a:ea typeface="Arial"/>
                <a:cs typeface="Arial"/>
              </a:defRPr>
            </a:pPr>
            <a:r>
              <a:rPr sz="998" b="0">
                <a:solidFill>
                  <a:srgbClr val="202020"/>
                </a:solidFill>
                <a:latin typeface="Arial"/>
                <a:ea typeface="Arial"/>
                <a:cs typeface="Arial"/>
              </a:rPr>
              <a:t>The input case and the mathematical bound answer different questions.</a:t>
            </a:r>
          </a:p>
        </p:txBody>
      </p:sp>
      <p:sp>
        <p:nvSpPr>
          <p:cNvPr id="14" name="text">
            <a:extLst>
              <a:ext uri="{FF2B5EF4-FFF2-40B4-BE49-F238E27FC236}">
                <a16:creationId xmlns:a16="http://schemas.microsoft.com/office/drawing/2014/main" id="{B8FF36C0-C5F4-49BB-A93C-EF5EF5903B2E}"/>
              </a:ext>
            </a:extLst>
          </p:cNvPr>
          <p:cNvSpPr>
            <a:spLocks noGrp="1"/>
          </p:cNvSpPr>
          <p:nvPr/>
        </p:nvSpPr>
        <p:spPr>
          <a:xfrm>
            <a:off x="285750" y="1000125"/>
            <a:ext cx="1952625" cy="285750"/>
          </a:xfrm>
          <a:prstGeom prst="rect">
            <a:avLst/>
          </a:prstGeom>
          <a:noFill/>
          <a:ln w="0">
            <a:noFill/>
          </a:ln>
        </p:spPr>
        <p:txBody>
          <a:bodyPr wrap="square" lIns="0" tIns="0" rIns="0" bIns="0" anchor="t">
            <a:noAutofit/>
          </a:bodyPr>
          <a:lstStyle/>
          <a:p>
            <a:pPr algn="l">
              <a:lnSpc>
                <a:spcPct val="110000"/>
              </a:lnSpc>
              <a:buNone/>
              <a:defRPr sz="1050" b="1">
                <a:solidFill>
                  <a:srgbClr val="006ABA"/>
                </a:solidFill>
                <a:latin typeface="Arial"/>
                <a:ea typeface="Arial"/>
                <a:cs typeface="Arial"/>
              </a:defRPr>
            </a:pPr>
            <a:r>
              <a:rPr sz="1050" b="1">
                <a:solidFill>
                  <a:srgbClr val="006ABA"/>
                </a:solidFill>
                <a:latin typeface="Arial"/>
                <a:ea typeface="Arial"/>
                <a:cs typeface="Arial"/>
              </a:rPr>
              <a:t>Best / worst case</a:t>
            </a:r>
          </a:p>
        </p:txBody>
      </p:sp>
      <p:sp>
        <p:nvSpPr>
          <p:cNvPr id="15" name="text">
            <a:extLst>
              <a:ext uri="{FF2B5EF4-FFF2-40B4-BE49-F238E27FC236}">
                <a16:creationId xmlns:a16="http://schemas.microsoft.com/office/drawing/2014/main" id="{A2107CAB-40C5-4B01-9886-0CEEC4836A1D}"/>
              </a:ext>
            </a:extLst>
          </p:cNvPr>
          <p:cNvSpPr>
            <a:spLocks noGrp="1"/>
          </p:cNvSpPr>
          <p:nvPr/>
        </p:nvSpPr>
        <p:spPr>
          <a:xfrm>
            <a:off x="2409825" y="1000125"/>
            <a:ext cx="3067050" cy="304800"/>
          </a:xfrm>
          <a:prstGeom prst="rect">
            <a:avLst/>
          </a:prstGeom>
          <a:noFill/>
          <a:ln w="0">
            <a:noFill/>
          </a:ln>
        </p:spPr>
        <p:txBody>
          <a:bodyPr wrap="square" lIns="0" tIns="0" rIns="0" bIns="0" anchor="t">
            <a:noAutofit/>
          </a:bodyPr>
          <a:lstStyle/>
          <a:p>
            <a:pPr algn="l">
              <a:lnSpc>
                <a:spcPct val="110000"/>
              </a:lnSpc>
              <a:buNone/>
              <a:defRPr sz="1050" b="0">
                <a:solidFill>
                  <a:srgbClr val="202020"/>
                </a:solidFill>
                <a:latin typeface="Arial"/>
                <a:ea typeface="Arial"/>
                <a:cs typeface="Arial"/>
              </a:defRPr>
            </a:pPr>
            <a:r>
              <a:rPr sz="1050" b="0">
                <a:solidFill>
                  <a:srgbClr val="202020"/>
                </a:solidFill>
                <a:latin typeface="Arial"/>
                <a:ea typeface="Arial"/>
                <a:cs typeface="Arial"/>
              </a:rPr>
              <a:t>Least / most work for inputs of size n</a:t>
            </a:r>
          </a:p>
        </p:txBody>
      </p:sp>
      <p:sp>
        <p:nvSpPr>
          <p:cNvPr id="16" name="text">
            <a:extLst>
              <a:ext uri="{FF2B5EF4-FFF2-40B4-BE49-F238E27FC236}">
                <a16:creationId xmlns:a16="http://schemas.microsoft.com/office/drawing/2014/main" id="{675AD8B1-E39D-42B7-9ABE-88F2795AF922}"/>
              </a:ext>
            </a:extLst>
          </p:cNvPr>
          <p:cNvSpPr>
            <a:spLocks noGrp="1"/>
          </p:cNvSpPr>
          <p:nvPr/>
        </p:nvSpPr>
        <p:spPr>
          <a:xfrm>
            <a:off x="285750" y="1390650"/>
            <a:ext cx="1952625" cy="285750"/>
          </a:xfrm>
          <a:prstGeom prst="rect">
            <a:avLst/>
          </a:prstGeom>
          <a:noFill/>
          <a:ln w="0">
            <a:noFill/>
          </a:ln>
        </p:spPr>
        <p:txBody>
          <a:bodyPr wrap="square" lIns="0" tIns="0" rIns="0" bIns="0" anchor="t">
            <a:noAutofit/>
          </a:bodyPr>
          <a:lstStyle/>
          <a:p>
            <a:pPr algn="l">
              <a:lnSpc>
                <a:spcPct val="110000"/>
              </a:lnSpc>
              <a:buNone/>
              <a:defRPr sz="1050" b="1">
                <a:solidFill>
                  <a:srgbClr val="006ABA"/>
                </a:solidFill>
                <a:latin typeface="Arial"/>
                <a:ea typeface="Arial"/>
                <a:cs typeface="Arial"/>
              </a:defRPr>
            </a:pPr>
            <a:r>
              <a:rPr sz="1050" b="1">
                <a:solidFill>
                  <a:srgbClr val="006ABA"/>
                </a:solidFill>
                <a:latin typeface="Arial"/>
                <a:ea typeface="Arial"/>
                <a:cs typeface="Arial"/>
              </a:rPr>
              <a:t>Average case</a:t>
            </a:r>
          </a:p>
        </p:txBody>
      </p:sp>
      <p:sp>
        <p:nvSpPr>
          <p:cNvPr id="17" name="text">
            <a:extLst>
              <a:ext uri="{FF2B5EF4-FFF2-40B4-BE49-F238E27FC236}">
                <a16:creationId xmlns:a16="http://schemas.microsoft.com/office/drawing/2014/main" id="{DB95E988-280C-4E65-A643-75A610AC5896}"/>
              </a:ext>
            </a:extLst>
          </p:cNvPr>
          <p:cNvSpPr>
            <a:spLocks noGrp="1"/>
          </p:cNvSpPr>
          <p:nvPr/>
        </p:nvSpPr>
        <p:spPr>
          <a:xfrm>
            <a:off x="2409825" y="1390650"/>
            <a:ext cx="3067050" cy="304800"/>
          </a:xfrm>
          <a:prstGeom prst="rect">
            <a:avLst/>
          </a:prstGeom>
          <a:noFill/>
          <a:ln w="0">
            <a:noFill/>
          </a:ln>
        </p:spPr>
        <p:txBody>
          <a:bodyPr wrap="square" lIns="0" tIns="0" rIns="0" bIns="0" anchor="t">
            <a:noAutofit/>
          </a:bodyPr>
          <a:lstStyle/>
          <a:p>
            <a:pPr algn="l">
              <a:lnSpc>
                <a:spcPct val="110000"/>
              </a:lnSpc>
              <a:buNone/>
              <a:defRPr sz="1050" b="0">
                <a:solidFill>
                  <a:srgbClr val="202020"/>
                </a:solidFill>
                <a:latin typeface="Arial"/>
                <a:ea typeface="Arial"/>
                <a:cs typeface="Arial"/>
              </a:defRPr>
            </a:pPr>
            <a:r>
              <a:rPr sz="1050" b="0">
                <a:solidFill>
                  <a:srgbClr val="202020"/>
                </a:solidFill>
                <a:latin typeface="Arial"/>
                <a:ea typeface="Arial"/>
                <a:cs typeface="Arial"/>
              </a:rPr>
              <a:t>Expected work under an input distribution</a:t>
            </a:r>
          </a:p>
        </p:txBody>
      </p:sp>
      <p:sp>
        <p:nvSpPr>
          <p:cNvPr id="18" name="text">
            <a:extLst>
              <a:ext uri="{FF2B5EF4-FFF2-40B4-BE49-F238E27FC236}">
                <a16:creationId xmlns:a16="http://schemas.microsoft.com/office/drawing/2014/main" id="{7D09C947-B5F5-4F44-91F1-445EC836A1A7}"/>
              </a:ext>
            </a:extLst>
          </p:cNvPr>
          <p:cNvSpPr>
            <a:spLocks noGrp="1"/>
          </p:cNvSpPr>
          <p:nvPr/>
        </p:nvSpPr>
        <p:spPr>
          <a:xfrm>
            <a:off x="285750" y="1781175"/>
            <a:ext cx="1952625" cy="285750"/>
          </a:xfrm>
          <a:prstGeom prst="rect">
            <a:avLst/>
          </a:prstGeom>
          <a:noFill/>
          <a:ln w="0">
            <a:noFill/>
          </a:ln>
        </p:spPr>
        <p:txBody>
          <a:bodyPr wrap="square" lIns="0" tIns="0" rIns="0" bIns="0" anchor="t">
            <a:noAutofit/>
          </a:bodyPr>
          <a:lstStyle/>
          <a:p>
            <a:pPr algn="l">
              <a:lnSpc>
                <a:spcPct val="110000"/>
              </a:lnSpc>
              <a:buNone/>
              <a:defRPr sz="1050" b="1">
                <a:solidFill>
                  <a:srgbClr val="006ABA"/>
                </a:solidFill>
                <a:latin typeface="Arial"/>
                <a:ea typeface="Arial"/>
                <a:cs typeface="Arial"/>
              </a:defRPr>
            </a:pPr>
            <a:r>
              <a:rPr sz="1050" b="1">
                <a:solidFill>
                  <a:srgbClr val="006ABA"/>
                </a:solidFill>
                <a:latin typeface="Arial"/>
                <a:ea typeface="Arial"/>
                <a:cs typeface="Arial"/>
              </a:rPr>
              <a:t>O / Ω / Θ</a:t>
            </a:r>
          </a:p>
        </p:txBody>
      </p:sp>
      <p:sp>
        <p:nvSpPr>
          <p:cNvPr id="19" name="text">
            <a:extLst>
              <a:ext uri="{FF2B5EF4-FFF2-40B4-BE49-F238E27FC236}">
                <a16:creationId xmlns:a16="http://schemas.microsoft.com/office/drawing/2014/main" id="{C5C6A3C5-325C-42D5-9A58-BCB227EC3A2D}"/>
              </a:ext>
            </a:extLst>
          </p:cNvPr>
          <p:cNvSpPr>
            <a:spLocks noGrp="1"/>
          </p:cNvSpPr>
          <p:nvPr/>
        </p:nvSpPr>
        <p:spPr>
          <a:xfrm>
            <a:off x="2409825" y="1781175"/>
            <a:ext cx="3067050" cy="304800"/>
          </a:xfrm>
          <a:prstGeom prst="rect">
            <a:avLst/>
          </a:prstGeom>
          <a:noFill/>
          <a:ln w="0">
            <a:noFill/>
          </a:ln>
        </p:spPr>
        <p:txBody>
          <a:bodyPr wrap="square" lIns="0" tIns="0" rIns="0" bIns="0" anchor="t">
            <a:noAutofit/>
          </a:bodyPr>
          <a:lstStyle/>
          <a:p>
            <a:pPr algn="l">
              <a:lnSpc>
                <a:spcPct val="110000"/>
              </a:lnSpc>
              <a:buNone/>
              <a:defRPr sz="1050" b="0">
                <a:solidFill>
                  <a:srgbClr val="202020"/>
                </a:solidFill>
                <a:latin typeface="Arial"/>
                <a:ea typeface="Arial"/>
                <a:cs typeface="Arial"/>
              </a:defRPr>
            </a:pPr>
            <a:r>
              <a:rPr sz="1050" b="0">
                <a:solidFill>
                  <a:srgbClr val="202020"/>
                </a:solidFill>
                <a:latin typeface="Arial"/>
                <a:ea typeface="Arial"/>
                <a:cs typeface="Arial"/>
              </a:rPr>
              <a:t>Upper / lower / tight growth bounds</a:t>
            </a:r>
          </a:p>
        </p:txBody>
      </p:sp>
      <p:sp>
        <p:nvSpPr>
          <p:cNvPr id="20" name="text">
            <a:extLst>
              <a:ext uri="{FF2B5EF4-FFF2-40B4-BE49-F238E27FC236}">
                <a16:creationId xmlns:a16="http://schemas.microsoft.com/office/drawing/2014/main" id="{E6435D06-BBAE-4B46-93F6-D94CB2398DCA}"/>
              </a:ext>
            </a:extLst>
          </p:cNvPr>
          <p:cNvSpPr>
            <a:spLocks noGrp="1"/>
          </p:cNvSpPr>
          <p:nvPr/>
        </p:nvSpPr>
        <p:spPr>
          <a:xfrm>
            <a:off x="228600" y="2867025"/>
            <a:ext cx="5334000" cy="95250"/>
          </a:xfrm>
          <a:prstGeom prst="rect">
            <a:avLst/>
          </a:prstGeom>
          <a:noFill/>
          <a:ln w="0">
            <a:noFill/>
          </a:ln>
        </p:spPr>
        <p:txBody>
          <a:bodyPr wrap="square" lIns="0" tIns="0" rIns="0" bIns="0" anchor="t">
            <a:noAutofit/>
          </a:bodyPr>
          <a:lstStyle/>
          <a:p>
            <a:pPr algn="l">
              <a:lnSpc>
                <a:spcPct val="110000"/>
              </a:lnSpc>
              <a:buNone/>
              <a:defRPr sz="510" b="0">
                <a:solidFill>
                  <a:srgbClr val="66717C"/>
                </a:solidFill>
                <a:latin typeface="Arial"/>
                <a:ea typeface="Arial"/>
                <a:cs typeface="Arial"/>
              </a:defRPr>
            </a:pPr>
            <a:r>
              <a:rPr sz="510" b="0">
                <a:solidFill>
                  <a:srgbClr val="66717C"/>
                </a:solidFill>
                <a:latin typeface="Arial"/>
                <a:ea typeface="Arial"/>
                <a:cs typeface="Arial"/>
              </a:rPr>
              <a:t>[P]  [M]  [T]</a:t>
            </a:r>
          </a:p>
        </p:txBody>
      </p:sp>
    </p:spTree>
    <p:extLst>
      <p:ext uri="{BB962C8B-B14F-4D97-AF65-F5344CB8AC3E}">
        <p14:creationId xmlns:p14="http://schemas.microsoft.com/office/powerpoint/2010/main" val="36456721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19C03931-4A28-44C2-9238-650F85D8C2AD}"/>
              </a:ext>
            </a:extLst>
          </p:cNvPr>
          <p:cNvSpPr>
            <a:spLocks noGrp="1"/>
          </p:cNvSpPr>
          <p:nvPr>
            <p:ph type="title"/>
          </p:nvPr>
        </p:nvSpPr>
        <p:spPr>
          <a:xfrm>
            <a:off x="171450" y="95250"/>
            <a:ext cx="5429250" cy="304800"/>
          </a:xfrm>
          <a:prstGeom prst="rect">
            <a:avLst/>
          </a:prstGeom>
        </p:spPr>
        <p:txBody>
          <a:bodyPr vert="horz" wrap="square" lIns="0" tIns="0" rIns="0" bIns="0">
            <a:noAutofit/>
          </a:bodyPr>
          <a:lstStyle/>
          <a:p>
            <a:pPr marL="12700" algn="l">
              <a:lnSpc>
                <a:spcPct val="110000"/>
              </a:lnSpc>
              <a:spcBef>
                <a:spcPts val="135"/>
              </a:spcBef>
              <a:buNone/>
              <a:defRPr sz="1400">
                <a:solidFill>
                  <a:srgbClr val="006ABA"/>
                </a:solidFill>
                <a:latin typeface="Arial"/>
                <a:ea typeface="Arial"/>
                <a:cs typeface="Arial"/>
              </a:defRPr>
            </a:pPr>
            <a:r>
              <a:rPr sz="1400" b="0" spc="-10">
                <a:solidFill>
                  <a:srgbClr val="006ABA"/>
                </a:solidFill>
                <a:latin typeface="Arial"/>
                <a:ea typeface="Arial"/>
                <a:cs typeface="Arial"/>
              </a:rPr>
              <a:t>Space complexity</a:t>
            </a:r>
            <a:endParaRPr sz="1400" b="0" spc="-10">
              <a:latin typeface="Arial"/>
              <a:ea typeface="Arial"/>
              <a:cs typeface="Arial"/>
            </a:endParaRPr>
          </a:p>
        </p:txBody>
      </p:sp>
      <p:pic>
        <p:nvPicPr>
          <p:cNvPr id="24" name="object 4"/>
          <p:cNvPicPr>
            <a:picLocks noChangeAspect="1"/>
          </p:cNvPicPr>
          <p:nvPr/>
        </p:nvPicPr>
        <p:blipFill>
          <a:blip r:embed="rId3"/>
          <a:stretch>
            <a:fillRect/>
          </a:stretch>
        </p:blipFill>
        <p:spPr>
          <a:xfrm>
            <a:off x="152565" y="2988507"/>
            <a:ext cx="900668" cy="161917"/>
          </a:xfrm>
          <a:prstGeom prst="rect">
            <a:avLst/>
          </a:prstGeom>
        </p:spPr>
      </p:pic>
      <p:pic>
        <p:nvPicPr>
          <p:cNvPr id="25" name="object 5"/>
          <p:cNvPicPr>
            <a:picLocks noChangeAspect="1"/>
          </p:cNvPicPr>
          <p:nvPr/>
        </p:nvPicPr>
        <p:blipFill>
          <a:blip r:embed="rId4"/>
          <a:stretch>
            <a:fillRect/>
          </a:stretch>
        </p:blipFill>
        <p:spPr>
          <a:xfrm>
            <a:off x="1286560" y="2988417"/>
            <a:ext cx="610912" cy="162008"/>
          </a:xfrm>
          <a:prstGeom prst="rect">
            <a:avLst/>
          </a:prstGeom>
        </p:spPr>
      </p:pic>
      <p:sp>
        <p:nvSpPr>
          <p:cNvPr id="10" name="Footer Placeholder 7">
            <a:extLst>
              <a:ext uri="{FF2B5EF4-FFF2-40B4-BE49-F238E27FC236}">
                <a16:creationId xmlns:a16="http://schemas.microsoft.com/office/drawing/2014/main" id="{197FE2C8-8EE2-4937-3F30-294DB47641D6}"/>
              </a:ext>
            </a:extLst>
          </p:cNvPr>
          <p:cNvSpPr>
            <a:spLocks noGrp="1"/>
          </p:cNvSpPr>
          <p:nvPr>
            <p:ph type="ftr" idx="5"/>
          </p:nvPr>
        </p:nvSpPr>
        <p:spPr>
          <a:xfrm>
            <a:off x="2590800" y="3105150"/>
            <a:ext cx="2743200" cy="95250"/>
          </a:xfrm>
        </p:spPr>
        <p:txBody>
          <a:bodyPr wrap="square" lIns="0" tIns="0" rIns="0" bIns="0">
            <a:noAutofit/>
          </a:bodyPr>
          <a:lstStyle/>
          <a:p>
            <a:pPr algn="r">
              <a:lnSpc>
                <a:spcPct val="110000"/>
              </a:lnSpc>
              <a:buNone/>
              <a:defRPr sz="500">
                <a:solidFill>
                  <a:srgbClr val="888888"/>
                </a:solidFill>
                <a:latin typeface="Arial"/>
                <a:ea typeface="Arial"/>
                <a:cs typeface="Arial"/>
              </a:defRPr>
            </a:pPr>
            <a:r>
              <a:rPr sz="500">
                <a:solidFill>
                  <a:srgbClr val="888888"/>
                </a:solidFill>
                <a:latin typeface="Arial"/>
                <a:ea typeface="Arial"/>
                <a:cs typeface="Arial"/>
              </a:rPr>
              <a:t>MAS Foundations - Kamendu Panchal</a:t>
            </a:r>
            <a:endParaRPr sz="500" b="1">
              <a:solidFill>
                <a:schemeClr val="tx1"/>
              </a:solidFill>
              <a:latin typeface="Arial"/>
              <a:ea typeface="Arial"/>
              <a:cs typeface="Arial"/>
            </a:endParaRPr>
          </a:p>
        </p:txBody>
      </p:sp>
      <p:sp>
        <p:nvSpPr>
          <p:cNvPr id="3" name="TextBox 2">
            <a:extLst>
              <a:ext uri="{FF2B5EF4-FFF2-40B4-BE49-F238E27FC236}">
                <a16:creationId xmlns:a16="http://schemas.microsoft.com/office/drawing/2014/main" id="{DCE8FEB4-DA15-74FB-D091-FA2B80C9B501}"/>
              </a:ext>
            </a:extLst>
          </p:cNvPr>
          <p:cNvSpPr>
            <a:spLocks noGrp="1"/>
          </p:cNvSpPr>
          <p:nvPr/>
        </p:nvSpPr>
        <p:spPr>
          <a:xfrm>
            <a:off x="5438775" y="3086100"/>
            <a:ext cx="209550" cy="175260"/>
          </a:xfrm>
          <a:prstGeom prst="rect">
            <a:avLst/>
          </a:prstGeom>
          <a:noFill/>
        </p:spPr>
        <p:txBody>
          <a:bodyPr wrap="square" lIns="0" tIns="0" rIns="0" bIns="0">
            <a:noAutofit/>
          </a:bodyPr>
          <a:lstStyle/>
          <a:p>
            <a:pPr algn="r">
              <a:lnSpc>
                <a:spcPct val="110000"/>
              </a:lnSpc>
              <a:buNone/>
              <a:defRPr sz="500">
                <a:solidFill>
                  <a:srgbClr val="202020"/>
                </a:solidFill>
                <a:latin typeface="Arial"/>
                <a:ea typeface="Arial"/>
                <a:cs typeface="Arial"/>
              </a:defRPr>
            </a:pPr>
            <a:r>
              <a:rPr sz="500">
                <a:solidFill>
                  <a:srgbClr val="202020"/>
                </a:solidFill>
                <a:latin typeface="Arial"/>
                <a:ea typeface="Arial"/>
                <a:cs typeface="Arial"/>
              </a:rPr>
              <a:t>12</a:t>
            </a:r>
          </a:p>
        </p:txBody>
      </p:sp>
      <p:sp>
        <p:nvSpPr>
          <p:cNvPr id="13" name="text">
            <a:extLst>
              <a:ext uri="{FF2B5EF4-FFF2-40B4-BE49-F238E27FC236}">
                <a16:creationId xmlns:a16="http://schemas.microsoft.com/office/drawing/2014/main" id="{5AB4CE8F-87B3-42A5-963B-D2832756754A}"/>
              </a:ext>
            </a:extLst>
          </p:cNvPr>
          <p:cNvSpPr>
            <a:spLocks noGrp="1"/>
          </p:cNvSpPr>
          <p:nvPr/>
        </p:nvSpPr>
        <p:spPr>
          <a:xfrm>
            <a:off x="228600" y="504825"/>
            <a:ext cx="5314950" cy="381000"/>
          </a:xfrm>
          <a:prstGeom prst="rect">
            <a:avLst/>
          </a:prstGeom>
          <a:noFill/>
          <a:ln w="0">
            <a:noFill/>
          </a:ln>
        </p:spPr>
        <p:txBody>
          <a:bodyPr wrap="square" lIns="0" tIns="0" rIns="0" bIns="0" anchor="t">
            <a:noAutofit/>
          </a:bodyPr>
          <a:lstStyle/>
          <a:p>
            <a:pPr algn="l">
              <a:lnSpc>
                <a:spcPct val="110000"/>
              </a:lnSpc>
              <a:buNone/>
              <a:defRPr sz="998" b="0">
                <a:solidFill>
                  <a:srgbClr val="202020"/>
                </a:solidFill>
                <a:latin typeface="Arial"/>
                <a:ea typeface="Arial"/>
                <a:cs typeface="Arial"/>
              </a:defRPr>
            </a:pPr>
            <a:r>
              <a:rPr sz="998" b="0">
                <a:solidFill>
                  <a:srgbClr val="202020"/>
                </a:solidFill>
                <a:latin typeface="Arial"/>
                <a:ea typeface="Arial"/>
                <a:cs typeface="Arial"/>
              </a:rPr>
              <a:t>Space complexity describes how memory needs grow with input size.</a:t>
            </a:r>
          </a:p>
        </p:txBody>
      </p:sp>
      <p:sp>
        <p:nvSpPr>
          <p:cNvPr id="14" name="text">
            <a:extLst>
              <a:ext uri="{FF2B5EF4-FFF2-40B4-BE49-F238E27FC236}">
                <a16:creationId xmlns:a16="http://schemas.microsoft.com/office/drawing/2014/main" id="{FDD04B0E-7297-4774-A56A-63B36AAAAEE9}"/>
              </a:ext>
            </a:extLst>
          </p:cNvPr>
          <p:cNvSpPr>
            <a:spLocks noGrp="1"/>
          </p:cNvSpPr>
          <p:nvPr/>
        </p:nvSpPr>
        <p:spPr>
          <a:xfrm>
            <a:off x="285750" y="1000125"/>
            <a:ext cx="1952625" cy="285750"/>
          </a:xfrm>
          <a:prstGeom prst="rect">
            <a:avLst/>
          </a:prstGeom>
          <a:noFill/>
          <a:ln w="0">
            <a:noFill/>
          </a:ln>
        </p:spPr>
        <p:txBody>
          <a:bodyPr wrap="square" lIns="0" tIns="0" rIns="0" bIns="0" anchor="t">
            <a:noAutofit/>
          </a:bodyPr>
          <a:lstStyle/>
          <a:p>
            <a:pPr algn="l">
              <a:lnSpc>
                <a:spcPct val="110000"/>
              </a:lnSpc>
              <a:buNone/>
              <a:defRPr sz="1050" b="1">
                <a:solidFill>
                  <a:srgbClr val="006ABA"/>
                </a:solidFill>
                <a:latin typeface="Arial"/>
                <a:ea typeface="Arial"/>
                <a:cs typeface="Arial"/>
              </a:defRPr>
            </a:pPr>
            <a:r>
              <a:rPr sz="1050" b="1">
                <a:solidFill>
                  <a:srgbClr val="006ABA"/>
                </a:solidFill>
                <a:latin typeface="Arial"/>
                <a:ea typeface="Arial"/>
                <a:cs typeface="Arial"/>
              </a:rPr>
              <a:t>Input space</a:t>
            </a:r>
          </a:p>
        </p:txBody>
      </p:sp>
      <p:sp>
        <p:nvSpPr>
          <p:cNvPr id="15" name="text">
            <a:extLst>
              <a:ext uri="{FF2B5EF4-FFF2-40B4-BE49-F238E27FC236}">
                <a16:creationId xmlns:a16="http://schemas.microsoft.com/office/drawing/2014/main" id="{F62EC31D-7C97-4A10-A8EF-BC95DF1A2E22}"/>
              </a:ext>
            </a:extLst>
          </p:cNvPr>
          <p:cNvSpPr>
            <a:spLocks noGrp="1"/>
          </p:cNvSpPr>
          <p:nvPr/>
        </p:nvSpPr>
        <p:spPr>
          <a:xfrm>
            <a:off x="2409825" y="1000125"/>
            <a:ext cx="3067050" cy="304800"/>
          </a:xfrm>
          <a:prstGeom prst="rect">
            <a:avLst/>
          </a:prstGeom>
          <a:noFill/>
          <a:ln w="0">
            <a:noFill/>
          </a:ln>
        </p:spPr>
        <p:txBody>
          <a:bodyPr wrap="square" lIns="0" tIns="0" rIns="0" bIns="0" anchor="t">
            <a:noAutofit/>
          </a:bodyPr>
          <a:lstStyle/>
          <a:p>
            <a:pPr algn="l">
              <a:lnSpc>
                <a:spcPct val="110000"/>
              </a:lnSpc>
              <a:buNone/>
              <a:defRPr sz="1050" b="0">
                <a:solidFill>
                  <a:srgbClr val="202020"/>
                </a:solidFill>
                <a:latin typeface="Arial"/>
                <a:ea typeface="Arial"/>
                <a:cs typeface="Arial"/>
              </a:defRPr>
            </a:pPr>
            <a:r>
              <a:rPr sz="1050" b="0">
                <a:solidFill>
                  <a:srgbClr val="202020"/>
                </a:solidFill>
                <a:latin typeface="Arial"/>
                <a:ea typeface="Arial"/>
                <a:cs typeface="Arial"/>
              </a:rPr>
              <a:t>Memory holding the supplied data</a:t>
            </a:r>
          </a:p>
        </p:txBody>
      </p:sp>
      <p:sp>
        <p:nvSpPr>
          <p:cNvPr id="16" name="text">
            <a:extLst>
              <a:ext uri="{FF2B5EF4-FFF2-40B4-BE49-F238E27FC236}">
                <a16:creationId xmlns:a16="http://schemas.microsoft.com/office/drawing/2014/main" id="{704B57CC-32B3-443D-8692-5FD978FC4711}"/>
              </a:ext>
            </a:extLst>
          </p:cNvPr>
          <p:cNvSpPr>
            <a:spLocks noGrp="1"/>
          </p:cNvSpPr>
          <p:nvPr/>
        </p:nvSpPr>
        <p:spPr>
          <a:xfrm>
            <a:off x="285750" y="1390650"/>
            <a:ext cx="1952625" cy="285750"/>
          </a:xfrm>
          <a:prstGeom prst="rect">
            <a:avLst/>
          </a:prstGeom>
          <a:noFill/>
          <a:ln w="0">
            <a:noFill/>
          </a:ln>
        </p:spPr>
        <p:txBody>
          <a:bodyPr wrap="square" lIns="0" tIns="0" rIns="0" bIns="0" anchor="t">
            <a:noAutofit/>
          </a:bodyPr>
          <a:lstStyle/>
          <a:p>
            <a:pPr algn="l">
              <a:lnSpc>
                <a:spcPct val="110000"/>
              </a:lnSpc>
              <a:buNone/>
              <a:defRPr sz="1050" b="1">
                <a:solidFill>
                  <a:srgbClr val="006ABA"/>
                </a:solidFill>
                <a:latin typeface="Arial"/>
                <a:ea typeface="Arial"/>
                <a:cs typeface="Arial"/>
              </a:defRPr>
            </a:pPr>
            <a:r>
              <a:rPr sz="1050" b="1">
                <a:solidFill>
                  <a:srgbClr val="006ABA"/>
                </a:solidFill>
                <a:latin typeface="Arial"/>
                <a:ea typeface="Arial"/>
                <a:cs typeface="Arial"/>
              </a:rPr>
              <a:t>Auxiliary space</a:t>
            </a:r>
          </a:p>
        </p:txBody>
      </p:sp>
      <p:sp>
        <p:nvSpPr>
          <p:cNvPr id="17" name="text">
            <a:extLst>
              <a:ext uri="{FF2B5EF4-FFF2-40B4-BE49-F238E27FC236}">
                <a16:creationId xmlns:a16="http://schemas.microsoft.com/office/drawing/2014/main" id="{5CF2CAD8-FEED-4820-B289-7B2741EE6939}"/>
              </a:ext>
            </a:extLst>
          </p:cNvPr>
          <p:cNvSpPr>
            <a:spLocks noGrp="1"/>
          </p:cNvSpPr>
          <p:nvPr/>
        </p:nvSpPr>
        <p:spPr>
          <a:xfrm>
            <a:off x="2409825" y="1390650"/>
            <a:ext cx="3067050" cy="304800"/>
          </a:xfrm>
          <a:prstGeom prst="rect">
            <a:avLst/>
          </a:prstGeom>
          <a:noFill/>
          <a:ln w="0">
            <a:noFill/>
          </a:ln>
        </p:spPr>
        <p:txBody>
          <a:bodyPr wrap="square" lIns="0" tIns="0" rIns="0" bIns="0" anchor="t">
            <a:noAutofit/>
          </a:bodyPr>
          <a:lstStyle/>
          <a:p>
            <a:pPr algn="l">
              <a:lnSpc>
                <a:spcPct val="110000"/>
              </a:lnSpc>
              <a:buNone/>
              <a:defRPr sz="1050" b="0">
                <a:solidFill>
                  <a:srgbClr val="202020"/>
                </a:solidFill>
                <a:latin typeface="Arial"/>
                <a:ea typeface="Arial"/>
                <a:cs typeface="Arial"/>
              </a:defRPr>
            </a:pPr>
            <a:r>
              <a:rPr sz="1050" b="0">
                <a:solidFill>
                  <a:srgbClr val="202020"/>
                </a:solidFill>
                <a:latin typeface="Arial"/>
                <a:ea typeface="Arial"/>
                <a:cs typeface="Arial"/>
              </a:rPr>
              <a:t>Extra working memory</a:t>
            </a:r>
          </a:p>
        </p:txBody>
      </p:sp>
      <p:sp>
        <p:nvSpPr>
          <p:cNvPr id="18" name="text">
            <a:extLst>
              <a:ext uri="{FF2B5EF4-FFF2-40B4-BE49-F238E27FC236}">
                <a16:creationId xmlns:a16="http://schemas.microsoft.com/office/drawing/2014/main" id="{475A09D1-8944-4C53-8A14-741BE019DFE4}"/>
              </a:ext>
            </a:extLst>
          </p:cNvPr>
          <p:cNvSpPr>
            <a:spLocks noGrp="1"/>
          </p:cNvSpPr>
          <p:nvPr/>
        </p:nvSpPr>
        <p:spPr>
          <a:xfrm>
            <a:off x="285750" y="1781175"/>
            <a:ext cx="1952625" cy="285750"/>
          </a:xfrm>
          <a:prstGeom prst="rect">
            <a:avLst/>
          </a:prstGeom>
          <a:noFill/>
          <a:ln w="0">
            <a:noFill/>
          </a:ln>
        </p:spPr>
        <p:txBody>
          <a:bodyPr wrap="square" lIns="0" tIns="0" rIns="0" bIns="0" anchor="t">
            <a:noAutofit/>
          </a:bodyPr>
          <a:lstStyle/>
          <a:p>
            <a:pPr algn="l">
              <a:lnSpc>
                <a:spcPct val="110000"/>
              </a:lnSpc>
              <a:buNone/>
              <a:defRPr sz="1050" b="1">
                <a:solidFill>
                  <a:srgbClr val="006ABA"/>
                </a:solidFill>
                <a:latin typeface="Arial"/>
                <a:ea typeface="Arial"/>
                <a:cs typeface="Arial"/>
              </a:defRPr>
            </a:pPr>
            <a:r>
              <a:rPr sz="1050" b="1">
                <a:solidFill>
                  <a:srgbClr val="006ABA"/>
                </a:solidFill>
                <a:latin typeface="Arial"/>
                <a:ea typeface="Arial"/>
                <a:cs typeface="Arial"/>
              </a:rPr>
              <a:t>One running total</a:t>
            </a:r>
          </a:p>
        </p:txBody>
      </p:sp>
      <p:sp>
        <p:nvSpPr>
          <p:cNvPr id="19" name="text">
            <a:extLst>
              <a:ext uri="{FF2B5EF4-FFF2-40B4-BE49-F238E27FC236}">
                <a16:creationId xmlns:a16="http://schemas.microsoft.com/office/drawing/2014/main" id="{44180394-108C-4FF2-823C-46A2A0C5711F}"/>
              </a:ext>
            </a:extLst>
          </p:cNvPr>
          <p:cNvSpPr>
            <a:spLocks noGrp="1"/>
          </p:cNvSpPr>
          <p:nvPr/>
        </p:nvSpPr>
        <p:spPr>
          <a:xfrm>
            <a:off x="2409825" y="1781175"/>
            <a:ext cx="3067050" cy="304800"/>
          </a:xfrm>
          <a:prstGeom prst="rect">
            <a:avLst/>
          </a:prstGeom>
          <a:noFill/>
          <a:ln w="0">
            <a:noFill/>
          </a:ln>
        </p:spPr>
        <p:txBody>
          <a:bodyPr wrap="square" lIns="0" tIns="0" rIns="0" bIns="0" anchor="t">
            <a:noAutofit/>
          </a:bodyPr>
          <a:lstStyle/>
          <a:p>
            <a:pPr algn="l">
              <a:lnSpc>
                <a:spcPct val="110000"/>
              </a:lnSpc>
              <a:buNone/>
              <a:defRPr sz="1050" b="0">
                <a:solidFill>
                  <a:srgbClr val="202020"/>
                </a:solidFill>
                <a:latin typeface="Arial"/>
                <a:ea typeface="Arial"/>
                <a:cs typeface="Arial"/>
              </a:defRPr>
            </a:pPr>
            <a:r>
              <a:rPr sz="1050" b="0">
                <a:solidFill>
                  <a:srgbClr val="202020"/>
                </a:solidFill>
                <a:latin typeface="Arial"/>
                <a:ea typeface="Arial"/>
                <a:cs typeface="Arial"/>
              </a:rPr>
              <a:t>O(1) auxiliary space</a:t>
            </a:r>
          </a:p>
        </p:txBody>
      </p:sp>
      <p:sp>
        <p:nvSpPr>
          <p:cNvPr id="20" name="text">
            <a:extLst>
              <a:ext uri="{FF2B5EF4-FFF2-40B4-BE49-F238E27FC236}">
                <a16:creationId xmlns:a16="http://schemas.microsoft.com/office/drawing/2014/main" id="{8C80605A-1FC9-46DB-9ADE-8CFB7AC5CDD9}"/>
              </a:ext>
            </a:extLst>
          </p:cNvPr>
          <p:cNvSpPr>
            <a:spLocks noGrp="1"/>
          </p:cNvSpPr>
          <p:nvPr/>
        </p:nvSpPr>
        <p:spPr>
          <a:xfrm>
            <a:off x="285750" y="2171700"/>
            <a:ext cx="1952625" cy="285750"/>
          </a:xfrm>
          <a:prstGeom prst="rect">
            <a:avLst/>
          </a:prstGeom>
          <a:noFill/>
          <a:ln w="0">
            <a:noFill/>
          </a:ln>
        </p:spPr>
        <p:txBody>
          <a:bodyPr wrap="square" lIns="0" tIns="0" rIns="0" bIns="0" anchor="t">
            <a:noAutofit/>
          </a:bodyPr>
          <a:lstStyle/>
          <a:p>
            <a:pPr algn="l">
              <a:lnSpc>
                <a:spcPct val="110000"/>
              </a:lnSpc>
              <a:buNone/>
              <a:defRPr sz="1050" b="1">
                <a:solidFill>
                  <a:srgbClr val="006ABA"/>
                </a:solidFill>
                <a:latin typeface="Arial"/>
                <a:ea typeface="Arial"/>
                <a:cs typeface="Arial"/>
              </a:defRPr>
            </a:pPr>
            <a:r>
              <a:rPr sz="1050" b="1">
                <a:solidFill>
                  <a:srgbClr val="006ABA"/>
                </a:solidFill>
                <a:latin typeface="Arial"/>
                <a:ea typeface="Arial"/>
                <a:cs typeface="Arial"/>
              </a:rPr>
              <a:t>A new list of n results</a:t>
            </a:r>
          </a:p>
        </p:txBody>
      </p:sp>
      <p:sp>
        <p:nvSpPr>
          <p:cNvPr id="21" name="text">
            <a:extLst>
              <a:ext uri="{FF2B5EF4-FFF2-40B4-BE49-F238E27FC236}">
                <a16:creationId xmlns:a16="http://schemas.microsoft.com/office/drawing/2014/main" id="{A53789E7-6AF5-4FDA-8614-70970F984F11}"/>
              </a:ext>
            </a:extLst>
          </p:cNvPr>
          <p:cNvSpPr>
            <a:spLocks noGrp="1"/>
          </p:cNvSpPr>
          <p:nvPr/>
        </p:nvSpPr>
        <p:spPr>
          <a:xfrm>
            <a:off x="2409825" y="2171700"/>
            <a:ext cx="3067050" cy="304800"/>
          </a:xfrm>
          <a:prstGeom prst="rect">
            <a:avLst/>
          </a:prstGeom>
          <a:noFill/>
          <a:ln w="0">
            <a:noFill/>
          </a:ln>
        </p:spPr>
        <p:txBody>
          <a:bodyPr wrap="square" lIns="0" tIns="0" rIns="0" bIns="0" anchor="t">
            <a:noAutofit/>
          </a:bodyPr>
          <a:lstStyle/>
          <a:p>
            <a:pPr algn="l">
              <a:lnSpc>
                <a:spcPct val="110000"/>
              </a:lnSpc>
              <a:buNone/>
              <a:defRPr sz="1050" b="0">
                <a:solidFill>
                  <a:srgbClr val="202020"/>
                </a:solidFill>
                <a:latin typeface="Arial"/>
                <a:ea typeface="Arial"/>
                <a:cs typeface="Arial"/>
              </a:defRPr>
            </a:pPr>
            <a:r>
              <a:rPr sz="1050" b="0">
                <a:solidFill>
                  <a:srgbClr val="202020"/>
                </a:solidFill>
                <a:latin typeface="Arial"/>
                <a:ea typeface="Arial"/>
                <a:cs typeface="Arial"/>
              </a:rPr>
              <a:t>O(n) stored results</a:t>
            </a:r>
          </a:p>
        </p:txBody>
      </p:sp>
      <p:sp>
        <p:nvSpPr>
          <p:cNvPr id="22" name="text">
            <a:extLst>
              <a:ext uri="{FF2B5EF4-FFF2-40B4-BE49-F238E27FC236}">
                <a16:creationId xmlns:a16="http://schemas.microsoft.com/office/drawing/2014/main" id="{52A35B96-AA39-44A1-8A54-C2FB90477F92}"/>
              </a:ext>
            </a:extLst>
          </p:cNvPr>
          <p:cNvSpPr>
            <a:spLocks noGrp="1"/>
          </p:cNvSpPr>
          <p:nvPr/>
        </p:nvSpPr>
        <p:spPr>
          <a:xfrm>
            <a:off x="228600" y="2867025"/>
            <a:ext cx="5334000" cy="95250"/>
          </a:xfrm>
          <a:prstGeom prst="rect">
            <a:avLst/>
          </a:prstGeom>
          <a:noFill/>
          <a:ln w="0">
            <a:noFill/>
          </a:ln>
        </p:spPr>
        <p:txBody>
          <a:bodyPr wrap="square" lIns="0" tIns="0" rIns="0" bIns="0" anchor="t">
            <a:noAutofit/>
          </a:bodyPr>
          <a:lstStyle/>
          <a:p>
            <a:pPr algn="l">
              <a:lnSpc>
                <a:spcPct val="110000"/>
              </a:lnSpc>
              <a:buNone/>
              <a:defRPr sz="510" b="0">
                <a:solidFill>
                  <a:srgbClr val="66717C"/>
                </a:solidFill>
                <a:latin typeface="Arial"/>
                <a:ea typeface="Arial"/>
                <a:cs typeface="Arial"/>
              </a:defRPr>
            </a:pPr>
            <a:r>
              <a:rPr sz="510" b="0">
                <a:solidFill>
                  <a:srgbClr val="66717C"/>
                </a:solidFill>
                <a:latin typeface="Arial"/>
                <a:ea typeface="Arial"/>
                <a:cs typeface="Arial"/>
              </a:rPr>
              <a:t>[P]  [T]</a:t>
            </a:r>
          </a:p>
        </p:txBody>
      </p:sp>
    </p:spTree>
    <p:extLst>
      <p:ext uri="{BB962C8B-B14F-4D97-AF65-F5344CB8AC3E}">
        <p14:creationId xmlns:p14="http://schemas.microsoft.com/office/powerpoint/2010/main" val="36456721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19C03931-4A28-44C2-9238-650F85D8C2AD}"/>
              </a:ext>
            </a:extLst>
          </p:cNvPr>
          <p:cNvSpPr>
            <a:spLocks noGrp="1"/>
          </p:cNvSpPr>
          <p:nvPr>
            <p:ph type="title"/>
          </p:nvPr>
        </p:nvSpPr>
        <p:spPr>
          <a:xfrm>
            <a:off x="171450" y="95250"/>
            <a:ext cx="5429250" cy="304800"/>
          </a:xfrm>
          <a:prstGeom prst="rect">
            <a:avLst/>
          </a:prstGeom>
        </p:spPr>
        <p:txBody>
          <a:bodyPr vert="horz" wrap="square" lIns="0" tIns="0" rIns="0" bIns="0">
            <a:noAutofit/>
          </a:bodyPr>
          <a:lstStyle/>
          <a:p>
            <a:pPr marL="12700" algn="l">
              <a:lnSpc>
                <a:spcPct val="110000"/>
              </a:lnSpc>
              <a:spcBef>
                <a:spcPts val="135"/>
              </a:spcBef>
              <a:buNone/>
              <a:defRPr sz="1400">
                <a:solidFill>
                  <a:srgbClr val="006ABA"/>
                </a:solidFill>
                <a:latin typeface="Arial"/>
                <a:ea typeface="Arial"/>
                <a:cs typeface="Arial"/>
              </a:defRPr>
            </a:pPr>
            <a:r>
              <a:rPr sz="1400" b="0" spc="-10">
                <a:solidFill>
                  <a:srgbClr val="006ABA"/>
                </a:solidFill>
                <a:latin typeface="Arial"/>
                <a:ea typeface="Arial"/>
                <a:cs typeface="Arial"/>
              </a:rPr>
              <a:t>Space example: storing squares</a:t>
            </a:r>
            <a:endParaRPr sz="1400" b="0" spc="-10">
              <a:latin typeface="Arial"/>
              <a:ea typeface="Arial"/>
              <a:cs typeface="Arial"/>
            </a:endParaRPr>
          </a:p>
        </p:txBody>
      </p:sp>
      <p:pic>
        <p:nvPicPr>
          <p:cNvPr id="34" name="object 4"/>
          <p:cNvPicPr>
            <a:picLocks noChangeAspect="1"/>
          </p:cNvPicPr>
          <p:nvPr/>
        </p:nvPicPr>
        <p:blipFill>
          <a:blip r:embed="rId3"/>
          <a:stretch>
            <a:fillRect/>
          </a:stretch>
        </p:blipFill>
        <p:spPr>
          <a:xfrm>
            <a:off x="152565" y="2988507"/>
            <a:ext cx="900668" cy="161917"/>
          </a:xfrm>
          <a:prstGeom prst="rect">
            <a:avLst/>
          </a:prstGeom>
        </p:spPr>
      </p:pic>
      <p:pic>
        <p:nvPicPr>
          <p:cNvPr id="35" name="object 5"/>
          <p:cNvPicPr>
            <a:picLocks noChangeAspect="1"/>
          </p:cNvPicPr>
          <p:nvPr/>
        </p:nvPicPr>
        <p:blipFill>
          <a:blip r:embed="rId4"/>
          <a:stretch>
            <a:fillRect/>
          </a:stretch>
        </p:blipFill>
        <p:spPr>
          <a:xfrm>
            <a:off x="1286560" y="2988417"/>
            <a:ext cx="610912" cy="162008"/>
          </a:xfrm>
          <a:prstGeom prst="rect">
            <a:avLst/>
          </a:prstGeom>
        </p:spPr>
      </p:pic>
      <p:sp>
        <p:nvSpPr>
          <p:cNvPr id="10" name="Footer Placeholder 7">
            <a:extLst>
              <a:ext uri="{FF2B5EF4-FFF2-40B4-BE49-F238E27FC236}">
                <a16:creationId xmlns:a16="http://schemas.microsoft.com/office/drawing/2014/main" id="{197FE2C8-8EE2-4937-3F30-294DB47641D6}"/>
              </a:ext>
            </a:extLst>
          </p:cNvPr>
          <p:cNvSpPr>
            <a:spLocks noGrp="1"/>
          </p:cNvSpPr>
          <p:nvPr>
            <p:ph type="ftr" idx="5"/>
          </p:nvPr>
        </p:nvSpPr>
        <p:spPr>
          <a:xfrm>
            <a:off x="2590800" y="3105150"/>
            <a:ext cx="2743200" cy="95250"/>
          </a:xfrm>
        </p:spPr>
        <p:txBody>
          <a:bodyPr wrap="square" lIns="0" tIns="0" rIns="0" bIns="0">
            <a:noAutofit/>
          </a:bodyPr>
          <a:lstStyle/>
          <a:p>
            <a:pPr algn="r">
              <a:lnSpc>
                <a:spcPct val="110000"/>
              </a:lnSpc>
              <a:buNone/>
              <a:defRPr sz="500">
                <a:solidFill>
                  <a:srgbClr val="888888"/>
                </a:solidFill>
                <a:latin typeface="Arial"/>
                <a:ea typeface="Arial"/>
                <a:cs typeface="Arial"/>
              </a:defRPr>
            </a:pPr>
            <a:r>
              <a:rPr sz="500">
                <a:solidFill>
                  <a:srgbClr val="888888"/>
                </a:solidFill>
                <a:latin typeface="Arial"/>
                <a:ea typeface="Arial"/>
                <a:cs typeface="Arial"/>
              </a:rPr>
              <a:t>MAS Foundations - Kamendu Panchal</a:t>
            </a:r>
            <a:endParaRPr sz="500" b="1">
              <a:solidFill>
                <a:schemeClr val="tx1"/>
              </a:solidFill>
              <a:latin typeface="Arial"/>
              <a:ea typeface="Arial"/>
              <a:cs typeface="Arial"/>
            </a:endParaRPr>
          </a:p>
        </p:txBody>
      </p:sp>
      <p:sp>
        <p:nvSpPr>
          <p:cNvPr id="3" name="TextBox 2">
            <a:extLst>
              <a:ext uri="{FF2B5EF4-FFF2-40B4-BE49-F238E27FC236}">
                <a16:creationId xmlns:a16="http://schemas.microsoft.com/office/drawing/2014/main" id="{DCE8FEB4-DA15-74FB-D091-FA2B80C9B501}"/>
              </a:ext>
            </a:extLst>
          </p:cNvPr>
          <p:cNvSpPr>
            <a:spLocks noGrp="1"/>
          </p:cNvSpPr>
          <p:nvPr/>
        </p:nvSpPr>
        <p:spPr>
          <a:xfrm>
            <a:off x="5438775" y="3086100"/>
            <a:ext cx="209550" cy="175260"/>
          </a:xfrm>
          <a:prstGeom prst="rect">
            <a:avLst/>
          </a:prstGeom>
          <a:noFill/>
        </p:spPr>
        <p:txBody>
          <a:bodyPr wrap="square" lIns="0" tIns="0" rIns="0" bIns="0">
            <a:noAutofit/>
          </a:bodyPr>
          <a:lstStyle/>
          <a:p>
            <a:pPr algn="r">
              <a:lnSpc>
                <a:spcPct val="110000"/>
              </a:lnSpc>
              <a:buNone/>
              <a:defRPr sz="500">
                <a:solidFill>
                  <a:srgbClr val="202020"/>
                </a:solidFill>
                <a:latin typeface="Arial"/>
                <a:ea typeface="Arial"/>
                <a:cs typeface="Arial"/>
              </a:defRPr>
            </a:pPr>
            <a:r>
              <a:rPr sz="500">
                <a:solidFill>
                  <a:srgbClr val="202020"/>
                </a:solidFill>
                <a:latin typeface="Arial"/>
                <a:ea typeface="Arial"/>
                <a:cs typeface="Arial"/>
              </a:rPr>
              <a:t>13</a:t>
            </a:r>
          </a:p>
        </p:txBody>
      </p:sp>
      <p:sp>
        <p:nvSpPr>
          <p:cNvPr id="13" name="text">
            <a:extLst>
              <a:ext uri="{FF2B5EF4-FFF2-40B4-BE49-F238E27FC236}">
                <a16:creationId xmlns:a16="http://schemas.microsoft.com/office/drawing/2014/main" id="{3E18BD27-12B7-4CD1-8814-E73ED87507DC}"/>
              </a:ext>
            </a:extLst>
          </p:cNvPr>
          <p:cNvSpPr>
            <a:spLocks noGrp="1"/>
          </p:cNvSpPr>
          <p:nvPr/>
        </p:nvSpPr>
        <p:spPr>
          <a:xfrm>
            <a:off x="228600" y="504825"/>
            <a:ext cx="5314950" cy="381000"/>
          </a:xfrm>
          <a:prstGeom prst="rect">
            <a:avLst/>
          </a:prstGeom>
          <a:noFill/>
          <a:ln w="0">
            <a:noFill/>
          </a:ln>
        </p:spPr>
        <p:txBody>
          <a:bodyPr wrap="square" lIns="0" tIns="0" rIns="0" bIns="0" anchor="t">
            <a:noAutofit/>
          </a:bodyPr>
          <a:lstStyle/>
          <a:p>
            <a:pPr algn="l">
              <a:lnSpc>
                <a:spcPct val="110000"/>
              </a:lnSpc>
              <a:buNone/>
              <a:defRPr sz="998" b="0">
                <a:solidFill>
                  <a:srgbClr val="202020"/>
                </a:solidFill>
                <a:latin typeface="Arial"/>
                <a:ea typeface="Arial"/>
                <a:cs typeface="Arial"/>
              </a:defRPr>
            </a:pPr>
            <a:r>
              <a:rPr sz="998" b="0">
                <a:solidFill>
                  <a:srgbClr val="202020"/>
                </a:solidFill>
                <a:latin typeface="Arial"/>
                <a:ea typeface="Arial"/>
                <a:cs typeface="Arial"/>
              </a:rPr>
              <a:t>A new sequence stores one square for each input value.</a:t>
            </a:r>
          </a:p>
        </p:txBody>
      </p:sp>
      <p:sp>
        <p:nvSpPr>
          <p:cNvPr id="14" name="Rectangle 13">
            <a:extLst>
              <a:ext uri="{FF2B5EF4-FFF2-40B4-BE49-F238E27FC236}">
                <a16:creationId xmlns:a16="http://schemas.microsoft.com/office/drawing/2014/main" id="{E28B4490-0D2E-4617-AB9C-6CBA4A64C693}"/>
              </a:ext>
            </a:extLst>
          </p:cNvPr>
          <p:cNvSpPr>
            <a:spLocks noGrp="1"/>
          </p:cNvSpPr>
          <p:nvPr/>
        </p:nvSpPr>
        <p:spPr>
          <a:xfrm>
            <a:off x="228600" y="981075"/>
            <a:ext cx="2600325" cy="1504950"/>
          </a:xfrm>
          <a:prstGeom prst="rect">
            <a:avLst/>
          </a:prstGeom>
          <a:solidFill>
            <a:srgbClr val="101827"/>
          </a:solidFill>
          <a:ln w="0">
            <a:noFill/>
          </a:ln>
        </p:spPr>
      </p:sp>
      <p:sp>
        <p:nvSpPr>
          <p:cNvPr id="15" name="Rectangle 14">
            <a:extLst>
              <a:ext uri="{FF2B5EF4-FFF2-40B4-BE49-F238E27FC236}">
                <a16:creationId xmlns:a16="http://schemas.microsoft.com/office/drawing/2014/main" id="{8F0E5A45-8D2A-4C85-9D05-E4BC78B56CF4}"/>
              </a:ext>
            </a:extLst>
          </p:cNvPr>
          <p:cNvSpPr>
            <a:spLocks noGrp="1"/>
          </p:cNvSpPr>
          <p:nvPr/>
        </p:nvSpPr>
        <p:spPr>
          <a:xfrm>
            <a:off x="228600" y="800100"/>
            <a:ext cx="2600325" cy="180975"/>
          </a:xfrm>
          <a:prstGeom prst="rect">
            <a:avLst/>
          </a:prstGeom>
          <a:solidFill>
            <a:srgbClr val="006ABA"/>
          </a:solidFill>
          <a:ln w="0">
            <a:noFill/>
          </a:ln>
        </p:spPr>
      </p:sp>
      <p:sp>
        <p:nvSpPr>
          <p:cNvPr id="16" name="text">
            <a:extLst>
              <a:ext uri="{FF2B5EF4-FFF2-40B4-BE49-F238E27FC236}">
                <a16:creationId xmlns:a16="http://schemas.microsoft.com/office/drawing/2014/main" id="{D31CE5CC-DCE3-495F-AF78-87AE9C29A5F8}"/>
              </a:ext>
            </a:extLst>
          </p:cNvPr>
          <p:cNvSpPr>
            <a:spLocks noGrp="1"/>
          </p:cNvSpPr>
          <p:nvPr/>
        </p:nvSpPr>
        <p:spPr>
          <a:xfrm>
            <a:off x="228600" y="819150"/>
            <a:ext cx="2600325" cy="161925"/>
          </a:xfrm>
          <a:prstGeom prst="rect">
            <a:avLst/>
          </a:prstGeom>
          <a:noFill/>
          <a:ln w="0">
            <a:noFill/>
          </a:ln>
        </p:spPr>
        <p:txBody>
          <a:bodyPr wrap="square" lIns="0" tIns="0" rIns="0" bIns="0" anchor="t">
            <a:noAutofit/>
          </a:bodyPr>
          <a:lstStyle/>
          <a:p>
            <a:pPr algn="ctr">
              <a:lnSpc>
                <a:spcPct val="110000"/>
              </a:lnSpc>
              <a:buNone/>
              <a:defRPr sz="825" b="1">
                <a:solidFill>
                  <a:srgbClr val="FFFFFF"/>
                </a:solidFill>
                <a:latin typeface="Arial"/>
                <a:ea typeface="Arial"/>
                <a:cs typeface="Arial"/>
              </a:defRPr>
            </a:pPr>
            <a:r>
              <a:rPr sz="825" b="1">
                <a:solidFill>
                  <a:srgbClr val="FFFFFF"/>
                </a:solidFill>
                <a:latin typeface="Arial"/>
                <a:ea typeface="Arial"/>
                <a:cs typeface="Arial"/>
              </a:rPr>
              <a:t>C++17</a:t>
            </a:r>
          </a:p>
        </p:txBody>
      </p:sp>
      <p:sp>
        <p:nvSpPr>
          <p:cNvPr id="17" name="text">
            <a:extLst>
              <a:ext uri="{FF2B5EF4-FFF2-40B4-BE49-F238E27FC236}">
                <a16:creationId xmlns:a16="http://schemas.microsoft.com/office/drawing/2014/main" id="{6AD2D9BA-6469-410A-B87D-1EFC053BAF95}"/>
              </a:ext>
            </a:extLst>
          </p:cNvPr>
          <p:cNvSpPr>
            <a:spLocks noGrp="1"/>
          </p:cNvSpPr>
          <p:nvPr/>
        </p:nvSpPr>
        <p:spPr>
          <a:xfrm>
            <a:off x="295275" y="106680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std::vector&lt;int&gt; a{2, 4, 6};</a:t>
            </a:r>
          </a:p>
        </p:txBody>
      </p:sp>
      <p:sp>
        <p:nvSpPr>
          <p:cNvPr id="18" name="text">
            <a:extLst>
              <a:ext uri="{FF2B5EF4-FFF2-40B4-BE49-F238E27FC236}">
                <a16:creationId xmlns:a16="http://schemas.microsoft.com/office/drawing/2014/main" id="{7C81C7FF-0103-4B64-B0AB-2DB0B66DF155}"/>
              </a:ext>
            </a:extLst>
          </p:cNvPr>
          <p:cNvSpPr>
            <a:spLocks noGrp="1"/>
          </p:cNvSpPr>
          <p:nvPr/>
        </p:nvSpPr>
        <p:spPr>
          <a:xfrm>
            <a:off x="295275" y="119634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std::vector&lt;int&gt; squares;</a:t>
            </a:r>
          </a:p>
        </p:txBody>
      </p:sp>
      <p:sp>
        <p:nvSpPr>
          <p:cNvPr id="19" name="text">
            <a:extLst>
              <a:ext uri="{FF2B5EF4-FFF2-40B4-BE49-F238E27FC236}">
                <a16:creationId xmlns:a16="http://schemas.microsoft.com/office/drawing/2014/main" id="{08F72662-B580-4E70-B0F7-2AFCCECD8BD8}"/>
              </a:ext>
            </a:extLst>
          </p:cNvPr>
          <p:cNvSpPr>
            <a:spLocks noGrp="1"/>
          </p:cNvSpPr>
          <p:nvPr/>
        </p:nvSpPr>
        <p:spPr>
          <a:xfrm>
            <a:off x="295275" y="132588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for (int x : a) {</a:t>
            </a:r>
          </a:p>
        </p:txBody>
      </p:sp>
      <p:sp>
        <p:nvSpPr>
          <p:cNvPr id="20" name="text">
            <a:extLst>
              <a:ext uri="{FF2B5EF4-FFF2-40B4-BE49-F238E27FC236}">
                <a16:creationId xmlns:a16="http://schemas.microsoft.com/office/drawing/2014/main" id="{41520AEB-DC43-4B48-A4F3-C2A19CF84ACE}"/>
              </a:ext>
            </a:extLst>
          </p:cNvPr>
          <p:cNvSpPr>
            <a:spLocks noGrp="1"/>
          </p:cNvSpPr>
          <p:nvPr/>
        </p:nvSpPr>
        <p:spPr>
          <a:xfrm>
            <a:off x="295275" y="145542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  squares.push_back(x * x);</a:t>
            </a:r>
          </a:p>
        </p:txBody>
      </p:sp>
      <p:sp>
        <p:nvSpPr>
          <p:cNvPr id="21" name="text">
            <a:extLst>
              <a:ext uri="{FF2B5EF4-FFF2-40B4-BE49-F238E27FC236}">
                <a16:creationId xmlns:a16="http://schemas.microsoft.com/office/drawing/2014/main" id="{A3549617-3FE4-4CCB-A6E9-68D7E1F0C45D}"/>
              </a:ext>
            </a:extLst>
          </p:cNvPr>
          <p:cNvSpPr>
            <a:spLocks noGrp="1"/>
          </p:cNvSpPr>
          <p:nvPr/>
        </p:nvSpPr>
        <p:spPr>
          <a:xfrm>
            <a:off x="295275" y="158496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a:t>
            </a:r>
          </a:p>
        </p:txBody>
      </p:sp>
      <p:sp>
        <p:nvSpPr>
          <p:cNvPr id="22" name="text">
            <a:extLst>
              <a:ext uri="{FF2B5EF4-FFF2-40B4-BE49-F238E27FC236}">
                <a16:creationId xmlns:a16="http://schemas.microsoft.com/office/drawing/2014/main" id="{75FC5490-757C-401B-A508-49C8B39A57E8}"/>
              </a:ext>
            </a:extLst>
          </p:cNvPr>
          <p:cNvSpPr>
            <a:spLocks noGrp="1"/>
          </p:cNvSpPr>
          <p:nvPr/>
        </p:nvSpPr>
        <p:spPr>
          <a:xfrm>
            <a:off x="295275" y="171450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std::cout &lt;&lt; squares.size() &lt;&lt; "\n";</a:t>
            </a:r>
          </a:p>
        </p:txBody>
      </p:sp>
      <p:sp>
        <p:nvSpPr>
          <p:cNvPr id="23" name="Rectangle 22">
            <a:extLst>
              <a:ext uri="{FF2B5EF4-FFF2-40B4-BE49-F238E27FC236}">
                <a16:creationId xmlns:a16="http://schemas.microsoft.com/office/drawing/2014/main" id="{6E6178CE-21BC-4B05-B765-F73AC7D8FFE4}"/>
              </a:ext>
            </a:extLst>
          </p:cNvPr>
          <p:cNvSpPr>
            <a:spLocks noGrp="1"/>
          </p:cNvSpPr>
          <p:nvPr/>
        </p:nvSpPr>
        <p:spPr>
          <a:xfrm>
            <a:off x="2990850" y="981075"/>
            <a:ext cx="2600325" cy="1504950"/>
          </a:xfrm>
          <a:prstGeom prst="rect">
            <a:avLst/>
          </a:prstGeom>
          <a:solidFill>
            <a:srgbClr val="101827"/>
          </a:solidFill>
          <a:ln w="0">
            <a:noFill/>
          </a:ln>
        </p:spPr>
      </p:sp>
      <p:sp>
        <p:nvSpPr>
          <p:cNvPr id="24" name="Rectangle 23">
            <a:extLst>
              <a:ext uri="{FF2B5EF4-FFF2-40B4-BE49-F238E27FC236}">
                <a16:creationId xmlns:a16="http://schemas.microsoft.com/office/drawing/2014/main" id="{00768384-D203-46EA-A18A-5EAA0DAE901A}"/>
              </a:ext>
            </a:extLst>
          </p:cNvPr>
          <p:cNvSpPr>
            <a:spLocks noGrp="1"/>
          </p:cNvSpPr>
          <p:nvPr/>
        </p:nvSpPr>
        <p:spPr>
          <a:xfrm>
            <a:off x="2990850" y="800100"/>
            <a:ext cx="2600325" cy="180975"/>
          </a:xfrm>
          <a:prstGeom prst="rect">
            <a:avLst/>
          </a:prstGeom>
          <a:solidFill>
            <a:srgbClr val="1AA260"/>
          </a:solidFill>
          <a:ln w="0">
            <a:noFill/>
          </a:ln>
        </p:spPr>
      </p:sp>
      <p:sp>
        <p:nvSpPr>
          <p:cNvPr id="25" name="text">
            <a:extLst>
              <a:ext uri="{FF2B5EF4-FFF2-40B4-BE49-F238E27FC236}">
                <a16:creationId xmlns:a16="http://schemas.microsoft.com/office/drawing/2014/main" id="{C1EBE20E-0370-4A51-8BC9-3C167445176E}"/>
              </a:ext>
            </a:extLst>
          </p:cNvPr>
          <p:cNvSpPr>
            <a:spLocks noGrp="1"/>
          </p:cNvSpPr>
          <p:nvPr/>
        </p:nvSpPr>
        <p:spPr>
          <a:xfrm>
            <a:off x="2990850" y="819150"/>
            <a:ext cx="2600325" cy="161925"/>
          </a:xfrm>
          <a:prstGeom prst="rect">
            <a:avLst/>
          </a:prstGeom>
          <a:noFill/>
          <a:ln w="0">
            <a:noFill/>
          </a:ln>
        </p:spPr>
        <p:txBody>
          <a:bodyPr wrap="square" lIns="0" tIns="0" rIns="0" bIns="0" anchor="t">
            <a:noAutofit/>
          </a:bodyPr>
          <a:lstStyle/>
          <a:p>
            <a:pPr algn="ctr">
              <a:lnSpc>
                <a:spcPct val="110000"/>
              </a:lnSpc>
              <a:buNone/>
              <a:defRPr sz="825" b="1">
                <a:solidFill>
                  <a:srgbClr val="FFFFFF"/>
                </a:solidFill>
                <a:latin typeface="Arial"/>
                <a:ea typeface="Arial"/>
                <a:cs typeface="Arial"/>
              </a:defRPr>
            </a:pPr>
            <a:r>
              <a:rPr sz="825" b="1">
                <a:solidFill>
                  <a:srgbClr val="FFFFFF"/>
                </a:solidFill>
                <a:latin typeface="Arial"/>
                <a:ea typeface="Arial"/>
                <a:cs typeface="Arial"/>
              </a:rPr>
              <a:t>Python 3</a:t>
            </a:r>
          </a:p>
        </p:txBody>
      </p:sp>
      <p:sp>
        <p:nvSpPr>
          <p:cNvPr id="26" name="text">
            <a:extLst>
              <a:ext uri="{FF2B5EF4-FFF2-40B4-BE49-F238E27FC236}">
                <a16:creationId xmlns:a16="http://schemas.microsoft.com/office/drawing/2014/main" id="{A7B81C22-CC17-4BF2-B48F-7CE7258BD6C5}"/>
              </a:ext>
            </a:extLst>
          </p:cNvPr>
          <p:cNvSpPr>
            <a:spLocks noGrp="1"/>
          </p:cNvSpPr>
          <p:nvPr/>
        </p:nvSpPr>
        <p:spPr>
          <a:xfrm>
            <a:off x="3057525" y="106680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a = [2, 4, 6]</a:t>
            </a:r>
          </a:p>
        </p:txBody>
      </p:sp>
      <p:sp>
        <p:nvSpPr>
          <p:cNvPr id="27" name="text">
            <a:extLst>
              <a:ext uri="{FF2B5EF4-FFF2-40B4-BE49-F238E27FC236}">
                <a16:creationId xmlns:a16="http://schemas.microsoft.com/office/drawing/2014/main" id="{73819938-3252-495B-9E5A-838D216A90D7}"/>
              </a:ext>
            </a:extLst>
          </p:cNvPr>
          <p:cNvSpPr>
            <a:spLocks noGrp="1"/>
          </p:cNvSpPr>
          <p:nvPr/>
        </p:nvSpPr>
        <p:spPr>
          <a:xfrm>
            <a:off x="3057525" y="119634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squares = []</a:t>
            </a:r>
          </a:p>
        </p:txBody>
      </p:sp>
      <p:sp>
        <p:nvSpPr>
          <p:cNvPr id="28" name="text">
            <a:extLst>
              <a:ext uri="{FF2B5EF4-FFF2-40B4-BE49-F238E27FC236}">
                <a16:creationId xmlns:a16="http://schemas.microsoft.com/office/drawing/2014/main" id="{90E2F258-ADD1-470B-BD93-C0F7835805B6}"/>
              </a:ext>
            </a:extLst>
          </p:cNvPr>
          <p:cNvSpPr>
            <a:spLocks noGrp="1"/>
          </p:cNvSpPr>
          <p:nvPr/>
        </p:nvSpPr>
        <p:spPr>
          <a:xfrm>
            <a:off x="3057525" y="132588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for x in a:</a:t>
            </a:r>
          </a:p>
        </p:txBody>
      </p:sp>
      <p:sp>
        <p:nvSpPr>
          <p:cNvPr id="29" name="text">
            <a:extLst>
              <a:ext uri="{FF2B5EF4-FFF2-40B4-BE49-F238E27FC236}">
                <a16:creationId xmlns:a16="http://schemas.microsoft.com/office/drawing/2014/main" id="{CF962F3E-A2A6-4F81-9DE9-EC700975E64D}"/>
              </a:ext>
            </a:extLst>
          </p:cNvPr>
          <p:cNvSpPr>
            <a:spLocks noGrp="1"/>
          </p:cNvSpPr>
          <p:nvPr/>
        </p:nvSpPr>
        <p:spPr>
          <a:xfrm>
            <a:off x="3057525" y="145542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    squares.append(x * x)</a:t>
            </a:r>
          </a:p>
        </p:txBody>
      </p:sp>
      <p:sp>
        <p:nvSpPr>
          <p:cNvPr id="30" name="text">
            <a:extLst>
              <a:ext uri="{FF2B5EF4-FFF2-40B4-BE49-F238E27FC236}">
                <a16:creationId xmlns:a16="http://schemas.microsoft.com/office/drawing/2014/main" id="{D72C5691-DE44-4428-A301-E1A40A239D53}"/>
              </a:ext>
            </a:extLst>
          </p:cNvPr>
          <p:cNvSpPr>
            <a:spLocks noGrp="1"/>
          </p:cNvSpPr>
          <p:nvPr/>
        </p:nvSpPr>
        <p:spPr>
          <a:xfrm>
            <a:off x="3057525" y="158496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print(len(squares))</a:t>
            </a:r>
          </a:p>
        </p:txBody>
      </p:sp>
      <p:sp>
        <p:nvSpPr>
          <p:cNvPr id="31" name="text">
            <a:extLst>
              <a:ext uri="{FF2B5EF4-FFF2-40B4-BE49-F238E27FC236}">
                <a16:creationId xmlns:a16="http://schemas.microsoft.com/office/drawing/2014/main" id="{F6F99EA7-1544-44A7-8595-AB1DEDF8E108}"/>
              </a:ext>
            </a:extLst>
          </p:cNvPr>
          <p:cNvSpPr>
            <a:spLocks noGrp="1"/>
          </p:cNvSpPr>
          <p:nvPr/>
        </p:nvSpPr>
        <p:spPr>
          <a:xfrm>
            <a:off x="228600" y="2600325"/>
            <a:ext cx="5314950" cy="228600"/>
          </a:xfrm>
          <a:prstGeom prst="rect">
            <a:avLst/>
          </a:prstGeom>
          <a:noFill/>
          <a:ln w="0">
            <a:noFill/>
          </a:ln>
        </p:spPr>
        <p:txBody>
          <a:bodyPr wrap="square" lIns="0" tIns="0" rIns="0" bIns="0" anchor="t">
            <a:noAutofit/>
          </a:bodyPr>
          <a:lstStyle/>
          <a:p>
            <a:pPr algn="l">
              <a:lnSpc>
                <a:spcPct val="110000"/>
              </a:lnSpc>
              <a:buNone/>
              <a:defRPr sz="885" b="0">
                <a:solidFill>
                  <a:srgbClr val="006ABA"/>
                </a:solidFill>
                <a:latin typeface="Arial"/>
                <a:ea typeface="Arial"/>
                <a:cs typeface="Arial"/>
              </a:defRPr>
            </a:pPr>
            <a:r>
              <a:rPr sz="885" b="0">
                <a:solidFill>
                  <a:srgbClr val="006ABA"/>
                </a:solidFill>
                <a:latin typeface="Arial"/>
                <a:ea typeface="Arial"/>
                <a:cs typeface="Arial"/>
              </a:rPr>
              <a:t>Stored values: 4, 16, 36. Output storage: O(n).</a:t>
            </a:r>
          </a:p>
        </p:txBody>
      </p:sp>
      <p:sp>
        <p:nvSpPr>
          <p:cNvPr id="32" name="text">
            <a:extLst>
              <a:ext uri="{FF2B5EF4-FFF2-40B4-BE49-F238E27FC236}">
                <a16:creationId xmlns:a16="http://schemas.microsoft.com/office/drawing/2014/main" id="{E6B2FB2F-DFC9-440D-A074-D3DCF1E673E1}"/>
              </a:ext>
            </a:extLst>
          </p:cNvPr>
          <p:cNvSpPr>
            <a:spLocks noGrp="1"/>
          </p:cNvSpPr>
          <p:nvPr/>
        </p:nvSpPr>
        <p:spPr>
          <a:xfrm>
            <a:off x="228600" y="2867025"/>
            <a:ext cx="5334000" cy="95250"/>
          </a:xfrm>
          <a:prstGeom prst="rect">
            <a:avLst/>
          </a:prstGeom>
          <a:noFill/>
          <a:ln w="0">
            <a:noFill/>
          </a:ln>
        </p:spPr>
        <p:txBody>
          <a:bodyPr wrap="square" lIns="0" tIns="0" rIns="0" bIns="0" anchor="t">
            <a:noAutofit/>
          </a:bodyPr>
          <a:lstStyle/>
          <a:p>
            <a:pPr algn="l">
              <a:lnSpc>
                <a:spcPct val="110000"/>
              </a:lnSpc>
              <a:buNone/>
              <a:defRPr sz="510" b="0">
                <a:solidFill>
                  <a:srgbClr val="66717C"/>
                </a:solidFill>
                <a:latin typeface="Arial"/>
                <a:ea typeface="Arial"/>
                <a:cs typeface="Arial"/>
              </a:defRPr>
            </a:pPr>
            <a:r>
              <a:rPr sz="510" b="0">
                <a:solidFill>
                  <a:srgbClr val="66717C"/>
                </a:solidFill>
                <a:latin typeface="Arial"/>
                <a:ea typeface="Arial"/>
                <a:cs typeface="Arial"/>
              </a:rPr>
              <a:t>[P]  [PY]  [C]</a:t>
            </a:r>
          </a:p>
        </p:txBody>
      </p:sp>
    </p:spTree>
    <p:extLst>
      <p:ext uri="{BB962C8B-B14F-4D97-AF65-F5344CB8AC3E}">
        <p14:creationId xmlns:p14="http://schemas.microsoft.com/office/powerpoint/2010/main" val="36456721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19C03931-4A28-44C2-9238-650F85D8C2AD}"/>
              </a:ext>
            </a:extLst>
          </p:cNvPr>
          <p:cNvSpPr>
            <a:spLocks noGrp="1"/>
          </p:cNvSpPr>
          <p:nvPr>
            <p:ph type="title"/>
          </p:nvPr>
        </p:nvSpPr>
        <p:spPr>
          <a:xfrm>
            <a:off x="171450" y="95250"/>
            <a:ext cx="5429250" cy="304800"/>
          </a:xfrm>
          <a:prstGeom prst="rect">
            <a:avLst/>
          </a:prstGeom>
        </p:spPr>
        <p:txBody>
          <a:bodyPr vert="horz" wrap="square" lIns="0" tIns="0" rIns="0" bIns="0">
            <a:noAutofit/>
          </a:bodyPr>
          <a:lstStyle/>
          <a:p>
            <a:pPr marL="12700" algn="l">
              <a:lnSpc>
                <a:spcPct val="110000"/>
              </a:lnSpc>
              <a:spcBef>
                <a:spcPts val="135"/>
              </a:spcBef>
              <a:buNone/>
              <a:defRPr sz="1400">
                <a:solidFill>
                  <a:srgbClr val="006ABA"/>
                </a:solidFill>
                <a:latin typeface="Arial"/>
                <a:ea typeface="Arial"/>
                <a:cs typeface="Arial"/>
              </a:defRPr>
            </a:pPr>
            <a:r>
              <a:rPr sz="1400" b="0" spc="-10">
                <a:solidFill>
                  <a:srgbClr val="006ABA"/>
                </a:solidFill>
                <a:latin typeface="Arial"/>
                <a:ea typeface="Arial"/>
                <a:cs typeface="Arial"/>
              </a:rPr>
              <a:t>What is a data structure?</a:t>
            </a:r>
            <a:endParaRPr sz="1400" b="0" spc="-10">
              <a:latin typeface="Arial"/>
              <a:ea typeface="Arial"/>
              <a:cs typeface="Arial"/>
            </a:endParaRPr>
          </a:p>
        </p:txBody>
      </p:sp>
      <p:pic>
        <p:nvPicPr>
          <p:cNvPr id="24" name="object 4"/>
          <p:cNvPicPr>
            <a:picLocks noChangeAspect="1"/>
          </p:cNvPicPr>
          <p:nvPr/>
        </p:nvPicPr>
        <p:blipFill>
          <a:blip r:embed="rId3"/>
          <a:stretch>
            <a:fillRect/>
          </a:stretch>
        </p:blipFill>
        <p:spPr>
          <a:xfrm>
            <a:off x="152565" y="2988507"/>
            <a:ext cx="900668" cy="161917"/>
          </a:xfrm>
          <a:prstGeom prst="rect">
            <a:avLst/>
          </a:prstGeom>
        </p:spPr>
      </p:pic>
      <p:pic>
        <p:nvPicPr>
          <p:cNvPr id="25" name="object 5"/>
          <p:cNvPicPr>
            <a:picLocks noChangeAspect="1"/>
          </p:cNvPicPr>
          <p:nvPr/>
        </p:nvPicPr>
        <p:blipFill>
          <a:blip r:embed="rId4"/>
          <a:stretch>
            <a:fillRect/>
          </a:stretch>
        </p:blipFill>
        <p:spPr>
          <a:xfrm>
            <a:off x="1286560" y="2988417"/>
            <a:ext cx="610912" cy="162008"/>
          </a:xfrm>
          <a:prstGeom prst="rect">
            <a:avLst/>
          </a:prstGeom>
        </p:spPr>
      </p:pic>
      <p:sp>
        <p:nvSpPr>
          <p:cNvPr id="10" name="Footer Placeholder 7">
            <a:extLst>
              <a:ext uri="{FF2B5EF4-FFF2-40B4-BE49-F238E27FC236}">
                <a16:creationId xmlns:a16="http://schemas.microsoft.com/office/drawing/2014/main" id="{197FE2C8-8EE2-4937-3F30-294DB47641D6}"/>
              </a:ext>
            </a:extLst>
          </p:cNvPr>
          <p:cNvSpPr>
            <a:spLocks noGrp="1"/>
          </p:cNvSpPr>
          <p:nvPr>
            <p:ph type="ftr" idx="5"/>
          </p:nvPr>
        </p:nvSpPr>
        <p:spPr>
          <a:xfrm>
            <a:off x="2590800" y="3105150"/>
            <a:ext cx="2743200" cy="95250"/>
          </a:xfrm>
        </p:spPr>
        <p:txBody>
          <a:bodyPr wrap="square" lIns="0" tIns="0" rIns="0" bIns="0">
            <a:noAutofit/>
          </a:bodyPr>
          <a:lstStyle/>
          <a:p>
            <a:pPr algn="r">
              <a:lnSpc>
                <a:spcPct val="110000"/>
              </a:lnSpc>
              <a:buNone/>
              <a:defRPr sz="500">
                <a:solidFill>
                  <a:srgbClr val="888888"/>
                </a:solidFill>
                <a:latin typeface="Arial"/>
                <a:ea typeface="Arial"/>
                <a:cs typeface="Arial"/>
              </a:defRPr>
            </a:pPr>
            <a:r>
              <a:rPr sz="500">
                <a:solidFill>
                  <a:srgbClr val="888888"/>
                </a:solidFill>
                <a:latin typeface="Arial"/>
                <a:ea typeface="Arial"/>
                <a:cs typeface="Arial"/>
              </a:rPr>
              <a:t>MAS Foundations - Kamendu Panchal</a:t>
            </a:r>
            <a:endParaRPr sz="500" b="1">
              <a:solidFill>
                <a:schemeClr val="tx1"/>
              </a:solidFill>
              <a:latin typeface="Arial"/>
              <a:ea typeface="Arial"/>
              <a:cs typeface="Arial"/>
            </a:endParaRPr>
          </a:p>
        </p:txBody>
      </p:sp>
      <p:sp>
        <p:nvSpPr>
          <p:cNvPr id="3" name="TextBox 2">
            <a:extLst>
              <a:ext uri="{FF2B5EF4-FFF2-40B4-BE49-F238E27FC236}">
                <a16:creationId xmlns:a16="http://schemas.microsoft.com/office/drawing/2014/main" id="{DCE8FEB4-DA15-74FB-D091-FA2B80C9B501}"/>
              </a:ext>
            </a:extLst>
          </p:cNvPr>
          <p:cNvSpPr>
            <a:spLocks noGrp="1"/>
          </p:cNvSpPr>
          <p:nvPr/>
        </p:nvSpPr>
        <p:spPr>
          <a:xfrm>
            <a:off x="5438775" y="3086100"/>
            <a:ext cx="209550" cy="175260"/>
          </a:xfrm>
          <a:prstGeom prst="rect">
            <a:avLst/>
          </a:prstGeom>
          <a:noFill/>
        </p:spPr>
        <p:txBody>
          <a:bodyPr wrap="square" lIns="0" tIns="0" rIns="0" bIns="0">
            <a:noAutofit/>
          </a:bodyPr>
          <a:lstStyle/>
          <a:p>
            <a:pPr algn="r">
              <a:lnSpc>
                <a:spcPct val="110000"/>
              </a:lnSpc>
              <a:buNone/>
              <a:defRPr sz="500">
                <a:solidFill>
                  <a:srgbClr val="202020"/>
                </a:solidFill>
                <a:latin typeface="Arial"/>
                <a:ea typeface="Arial"/>
                <a:cs typeface="Arial"/>
              </a:defRPr>
            </a:pPr>
            <a:r>
              <a:rPr sz="500">
                <a:solidFill>
                  <a:srgbClr val="202020"/>
                </a:solidFill>
                <a:latin typeface="Arial"/>
                <a:ea typeface="Arial"/>
                <a:cs typeface="Arial"/>
              </a:rPr>
              <a:t>14</a:t>
            </a:r>
          </a:p>
        </p:txBody>
      </p:sp>
      <p:sp>
        <p:nvSpPr>
          <p:cNvPr id="13" name="text">
            <a:extLst>
              <a:ext uri="{FF2B5EF4-FFF2-40B4-BE49-F238E27FC236}">
                <a16:creationId xmlns:a16="http://schemas.microsoft.com/office/drawing/2014/main" id="{F9D39009-4D47-4EBD-ABE9-101FE9534381}"/>
              </a:ext>
            </a:extLst>
          </p:cNvPr>
          <p:cNvSpPr>
            <a:spLocks noGrp="1"/>
          </p:cNvSpPr>
          <p:nvPr/>
        </p:nvSpPr>
        <p:spPr>
          <a:xfrm>
            <a:off x="228600" y="504825"/>
            <a:ext cx="5314950" cy="381000"/>
          </a:xfrm>
          <a:prstGeom prst="rect">
            <a:avLst/>
          </a:prstGeom>
          <a:noFill/>
          <a:ln w="0">
            <a:noFill/>
          </a:ln>
        </p:spPr>
        <p:txBody>
          <a:bodyPr wrap="square" lIns="0" tIns="0" rIns="0" bIns="0" anchor="t">
            <a:noAutofit/>
          </a:bodyPr>
          <a:lstStyle/>
          <a:p>
            <a:pPr algn="l">
              <a:lnSpc>
                <a:spcPct val="110000"/>
              </a:lnSpc>
              <a:buNone/>
              <a:defRPr sz="998" b="0">
                <a:solidFill>
                  <a:srgbClr val="202020"/>
                </a:solidFill>
                <a:latin typeface="Arial"/>
                <a:ea typeface="Arial"/>
                <a:cs typeface="Arial"/>
              </a:defRPr>
            </a:pPr>
            <a:r>
              <a:rPr sz="998" b="0">
                <a:solidFill>
                  <a:srgbClr val="202020"/>
                </a:solidFill>
                <a:latin typeface="Arial"/>
                <a:ea typeface="Arial"/>
                <a:cs typeface="Arial"/>
              </a:rPr>
              <a:t>A data structure organizes data for access and modification.</a:t>
            </a:r>
          </a:p>
        </p:txBody>
      </p:sp>
      <p:sp>
        <p:nvSpPr>
          <p:cNvPr id="14" name="text">
            <a:extLst>
              <a:ext uri="{FF2B5EF4-FFF2-40B4-BE49-F238E27FC236}">
                <a16:creationId xmlns:a16="http://schemas.microsoft.com/office/drawing/2014/main" id="{E5B19364-C20A-40E4-AA17-00942888164F}"/>
              </a:ext>
            </a:extLst>
          </p:cNvPr>
          <p:cNvSpPr>
            <a:spLocks noGrp="1"/>
          </p:cNvSpPr>
          <p:nvPr/>
        </p:nvSpPr>
        <p:spPr>
          <a:xfrm>
            <a:off x="285750" y="1000125"/>
            <a:ext cx="1952625" cy="285750"/>
          </a:xfrm>
          <a:prstGeom prst="rect">
            <a:avLst/>
          </a:prstGeom>
          <a:noFill/>
          <a:ln w="0">
            <a:noFill/>
          </a:ln>
        </p:spPr>
        <p:txBody>
          <a:bodyPr wrap="square" lIns="0" tIns="0" rIns="0" bIns="0" anchor="t">
            <a:noAutofit/>
          </a:bodyPr>
          <a:lstStyle/>
          <a:p>
            <a:pPr algn="l">
              <a:lnSpc>
                <a:spcPct val="110000"/>
              </a:lnSpc>
              <a:buNone/>
              <a:defRPr sz="1050" b="1">
                <a:solidFill>
                  <a:srgbClr val="006ABA"/>
                </a:solidFill>
                <a:latin typeface="Arial"/>
                <a:ea typeface="Arial"/>
                <a:cs typeface="Arial"/>
              </a:defRPr>
            </a:pPr>
            <a:r>
              <a:rPr sz="1050" b="1">
                <a:solidFill>
                  <a:srgbClr val="006ABA"/>
                </a:solidFill>
                <a:latin typeface="Arial"/>
                <a:ea typeface="Arial"/>
                <a:cs typeface="Arial"/>
              </a:rPr>
              <a:t>Linear structures</a:t>
            </a:r>
          </a:p>
        </p:txBody>
      </p:sp>
      <p:sp>
        <p:nvSpPr>
          <p:cNvPr id="15" name="text">
            <a:extLst>
              <a:ext uri="{FF2B5EF4-FFF2-40B4-BE49-F238E27FC236}">
                <a16:creationId xmlns:a16="http://schemas.microsoft.com/office/drawing/2014/main" id="{CDA53B16-118E-4489-8765-49890A6CD33F}"/>
              </a:ext>
            </a:extLst>
          </p:cNvPr>
          <p:cNvSpPr>
            <a:spLocks noGrp="1"/>
          </p:cNvSpPr>
          <p:nvPr/>
        </p:nvSpPr>
        <p:spPr>
          <a:xfrm>
            <a:off x="2409825" y="1000125"/>
            <a:ext cx="3067050" cy="304800"/>
          </a:xfrm>
          <a:prstGeom prst="rect">
            <a:avLst/>
          </a:prstGeom>
          <a:noFill/>
          <a:ln w="0">
            <a:noFill/>
          </a:ln>
        </p:spPr>
        <p:txBody>
          <a:bodyPr wrap="square" lIns="0" tIns="0" rIns="0" bIns="0" anchor="t">
            <a:noAutofit/>
          </a:bodyPr>
          <a:lstStyle/>
          <a:p>
            <a:pPr algn="l">
              <a:lnSpc>
                <a:spcPct val="110000"/>
              </a:lnSpc>
              <a:buNone/>
              <a:defRPr sz="1050" b="0">
                <a:solidFill>
                  <a:srgbClr val="202020"/>
                </a:solidFill>
                <a:latin typeface="Arial"/>
                <a:ea typeface="Arial"/>
                <a:cs typeface="Arial"/>
              </a:defRPr>
            </a:pPr>
            <a:r>
              <a:rPr sz="1050" b="0">
                <a:solidFill>
                  <a:srgbClr val="202020"/>
                </a:solidFill>
                <a:latin typeface="Arial"/>
                <a:ea typeface="Arial"/>
                <a:cs typeface="Arial"/>
              </a:rPr>
              <a:t>Arrays, lists, stacks, queues and deques</a:t>
            </a:r>
          </a:p>
        </p:txBody>
      </p:sp>
      <p:sp>
        <p:nvSpPr>
          <p:cNvPr id="16" name="text">
            <a:extLst>
              <a:ext uri="{FF2B5EF4-FFF2-40B4-BE49-F238E27FC236}">
                <a16:creationId xmlns:a16="http://schemas.microsoft.com/office/drawing/2014/main" id="{58E21BCA-BA2C-416D-8B1A-13A73EC5F1B9}"/>
              </a:ext>
            </a:extLst>
          </p:cNvPr>
          <p:cNvSpPr>
            <a:spLocks noGrp="1"/>
          </p:cNvSpPr>
          <p:nvPr/>
        </p:nvSpPr>
        <p:spPr>
          <a:xfrm>
            <a:off x="285750" y="1390650"/>
            <a:ext cx="1952625" cy="285750"/>
          </a:xfrm>
          <a:prstGeom prst="rect">
            <a:avLst/>
          </a:prstGeom>
          <a:noFill/>
          <a:ln w="0">
            <a:noFill/>
          </a:ln>
        </p:spPr>
        <p:txBody>
          <a:bodyPr wrap="square" lIns="0" tIns="0" rIns="0" bIns="0" anchor="t">
            <a:noAutofit/>
          </a:bodyPr>
          <a:lstStyle/>
          <a:p>
            <a:pPr algn="l">
              <a:lnSpc>
                <a:spcPct val="110000"/>
              </a:lnSpc>
              <a:buNone/>
              <a:defRPr sz="1050" b="1">
                <a:solidFill>
                  <a:srgbClr val="006ABA"/>
                </a:solidFill>
                <a:latin typeface="Arial"/>
                <a:ea typeface="Arial"/>
                <a:cs typeface="Arial"/>
              </a:defRPr>
            </a:pPr>
            <a:r>
              <a:rPr sz="1050" b="1">
                <a:solidFill>
                  <a:srgbClr val="006ABA"/>
                </a:solidFill>
                <a:latin typeface="Arial"/>
                <a:ea typeface="Arial"/>
                <a:cs typeface="Arial"/>
              </a:rPr>
              <a:t>Key-based structures</a:t>
            </a:r>
          </a:p>
        </p:txBody>
      </p:sp>
      <p:sp>
        <p:nvSpPr>
          <p:cNvPr id="17" name="text">
            <a:extLst>
              <a:ext uri="{FF2B5EF4-FFF2-40B4-BE49-F238E27FC236}">
                <a16:creationId xmlns:a16="http://schemas.microsoft.com/office/drawing/2014/main" id="{5E54ACE6-BA1D-46E3-8595-CC0F6BF8D706}"/>
              </a:ext>
            </a:extLst>
          </p:cNvPr>
          <p:cNvSpPr>
            <a:spLocks noGrp="1"/>
          </p:cNvSpPr>
          <p:nvPr/>
        </p:nvSpPr>
        <p:spPr>
          <a:xfrm>
            <a:off x="2409825" y="1390650"/>
            <a:ext cx="3067050" cy="304800"/>
          </a:xfrm>
          <a:prstGeom prst="rect">
            <a:avLst/>
          </a:prstGeom>
          <a:noFill/>
          <a:ln w="0">
            <a:noFill/>
          </a:ln>
        </p:spPr>
        <p:txBody>
          <a:bodyPr wrap="square" lIns="0" tIns="0" rIns="0" bIns="0" anchor="t">
            <a:noAutofit/>
          </a:bodyPr>
          <a:lstStyle/>
          <a:p>
            <a:pPr algn="l">
              <a:lnSpc>
                <a:spcPct val="110000"/>
              </a:lnSpc>
              <a:buNone/>
              <a:defRPr sz="1050" b="0">
                <a:solidFill>
                  <a:srgbClr val="202020"/>
                </a:solidFill>
                <a:latin typeface="Arial"/>
                <a:ea typeface="Arial"/>
                <a:cs typeface="Arial"/>
              </a:defRPr>
            </a:pPr>
            <a:r>
              <a:rPr sz="1050" b="0">
                <a:solidFill>
                  <a:srgbClr val="202020"/>
                </a:solidFill>
                <a:latin typeface="Arial"/>
                <a:ea typeface="Arial"/>
                <a:cs typeface="Arial"/>
              </a:rPr>
              <a:t>Dictionaries and sets</a:t>
            </a:r>
          </a:p>
        </p:txBody>
      </p:sp>
      <p:sp>
        <p:nvSpPr>
          <p:cNvPr id="18" name="text">
            <a:extLst>
              <a:ext uri="{FF2B5EF4-FFF2-40B4-BE49-F238E27FC236}">
                <a16:creationId xmlns:a16="http://schemas.microsoft.com/office/drawing/2014/main" id="{2022CD94-36D3-435D-A8AD-C753256A2450}"/>
              </a:ext>
            </a:extLst>
          </p:cNvPr>
          <p:cNvSpPr>
            <a:spLocks noGrp="1"/>
          </p:cNvSpPr>
          <p:nvPr/>
        </p:nvSpPr>
        <p:spPr>
          <a:xfrm>
            <a:off x="285750" y="1781175"/>
            <a:ext cx="1952625" cy="285750"/>
          </a:xfrm>
          <a:prstGeom prst="rect">
            <a:avLst/>
          </a:prstGeom>
          <a:noFill/>
          <a:ln w="0">
            <a:noFill/>
          </a:ln>
        </p:spPr>
        <p:txBody>
          <a:bodyPr wrap="square" lIns="0" tIns="0" rIns="0" bIns="0" anchor="t">
            <a:noAutofit/>
          </a:bodyPr>
          <a:lstStyle/>
          <a:p>
            <a:pPr algn="l">
              <a:lnSpc>
                <a:spcPct val="110000"/>
              </a:lnSpc>
              <a:buNone/>
              <a:defRPr sz="1050" b="1">
                <a:solidFill>
                  <a:srgbClr val="006ABA"/>
                </a:solidFill>
                <a:latin typeface="Arial"/>
                <a:ea typeface="Arial"/>
                <a:cs typeface="Arial"/>
              </a:defRPr>
            </a:pPr>
            <a:r>
              <a:rPr sz="1050" b="1">
                <a:solidFill>
                  <a:srgbClr val="006ABA"/>
                </a:solidFill>
                <a:latin typeface="Arial"/>
                <a:ea typeface="Arial"/>
                <a:cs typeface="Arial"/>
              </a:rPr>
              <a:t>Non-linear structures</a:t>
            </a:r>
          </a:p>
        </p:txBody>
      </p:sp>
      <p:sp>
        <p:nvSpPr>
          <p:cNvPr id="19" name="text">
            <a:extLst>
              <a:ext uri="{FF2B5EF4-FFF2-40B4-BE49-F238E27FC236}">
                <a16:creationId xmlns:a16="http://schemas.microsoft.com/office/drawing/2014/main" id="{606F50D9-DCE6-4502-95AA-9ACEBB9BB220}"/>
              </a:ext>
            </a:extLst>
          </p:cNvPr>
          <p:cNvSpPr>
            <a:spLocks noGrp="1"/>
          </p:cNvSpPr>
          <p:nvPr/>
        </p:nvSpPr>
        <p:spPr>
          <a:xfrm>
            <a:off x="2409825" y="1781175"/>
            <a:ext cx="3067050" cy="304800"/>
          </a:xfrm>
          <a:prstGeom prst="rect">
            <a:avLst/>
          </a:prstGeom>
          <a:noFill/>
          <a:ln w="0">
            <a:noFill/>
          </a:ln>
        </p:spPr>
        <p:txBody>
          <a:bodyPr wrap="square" lIns="0" tIns="0" rIns="0" bIns="0" anchor="t">
            <a:noAutofit/>
          </a:bodyPr>
          <a:lstStyle/>
          <a:p>
            <a:pPr algn="l">
              <a:lnSpc>
                <a:spcPct val="110000"/>
              </a:lnSpc>
              <a:buNone/>
              <a:defRPr sz="1050" b="0">
                <a:solidFill>
                  <a:srgbClr val="202020"/>
                </a:solidFill>
                <a:latin typeface="Arial"/>
                <a:ea typeface="Arial"/>
                <a:cs typeface="Arial"/>
              </a:defRPr>
            </a:pPr>
            <a:r>
              <a:rPr sz="1050" b="0">
                <a:solidFill>
                  <a:srgbClr val="202020"/>
                </a:solidFill>
                <a:latin typeface="Arial"/>
                <a:ea typeface="Arial"/>
                <a:cs typeface="Arial"/>
              </a:rPr>
              <a:t>Trees and graphs</a:t>
            </a:r>
          </a:p>
        </p:txBody>
      </p:sp>
      <p:sp>
        <p:nvSpPr>
          <p:cNvPr id="20" name="text">
            <a:extLst>
              <a:ext uri="{FF2B5EF4-FFF2-40B4-BE49-F238E27FC236}">
                <a16:creationId xmlns:a16="http://schemas.microsoft.com/office/drawing/2014/main" id="{D50ACD91-8726-41BC-9245-E29CE8E0688A}"/>
              </a:ext>
            </a:extLst>
          </p:cNvPr>
          <p:cNvSpPr>
            <a:spLocks noGrp="1"/>
          </p:cNvSpPr>
          <p:nvPr/>
        </p:nvSpPr>
        <p:spPr>
          <a:xfrm>
            <a:off x="285750" y="2171700"/>
            <a:ext cx="1952625" cy="285750"/>
          </a:xfrm>
          <a:prstGeom prst="rect">
            <a:avLst/>
          </a:prstGeom>
          <a:noFill/>
          <a:ln w="0">
            <a:noFill/>
          </a:ln>
        </p:spPr>
        <p:txBody>
          <a:bodyPr wrap="square" lIns="0" tIns="0" rIns="0" bIns="0" anchor="t">
            <a:noAutofit/>
          </a:bodyPr>
          <a:lstStyle/>
          <a:p>
            <a:pPr algn="l">
              <a:lnSpc>
                <a:spcPct val="110000"/>
              </a:lnSpc>
              <a:buNone/>
              <a:defRPr sz="1050" b="1">
                <a:solidFill>
                  <a:srgbClr val="006ABA"/>
                </a:solidFill>
                <a:latin typeface="Arial"/>
                <a:ea typeface="Arial"/>
                <a:cs typeface="Arial"/>
              </a:defRPr>
            </a:pPr>
            <a:r>
              <a:rPr sz="1050" b="1">
                <a:solidFill>
                  <a:srgbClr val="006ABA"/>
                </a:solidFill>
                <a:latin typeface="Arial"/>
                <a:ea typeface="Arial"/>
                <a:cs typeface="Arial"/>
              </a:rPr>
              <a:t>Common operations</a:t>
            </a:r>
          </a:p>
        </p:txBody>
      </p:sp>
      <p:sp>
        <p:nvSpPr>
          <p:cNvPr id="21" name="text">
            <a:extLst>
              <a:ext uri="{FF2B5EF4-FFF2-40B4-BE49-F238E27FC236}">
                <a16:creationId xmlns:a16="http://schemas.microsoft.com/office/drawing/2014/main" id="{3299F54D-AC3E-4552-A691-4F9FEAD03F3A}"/>
              </a:ext>
            </a:extLst>
          </p:cNvPr>
          <p:cNvSpPr>
            <a:spLocks noGrp="1"/>
          </p:cNvSpPr>
          <p:nvPr/>
        </p:nvSpPr>
        <p:spPr>
          <a:xfrm>
            <a:off x="2409825" y="2171700"/>
            <a:ext cx="3067050" cy="304800"/>
          </a:xfrm>
          <a:prstGeom prst="rect">
            <a:avLst/>
          </a:prstGeom>
          <a:noFill/>
          <a:ln w="0">
            <a:noFill/>
          </a:ln>
        </p:spPr>
        <p:txBody>
          <a:bodyPr wrap="square" lIns="0" tIns="0" rIns="0" bIns="0" anchor="t">
            <a:noAutofit/>
          </a:bodyPr>
          <a:lstStyle/>
          <a:p>
            <a:pPr algn="l">
              <a:lnSpc>
                <a:spcPct val="110000"/>
              </a:lnSpc>
              <a:buNone/>
              <a:defRPr sz="1050" b="0">
                <a:solidFill>
                  <a:srgbClr val="202020"/>
                </a:solidFill>
                <a:latin typeface="Arial"/>
                <a:ea typeface="Arial"/>
                <a:cs typeface="Arial"/>
              </a:defRPr>
            </a:pPr>
            <a:r>
              <a:rPr sz="1050" b="0">
                <a:solidFill>
                  <a:srgbClr val="202020"/>
                </a:solidFill>
                <a:latin typeface="Arial"/>
                <a:ea typeface="Arial"/>
                <a:cs typeface="Arial"/>
              </a:rPr>
              <a:t>Access, search, insert, delete and traverse</a:t>
            </a:r>
          </a:p>
        </p:txBody>
      </p:sp>
      <p:sp>
        <p:nvSpPr>
          <p:cNvPr id="22" name="text">
            <a:extLst>
              <a:ext uri="{FF2B5EF4-FFF2-40B4-BE49-F238E27FC236}">
                <a16:creationId xmlns:a16="http://schemas.microsoft.com/office/drawing/2014/main" id="{97CAA7CB-90A5-4054-9756-0C6B694BC1BB}"/>
              </a:ext>
            </a:extLst>
          </p:cNvPr>
          <p:cNvSpPr>
            <a:spLocks noGrp="1"/>
          </p:cNvSpPr>
          <p:nvPr/>
        </p:nvSpPr>
        <p:spPr>
          <a:xfrm>
            <a:off x="228600" y="2867025"/>
            <a:ext cx="5334000" cy="95250"/>
          </a:xfrm>
          <a:prstGeom prst="rect">
            <a:avLst/>
          </a:prstGeom>
          <a:noFill/>
          <a:ln w="0">
            <a:noFill/>
          </a:ln>
        </p:spPr>
        <p:txBody>
          <a:bodyPr wrap="square" lIns="0" tIns="0" rIns="0" bIns="0" anchor="t">
            <a:noAutofit/>
          </a:bodyPr>
          <a:lstStyle/>
          <a:p>
            <a:pPr algn="l">
              <a:lnSpc>
                <a:spcPct val="110000"/>
              </a:lnSpc>
              <a:buNone/>
              <a:defRPr sz="510" b="0">
                <a:solidFill>
                  <a:srgbClr val="66717C"/>
                </a:solidFill>
                <a:latin typeface="Arial"/>
                <a:ea typeface="Arial"/>
                <a:cs typeface="Arial"/>
              </a:defRPr>
            </a:pPr>
            <a:r>
              <a:rPr sz="510" b="0">
                <a:solidFill>
                  <a:srgbClr val="66717C"/>
                </a:solidFill>
                <a:latin typeface="Arial"/>
                <a:ea typeface="Arial"/>
                <a:cs typeface="Arial"/>
              </a:rPr>
              <a:t>[I]  [M]</a:t>
            </a:r>
          </a:p>
        </p:txBody>
      </p:sp>
    </p:spTree>
    <p:extLst>
      <p:ext uri="{BB962C8B-B14F-4D97-AF65-F5344CB8AC3E}">
        <p14:creationId xmlns:p14="http://schemas.microsoft.com/office/powerpoint/2010/main" val="36456721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19C03931-4A28-44C2-9238-650F85D8C2AD}"/>
              </a:ext>
            </a:extLst>
          </p:cNvPr>
          <p:cNvSpPr>
            <a:spLocks noGrp="1"/>
          </p:cNvSpPr>
          <p:nvPr>
            <p:ph type="title"/>
          </p:nvPr>
        </p:nvSpPr>
        <p:spPr>
          <a:xfrm>
            <a:off x="171450" y="95250"/>
            <a:ext cx="5429250" cy="304800"/>
          </a:xfrm>
          <a:prstGeom prst="rect">
            <a:avLst/>
          </a:prstGeom>
        </p:spPr>
        <p:txBody>
          <a:bodyPr vert="horz" wrap="square" lIns="0" tIns="0" rIns="0" bIns="0">
            <a:noAutofit/>
          </a:bodyPr>
          <a:lstStyle/>
          <a:p>
            <a:pPr marL="12700" algn="l">
              <a:lnSpc>
                <a:spcPct val="110000"/>
              </a:lnSpc>
              <a:spcBef>
                <a:spcPts val="135"/>
              </a:spcBef>
              <a:buNone/>
              <a:defRPr sz="1400">
                <a:solidFill>
                  <a:srgbClr val="006ABA"/>
                </a:solidFill>
                <a:latin typeface="Arial"/>
                <a:ea typeface="Arial"/>
                <a:cs typeface="Arial"/>
              </a:defRPr>
            </a:pPr>
            <a:r>
              <a:rPr sz="1400" b="0" spc="-10">
                <a:solidFill>
                  <a:srgbClr val="006ABA"/>
                </a:solidFill>
                <a:latin typeface="Arial"/>
                <a:ea typeface="Arial"/>
                <a:cs typeface="Arial"/>
              </a:rPr>
              <a:t>Arrays and indexed sequences</a:t>
            </a:r>
            <a:endParaRPr sz="1400" b="0" spc="-10">
              <a:latin typeface="Arial"/>
              <a:ea typeface="Arial"/>
              <a:cs typeface="Arial"/>
            </a:endParaRPr>
          </a:p>
        </p:txBody>
      </p:sp>
      <p:pic>
        <p:nvPicPr>
          <p:cNvPr id="25" name="object 4"/>
          <p:cNvPicPr>
            <a:picLocks noChangeAspect="1"/>
          </p:cNvPicPr>
          <p:nvPr/>
        </p:nvPicPr>
        <p:blipFill>
          <a:blip r:embed="rId3"/>
          <a:stretch>
            <a:fillRect/>
          </a:stretch>
        </p:blipFill>
        <p:spPr>
          <a:xfrm>
            <a:off x="152565" y="2988507"/>
            <a:ext cx="900668" cy="161917"/>
          </a:xfrm>
          <a:prstGeom prst="rect">
            <a:avLst/>
          </a:prstGeom>
        </p:spPr>
      </p:pic>
      <p:pic>
        <p:nvPicPr>
          <p:cNvPr id="26" name="object 5"/>
          <p:cNvPicPr>
            <a:picLocks noChangeAspect="1"/>
          </p:cNvPicPr>
          <p:nvPr/>
        </p:nvPicPr>
        <p:blipFill>
          <a:blip r:embed="rId4"/>
          <a:stretch>
            <a:fillRect/>
          </a:stretch>
        </p:blipFill>
        <p:spPr>
          <a:xfrm>
            <a:off x="1286560" y="2988417"/>
            <a:ext cx="610912" cy="162008"/>
          </a:xfrm>
          <a:prstGeom prst="rect">
            <a:avLst/>
          </a:prstGeom>
        </p:spPr>
      </p:pic>
      <p:sp>
        <p:nvSpPr>
          <p:cNvPr id="10" name="Footer Placeholder 7">
            <a:extLst>
              <a:ext uri="{FF2B5EF4-FFF2-40B4-BE49-F238E27FC236}">
                <a16:creationId xmlns:a16="http://schemas.microsoft.com/office/drawing/2014/main" id="{197FE2C8-8EE2-4937-3F30-294DB47641D6}"/>
              </a:ext>
            </a:extLst>
          </p:cNvPr>
          <p:cNvSpPr>
            <a:spLocks noGrp="1"/>
          </p:cNvSpPr>
          <p:nvPr>
            <p:ph type="ftr" idx="5"/>
          </p:nvPr>
        </p:nvSpPr>
        <p:spPr>
          <a:xfrm>
            <a:off x="2590800" y="3105150"/>
            <a:ext cx="2743200" cy="95250"/>
          </a:xfrm>
        </p:spPr>
        <p:txBody>
          <a:bodyPr wrap="square" lIns="0" tIns="0" rIns="0" bIns="0">
            <a:noAutofit/>
          </a:bodyPr>
          <a:lstStyle/>
          <a:p>
            <a:pPr algn="r">
              <a:lnSpc>
                <a:spcPct val="110000"/>
              </a:lnSpc>
              <a:buNone/>
              <a:defRPr sz="500">
                <a:solidFill>
                  <a:srgbClr val="888888"/>
                </a:solidFill>
                <a:latin typeface="Arial"/>
                <a:ea typeface="Arial"/>
                <a:cs typeface="Arial"/>
              </a:defRPr>
            </a:pPr>
            <a:r>
              <a:rPr sz="500">
                <a:solidFill>
                  <a:srgbClr val="888888"/>
                </a:solidFill>
                <a:latin typeface="Arial"/>
                <a:ea typeface="Arial"/>
                <a:cs typeface="Arial"/>
              </a:rPr>
              <a:t>MAS Foundations - Kamendu Panchal</a:t>
            </a:r>
            <a:endParaRPr sz="500" b="1">
              <a:solidFill>
                <a:schemeClr val="tx1"/>
              </a:solidFill>
              <a:latin typeface="Arial"/>
              <a:ea typeface="Arial"/>
              <a:cs typeface="Arial"/>
            </a:endParaRPr>
          </a:p>
        </p:txBody>
      </p:sp>
      <p:sp>
        <p:nvSpPr>
          <p:cNvPr id="3" name="TextBox 2">
            <a:extLst>
              <a:ext uri="{FF2B5EF4-FFF2-40B4-BE49-F238E27FC236}">
                <a16:creationId xmlns:a16="http://schemas.microsoft.com/office/drawing/2014/main" id="{DCE8FEB4-DA15-74FB-D091-FA2B80C9B501}"/>
              </a:ext>
            </a:extLst>
          </p:cNvPr>
          <p:cNvSpPr>
            <a:spLocks noGrp="1"/>
          </p:cNvSpPr>
          <p:nvPr/>
        </p:nvSpPr>
        <p:spPr>
          <a:xfrm>
            <a:off x="5438775" y="3086100"/>
            <a:ext cx="209550" cy="175260"/>
          </a:xfrm>
          <a:prstGeom prst="rect">
            <a:avLst/>
          </a:prstGeom>
          <a:noFill/>
        </p:spPr>
        <p:txBody>
          <a:bodyPr wrap="square" lIns="0" tIns="0" rIns="0" bIns="0">
            <a:noAutofit/>
          </a:bodyPr>
          <a:lstStyle/>
          <a:p>
            <a:pPr algn="r">
              <a:lnSpc>
                <a:spcPct val="110000"/>
              </a:lnSpc>
              <a:buNone/>
              <a:defRPr sz="500">
                <a:solidFill>
                  <a:srgbClr val="202020"/>
                </a:solidFill>
                <a:latin typeface="Arial"/>
                <a:ea typeface="Arial"/>
                <a:cs typeface="Arial"/>
              </a:defRPr>
            </a:pPr>
            <a:r>
              <a:rPr sz="500">
                <a:solidFill>
                  <a:srgbClr val="202020"/>
                </a:solidFill>
                <a:latin typeface="Arial"/>
                <a:ea typeface="Arial"/>
                <a:cs typeface="Arial"/>
              </a:rPr>
              <a:t>15</a:t>
            </a:r>
          </a:p>
        </p:txBody>
      </p:sp>
      <p:sp>
        <p:nvSpPr>
          <p:cNvPr id="13" name="text">
            <a:extLst>
              <a:ext uri="{FF2B5EF4-FFF2-40B4-BE49-F238E27FC236}">
                <a16:creationId xmlns:a16="http://schemas.microsoft.com/office/drawing/2014/main" id="{462B57EE-7320-440C-BBA4-FE3A3880E239}"/>
              </a:ext>
            </a:extLst>
          </p:cNvPr>
          <p:cNvSpPr>
            <a:spLocks noGrp="1"/>
          </p:cNvSpPr>
          <p:nvPr/>
        </p:nvSpPr>
        <p:spPr>
          <a:xfrm>
            <a:off x="228600" y="504825"/>
            <a:ext cx="5314950" cy="381000"/>
          </a:xfrm>
          <a:prstGeom prst="rect">
            <a:avLst/>
          </a:prstGeom>
          <a:noFill/>
          <a:ln w="0">
            <a:noFill/>
          </a:ln>
        </p:spPr>
        <p:txBody>
          <a:bodyPr wrap="square" lIns="0" tIns="0" rIns="0" bIns="0" anchor="t">
            <a:noAutofit/>
          </a:bodyPr>
          <a:lstStyle/>
          <a:p>
            <a:pPr algn="l">
              <a:lnSpc>
                <a:spcPct val="110000"/>
              </a:lnSpc>
              <a:buNone/>
              <a:defRPr sz="998" b="0">
                <a:solidFill>
                  <a:srgbClr val="202020"/>
                </a:solidFill>
                <a:latin typeface="Arial"/>
                <a:ea typeface="Arial"/>
                <a:cs typeface="Arial"/>
              </a:defRPr>
            </a:pPr>
            <a:r>
              <a:rPr sz="998" b="0">
                <a:solidFill>
                  <a:srgbClr val="202020"/>
                </a:solidFill>
                <a:latin typeface="Arial"/>
                <a:ea typeface="Arial"/>
                <a:cs typeface="Arial"/>
              </a:rPr>
              <a:t>An array stores elements of one type in contiguous positions.</a:t>
            </a:r>
          </a:p>
        </p:txBody>
      </p:sp>
      <p:sp>
        <p:nvSpPr>
          <p:cNvPr id="14" name="diagram-node">
            <a:extLst>
              <a:ext uri="{FF2B5EF4-FFF2-40B4-BE49-F238E27FC236}">
                <a16:creationId xmlns:a16="http://schemas.microsoft.com/office/drawing/2014/main" id="{6D6312C5-A2B7-423D-9B33-0B4ECFE6D6EE}"/>
              </a:ext>
            </a:extLst>
          </p:cNvPr>
          <p:cNvSpPr>
            <a:spLocks noGrp="1"/>
          </p:cNvSpPr>
          <p:nvPr/>
        </p:nvSpPr>
        <p:spPr>
          <a:xfrm>
            <a:off x="723900" y="1343025"/>
            <a:ext cx="1066800" cy="419100"/>
          </a:xfrm>
          <a:prstGeom prst="rect">
            <a:avLst/>
          </a:prstGeom>
          <a:solidFill>
            <a:srgbClr val="FFFFFF"/>
          </a:solidFill>
          <a:ln w="11430">
            <a:solidFill>
              <a:srgbClr val="006ABA"/>
            </a:solidFill>
          </a:ln>
        </p:spPr>
        <p:txBody>
          <a:bodyPr wrap="square" lIns="47625" tIns="28575" rIns="47625" bIns="28575" anchor="ctr">
            <a:noAutofit/>
          </a:bodyPr>
          <a:lstStyle/>
          <a:p>
            <a:pPr algn="ctr">
              <a:lnSpc>
                <a:spcPct val="107000"/>
              </a:lnSpc>
              <a:buNone/>
              <a:defRPr sz="1050">
                <a:solidFill>
                  <a:srgbClr val="202020"/>
                </a:solidFill>
                <a:latin typeface="Arial"/>
                <a:ea typeface="Arial"/>
                <a:cs typeface="Arial"/>
              </a:defRPr>
            </a:pPr>
            <a:r>
              <a:rPr sz="1050">
                <a:solidFill>
                  <a:srgbClr val="202020"/>
                </a:solidFill>
                <a:latin typeface="Arial"/>
                <a:ea typeface="Arial"/>
                <a:cs typeface="Arial"/>
              </a:rPr>
              <a:t>10</a:t>
            </a:r>
          </a:p>
        </p:txBody>
      </p:sp>
      <p:sp>
        <p:nvSpPr>
          <p:cNvPr id="15" name="diagram-node">
            <a:extLst>
              <a:ext uri="{FF2B5EF4-FFF2-40B4-BE49-F238E27FC236}">
                <a16:creationId xmlns:a16="http://schemas.microsoft.com/office/drawing/2014/main" id="{A07EFA8F-4CE3-481D-9E5E-1B5A70C2B00E}"/>
              </a:ext>
            </a:extLst>
          </p:cNvPr>
          <p:cNvSpPr>
            <a:spLocks noGrp="1"/>
          </p:cNvSpPr>
          <p:nvPr/>
        </p:nvSpPr>
        <p:spPr>
          <a:xfrm>
            <a:off x="1790700" y="1343025"/>
            <a:ext cx="1066800" cy="419100"/>
          </a:xfrm>
          <a:prstGeom prst="rect">
            <a:avLst/>
          </a:prstGeom>
          <a:solidFill>
            <a:srgbClr val="FFFFFF"/>
          </a:solidFill>
          <a:ln w="11430">
            <a:solidFill>
              <a:srgbClr val="006ABA"/>
            </a:solidFill>
          </a:ln>
        </p:spPr>
        <p:txBody>
          <a:bodyPr wrap="square" lIns="47625" tIns="28575" rIns="47625" bIns="28575" anchor="ctr">
            <a:noAutofit/>
          </a:bodyPr>
          <a:lstStyle/>
          <a:p>
            <a:pPr algn="ctr">
              <a:lnSpc>
                <a:spcPct val="107000"/>
              </a:lnSpc>
              <a:buNone/>
              <a:defRPr sz="1050">
                <a:solidFill>
                  <a:srgbClr val="202020"/>
                </a:solidFill>
                <a:latin typeface="Arial"/>
                <a:ea typeface="Arial"/>
                <a:cs typeface="Arial"/>
              </a:defRPr>
            </a:pPr>
            <a:r>
              <a:rPr sz="1050">
                <a:solidFill>
                  <a:srgbClr val="202020"/>
                </a:solidFill>
                <a:latin typeface="Arial"/>
                <a:ea typeface="Arial"/>
                <a:cs typeface="Arial"/>
              </a:rPr>
              <a:t>20</a:t>
            </a:r>
          </a:p>
        </p:txBody>
      </p:sp>
      <p:sp>
        <p:nvSpPr>
          <p:cNvPr id="16" name="diagram-node">
            <a:extLst>
              <a:ext uri="{FF2B5EF4-FFF2-40B4-BE49-F238E27FC236}">
                <a16:creationId xmlns:a16="http://schemas.microsoft.com/office/drawing/2014/main" id="{CC92E840-04E8-4521-85E2-5CC749B31A65}"/>
              </a:ext>
            </a:extLst>
          </p:cNvPr>
          <p:cNvSpPr>
            <a:spLocks noGrp="1"/>
          </p:cNvSpPr>
          <p:nvPr/>
        </p:nvSpPr>
        <p:spPr>
          <a:xfrm>
            <a:off x="2857500" y="1343025"/>
            <a:ext cx="1066800" cy="419100"/>
          </a:xfrm>
          <a:prstGeom prst="rect">
            <a:avLst/>
          </a:prstGeom>
          <a:solidFill>
            <a:srgbClr val="FFFFFF"/>
          </a:solidFill>
          <a:ln w="11430">
            <a:solidFill>
              <a:srgbClr val="006ABA"/>
            </a:solidFill>
          </a:ln>
        </p:spPr>
        <p:txBody>
          <a:bodyPr wrap="square" lIns="47625" tIns="28575" rIns="47625" bIns="28575" anchor="ctr">
            <a:noAutofit/>
          </a:bodyPr>
          <a:lstStyle/>
          <a:p>
            <a:pPr algn="ctr">
              <a:lnSpc>
                <a:spcPct val="107000"/>
              </a:lnSpc>
              <a:buNone/>
              <a:defRPr sz="1050">
                <a:solidFill>
                  <a:srgbClr val="202020"/>
                </a:solidFill>
                <a:latin typeface="Arial"/>
                <a:ea typeface="Arial"/>
                <a:cs typeface="Arial"/>
              </a:defRPr>
            </a:pPr>
            <a:r>
              <a:rPr sz="1050">
                <a:solidFill>
                  <a:srgbClr val="202020"/>
                </a:solidFill>
                <a:latin typeface="Arial"/>
                <a:ea typeface="Arial"/>
                <a:cs typeface="Arial"/>
              </a:rPr>
              <a:t>30</a:t>
            </a:r>
          </a:p>
        </p:txBody>
      </p:sp>
      <p:sp>
        <p:nvSpPr>
          <p:cNvPr id="17" name="diagram-node">
            <a:extLst>
              <a:ext uri="{FF2B5EF4-FFF2-40B4-BE49-F238E27FC236}">
                <a16:creationId xmlns:a16="http://schemas.microsoft.com/office/drawing/2014/main" id="{72053F85-07A1-43DB-B6E3-05F4E0AB8156}"/>
              </a:ext>
            </a:extLst>
          </p:cNvPr>
          <p:cNvSpPr>
            <a:spLocks noGrp="1"/>
          </p:cNvSpPr>
          <p:nvPr/>
        </p:nvSpPr>
        <p:spPr>
          <a:xfrm>
            <a:off x="3924300" y="1343025"/>
            <a:ext cx="1066800" cy="419100"/>
          </a:xfrm>
          <a:prstGeom prst="rect">
            <a:avLst/>
          </a:prstGeom>
          <a:solidFill>
            <a:srgbClr val="FFFFFF"/>
          </a:solidFill>
          <a:ln w="11430">
            <a:solidFill>
              <a:srgbClr val="006ABA"/>
            </a:solidFill>
          </a:ln>
        </p:spPr>
        <p:txBody>
          <a:bodyPr wrap="square" lIns="47625" tIns="28575" rIns="47625" bIns="28575" anchor="ctr">
            <a:noAutofit/>
          </a:bodyPr>
          <a:lstStyle/>
          <a:p>
            <a:pPr algn="ctr">
              <a:lnSpc>
                <a:spcPct val="107000"/>
              </a:lnSpc>
              <a:buNone/>
              <a:defRPr sz="1050">
                <a:solidFill>
                  <a:srgbClr val="202020"/>
                </a:solidFill>
                <a:latin typeface="Arial"/>
                <a:ea typeface="Arial"/>
                <a:cs typeface="Arial"/>
              </a:defRPr>
            </a:pPr>
            <a:r>
              <a:rPr sz="1050">
                <a:solidFill>
                  <a:srgbClr val="202020"/>
                </a:solidFill>
                <a:latin typeface="Arial"/>
                <a:ea typeface="Arial"/>
                <a:cs typeface="Arial"/>
              </a:rPr>
              <a:t>40</a:t>
            </a:r>
          </a:p>
        </p:txBody>
      </p:sp>
      <p:sp>
        <p:nvSpPr>
          <p:cNvPr id="18" name="text">
            <a:extLst>
              <a:ext uri="{FF2B5EF4-FFF2-40B4-BE49-F238E27FC236}">
                <a16:creationId xmlns:a16="http://schemas.microsoft.com/office/drawing/2014/main" id="{790ED4C6-3B89-4547-9107-22416DA50755}"/>
              </a:ext>
            </a:extLst>
          </p:cNvPr>
          <p:cNvSpPr>
            <a:spLocks noGrp="1"/>
          </p:cNvSpPr>
          <p:nvPr/>
        </p:nvSpPr>
        <p:spPr>
          <a:xfrm>
            <a:off x="723900" y="1866900"/>
            <a:ext cx="1066800" cy="190500"/>
          </a:xfrm>
          <a:prstGeom prst="rect">
            <a:avLst/>
          </a:prstGeom>
          <a:noFill/>
          <a:ln w="0">
            <a:noFill/>
          </a:ln>
        </p:spPr>
        <p:txBody>
          <a:bodyPr wrap="square" lIns="0" tIns="0" rIns="0" bIns="0" anchor="t">
            <a:noAutofit/>
          </a:bodyPr>
          <a:lstStyle/>
          <a:p>
            <a:pPr algn="ctr">
              <a:lnSpc>
                <a:spcPct val="110000"/>
              </a:lnSpc>
              <a:buNone/>
              <a:defRPr sz="863" b="0">
                <a:solidFill>
                  <a:srgbClr val="006ABA"/>
                </a:solidFill>
                <a:latin typeface="Arial"/>
                <a:ea typeface="Arial"/>
                <a:cs typeface="Arial"/>
              </a:defRPr>
            </a:pPr>
            <a:r>
              <a:rPr sz="863" b="0">
                <a:solidFill>
                  <a:srgbClr val="006ABA"/>
                </a:solidFill>
                <a:latin typeface="Arial"/>
                <a:ea typeface="Arial"/>
                <a:cs typeface="Arial"/>
              </a:rPr>
              <a:t>index 0</a:t>
            </a:r>
          </a:p>
        </p:txBody>
      </p:sp>
      <p:sp>
        <p:nvSpPr>
          <p:cNvPr id="19" name="text">
            <a:extLst>
              <a:ext uri="{FF2B5EF4-FFF2-40B4-BE49-F238E27FC236}">
                <a16:creationId xmlns:a16="http://schemas.microsoft.com/office/drawing/2014/main" id="{226DF4D4-A5D2-45B3-9C96-BF79F0E64DE9}"/>
              </a:ext>
            </a:extLst>
          </p:cNvPr>
          <p:cNvSpPr>
            <a:spLocks noGrp="1"/>
          </p:cNvSpPr>
          <p:nvPr/>
        </p:nvSpPr>
        <p:spPr>
          <a:xfrm>
            <a:off x="1790700" y="1866900"/>
            <a:ext cx="1066800" cy="190500"/>
          </a:xfrm>
          <a:prstGeom prst="rect">
            <a:avLst/>
          </a:prstGeom>
          <a:noFill/>
          <a:ln w="0">
            <a:noFill/>
          </a:ln>
        </p:spPr>
        <p:txBody>
          <a:bodyPr wrap="square" lIns="0" tIns="0" rIns="0" bIns="0" anchor="t">
            <a:noAutofit/>
          </a:bodyPr>
          <a:lstStyle/>
          <a:p>
            <a:pPr algn="ctr">
              <a:lnSpc>
                <a:spcPct val="110000"/>
              </a:lnSpc>
              <a:buNone/>
              <a:defRPr sz="863" b="0">
                <a:solidFill>
                  <a:srgbClr val="006ABA"/>
                </a:solidFill>
                <a:latin typeface="Arial"/>
                <a:ea typeface="Arial"/>
                <a:cs typeface="Arial"/>
              </a:defRPr>
            </a:pPr>
            <a:r>
              <a:rPr sz="863" b="0">
                <a:solidFill>
                  <a:srgbClr val="006ABA"/>
                </a:solidFill>
                <a:latin typeface="Arial"/>
                <a:ea typeface="Arial"/>
                <a:cs typeface="Arial"/>
              </a:rPr>
              <a:t>index 1</a:t>
            </a:r>
          </a:p>
        </p:txBody>
      </p:sp>
      <p:sp>
        <p:nvSpPr>
          <p:cNvPr id="20" name="text">
            <a:extLst>
              <a:ext uri="{FF2B5EF4-FFF2-40B4-BE49-F238E27FC236}">
                <a16:creationId xmlns:a16="http://schemas.microsoft.com/office/drawing/2014/main" id="{129F895C-3F01-4770-99FC-3B97B0CB6763}"/>
              </a:ext>
            </a:extLst>
          </p:cNvPr>
          <p:cNvSpPr>
            <a:spLocks noGrp="1"/>
          </p:cNvSpPr>
          <p:nvPr/>
        </p:nvSpPr>
        <p:spPr>
          <a:xfrm>
            <a:off x="2857500" y="1866900"/>
            <a:ext cx="1066800" cy="190500"/>
          </a:xfrm>
          <a:prstGeom prst="rect">
            <a:avLst/>
          </a:prstGeom>
          <a:noFill/>
          <a:ln w="0">
            <a:noFill/>
          </a:ln>
        </p:spPr>
        <p:txBody>
          <a:bodyPr wrap="square" lIns="0" tIns="0" rIns="0" bIns="0" anchor="t">
            <a:noAutofit/>
          </a:bodyPr>
          <a:lstStyle/>
          <a:p>
            <a:pPr algn="ctr">
              <a:lnSpc>
                <a:spcPct val="110000"/>
              </a:lnSpc>
              <a:buNone/>
              <a:defRPr sz="863" b="0">
                <a:solidFill>
                  <a:srgbClr val="006ABA"/>
                </a:solidFill>
                <a:latin typeface="Arial"/>
                <a:ea typeface="Arial"/>
                <a:cs typeface="Arial"/>
              </a:defRPr>
            </a:pPr>
            <a:r>
              <a:rPr sz="863" b="0">
                <a:solidFill>
                  <a:srgbClr val="006ABA"/>
                </a:solidFill>
                <a:latin typeface="Arial"/>
                <a:ea typeface="Arial"/>
                <a:cs typeface="Arial"/>
              </a:rPr>
              <a:t>index 2</a:t>
            </a:r>
          </a:p>
        </p:txBody>
      </p:sp>
      <p:sp>
        <p:nvSpPr>
          <p:cNvPr id="21" name="text">
            <a:extLst>
              <a:ext uri="{FF2B5EF4-FFF2-40B4-BE49-F238E27FC236}">
                <a16:creationId xmlns:a16="http://schemas.microsoft.com/office/drawing/2014/main" id="{E54686E1-318A-4B14-B1A0-E69F141535B9}"/>
              </a:ext>
            </a:extLst>
          </p:cNvPr>
          <p:cNvSpPr>
            <a:spLocks noGrp="1"/>
          </p:cNvSpPr>
          <p:nvPr/>
        </p:nvSpPr>
        <p:spPr>
          <a:xfrm>
            <a:off x="3924300" y="1866900"/>
            <a:ext cx="1066800" cy="190500"/>
          </a:xfrm>
          <a:prstGeom prst="rect">
            <a:avLst/>
          </a:prstGeom>
          <a:noFill/>
          <a:ln w="0">
            <a:noFill/>
          </a:ln>
        </p:spPr>
        <p:txBody>
          <a:bodyPr wrap="square" lIns="0" tIns="0" rIns="0" bIns="0" anchor="t">
            <a:noAutofit/>
          </a:bodyPr>
          <a:lstStyle/>
          <a:p>
            <a:pPr algn="ctr">
              <a:lnSpc>
                <a:spcPct val="110000"/>
              </a:lnSpc>
              <a:buNone/>
              <a:defRPr sz="863" b="0">
                <a:solidFill>
                  <a:srgbClr val="006ABA"/>
                </a:solidFill>
                <a:latin typeface="Arial"/>
                <a:ea typeface="Arial"/>
                <a:cs typeface="Arial"/>
              </a:defRPr>
            </a:pPr>
            <a:r>
              <a:rPr sz="863" b="0">
                <a:solidFill>
                  <a:srgbClr val="006ABA"/>
                </a:solidFill>
                <a:latin typeface="Arial"/>
                <a:ea typeface="Arial"/>
                <a:cs typeface="Arial"/>
              </a:rPr>
              <a:t>index 3</a:t>
            </a:r>
          </a:p>
        </p:txBody>
      </p:sp>
      <p:sp>
        <p:nvSpPr>
          <p:cNvPr id="22" name="text">
            <a:extLst>
              <a:ext uri="{FF2B5EF4-FFF2-40B4-BE49-F238E27FC236}">
                <a16:creationId xmlns:a16="http://schemas.microsoft.com/office/drawing/2014/main" id="{BFECA38C-DD8A-4763-8152-528111A77EE0}"/>
              </a:ext>
            </a:extLst>
          </p:cNvPr>
          <p:cNvSpPr>
            <a:spLocks noGrp="1"/>
          </p:cNvSpPr>
          <p:nvPr/>
        </p:nvSpPr>
        <p:spPr>
          <a:xfrm>
            <a:off x="228600" y="2600325"/>
            <a:ext cx="5314950" cy="228600"/>
          </a:xfrm>
          <a:prstGeom prst="rect">
            <a:avLst/>
          </a:prstGeom>
          <a:noFill/>
          <a:ln w="0">
            <a:noFill/>
          </a:ln>
        </p:spPr>
        <p:txBody>
          <a:bodyPr wrap="square" lIns="0" tIns="0" rIns="0" bIns="0" anchor="t">
            <a:noAutofit/>
          </a:bodyPr>
          <a:lstStyle/>
          <a:p>
            <a:pPr algn="l">
              <a:lnSpc>
                <a:spcPct val="110000"/>
              </a:lnSpc>
              <a:buNone/>
              <a:defRPr sz="885" b="0">
                <a:solidFill>
                  <a:srgbClr val="006ABA"/>
                </a:solidFill>
                <a:latin typeface="Arial"/>
                <a:ea typeface="Arial"/>
                <a:cs typeface="Arial"/>
              </a:defRPr>
            </a:pPr>
            <a:r>
              <a:rPr sz="885" b="0">
                <a:solidFill>
                  <a:srgbClr val="006ABA"/>
                </a:solidFill>
                <a:latin typeface="Arial"/>
                <a:ea typeface="Arial"/>
                <a:cs typeface="Arial"/>
              </a:rPr>
              <a:t>C++ array: fixed size. C++ vector and Python list: resizable.</a:t>
            </a:r>
          </a:p>
        </p:txBody>
      </p:sp>
      <p:sp>
        <p:nvSpPr>
          <p:cNvPr id="23" name="text">
            <a:extLst>
              <a:ext uri="{FF2B5EF4-FFF2-40B4-BE49-F238E27FC236}">
                <a16:creationId xmlns:a16="http://schemas.microsoft.com/office/drawing/2014/main" id="{04E12752-1809-423A-9AC8-23567E9A7CC9}"/>
              </a:ext>
            </a:extLst>
          </p:cNvPr>
          <p:cNvSpPr>
            <a:spLocks noGrp="1"/>
          </p:cNvSpPr>
          <p:nvPr/>
        </p:nvSpPr>
        <p:spPr>
          <a:xfrm>
            <a:off x="228600" y="2867025"/>
            <a:ext cx="5334000" cy="95250"/>
          </a:xfrm>
          <a:prstGeom prst="rect">
            <a:avLst/>
          </a:prstGeom>
          <a:noFill/>
          <a:ln w="0">
            <a:noFill/>
          </a:ln>
        </p:spPr>
        <p:txBody>
          <a:bodyPr wrap="square" lIns="0" tIns="0" rIns="0" bIns="0" anchor="t">
            <a:noAutofit/>
          </a:bodyPr>
          <a:lstStyle/>
          <a:p>
            <a:pPr algn="l">
              <a:lnSpc>
                <a:spcPct val="110000"/>
              </a:lnSpc>
              <a:buNone/>
              <a:defRPr sz="510" b="0">
                <a:solidFill>
                  <a:srgbClr val="66717C"/>
                </a:solidFill>
                <a:latin typeface="Arial"/>
                <a:ea typeface="Arial"/>
                <a:cs typeface="Arial"/>
              </a:defRPr>
            </a:pPr>
            <a:r>
              <a:rPr sz="510" b="0">
                <a:solidFill>
                  <a:srgbClr val="66717C"/>
                </a:solidFill>
                <a:latin typeface="Arial"/>
                <a:ea typeface="Arial"/>
                <a:cs typeface="Arial"/>
              </a:rPr>
              <a:t>[I]  [M]  [C]  [PY]</a:t>
            </a:r>
          </a:p>
        </p:txBody>
      </p:sp>
    </p:spTree>
    <p:extLst>
      <p:ext uri="{BB962C8B-B14F-4D97-AF65-F5344CB8AC3E}">
        <p14:creationId xmlns:p14="http://schemas.microsoft.com/office/powerpoint/2010/main" val="36456721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19C03931-4A28-44C2-9238-650F85D8C2AD}"/>
              </a:ext>
            </a:extLst>
          </p:cNvPr>
          <p:cNvSpPr>
            <a:spLocks noGrp="1"/>
          </p:cNvSpPr>
          <p:nvPr>
            <p:ph type="title"/>
          </p:nvPr>
        </p:nvSpPr>
        <p:spPr>
          <a:xfrm>
            <a:off x="171450" y="95250"/>
            <a:ext cx="5429250" cy="304800"/>
          </a:xfrm>
          <a:prstGeom prst="rect">
            <a:avLst/>
          </a:prstGeom>
        </p:spPr>
        <p:txBody>
          <a:bodyPr vert="horz" wrap="square" lIns="0" tIns="0" rIns="0" bIns="0">
            <a:noAutofit/>
          </a:bodyPr>
          <a:lstStyle/>
          <a:p>
            <a:pPr marL="12700" algn="l">
              <a:lnSpc>
                <a:spcPct val="110000"/>
              </a:lnSpc>
              <a:spcBef>
                <a:spcPts val="135"/>
              </a:spcBef>
              <a:buNone/>
              <a:defRPr sz="1400">
                <a:solidFill>
                  <a:srgbClr val="006ABA"/>
                </a:solidFill>
                <a:latin typeface="Arial"/>
                <a:ea typeface="Arial"/>
                <a:cs typeface="Arial"/>
              </a:defRPr>
            </a:pPr>
            <a:r>
              <a:rPr sz="1400" b="0" spc="-10">
                <a:solidFill>
                  <a:srgbClr val="006ABA"/>
                </a:solidFill>
                <a:latin typeface="Arial"/>
                <a:ea typeface="Arial"/>
                <a:cs typeface="Arial"/>
              </a:rPr>
              <a:t>Vectors and Python lists</a:t>
            </a:r>
            <a:endParaRPr sz="1400" b="0" spc="-10">
              <a:latin typeface="Arial"/>
              <a:ea typeface="Arial"/>
              <a:cs typeface="Arial"/>
            </a:endParaRPr>
          </a:p>
        </p:txBody>
      </p:sp>
      <p:pic>
        <p:nvPicPr>
          <p:cNvPr id="31" name="object 4"/>
          <p:cNvPicPr>
            <a:picLocks noChangeAspect="1"/>
          </p:cNvPicPr>
          <p:nvPr/>
        </p:nvPicPr>
        <p:blipFill>
          <a:blip r:embed="rId3"/>
          <a:stretch>
            <a:fillRect/>
          </a:stretch>
        </p:blipFill>
        <p:spPr>
          <a:xfrm>
            <a:off x="152565" y="2988507"/>
            <a:ext cx="900668" cy="161917"/>
          </a:xfrm>
          <a:prstGeom prst="rect">
            <a:avLst/>
          </a:prstGeom>
        </p:spPr>
      </p:pic>
      <p:pic>
        <p:nvPicPr>
          <p:cNvPr id="32" name="object 5"/>
          <p:cNvPicPr>
            <a:picLocks noChangeAspect="1"/>
          </p:cNvPicPr>
          <p:nvPr/>
        </p:nvPicPr>
        <p:blipFill>
          <a:blip r:embed="rId4"/>
          <a:stretch>
            <a:fillRect/>
          </a:stretch>
        </p:blipFill>
        <p:spPr>
          <a:xfrm>
            <a:off x="1286560" y="2988417"/>
            <a:ext cx="610912" cy="162008"/>
          </a:xfrm>
          <a:prstGeom prst="rect">
            <a:avLst/>
          </a:prstGeom>
        </p:spPr>
      </p:pic>
      <p:sp>
        <p:nvSpPr>
          <p:cNvPr id="10" name="Footer Placeholder 7">
            <a:extLst>
              <a:ext uri="{FF2B5EF4-FFF2-40B4-BE49-F238E27FC236}">
                <a16:creationId xmlns:a16="http://schemas.microsoft.com/office/drawing/2014/main" id="{197FE2C8-8EE2-4937-3F30-294DB47641D6}"/>
              </a:ext>
            </a:extLst>
          </p:cNvPr>
          <p:cNvSpPr>
            <a:spLocks noGrp="1"/>
          </p:cNvSpPr>
          <p:nvPr>
            <p:ph type="ftr" idx="5"/>
          </p:nvPr>
        </p:nvSpPr>
        <p:spPr>
          <a:xfrm>
            <a:off x="2590800" y="3105150"/>
            <a:ext cx="2743200" cy="95250"/>
          </a:xfrm>
        </p:spPr>
        <p:txBody>
          <a:bodyPr wrap="square" lIns="0" tIns="0" rIns="0" bIns="0">
            <a:noAutofit/>
          </a:bodyPr>
          <a:lstStyle/>
          <a:p>
            <a:pPr algn="r">
              <a:lnSpc>
                <a:spcPct val="110000"/>
              </a:lnSpc>
              <a:buNone/>
              <a:defRPr sz="500">
                <a:solidFill>
                  <a:srgbClr val="888888"/>
                </a:solidFill>
                <a:latin typeface="Arial"/>
                <a:ea typeface="Arial"/>
                <a:cs typeface="Arial"/>
              </a:defRPr>
            </a:pPr>
            <a:r>
              <a:rPr sz="500">
                <a:solidFill>
                  <a:srgbClr val="888888"/>
                </a:solidFill>
                <a:latin typeface="Arial"/>
                <a:ea typeface="Arial"/>
                <a:cs typeface="Arial"/>
              </a:rPr>
              <a:t>MAS Foundations - Kamendu Panchal</a:t>
            </a:r>
            <a:endParaRPr sz="500" b="1">
              <a:solidFill>
                <a:schemeClr val="tx1"/>
              </a:solidFill>
              <a:latin typeface="Arial"/>
              <a:ea typeface="Arial"/>
              <a:cs typeface="Arial"/>
            </a:endParaRPr>
          </a:p>
        </p:txBody>
      </p:sp>
      <p:sp>
        <p:nvSpPr>
          <p:cNvPr id="3" name="TextBox 2">
            <a:extLst>
              <a:ext uri="{FF2B5EF4-FFF2-40B4-BE49-F238E27FC236}">
                <a16:creationId xmlns:a16="http://schemas.microsoft.com/office/drawing/2014/main" id="{DCE8FEB4-DA15-74FB-D091-FA2B80C9B501}"/>
              </a:ext>
            </a:extLst>
          </p:cNvPr>
          <p:cNvSpPr>
            <a:spLocks noGrp="1"/>
          </p:cNvSpPr>
          <p:nvPr/>
        </p:nvSpPr>
        <p:spPr>
          <a:xfrm>
            <a:off x="5438775" y="3086100"/>
            <a:ext cx="209550" cy="175260"/>
          </a:xfrm>
          <a:prstGeom prst="rect">
            <a:avLst/>
          </a:prstGeom>
          <a:noFill/>
        </p:spPr>
        <p:txBody>
          <a:bodyPr wrap="square" lIns="0" tIns="0" rIns="0" bIns="0">
            <a:noAutofit/>
          </a:bodyPr>
          <a:lstStyle/>
          <a:p>
            <a:pPr algn="r">
              <a:lnSpc>
                <a:spcPct val="110000"/>
              </a:lnSpc>
              <a:buNone/>
              <a:defRPr sz="500">
                <a:solidFill>
                  <a:srgbClr val="202020"/>
                </a:solidFill>
                <a:latin typeface="Arial"/>
                <a:ea typeface="Arial"/>
                <a:cs typeface="Arial"/>
              </a:defRPr>
            </a:pPr>
            <a:r>
              <a:rPr sz="500">
                <a:solidFill>
                  <a:srgbClr val="202020"/>
                </a:solidFill>
                <a:latin typeface="Arial"/>
                <a:ea typeface="Arial"/>
                <a:cs typeface="Arial"/>
              </a:rPr>
              <a:t>16</a:t>
            </a:r>
          </a:p>
        </p:txBody>
      </p:sp>
      <p:sp>
        <p:nvSpPr>
          <p:cNvPr id="13" name="text">
            <a:extLst>
              <a:ext uri="{FF2B5EF4-FFF2-40B4-BE49-F238E27FC236}">
                <a16:creationId xmlns:a16="http://schemas.microsoft.com/office/drawing/2014/main" id="{CDD66C93-B16C-46F9-922A-F933EE1FE60E}"/>
              </a:ext>
            </a:extLst>
          </p:cNvPr>
          <p:cNvSpPr>
            <a:spLocks noGrp="1"/>
          </p:cNvSpPr>
          <p:nvPr/>
        </p:nvSpPr>
        <p:spPr>
          <a:xfrm>
            <a:off x="228600" y="504825"/>
            <a:ext cx="5314950" cy="381000"/>
          </a:xfrm>
          <a:prstGeom prst="rect">
            <a:avLst/>
          </a:prstGeom>
          <a:noFill/>
          <a:ln w="0">
            <a:noFill/>
          </a:ln>
        </p:spPr>
        <p:txBody>
          <a:bodyPr wrap="square" lIns="0" tIns="0" rIns="0" bIns="0" anchor="t">
            <a:noAutofit/>
          </a:bodyPr>
          <a:lstStyle/>
          <a:p>
            <a:pPr algn="l">
              <a:lnSpc>
                <a:spcPct val="110000"/>
              </a:lnSpc>
              <a:buNone/>
              <a:defRPr sz="998" b="0">
                <a:solidFill>
                  <a:srgbClr val="202020"/>
                </a:solidFill>
                <a:latin typeface="Arial"/>
                <a:ea typeface="Arial"/>
                <a:cs typeface="Arial"/>
              </a:defRPr>
            </a:pPr>
            <a:r>
              <a:rPr sz="998" b="0">
                <a:solidFill>
                  <a:srgbClr val="202020"/>
                </a:solidFill>
                <a:latin typeface="Arial"/>
                <a:ea typeface="Arial"/>
                <a:cs typeface="Arial"/>
              </a:rPr>
              <a:t>Both examples append a value and read an indexed element.</a:t>
            </a:r>
          </a:p>
        </p:txBody>
      </p:sp>
      <p:sp>
        <p:nvSpPr>
          <p:cNvPr id="14" name="Rectangle 13">
            <a:extLst>
              <a:ext uri="{FF2B5EF4-FFF2-40B4-BE49-F238E27FC236}">
                <a16:creationId xmlns:a16="http://schemas.microsoft.com/office/drawing/2014/main" id="{21561520-8AE4-461A-A20D-748FD116CC1F}"/>
              </a:ext>
            </a:extLst>
          </p:cNvPr>
          <p:cNvSpPr>
            <a:spLocks noGrp="1"/>
          </p:cNvSpPr>
          <p:nvPr/>
        </p:nvSpPr>
        <p:spPr>
          <a:xfrm>
            <a:off x="228600" y="981075"/>
            <a:ext cx="2600325" cy="1504950"/>
          </a:xfrm>
          <a:prstGeom prst="rect">
            <a:avLst/>
          </a:prstGeom>
          <a:solidFill>
            <a:srgbClr val="101827"/>
          </a:solidFill>
          <a:ln w="0">
            <a:noFill/>
          </a:ln>
        </p:spPr>
      </p:sp>
      <p:sp>
        <p:nvSpPr>
          <p:cNvPr id="15" name="Rectangle 14">
            <a:extLst>
              <a:ext uri="{FF2B5EF4-FFF2-40B4-BE49-F238E27FC236}">
                <a16:creationId xmlns:a16="http://schemas.microsoft.com/office/drawing/2014/main" id="{5DAECC14-167A-4C94-8455-4496CF81CF86}"/>
              </a:ext>
            </a:extLst>
          </p:cNvPr>
          <p:cNvSpPr>
            <a:spLocks noGrp="1"/>
          </p:cNvSpPr>
          <p:nvPr/>
        </p:nvSpPr>
        <p:spPr>
          <a:xfrm>
            <a:off x="228600" y="800100"/>
            <a:ext cx="2600325" cy="180975"/>
          </a:xfrm>
          <a:prstGeom prst="rect">
            <a:avLst/>
          </a:prstGeom>
          <a:solidFill>
            <a:srgbClr val="006ABA"/>
          </a:solidFill>
          <a:ln w="0">
            <a:noFill/>
          </a:ln>
        </p:spPr>
      </p:sp>
      <p:sp>
        <p:nvSpPr>
          <p:cNvPr id="16" name="text">
            <a:extLst>
              <a:ext uri="{FF2B5EF4-FFF2-40B4-BE49-F238E27FC236}">
                <a16:creationId xmlns:a16="http://schemas.microsoft.com/office/drawing/2014/main" id="{DFB9C2FD-D6E2-46E6-B9A7-EF93EB7A1E3A}"/>
              </a:ext>
            </a:extLst>
          </p:cNvPr>
          <p:cNvSpPr>
            <a:spLocks noGrp="1"/>
          </p:cNvSpPr>
          <p:nvPr/>
        </p:nvSpPr>
        <p:spPr>
          <a:xfrm>
            <a:off x="228600" y="819150"/>
            <a:ext cx="2600325" cy="161925"/>
          </a:xfrm>
          <a:prstGeom prst="rect">
            <a:avLst/>
          </a:prstGeom>
          <a:noFill/>
          <a:ln w="0">
            <a:noFill/>
          </a:ln>
        </p:spPr>
        <p:txBody>
          <a:bodyPr wrap="square" lIns="0" tIns="0" rIns="0" bIns="0" anchor="t">
            <a:noAutofit/>
          </a:bodyPr>
          <a:lstStyle/>
          <a:p>
            <a:pPr algn="ctr">
              <a:lnSpc>
                <a:spcPct val="110000"/>
              </a:lnSpc>
              <a:buNone/>
              <a:defRPr sz="825" b="1">
                <a:solidFill>
                  <a:srgbClr val="FFFFFF"/>
                </a:solidFill>
                <a:latin typeface="Arial"/>
                <a:ea typeface="Arial"/>
                <a:cs typeface="Arial"/>
              </a:defRPr>
            </a:pPr>
            <a:r>
              <a:rPr sz="825" b="1">
                <a:solidFill>
                  <a:srgbClr val="FFFFFF"/>
                </a:solidFill>
                <a:latin typeface="Arial"/>
                <a:ea typeface="Arial"/>
                <a:cs typeface="Arial"/>
              </a:rPr>
              <a:t>C++17</a:t>
            </a:r>
          </a:p>
        </p:txBody>
      </p:sp>
      <p:sp>
        <p:nvSpPr>
          <p:cNvPr id="17" name="text">
            <a:extLst>
              <a:ext uri="{FF2B5EF4-FFF2-40B4-BE49-F238E27FC236}">
                <a16:creationId xmlns:a16="http://schemas.microsoft.com/office/drawing/2014/main" id="{17F23635-025F-459C-B354-807A792CA8F7}"/>
              </a:ext>
            </a:extLst>
          </p:cNvPr>
          <p:cNvSpPr>
            <a:spLocks noGrp="1"/>
          </p:cNvSpPr>
          <p:nvPr/>
        </p:nvSpPr>
        <p:spPr>
          <a:xfrm>
            <a:off x="295275" y="106680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std::vector&lt;int&gt; a{10, 20, 30};</a:t>
            </a:r>
          </a:p>
        </p:txBody>
      </p:sp>
      <p:sp>
        <p:nvSpPr>
          <p:cNvPr id="18" name="text">
            <a:extLst>
              <a:ext uri="{FF2B5EF4-FFF2-40B4-BE49-F238E27FC236}">
                <a16:creationId xmlns:a16="http://schemas.microsoft.com/office/drawing/2014/main" id="{82D08468-8C60-48D6-9FDB-F5F00B891535}"/>
              </a:ext>
            </a:extLst>
          </p:cNvPr>
          <p:cNvSpPr>
            <a:spLocks noGrp="1"/>
          </p:cNvSpPr>
          <p:nvPr/>
        </p:nvSpPr>
        <p:spPr>
          <a:xfrm>
            <a:off x="295275" y="119634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a.push_back(40);</a:t>
            </a:r>
          </a:p>
        </p:txBody>
      </p:sp>
      <p:sp>
        <p:nvSpPr>
          <p:cNvPr id="19" name="text">
            <a:extLst>
              <a:ext uri="{FF2B5EF4-FFF2-40B4-BE49-F238E27FC236}">
                <a16:creationId xmlns:a16="http://schemas.microsoft.com/office/drawing/2014/main" id="{5DEB9009-4C56-4A63-BA82-FE580C56C6C4}"/>
              </a:ext>
            </a:extLst>
          </p:cNvPr>
          <p:cNvSpPr>
            <a:spLocks noGrp="1"/>
          </p:cNvSpPr>
          <p:nvPr/>
        </p:nvSpPr>
        <p:spPr>
          <a:xfrm>
            <a:off x="295275" y="132588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std::cout &lt;&lt; a[2] &lt;&lt; "\n";</a:t>
            </a:r>
          </a:p>
        </p:txBody>
      </p:sp>
      <p:sp>
        <p:nvSpPr>
          <p:cNvPr id="20" name="text">
            <a:extLst>
              <a:ext uri="{FF2B5EF4-FFF2-40B4-BE49-F238E27FC236}">
                <a16:creationId xmlns:a16="http://schemas.microsoft.com/office/drawing/2014/main" id="{BA6C1EDD-A5DB-4A11-9743-4724C5482591}"/>
              </a:ext>
            </a:extLst>
          </p:cNvPr>
          <p:cNvSpPr>
            <a:spLocks noGrp="1"/>
          </p:cNvSpPr>
          <p:nvPr/>
        </p:nvSpPr>
        <p:spPr>
          <a:xfrm>
            <a:off x="295275" y="145542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a.pop_back();</a:t>
            </a:r>
          </a:p>
        </p:txBody>
      </p:sp>
      <p:sp>
        <p:nvSpPr>
          <p:cNvPr id="21" name="Rectangle 20">
            <a:extLst>
              <a:ext uri="{FF2B5EF4-FFF2-40B4-BE49-F238E27FC236}">
                <a16:creationId xmlns:a16="http://schemas.microsoft.com/office/drawing/2014/main" id="{C0078819-9BD2-4C39-B411-CE2EAC5342FA}"/>
              </a:ext>
            </a:extLst>
          </p:cNvPr>
          <p:cNvSpPr>
            <a:spLocks noGrp="1"/>
          </p:cNvSpPr>
          <p:nvPr/>
        </p:nvSpPr>
        <p:spPr>
          <a:xfrm>
            <a:off x="2990850" y="981075"/>
            <a:ext cx="2600325" cy="1504950"/>
          </a:xfrm>
          <a:prstGeom prst="rect">
            <a:avLst/>
          </a:prstGeom>
          <a:solidFill>
            <a:srgbClr val="101827"/>
          </a:solidFill>
          <a:ln w="0">
            <a:noFill/>
          </a:ln>
        </p:spPr>
      </p:sp>
      <p:sp>
        <p:nvSpPr>
          <p:cNvPr id="22" name="Rectangle 21">
            <a:extLst>
              <a:ext uri="{FF2B5EF4-FFF2-40B4-BE49-F238E27FC236}">
                <a16:creationId xmlns:a16="http://schemas.microsoft.com/office/drawing/2014/main" id="{3933E69E-1342-4D1F-AB11-AC89A82FFD1D}"/>
              </a:ext>
            </a:extLst>
          </p:cNvPr>
          <p:cNvSpPr>
            <a:spLocks noGrp="1"/>
          </p:cNvSpPr>
          <p:nvPr/>
        </p:nvSpPr>
        <p:spPr>
          <a:xfrm>
            <a:off x="2990850" y="800100"/>
            <a:ext cx="2600325" cy="180975"/>
          </a:xfrm>
          <a:prstGeom prst="rect">
            <a:avLst/>
          </a:prstGeom>
          <a:solidFill>
            <a:srgbClr val="1AA260"/>
          </a:solidFill>
          <a:ln w="0">
            <a:noFill/>
          </a:ln>
        </p:spPr>
      </p:sp>
      <p:sp>
        <p:nvSpPr>
          <p:cNvPr id="23" name="text">
            <a:extLst>
              <a:ext uri="{FF2B5EF4-FFF2-40B4-BE49-F238E27FC236}">
                <a16:creationId xmlns:a16="http://schemas.microsoft.com/office/drawing/2014/main" id="{62096280-566F-4100-91E8-AA959774AF1F}"/>
              </a:ext>
            </a:extLst>
          </p:cNvPr>
          <p:cNvSpPr>
            <a:spLocks noGrp="1"/>
          </p:cNvSpPr>
          <p:nvPr/>
        </p:nvSpPr>
        <p:spPr>
          <a:xfrm>
            <a:off x="2990850" y="819150"/>
            <a:ext cx="2600325" cy="161925"/>
          </a:xfrm>
          <a:prstGeom prst="rect">
            <a:avLst/>
          </a:prstGeom>
          <a:noFill/>
          <a:ln w="0">
            <a:noFill/>
          </a:ln>
        </p:spPr>
        <p:txBody>
          <a:bodyPr wrap="square" lIns="0" tIns="0" rIns="0" bIns="0" anchor="t">
            <a:noAutofit/>
          </a:bodyPr>
          <a:lstStyle/>
          <a:p>
            <a:pPr algn="ctr">
              <a:lnSpc>
                <a:spcPct val="110000"/>
              </a:lnSpc>
              <a:buNone/>
              <a:defRPr sz="825" b="1">
                <a:solidFill>
                  <a:srgbClr val="FFFFFF"/>
                </a:solidFill>
                <a:latin typeface="Arial"/>
                <a:ea typeface="Arial"/>
                <a:cs typeface="Arial"/>
              </a:defRPr>
            </a:pPr>
            <a:r>
              <a:rPr sz="825" b="1">
                <a:solidFill>
                  <a:srgbClr val="FFFFFF"/>
                </a:solidFill>
                <a:latin typeface="Arial"/>
                <a:ea typeface="Arial"/>
                <a:cs typeface="Arial"/>
              </a:rPr>
              <a:t>Python 3</a:t>
            </a:r>
          </a:p>
        </p:txBody>
      </p:sp>
      <p:sp>
        <p:nvSpPr>
          <p:cNvPr id="24" name="text">
            <a:extLst>
              <a:ext uri="{FF2B5EF4-FFF2-40B4-BE49-F238E27FC236}">
                <a16:creationId xmlns:a16="http://schemas.microsoft.com/office/drawing/2014/main" id="{CFA4E2A1-6730-491B-A3DF-A158B4677417}"/>
              </a:ext>
            </a:extLst>
          </p:cNvPr>
          <p:cNvSpPr>
            <a:spLocks noGrp="1"/>
          </p:cNvSpPr>
          <p:nvPr/>
        </p:nvSpPr>
        <p:spPr>
          <a:xfrm>
            <a:off x="3057525" y="106680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a = [10, 20, 30]</a:t>
            </a:r>
          </a:p>
        </p:txBody>
      </p:sp>
      <p:sp>
        <p:nvSpPr>
          <p:cNvPr id="25" name="text">
            <a:extLst>
              <a:ext uri="{FF2B5EF4-FFF2-40B4-BE49-F238E27FC236}">
                <a16:creationId xmlns:a16="http://schemas.microsoft.com/office/drawing/2014/main" id="{1463BA09-53F2-471A-BB22-5AA4149735AC}"/>
              </a:ext>
            </a:extLst>
          </p:cNvPr>
          <p:cNvSpPr>
            <a:spLocks noGrp="1"/>
          </p:cNvSpPr>
          <p:nvPr/>
        </p:nvSpPr>
        <p:spPr>
          <a:xfrm>
            <a:off x="3057525" y="119634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a.append(40)</a:t>
            </a:r>
          </a:p>
        </p:txBody>
      </p:sp>
      <p:sp>
        <p:nvSpPr>
          <p:cNvPr id="26" name="text">
            <a:extLst>
              <a:ext uri="{FF2B5EF4-FFF2-40B4-BE49-F238E27FC236}">
                <a16:creationId xmlns:a16="http://schemas.microsoft.com/office/drawing/2014/main" id="{800AEDEF-5AA4-47D8-A18F-FA1B1B9FA8B5}"/>
              </a:ext>
            </a:extLst>
          </p:cNvPr>
          <p:cNvSpPr>
            <a:spLocks noGrp="1"/>
          </p:cNvSpPr>
          <p:nvPr/>
        </p:nvSpPr>
        <p:spPr>
          <a:xfrm>
            <a:off x="3057525" y="132588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print(a[2])</a:t>
            </a:r>
          </a:p>
        </p:txBody>
      </p:sp>
      <p:sp>
        <p:nvSpPr>
          <p:cNvPr id="27" name="text">
            <a:extLst>
              <a:ext uri="{FF2B5EF4-FFF2-40B4-BE49-F238E27FC236}">
                <a16:creationId xmlns:a16="http://schemas.microsoft.com/office/drawing/2014/main" id="{FB3512CE-21B2-4348-B163-ABDA07B16FF2}"/>
              </a:ext>
            </a:extLst>
          </p:cNvPr>
          <p:cNvSpPr>
            <a:spLocks noGrp="1"/>
          </p:cNvSpPr>
          <p:nvPr/>
        </p:nvSpPr>
        <p:spPr>
          <a:xfrm>
            <a:off x="3057525" y="145542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a.pop()</a:t>
            </a:r>
          </a:p>
        </p:txBody>
      </p:sp>
      <p:sp>
        <p:nvSpPr>
          <p:cNvPr id="28" name="text">
            <a:extLst>
              <a:ext uri="{FF2B5EF4-FFF2-40B4-BE49-F238E27FC236}">
                <a16:creationId xmlns:a16="http://schemas.microsoft.com/office/drawing/2014/main" id="{2D3D793F-CA32-4723-ADBF-6BAACD770700}"/>
              </a:ext>
            </a:extLst>
          </p:cNvPr>
          <p:cNvSpPr>
            <a:spLocks noGrp="1"/>
          </p:cNvSpPr>
          <p:nvPr/>
        </p:nvSpPr>
        <p:spPr>
          <a:xfrm>
            <a:off x="228600" y="2600325"/>
            <a:ext cx="5314950" cy="228600"/>
          </a:xfrm>
          <a:prstGeom prst="rect">
            <a:avLst/>
          </a:prstGeom>
          <a:noFill/>
          <a:ln w="0">
            <a:noFill/>
          </a:ln>
        </p:spPr>
        <p:txBody>
          <a:bodyPr wrap="square" lIns="0" tIns="0" rIns="0" bIns="0" anchor="t">
            <a:noAutofit/>
          </a:bodyPr>
          <a:lstStyle/>
          <a:p>
            <a:pPr algn="l">
              <a:lnSpc>
                <a:spcPct val="110000"/>
              </a:lnSpc>
              <a:buNone/>
              <a:defRPr sz="885" b="0">
                <a:solidFill>
                  <a:srgbClr val="006ABA"/>
                </a:solidFill>
                <a:latin typeface="Arial"/>
                <a:ea typeface="Arial"/>
                <a:cs typeface="Arial"/>
              </a:defRPr>
            </a:pPr>
            <a:r>
              <a:rPr sz="885" b="0">
                <a:solidFill>
                  <a:srgbClr val="006ABA"/>
                </a:solidFill>
                <a:latin typeface="Arial"/>
                <a:ea typeface="Arial"/>
                <a:cs typeface="Arial"/>
              </a:rPr>
              <a:t>Output: 30. Final sequence: 10, 20, 30.</a:t>
            </a:r>
          </a:p>
        </p:txBody>
      </p:sp>
      <p:sp>
        <p:nvSpPr>
          <p:cNvPr id="29" name="text">
            <a:extLst>
              <a:ext uri="{FF2B5EF4-FFF2-40B4-BE49-F238E27FC236}">
                <a16:creationId xmlns:a16="http://schemas.microsoft.com/office/drawing/2014/main" id="{3512483E-E124-43D8-8958-68AAF82885EB}"/>
              </a:ext>
            </a:extLst>
          </p:cNvPr>
          <p:cNvSpPr>
            <a:spLocks noGrp="1"/>
          </p:cNvSpPr>
          <p:nvPr/>
        </p:nvSpPr>
        <p:spPr>
          <a:xfrm>
            <a:off x="228600" y="2867025"/>
            <a:ext cx="5334000" cy="95250"/>
          </a:xfrm>
          <a:prstGeom prst="rect">
            <a:avLst/>
          </a:prstGeom>
          <a:noFill/>
          <a:ln w="0">
            <a:noFill/>
          </a:ln>
        </p:spPr>
        <p:txBody>
          <a:bodyPr wrap="square" lIns="0" tIns="0" rIns="0" bIns="0" anchor="t">
            <a:noAutofit/>
          </a:bodyPr>
          <a:lstStyle/>
          <a:p>
            <a:pPr algn="l">
              <a:lnSpc>
                <a:spcPct val="110000"/>
              </a:lnSpc>
              <a:buNone/>
              <a:defRPr sz="510" b="0">
                <a:solidFill>
                  <a:srgbClr val="66717C"/>
                </a:solidFill>
                <a:latin typeface="Arial"/>
                <a:ea typeface="Arial"/>
                <a:cs typeface="Arial"/>
              </a:defRPr>
            </a:pPr>
            <a:r>
              <a:rPr sz="510" b="0">
                <a:solidFill>
                  <a:srgbClr val="66717C"/>
                </a:solidFill>
                <a:latin typeface="Arial"/>
                <a:ea typeface="Arial"/>
                <a:cs typeface="Arial"/>
              </a:rPr>
              <a:t>[I]  [M]  [PY]  [C]</a:t>
            </a:r>
          </a:p>
        </p:txBody>
      </p:sp>
    </p:spTree>
    <p:extLst>
      <p:ext uri="{BB962C8B-B14F-4D97-AF65-F5344CB8AC3E}">
        <p14:creationId xmlns:p14="http://schemas.microsoft.com/office/powerpoint/2010/main" val="36456721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19C03931-4A28-44C2-9238-650F85D8C2AD}"/>
              </a:ext>
            </a:extLst>
          </p:cNvPr>
          <p:cNvSpPr>
            <a:spLocks noGrp="1"/>
          </p:cNvSpPr>
          <p:nvPr>
            <p:ph type="title"/>
          </p:nvPr>
        </p:nvSpPr>
        <p:spPr>
          <a:xfrm>
            <a:off x="171450" y="95250"/>
            <a:ext cx="5429250" cy="304800"/>
          </a:xfrm>
          <a:prstGeom prst="rect">
            <a:avLst/>
          </a:prstGeom>
        </p:spPr>
        <p:txBody>
          <a:bodyPr vert="horz" wrap="square" lIns="0" tIns="0" rIns="0" bIns="0">
            <a:noAutofit/>
          </a:bodyPr>
          <a:lstStyle/>
          <a:p>
            <a:pPr marL="12700" algn="l">
              <a:lnSpc>
                <a:spcPct val="110000"/>
              </a:lnSpc>
              <a:spcBef>
                <a:spcPts val="135"/>
              </a:spcBef>
              <a:buNone/>
              <a:defRPr sz="1400">
                <a:solidFill>
                  <a:srgbClr val="006ABA"/>
                </a:solidFill>
                <a:latin typeface="Arial"/>
                <a:ea typeface="Arial"/>
                <a:cs typeface="Arial"/>
              </a:defRPr>
            </a:pPr>
            <a:r>
              <a:rPr sz="1400" b="0" spc="-10">
                <a:solidFill>
                  <a:srgbClr val="006ABA"/>
                </a:solidFill>
                <a:latin typeface="Arial"/>
                <a:ea typeface="Arial"/>
                <a:cs typeface="Arial"/>
              </a:rPr>
              <a:t>Matrices: rows and columns</a:t>
            </a:r>
            <a:endParaRPr sz="1400" b="0" spc="-10">
              <a:latin typeface="Arial"/>
              <a:ea typeface="Arial"/>
              <a:cs typeface="Arial"/>
            </a:endParaRPr>
          </a:p>
        </p:txBody>
      </p:sp>
      <p:pic>
        <p:nvPicPr>
          <p:cNvPr id="31" name="object 4"/>
          <p:cNvPicPr>
            <a:picLocks noChangeAspect="1"/>
          </p:cNvPicPr>
          <p:nvPr/>
        </p:nvPicPr>
        <p:blipFill>
          <a:blip r:embed="rId3"/>
          <a:stretch>
            <a:fillRect/>
          </a:stretch>
        </p:blipFill>
        <p:spPr>
          <a:xfrm>
            <a:off x="152565" y="2988507"/>
            <a:ext cx="900668" cy="161917"/>
          </a:xfrm>
          <a:prstGeom prst="rect">
            <a:avLst/>
          </a:prstGeom>
        </p:spPr>
      </p:pic>
      <p:pic>
        <p:nvPicPr>
          <p:cNvPr id="32" name="object 5"/>
          <p:cNvPicPr>
            <a:picLocks noChangeAspect="1"/>
          </p:cNvPicPr>
          <p:nvPr/>
        </p:nvPicPr>
        <p:blipFill>
          <a:blip r:embed="rId4"/>
          <a:stretch>
            <a:fillRect/>
          </a:stretch>
        </p:blipFill>
        <p:spPr>
          <a:xfrm>
            <a:off x="1286560" y="2988417"/>
            <a:ext cx="610912" cy="162008"/>
          </a:xfrm>
          <a:prstGeom prst="rect">
            <a:avLst/>
          </a:prstGeom>
        </p:spPr>
      </p:pic>
      <p:sp>
        <p:nvSpPr>
          <p:cNvPr id="10" name="Footer Placeholder 7">
            <a:extLst>
              <a:ext uri="{FF2B5EF4-FFF2-40B4-BE49-F238E27FC236}">
                <a16:creationId xmlns:a16="http://schemas.microsoft.com/office/drawing/2014/main" id="{197FE2C8-8EE2-4937-3F30-294DB47641D6}"/>
              </a:ext>
            </a:extLst>
          </p:cNvPr>
          <p:cNvSpPr>
            <a:spLocks noGrp="1"/>
          </p:cNvSpPr>
          <p:nvPr>
            <p:ph type="ftr" idx="5"/>
          </p:nvPr>
        </p:nvSpPr>
        <p:spPr>
          <a:xfrm>
            <a:off x="2590800" y="3105150"/>
            <a:ext cx="2743200" cy="95250"/>
          </a:xfrm>
        </p:spPr>
        <p:txBody>
          <a:bodyPr wrap="square" lIns="0" tIns="0" rIns="0" bIns="0">
            <a:noAutofit/>
          </a:bodyPr>
          <a:lstStyle/>
          <a:p>
            <a:pPr algn="r">
              <a:lnSpc>
                <a:spcPct val="110000"/>
              </a:lnSpc>
              <a:buNone/>
              <a:defRPr sz="500">
                <a:solidFill>
                  <a:srgbClr val="888888"/>
                </a:solidFill>
                <a:latin typeface="Arial"/>
                <a:ea typeface="Arial"/>
                <a:cs typeface="Arial"/>
              </a:defRPr>
            </a:pPr>
            <a:r>
              <a:rPr sz="500">
                <a:solidFill>
                  <a:srgbClr val="888888"/>
                </a:solidFill>
                <a:latin typeface="Arial"/>
                <a:ea typeface="Arial"/>
                <a:cs typeface="Arial"/>
              </a:rPr>
              <a:t>MAS Foundations - Kamendu Panchal</a:t>
            </a:r>
            <a:endParaRPr sz="500" b="1">
              <a:solidFill>
                <a:schemeClr val="tx1"/>
              </a:solidFill>
              <a:latin typeface="Arial"/>
              <a:ea typeface="Arial"/>
              <a:cs typeface="Arial"/>
            </a:endParaRPr>
          </a:p>
        </p:txBody>
      </p:sp>
      <p:sp>
        <p:nvSpPr>
          <p:cNvPr id="3" name="TextBox 2">
            <a:extLst>
              <a:ext uri="{FF2B5EF4-FFF2-40B4-BE49-F238E27FC236}">
                <a16:creationId xmlns:a16="http://schemas.microsoft.com/office/drawing/2014/main" id="{DCE8FEB4-DA15-74FB-D091-FA2B80C9B501}"/>
              </a:ext>
            </a:extLst>
          </p:cNvPr>
          <p:cNvSpPr>
            <a:spLocks noGrp="1"/>
          </p:cNvSpPr>
          <p:nvPr/>
        </p:nvSpPr>
        <p:spPr>
          <a:xfrm>
            <a:off x="5438775" y="3086100"/>
            <a:ext cx="209550" cy="175260"/>
          </a:xfrm>
          <a:prstGeom prst="rect">
            <a:avLst/>
          </a:prstGeom>
          <a:noFill/>
        </p:spPr>
        <p:txBody>
          <a:bodyPr wrap="square" lIns="0" tIns="0" rIns="0" bIns="0">
            <a:noAutofit/>
          </a:bodyPr>
          <a:lstStyle/>
          <a:p>
            <a:pPr algn="r">
              <a:lnSpc>
                <a:spcPct val="110000"/>
              </a:lnSpc>
              <a:buNone/>
              <a:defRPr sz="500">
                <a:solidFill>
                  <a:srgbClr val="202020"/>
                </a:solidFill>
                <a:latin typeface="Arial"/>
                <a:ea typeface="Arial"/>
                <a:cs typeface="Arial"/>
              </a:defRPr>
            </a:pPr>
            <a:r>
              <a:rPr sz="500">
                <a:solidFill>
                  <a:srgbClr val="202020"/>
                </a:solidFill>
                <a:latin typeface="Arial"/>
                <a:ea typeface="Arial"/>
                <a:cs typeface="Arial"/>
              </a:rPr>
              <a:t>17</a:t>
            </a:r>
          </a:p>
        </p:txBody>
      </p:sp>
      <p:sp>
        <p:nvSpPr>
          <p:cNvPr id="13" name="text">
            <a:extLst>
              <a:ext uri="{FF2B5EF4-FFF2-40B4-BE49-F238E27FC236}">
                <a16:creationId xmlns:a16="http://schemas.microsoft.com/office/drawing/2014/main" id="{9FA2FFD2-FF2D-4D28-869C-E59B00F0DDDC}"/>
              </a:ext>
            </a:extLst>
          </p:cNvPr>
          <p:cNvSpPr>
            <a:spLocks noGrp="1"/>
          </p:cNvSpPr>
          <p:nvPr/>
        </p:nvSpPr>
        <p:spPr>
          <a:xfrm>
            <a:off x="228600" y="504825"/>
            <a:ext cx="5314950" cy="381000"/>
          </a:xfrm>
          <a:prstGeom prst="rect">
            <a:avLst/>
          </a:prstGeom>
          <a:noFill/>
          <a:ln w="0">
            <a:noFill/>
          </a:ln>
        </p:spPr>
        <p:txBody>
          <a:bodyPr wrap="square" lIns="0" tIns="0" rIns="0" bIns="0" anchor="t">
            <a:noAutofit/>
          </a:bodyPr>
          <a:lstStyle/>
          <a:p>
            <a:pPr algn="l">
              <a:lnSpc>
                <a:spcPct val="110000"/>
              </a:lnSpc>
              <a:buNone/>
              <a:defRPr sz="998" b="0">
                <a:solidFill>
                  <a:srgbClr val="202020"/>
                </a:solidFill>
                <a:latin typeface="Arial"/>
                <a:ea typeface="Arial"/>
                <a:cs typeface="Arial"/>
              </a:defRPr>
            </a:pPr>
            <a:r>
              <a:rPr sz="998" b="0">
                <a:solidFill>
                  <a:srgbClr val="202020"/>
                </a:solidFill>
                <a:latin typeface="Arial"/>
                <a:ea typeface="Arial"/>
                <a:cs typeface="Arial"/>
              </a:rPr>
              <a:t>A matrix is a rectangular arrangement of values.</a:t>
            </a:r>
          </a:p>
        </p:txBody>
      </p:sp>
      <p:sp>
        <p:nvSpPr>
          <p:cNvPr id="14" name="Rectangle 13">
            <a:extLst>
              <a:ext uri="{FF2B5EF4-FFF2-40B4-BE49-F238E27FC236}">
                <a16:creationId xmlns:a16="http://schemas.microsoft.com/office/drawing/2014/main" id="{BFFC4576-4EF0-43BD-B432-5C0E4F3A15D6}"/>
              </a:ext>
            </a:extLst>
          </p:cNvPr>
          <p:cNvSpPr>
            <a:spLocks noGrp="1"/>
          </p:cNvSpPr>
          <p:nvPr/>
        </p:nvSpPr>
        <p:spPr>
          <a:xfrm>
            <a:off x="228600" y="981075"/>
            <a:ext cx="2600325" cy="1504950"/>
          </a:xfrm>
          <a:prstGeom prst="rect">
            <a:avLst/>
          </a:prstGeom>
          <a:solidFill>
            <a:srgbClr val="101827"/>
          </a:solidFill>
          <a:ln w="0">
            <a:noFill/>
          </a:ln>
        </p:spPr>
      </p:sp>
      <p:sp>
        <p:nvSpPr>
          <p:cNvPr id="15" name="Rectangle 14">
            <a:extLst>
              <a:ext uri="{FF2B5EF4-FFF2-40B4-BE49-F238E27FC236}">
                <a16:creationId xmlns:a16="http://schemas.microsoft.com/office/drawing/2014/main" id="{2F0B38CA-749D-45EC-B1ED-094F3FFF4A20}"/>
              </a:ext>
            </a:extLst>
          </p:cNvPr>
          <p:cNvSpPr>
            <a:spLocks noGrp="1"/>
          </p:cNvSpPr>
          <p:nvPr/>
        </p:nvSpPr>
        <p:spPr>
          <a:xfrm>
            <a:off x="228600" y="800100"/>
            <a:ext cx="2600325" cy="180975"/>
          </a:xfrm>
          <a:prstGeom prst="rect">
            <a:avLst/>
          </a:prstGeom>
          <a:solidFill>
            <a:srgbClr val="006ABA"/>
          </a:solidFill>
          <a:ln w="0">
            <a:noFill/>
          </a:ln>
        </p:spPr>
      </p:sp>
      <p:sp>
        <p:nvSpPr>
          <p:cNvPr id="16" name="text">
            <a:extLst>
              <a:ext uri="{FF2B5EF4-FFF2-40B4-BE49-F238E27FC236}">
                <a16:creationId xmlns:a16="http://schemas.microsoft.com/office/drawing/2014/main" id="{5F9E3052-2D3A-4A04-B0BA-BAF4C4B68A68}"/>
              </a:ext>
            </a:extLst>
          </p:cNvPr>
          <p:cNvSpPr>
            <a:spLocks noGrp="1"/>
          </p:cNvSpPr>
          <p:nvPr/>
        </p:nvSpPr>
        <p:spPr>
          <a:xfrm>
            <a:off x="228600" y="819150"/>
            <a:ext cx="2600325" cy="161925"/>
          </a:xfrm>
          <a:prstGeom prst="rect">
            <a:avLst/>
          </a:prstGeom>
          <a:noFill/>
          <a:ln w="0">
            <a:noFill/>
          </a:ln>
        </p:spPr>
        <p:txBody>
          <a:bodyPr wrap="square" lIns="0" tIns="0" rIns="0" bIns="0" anchor="t">
            <a:noAutofit/>
          </a:bodyPr>
          <a:lstStyle/>
          <a:p>
            <a:pPr algn="ctr">
              <a:lnSpc>
                <a:spcPct val="110000"/>
              </a:lnSpc>
              <a:buNone/>
              <a:defRPr sz="825" b="1">
                <a:solidFill>
                  <a:srgbClr val="FFFFFF"/>
                </a:solidFill>
                <a:latin typeface="Arial"/>
                <a:ea typeface="Arial"/>
                <a:cs typeface="Arial"/>
              </a:defRPr>
            </a:pPr>
            <a:r>
              <a:rPr sz="825" b="1">
                <a:solidFill>
                  <a:srgbClr val="FFFFFF"/>
                </a:solidFill>
                <a:latin typeface="Arial"/>
                <a:ea typeface="Arial"/>
                <a:cs typeface="Arial"/>
              </a:rPr>
              <a:t>C++17</a:t>
            </a:r>
          </a:p>
        </p:txBody>
      </p:sp>
      <p:sp>
        <p:nvSpPr>
          <p:cNvPr id="17" name="text">
            <a:extLst>
              <a:ext uri="{FF2B5EF4-FFF2-40B4-BE49-F238E27FC236}">
                <a16:creationId xmlns:a16="http://schemas.microsoft.com/office/drawing/2014/main" id="{BEAE860B-1FE0-40C0-81C5-4997F0132FE9}"/>
              </a:ext>
            </a:extLst>
          </p:cNvPr>
          <p:cNvSpPr>
            <a:spLocks noGrp="1"/>
          </p:cNvSpPr>
          <p:nvPr/>
        </p:nvSpPr>
        <p:spPr>
          <a:xfrm>
            <a:off x="295275" y="106680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std::vector&lt;std::vector&lt;int&gt;&gt; m{</a:t>
            </a:r>
          </a:p>
        </p:txBody>
      </p:sp>
      <p:sp>
        <p:nvSpPr>
          <p:cNvPr id="18" name="text">
            <a:extLst>
              <a:ext uri="{FF2B5EF4-FFF2-40B4-BE49-F238E27FC236}">
                <a16:creationId xmlns:a16="http://schemas.microsoft.com/office/drawing/2014/main" id="{5B9EDDBF-2323-455D-BB9B-D54F917D1D01}"/>
              </a:ext>
            </a:extLst>
          </p:cNvPr>
          <p:cNvSpPr>
            <a:spLocks noGrp="1"/>
          </p:cNvSpPr>
          <p:nvPr/>
        </p:nvSpPr>
        <p:spPr>
          <a:xfrm>
            <a:off x="295275" y="119634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  {1, 2, 3},</a:t>
            </a:r>
          </a:p>
        </p:txBody>
      </p:sp>
      <p:sp>
        <p:nvSpPr>
          <p:cNvPr id="19" name="text">
            <a:extLst>
              <a:ext uri="{FF2B5EF4-FFF2-40B4-BE49-F238E27FC236}">
                <a16:creationId xmlns:a16="http://schemas.microsoft.com/office/drawing/2014/main" id="{C12930DB-1039-4D7B-80A5-AF6F6F4BAB64}"/>
              </a:ext>
            </a:extLst>
          </p:cNvPr>
          <p:cNvSpPr>
            <a:spLocks noGrp="1"/>
          </p:cNvSpPr>
          <p:nvPr/>
        </p:nvSpPr>
        <p:spPr>
          <a:xfrm>
            <a:off x="295275" y="132588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  {4, 5, 6}</a:t>
            </a:r>
          </a:p>
        </p:txBody>
      </p:sp>
      <p:sp>
        <p:nvSpPr>
          <p:cNvPr id="20" name="text">
            <a:extLst>
              <a:ext uri="{FF2B5EF4-FFF2-40B4-BE49-F238E27FC236}">
                <a16:creationId xmlns:a16="http://schemas.microsoft.com/office/drawing/2014/main" id="{10EF5BDA-8C94-42E9-9503-B5CA241AD68A}"/>
              </a:ext>
            </a:extLst>
          </p:cNvPr>
          <p:cNvSpPr>
            <a:spLocks noGrp="1"/>
          </p:cNvSpPr>
          <p:nvPr/>
        </p:nvSpPr>
        <p:spPr>
          <a:xfrm>
            <a:off x="295275" y="145542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a:t>
            </a:r>
          </a:p>
        </p:txBody>
      </p:sp>
      <p:sp>
        <p:nvSpPr>
          <p:cNvPr id="21" name="text">
            <a:extLst>
              <a:ext uri="{FF2B5EF4-FFF2-40B4-BE49-F238E27FC236}">
                <a16:creationId xmlns:a16="http://schemas.microsoft.com/office/drawing/2014/main" id="{A60B6F4D-EF69-4683-B400-5275AEEE8511}"/>
              </a:ext>
            </a:extLst>
          </p:cNvPr>
          <p:cNvSpPr>
            <a:spLocks noGrp="1"/>
          </p:cNvSpPr>
          <p:nvPr/>
        </p:nvSpPr>
        <p:spPr>
          <a:xfrm>
            <a:off x="295275" y="158496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std::cout &lt;&lt; m[1][2] &lt;&lt; "\n";</a:t>
            </a:r>
          </a:p>
        </p:txBody>
      </p:sp>
      <p:sp>
        <p:nvSpPr>
          <p:cNvPr id="22" name="Rectangle 21">
            <a:extLst>
              <a:ext uri="{FF2B5EF4-FFF2-40B4-BE49-F238E27FC236}">
                <a16:creationId xmlns:a16="http://schemas.microsoft.com/office/drawing/2014/main" id="{F68EBBC8-4F43-4710-91D6-6D535224FD87}"/>
              </a:ext>
            </a:extLst>
          </p:cNvPr>
          <p:cNvSpPr>
            <a:spLocks noGrp="1"/>
          </p:cNvSpPr>
          <p:nvPr/>
        </p:nvSpPr>
        <p:spPr>
          <a:xfrm>
            <a:off x="2990850" y="981075"/>
            <a:ext cx="2600325" cy="1504950"/>
          </a:xfrm>
          <a:prstGeom prst="rect">
            <a:avLst/>
          </a:prstGeom>
          <a:solidFill>
            <a:srgbClr val="101827"/>
          </a:solidFill>
          <a:ln w="0">
            <a:noFill/>
          </a:ln>
        </p:spPr>
      </p:sp>
      <p:sp>
        <p:nvSpPr>
          <p:cNvPr id="23" name="Rectangle 22">
            <a:extLst>
              <a:ext uri="{FF2B5EF4-FFF2-40B4-BE49-F238E27FC236}">
                <a16:creationId xmlns:a16="http://schemas.microsoft.com/office/drawing/2014/main" id="{A495203D-A69A-4AC0-9AFB-922BD5FF9FEC}"/>
              </a:ext>
            </a:extLst>
          </p:cNvPr>
          <p:cNvSpPr>
            <a:spLocks noGrp="1"/>
          </p:cNvSpPr>
          <p:nvPr/>
        </p:nvSpPr>
        <p:spPr>
          <a:xfrm>
            <a:off x="2990850" y="800100"/>
            <a:ext cx="2600325" cy="180975"/>
          </a:xfrm>
          <a:prstGeom prst="rect">
            <a:avLst/>
          </a:prstGeom>
          <a:solidFill>
            <a:srgbClr val="1AA260"/>
          </a:solidFill>
          <a:ln w="0">
            <a:noFill/>
          </a:ln>
        </p:spPr>
      </p:sp>
      <p:sp>
        <p:nvSpPr>
          <p:cNvPr id="24" name="text">
            <a:extLst>
              <a:ext uri="{FF2B5EF4-FFF2-40B4-BE49-F238E27FC236}">
                <a16:creationId xmlns:a16="http://schemas.microsoft.com/office/drawing/2014/main" id="{9EF18FE0-379E-46D9-AE6B-879BB5FFF394}"/>
              </a:ext>
            </a:extLst>
          </p:cNvPr>
          <p:cNvSpPr>
            <a:spLocks noGrp="1"/>
          </p:cNvSpPr>
          <p:nvPr/>
        </p:nvSpPr>
        <p:spPr>
          <a:xfrm>
            <a:off x="2990850" y="819150"/>
            <a:ext cx="2600325" cy="161925"/>
          </a:xfrm>
          <a:prstGeom prst="rect">
            <a:avLst/>
          </a:prstGeom>
          <a:noFill/>
          <a:ln w="0">
            <a:noFill/>
          </a:ln>
        </p:spPr>
        <p:txBody>
          <a:bodyPr wrap="square" lIns="0" tIns="0" rIns="0" bIns="0" anchor="t">
            <a:noAutofit/>
          </a:bodyPr>
          <a:lstStyle/>
          <a:p>
            <a:pPr algn="ctr">
              <a:lnSpc>
                <a:spcPct val="110000"/>
              </a:lnSpc>
              <a:buNone/>
              <a:defRPr sz="825" b="1">
                <a:solidFill>
                  <a:srgbClr val="FFFFFF"/>
                </a:solidFill>
                <a:latin typeface="Arial"/>
                <a:ea typeface="Arial"/>
                <a:cs typeface="Arial"/>
              </a:defRPr>
            </a:pPr>
            <a:r>
              <a:rPr sz="825" b="1">
                <a:solidFill>
                  <a:srgbClr val="FFFFFF"/>
                </a:solidFill>
                <a:latin typeface="Arial"/>
                <a:ea typeface="Arial"/>
                <a:cs typeface="Arial"/>
              </a:rPr>
              <a:t>Python 3</a:t>
            </a:r>
          </a:p>
        </p:txBody>
      </p:sp>
      <p:sp>
        <p:nvSpPr>
          <p:cNvPr id="25" name="text">
            <a:extLst>
              <a:ext uri="{FF2B5EF4-FFF2-40B4-BE49-F238E27FC236}">
                <a16:creationId xmlns:a16="http://schemas.microsoft.com/office/drawing/2014/main" id="{2E3C4AF5-3140-48EE-A8B7-B379406CE46B}"/>
              </a:ext>
            </a:extLst>
          </p:cNvPr>
          <p:cNvSpPr>
            <a:spLocks noGrp="1"/>
          </p:cNvSpPr>
          <p:nvPr/>
        </p:nvSpPr>
        <p:spPr>
          <a:xfrm>
            <a:off x="3057525" y="106680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m = [[1, 2, 3],</a:t>
            </a:r>
          </a:p>
        </p:txBody>
      </p:sp>
      <p:sp>
        <p:nvSpPr>
          <p:cNvPr id="26" name="text">
            <a:extLst>
              <a:ext uri="{FF2B5EF4-FFF2-40B4-BE49-F238E27FC236}">
                <a16:creationId xmlns:a16="http://schemas.microsoft.com/office/drawing/2014/main" id="{975098A6-C443-44B5-81BC-B30FDF126B36}"/>
              </a:ext>
            </a:extLst>
          </p:cNvPr>
          <p:cNvSpPr>
            <a:spLocks noGrp="1"/>
          </p:cNvSpPr>
          <p:nvPr/>
        </p:nvSpPr>
        <p:spPr>
          <a:xfrm>
            <a:off x="3057525" y="119634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     [4, 5, 6]]</a:t>
            </a:r>
          </a:p>
        </p:txBody>
      </p:sp>
      <p:sp>
        <p:nvSpPr>
          <p:cNvPr id="27" name="text">
            <a:extLst>
              <a:ext uri="{FF2B5EF4-FFF2-40B4-BE49-F238E27FC236}">
                <a16:creationId xmlns:a16="http://schemas.microsoft.com/office/drawing/2014/main" id="{28A53AD3-9D7A-4FE7-9E06-1BE6F4558C2D}"/>
              </a:ext>
            </a:extLst>
          </p:cNvPr>
          <p:cNvSpPr>
            <a:spLocks noGrp="1"/>
          </p:cNvSpPr>
          <p:nvPr/>
        </p:nvSpPr>
        <p:spPr>
          <a:xfrm>
            <a:off x="3057525" y="132588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print(m[1][2])</a:t>
            </a:r>
          </a:p>
        </p:txBody>
      </p:sp>
      <p:sp>
        <p:nvSpPr>
          <p:cNvPr id="28" name="text">
            <a:extLst>
              <a:ext uri="{FF2B5EF4-FFF2-40B4-BE49-F238E27FC236}">
                <a16:creationId xmlns:a16="http://schemas.microsoft.com/office/drawing/2014/main" id="{2BAA5176-C9FD-47B2-9539-89900BA1F93B}"/>
              </a:ext>
            </a:extLst>
          </p:cNvPr>
          <p:cNvSpPr>
            <a:spLocks noGrp="1"/>
          </p:cNvSpPr>
          <p:nvPr/>
        </p:nvSpPr>
        <p:spPr>
          <a:xfrm>
            <a:off x="228600" y="2600325"/>
            <a:ext cx="5314950" cy="228600"/>
          </a:xfrm>
          <a:prstGeom prst="rect">
            <a:avLst/>
          </a:prstGeom>
          <a:noFill/>
          <a:ln w="0">
            <a:noFill/>
          </a:ln>
        </p:spPr>
        <p:txBody>
          <a:bodyPr wrap="square" lIns="0" tIns="0" rIns="0" bIns="0" anchor="t">
            <a:noAutofit/>
          </a:bodyPr>
          <a:lstStyle/>
          <a:p>
            <a:pPr algn="l">
              <a:lnSpc>
                <a:spcPct val="110000"/>
              </a:lnSpc>
              <a:buNone/>
              <a:defRPr sz="885" b="0">
                <a:solidFill>
                  <a:srgbClr val="006ABA"/>
                </a:solidFill>
                <a:latin typeface="Arial"/>
                <a:ea typeface="Arial"/>
                <a:cs typeface="Arial"/>
              </a:defRPr>
            </a:pPr>
            <a:r>
              <a:rPr sz="885" b="0">
                <a:solidFill>
                  <a:srgbClr val="006ABA"/>
                </a:solidFill>
                <a:latin typeface="Arial"/>
                <a:ea typeface="Arial"/>
                <a:cs typeface="Arial"/>
              </a:rPr>
              <a:t>Output: 6. Row 1, column 2, using zero-based indices.</a:t>
            </a:r>
          </a:p>
        </p:txBody>
      </p:sp>
      <p:sp>
        <p:nvSpPr>
          <p:cNvPr id="29" name="text">
            <a:extLst>
              <a:ext uri="{FF2B5EF4-FFF2-40B4-BE49-F238E27FC236}">
                <a16:creationId xmlns:a16="http://schemas.microsoft.com/office/drawing/2014/main" id="{B9909AC6-8CBA-42D1-9202-60AFC1F7AD27}"/>
              </a:ext>
            </a:extLst>
          </p:cNvPr>
          <p:cNvSpPr>
            <a:spLocks noGrp="1"/>
          </p:cNvSpPr>
          <p:nvPr/>
        </p:nvSpPr>
        <p:spPr>
          <a:xfrm>
            <a:off x="228600" y="2867025"/>
            <a:ext cx="5334000" cy="95250"/>
          </a:xfrm>
          <a:prstGeom prst="rect">
            <a:avLst/>
          </a:prstGeom>
          <a:noFill/>
          <a:ln w="0">
            <a:noFill/>
          </a:ln>
        </p:spPr>
        <p:txBody>
          <a:bodyPr wrap="square" lIns="0" tIns="0" rIns="0" bIns="0" anchor="t">
            <a:noAutofit/>
          </a:bodyPr>
          <a:lstStyle/>
          <a:p>
            <a:pPr algn="l">
              <a:lnSpc>
                <a:spcPct val="110000"/>
              </a:lnSpc>
              <a:buNone/>
              <a:defRPr sz="510" b="0">
                <a:solidFill>
                  <a:srgbClr val="66717C"/>
                </a:solidFill>
                <a:latin typeface="Arial"/>
                <a:ea typeface="Arial"/>
                <a:cs typeface="Arial"/>
              </a:defRPr>
            </a:pPr>
            <a:r>
              <a:rPr sz="510" b="0">
                <a:solidFill>
                  <a:srgbClr val="66717C"/>
                </a:solidFill>
                <a:latin typeface="Arial"/>
                <a:ea typeface="Arial"/>
                <a:cs typeface="Arial"/>
              </a:rPr>
              <a:t>[I]  [C]  [PY]</a:t>
            </a:r>
          </a:p>
        </p:txBody>
      </p:sp>
    </p:spTree>
    <p:extLst>
      <p:ext uri="{BB962C8B-B14F-4D97-AF65-F5344CB8AC3E}">
        <p14:creationId xmlns:p14="http://schemas.microsoft.com/office/powerpoint/2010/main" val="36456721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19C03931-4A28-44C2-9238-650F85D8C2AD}"/>
              </a:ext>
            </a:extLst>
          </p:cNvPr>
          <p:cNvSpPr>
            <a:spLocks noGrp="1"/>
          </p:cNvSpPr>
          <p:nvPr>
            <p:ph type="title"/>
          </p:nvPr>
        </p:nvSpPr>
        <p:spPr>
          <a:xfrm>
            <a:off x="171450" y="95250"/>
            <a:ext cx="5429250" cy="304800"/>
          </a:xfrm>
          <a:prstGeom prst="rect">
            <a:avLst/>
          </a:prstGeom>
        </p:spPr>
        <p:txBody>
          <a:bodyPr vert="horz" wrap="square" lIns="0" tIns="0" rIns="0" bIns="0">
            <a:noAutofit/>
          </a:bodyPr>
          <a:lstStyle/>
          <a:p>
            <a:pPr marL="12700" algn="l">
              <a:lnSpc>
                <a:spcPct val="110000"/>
              </a:lnSpc>
              <a:spcBef>
                <a:spcPts val="135"/>
              </a:spcBef>
              <a:buNone/>
              <a:defRPr sz="1400">
                <a:solidFill>
                  <a:srgbClr val="006ABA"/>
                </a:solidFill>
                <a:latin typeface="Arial"/>
                <a:ea typeface="Arial"/>
                <a:cs typeface="Arial"/>
              </a:defRPr>
            </a:pPr>
            <a:r>
              <a:rPr sz="1400" b="0" spc="-10">
                <a:solidFill>
                  <a:srgbClr val="006ABA"/>
                </a:solidFill>
                <a:latin typeface="Arial"/>
                <a:ea typeface="Arial"/>
                <a:cs typeface="Arial"/>
              </a:rPr>
              <a:t>Templates: one C++ function, several types</a:t>
            </a:r>
            <a:endParaRPr sz="1400" b="0" spc="-10">
              <a:latin typeface="Arial"/>
              <a:ea typeface="Arial"/>
              <a:cs typeface="Arial"/>
            </a:endParaRPr>
          </a:p>
        </p:txBody>
      </p:sp>
      <p:pic>
        <p:nvPicPr>
          <p:cNvPr id="35" name="object 4"/>
          <p:cNvPicPr>
            <a:picLocks noChangeAspect="1"/>
          </p:cNvPicPr>
          <p:nvPr/>
        </p:nvPicPr>
        <p:blipFill>
          <a:blip r:embed="rId3"/>
          <a:stretch>
            <a:fillRect/>
          </a:stretch>
        </p:blipFill>
        <p:spPr>
          <a:xfrm>
            <a:off x="152565" y="2988507"/>
            <a:ext cx="900668" cy="161917"/>
          </a:xfrm>
          <a:prstGeom prst="rect">
            <a:avLst/>
          </a:prstGeom>
        </p:spPr>
      </p:pic>
      <p:pic>
        <p:nvPicPr>
          <p:cNvPr id="36" name="object 5"/>
          <p:cNvPicPr>
            <a:picLocks noChangeAspect="1"/>
          </p:cNvPicPr>
          <p:nvPr/>
        </p:nvPicPr>
        <p:blipFill>
          <a:blip r:embed="rId4"/>
          <a:stretch>
            <a:fillRect/>
          </a:stretch>
        </p:blipFill>
        <p:spPr>
          <a:xfrm>
            <a:off x="1286560" y="2988417"/>
            <a:ext cx="610912" cy="162008"/>
          </a:xfrm>
          <a:prstGeom prst="rect">
            <a:avLst/>
          </a:prstGeom>
        </p:spPr>
      </p:pic>
      <p:sp>
        <p:nvSpPr>
          <p:cNvPr id="10" name="Footer Placeholder 7">
            <a:extLst>
              <a:ext uri="{FF2B5EF4-FFF2-40B4-BE49-F238E27FC236}">
                <a16:creationId xmlns:a16="http://schemas.microsoft.com/office/drawing/2014/main" id="{197FE2C8-8EE2-4937-3F30-294DB47641D6}"/>
              </a:ext>
            </a:extLst>
          </p:cNvPr>
          <p:cNvSpPr>
            <a:spLocks noGrp="1"/>
          </p:cNvSpPr>
          <p:nvPr>
            <p:ph type="ftr" idx="5"/>
          </p:nvPr>
        </p:nvSpPr>
        <p:spPr>
          <a:xfrm>
            <a:off x="2590800" y="3105150"/>
            <a:ext cx="2743200" cy="95250"/>
          </a:xfrm>
        </p:spPr>
        <p:txBody>
          <a:bodyPr wrap="square" lIns="0" tIns="0" rIns="0" bIns="0">
            <a:noAutofit/>
          </a:bodyPr>
          <a:lstStyle/>
          <a:p>
            <a:pPr algn="r">
              <a:lnSpc>
                <a:spcPct val="110000"/>
              </a:lnSpc>
              <a:buNone/>
              <a:defRPr sz="500">
                <a:solidFill>
                  <a:srgbClr val="888888"/>
                </a:solidFill>
                <a:latin typeface="Arial"/>
                <a:ea typeface="Arial"/>
                <a:cs typeface="Arial"/>
              </a:defRPr>
            </a:pPr>
            <a:r>
              <a:rPr sz="500">
                <a:solidFill>
                  <a:srgbClr val="888888"/>
                </a:solidFill>
                <a:latin typeface="Arial"/>
                <a:ea typeface="Arial"/>
                <a:cs typeface="Arial"/>
              </a:rPr>
              <a:t>MAS Foundations - Kamendu Panchal</a:t>
            </a:r>
            <a:endParaRPr sz="500" b="1">
              <a:solidFill>
                <a:schemeClr val="tx1"/>
              </a:solidFill>
              <a:latin typeface="Arial"/>
              <a:ea typeface="Arial"/>
              <a:cs typeface="Arial"/>
            </a:endParaRPr>
          </a:p>
        </p:txBody>
      </p:sp>
      <p:sp>
        <p:nvSpPr>
          <p:cNvPr id="3" name="TextBox 2">
            <a:extLst>
              <a:ext uri="{FF2B5EF4-FFF2-40B4-BE49-F238E27FC236}">
                <a16:creationId xmlns:a16="http://schemas.microsoft.com/office/drawing/2014/main" id="{DCE8FEB4-DA15-74FB-D091-FA2B80C9B501}"/>
              </a:ext>
            </a:extLst>
          </p:cNvPr>
          <p:cNvSpPr>
            <a:spLocks noGrp="1"/>
          </p:cNvSpPr>
          <p:nvPr/>
        </p:nvSpPr>
        <p:spPr>
          <a:xfrm>
            <a:off x="5438775" y="3086100"/>
            <a:ext cx="209550" cy="175260"/>
          </a:xfrm>
          <a:prstGeom prst="rect">
            <a:avLst/>
          </a:prstGeom>
          <a:noFill/>
        </p:spPr>
        <p:txBody>
          <a:bodyPr wrap="square" lIns="0" tIns="0" rIns="0" bIns="0">
            <a:noAutofit/>
          </a:bodyPr>
          <a:lstStyle/>
          <a:p>
            <a:pPr algn="r">
              <a:lnSpc>
                <a:spcPct val="110000"/>
              </a:lnSpc>
              <a:buNone/>
              <a:defRPr sz="500">
                <a:solidFill>
                  <a:srgbClr val="202020"/>
                </a:solidFill>
                <a:latin typeface="Arial"/>
                <a:ea typeface="Arial"/>
                <a:cs typeface="Arial"/>
              </a:defRPr>
            </a:pPr>
            <a:r>
              <a:rPr sz="500">
                <a:solidFill>
                  <a:srgbClr val="202020"/>
                </a:solidFill>
                <a:latin typeface="Arial"/>
                <a:ea typeface="Arial"/>
                <a:cs typeface="Arial"/>
              </a:rPr>
              <a:t>18</a:t>
            </a:r>
          </a:p>
        </p:txBody>
      </p:sp>
      <p:sp>
        <p:nvSpPr>
          <p:cNvPr id="13" name="text">
            <a:extLst>
              <a:ext uri="{FF2B5EF4-FFF2-40B4-BE49-F238E27FC236}">
                <a16:creationId xmlns:a16="http://schemas.microsoft.com/office/drawing/2014/main" id="{4DC55E48-114B-48EF-9C52-A0EA023D854E}"/>
              </a:ext>
            </a:extLst>
          </p:cNvPr>
          <p:cNvSpPr>
            <a:spLocks noGrp="1"/>
          </p:cNvSpPr>
          <p:nvPr/>
        </p:nvSpPr>
        <p:spPr>
          <a:xfrm>
            <a:off x="228600" y="504825"/>
            <a:ext cx="5314950" cy="381000"/>
          </a:xfrm>
          <a:prstGeom prst="rect">
            <a:avLst/>
          </a:prstGeom>
          <a:noFill/>
          <a:ln w="0">
            <a:noFill/>
          </a:ln>
        </p:spPr>
        <p:txBody>
          <a:bodyPr wrap="square" lIns="0" tIns="0" rIns="0" bIns="0" anchor="t">
            <a:noAutofit/>
          </a:bodyPr>
          <a:lstStyle/>
          <a:p>
            <a:pPr algn="l">
              <a:lnSpc>
                <a:spcPct val="110000"/>
              </a:lnSpc>
              <a:buNone/>
              <a:defRPr sz="998" b="0">
                <a:solidFill>
                  <a:srgbClr val="202020"/>
                </a:solidFill>
                <a:latin typeface="Arial"/>
                <a:ea typeface="Arial"/>
                <a:cs typeface="Arial"/>
              </a:defRPr>
            </a:pPr>
            <a:r>
              <a:rPr sz="998" b="0">
                <a:solidFill>
                  <a:srgbClr val="202020"/>
                </a:solidFill>
                <a:latin typeface="Arial"/>
                <a:ea typeface="Arial"/>
                <a:cs typeface="Arial"/>
              </a:rPr>
              <a:t>A template lets C++ generate versions for compatible types.</a:t>
            </a:r>
          </a:p>
        </p:txBody>
      </p:sp>
      <p:sp>
        <p:nvSpPr>
          <p:cNvPr id="14" name="Rectangle 13">
            <a:extLst>
              <a:ext uri="{FF2B5EF4-FFF2-40B4-BE49-F238E27FC236}">
                <a16:creationId xmlns:a16="http://schemas.microsoft.com/office/drawing/2014/main" id="{04A24241-3803-4378-A999-3B170785ADD3}"/>
              </a:ext>
            </a:extLst>
          </p:cNvPr>
          <p:cNvSpPr>
            <a:spLocks noGrp="1"/>
          </p:cNvSpPr>
          <p:nvPr/>
        </p:nvSpPr>
        <p:spPr>
          <a:xfrm>
            <a:off x="228600" y="981075"/>
            <a:ext cx="2600325" cy="1504950"/>
          </a:xfrm>
          <a:prstGeom prst="rect">
            <a:avLst/>
          </a:prstGeom>
          <a:solidFill>
            <a:srgbClr val="101827"/>
          </a:solidFill>
          <a:ln w="0">
            <a:noFill/>
          </a:ln>
        </p:spPr>
      </p:sp>
      <p:sp>
        <p:nvSpPr>
          <p:cNvPr id="15" name="Rectangle 14">
            <a:extLst>
              <a:ext uri="{FF2B5EF4-FFF2-40B4-BE49-F238E27FC236}">
                <a16:creationId xmlns:a16="http://schemas.microsoft.com/office/drawing/2014/main" id="{B5519DDD-1285-4566-9A7C-1A04D680C314}"/>
              </a:ext>
            </a:extLst>
          </p:cNvPr>
          <p:cNvSpPr>
            <a:spLocks noGrp="1"/>
          </p:cNvSpPr>
          <p:nvPr/>
        </p:nvSpPr>
        <p:spPr>
          <a:xfrm>
            <a:off x="228600" y="800100"/>
            <a:ext cx="2600325" cy="180975"/>
          </a:xfrm>
          <a:prstGeom prst="rect">
            <a:avLst/>
          </a:prstGeom>
          <a:solidFill>
            <a:srgbClr val="006ABA"/>
          </a:solidFill>
          <a:ln w="0">
            <a:noFill/>
          </a:ln>
        </p:spPr>
      </p:sp>
      <p:sp>
        <p:nvSpPr>
          <p:cNvPr id="16" name="text">
            <a:extLst>
              <a:ext uri="{FF2B5EF4-FFF2-40B4-BE49-F238E27FC236}">
                <a16:creationId xmlns:a16="http://schemas.microsoft.com/office/drawing/2014/main" id="{78E6A5AE-5B00-4211-9623-4F08A359EA5A}"/>
              </a:ext>
            </a:extLst>
          </p:cNvPr>
          <p:cNvSpPr>
            <a:spLocks noGrp="1"/>
          </p:cNvSpPr>
          <p:nvPr/>
        </p:nvSpPr>
        <p:spPr>
          <a:xfrm>
            <a:off x="228600" y="819150"/>
            <a:ext cx="2600325" cy="161925"/>
          </a:xfrm>
          <a:prstGeom prst="rect">
            <a:avLst/>
          </a:prstGeom>
          <a:noFill/>
          <a:ln w="0">
            <a:noFill/>
          </a:ln>
        </p:spPr>
        <p:txBody>
          <a:bodyPr wrap="square" lIns="0" tIns="0" rIns="0" bIns="0" anchor="t">
            <a:noAutofit/>
          </a:bodyPr>
          <a:lstStyle/>
          <a:p>
            <a:pPr algn="ctr">
              <a:lnSpc>
                <a:spcPct val="110000"/>
              </a:lnSpc>
              <a:buNone/>
              <a:defRPr sz="825" b="1">
                <a:solidFill>
                  <a:srgbClr val="FFFFFF"/>
                </a:solidFill>
                <a:latin typeface="Arial"/>
                <a:ea typeface="Arial"/>
                <a:cs typeface="Arial"/>
              </a:defRPr>
            </a:pPr>
            <a:r>
              <a:rPr sz="825" b="1">
                <a:solidFill>
                  <a:srgbClr val="FFFFFF"/>
                </a:solidFill>
                <a:latin typeface="Arial"/>
                <a:ea typeface="Arial"/>
                <a:cs typeface="Arial"/>
              </a:rPr>
              <a:t>C++17</a:t>
            </a:r>
          </a:p>
        </p:txBody>
      </p:sp>
      <p:sp>
        <p:nvSpPr>
          <p:cNvPr id="17" name="text">
            <a:extLst>
              <a:ext uri="{FF2B5EF4-FFF2-40B4-BE49-F238E27FC236}">
                <a16:creationId xmlns:a16="http://schemas.microsoft.com/office/drawing/2014/main" id="{ECD88821-7258-4D4F-A5D6-D6FD2C301CF0}"/>
              </a:ext>
            </a:extLst>
          </p:cNvPr>
          <p:cNvSpPr>
            <a:spLocks noGrp="1"/>
          </p:cNvSpPr>
          <p:nvPr/>
        </p:nvSpPr>
        <p:spPr>
          <a:xfrm>
            <a:off x="295275" y="106680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template&lt;class T&gt;</a:t>
            </a:r>
          </a:p>
        </p:txBody>
      </p:sp>
      <p:sp>
        <p:nvSpPr>
          <p:cNvPr id="18" name="text">
            <a:extLst>
              <a:ext uri="{FF2B5EF4-FFF2-40B4-BE49-F238E27FC236}">
                <a16:creationId xmlns:a16="http://schemas.microsoft.com/office/drawing/2014/main" id="{EB420D7A-816E-4373-8F6A-FF6920638118}"/>
              </a:ext>
            </a:extLst>
          </p:cNvPr>
          <p:cNvSpPr>
            <a:spLocks noGrp="1"/>
          </p:cNvSpPr>
          <p:nvPr/>
        </p:nvSpPr>
        <p:spPr>
          <a:xfrm>
            <a:off x="295275" y="119634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T add(T a, T b) {</a:t>
            </a:r>
          </a:p>
        </p:txBody>
      </p:sp>
      <p:sp>
        <p:nvSpPr>
          <p:cNvPr id="19" name="text">
            <a:extLst>
              <a:ext uri="{FF2B5EF4-FFF2-40B4-BE49-F238E27FC236}">
                <a16:creationId xmlns:a16="http://schemas.microsoft.com/office/drawing/2014/main" id="{DF966F6F-DD34-443D-B55C-E8D5AC27573F}"/>
              </a:ext>
            </a:extLst>
          </p:cNvPr>
          <p:cNvSpPr>
            <a:spLocks noGrp="1"/>
          </p:cNvSpPr>
          <p:nvPr/>
        </p:nvSpPr>
        <p:spPr>
          <a:xfrm>
            <a:off x="295275" y="132588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  return a + b;</a:t>
            </a:r>
          </a:p>
        </p:txBody>
      </p:sp>
      <p:sp>
        <p:nvSpPr>
          <p:cNvPr id="20" name="text">
            <a:extLst>
              <a:ext uri="{FF2B5EF4-FFF2-40B4-BE49-F238E27FC236}">
                <a16:creationId xmlns:a16="http://schemas.microsoft.com/office/drawing/2014/main" id="{EBDB3DDB-39E1-4EC4-9A9F-41458EDB7094}"/>
              </a:ext>
            </a:extLst>
          </p:cNvPr>
          <p:cNvSpPr>
            <a:spLocks noGrp="1"/>
          </p:cNvSpPr>
          <p:nvPr/>
        </p:nvSpPr>
        <p:spPr>
          <a:xfrm>
            <a:off x="295275" y="145542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a:t>
            </a:r>
          </a:p>
        </p:txBody>
      </p:sp>
      <p:sp>
        <p:nvSpPr>
          <p:cNvPr id="21" name="text">
            <a:extLst>
              <a:ext uri="{FF2B5EF4-FFF2-40B4-BE49-F238E27FC236}">
                <a16:creationId xmlns:a16="http://schemas.microsoft.com/office/drawing/2014/main" id="{5BD4A97F-1D46-4C9C-A3FC-DA366F403E2A}"/>
              </a:ext>
            </a:extLst>
          </p:cNvPr>
          <p:cNvSpPr>
            <a:spLocks noGrp="1"/>
          </p:cNvSpPr>
          <p:nvPr/>
        </p:nvSpPr>
        <p:spPr>
          <a:xfrm>
            <a:off x="295275" y="158496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 Calls inside main():</a:t>
            </a:r>
          </a:p>
        </p:txBody>
      </p:sp>
      <p:sp>
        <p:nvSpPr>
          <p:cNvPr id="22" name="text">
            <a:extLst>
              <a:ext uri="{FF2B5EF4-FFF2-40B4-BE49-F238E27FC236}">
                <a16:creationId xmlns:a16="http://schemas.microsoft.com/office/drawing/2014/main" id="{05505D90-D056-41C8-A990-ABE582FB8489}"/>
              </a:ext>
            </a:extLst>
          </p:cNvPr>
          <p:cNvSpPr>
            <a:spLocks noGrp="1"/>
          </p:cNvSpPr>
          <p:nvPr/>
        </p:nvSpPr>
        <p:spPr>
          <a:xfrm>
            <a:off x="295275" y="171450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std::cout &lt;&lt; add(2, 3) &lt;&lt; "\n";</a:t>
            </a:r>
          </a:p>
        </p:txBody>
      </p:sp>
      <p:sp>
        <p:nvSpPr>
          <p:cNvPr id="23" name="text">
            <a:extLst>
              <a:ext uri="{FF2B5EF4-FFF2-40B4-BE49-F238E27FC236}">
                <a16:creationId xmlns:a16="http://schemas.microsoft.com/office/drawing/2014/main" id="{8327D6B8-7C78-48E1-8FAF-880DCE2E81D0}"/>
              </a:ext>
            </a:extLst>
          </p:cNvPr>
          <p:cNvSpPr>
            <a:spLocks noGrp="1"/>
          </p:cNvSpPr>
          <p:nvPr/>
        </p:nvSpPr>
        <p:spPr>
          <a:xfrm>
            <a:off x="295275" y="184404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std::cout &lt;&lt; add(2.5, 3.5) &lt;&lt; "\n";</a:t>
            </a:r>
          </a:p>
        </p:txBody>
      </p:sp>
      <p:sp>
        <p:nvSpPr>
          <p:cNvPr id="24" name="Rectangle 23">
            <a:extLst>
              <a:ext uri="{FF2B5EF4-FFF2-40B4-BE49-F238E27FC236}">
                <a16:creationId xmlns:a16="http://schemas.microsoft.com/office/drawing/2014/main" id="{7077FD64-AB5F-48E2-BC5D-CF2DF3FCFF89}"/>
              </a:ext>
            </a:extLst>
          </p:cNvPr>
          <p:cNvSpPr>
            <a:spLocks noGrp="1"/>
          </p:cNvSpPr>
          <p:nvPr/>
        </p:nvSpPr>
        <p:spPr>
          <a:xfrm>
            <a:off x="2990850" y="981075"/>
            <a:ext cx="2600325" cy="1504950"/>
          </a:xfrm>
          <a:prstGeom prst="rect">
            <a:avLst/>
          </a:prstGeom>
          <a:solidFill>
            <a:srgbClr val="101827"/>
          </a:solidFill>
          <a:ln w="0">
            <a:noFill/>
          </a:ln>
        </p:spPr>
      </p:sp>
      <p:sp>
        <p:nvSpPr>
          <p:cNvPr id="25" name="Rectangle 24">
            <a:extLst>
              <a:ext uri="{FF2B5EF4-FFF2-40B4-BE49-F238E27FC236}">
                <a16:creationId xmlns:a16="http://schemas.microsoft.com/office/drawing/2014/main" id="{A56A4D8C-43AB-4801-AB8F-424C7AF50C8D}"/>
              </a:ext>
            </a:extLst>
          </p:cNvPr>
          <p:cNvSpPr>
            <a:spLocks noGrp="1"/>
          </p:cNvSpPr>
          <p:nvPr/>
        </p:nvSpPr>
        <p:spPr>
          <a:xfrm>
            <a:off x="2990850" y="800100"/>
            <a:ext cx="2600325" cy="180975"/>
          </a:xfrm>
          <a:prstGeom prst="rect">
            <a:avLst/>
          </a:prstGeom>
          <a:solidFill>
            <a:srgbClr val="1AA260"/>
          </a:solidFill>
          <a:ln w="0">
            <a:noFill/>
          </a:ln>
        </p:spPr>
      </p:sp>
      <p:sp>
        <p:nvSpPr>
          <p:cNvPr id="26" name="text">
            <a:extLst>
              <a:ext uri="{FF2B5EF4-FFF2-40B4-BE49-F238E27FC236}">
                <a16:creationId xmlns:a16="http://schemas.microsoft.com/office/drawing/2014/main" id="{0CDCBB6A-CFE7-4619-8894-8ACCC0FADC9F}"/>
              </a:ext>
            </a:extLst>
          </p:cNvPr>
          <p:cNvSpPr>
            <a:spLocks noGrp="1"/>
          </p:cNvSpPr>
          <p:nvPr/>
        </p:nvSpPr>
        <p:spPr>
          <a:xfrm>
            <a:off x="2990850" y="819150"/>
            <a:ext cx="2600325" cy="161925"/>
          </a:xfrm>
          <a:prstGeom prst="rect">
            <a:avLst/>
          </a:prstGeom>
          <a:noFill/>
          <a:ln w="0">
            <a:noFill/>
          </a:ln>
        </p:spPr>
        <p:txBody>
          <a:bodyPr wrap="square" lIns="0" tIns="0" rIns="0" bIns="0" anchor="t">
            <a:noAutofit/>
          </a:bodyPr>
          <a:lstStyle/>
          <a:p>
            <a:pPr algn="ctr">
              <a:lnSpc>
                <a:spcPct val="110000"/>
              </a:lnSpc>
              <a:buNone/>
              <a:defRPr sz="825" b="1">
                <a:solidFill>
                  <a:srgbClr val="FFFFFF"/>
                </a:solidFill>
                <a:latin typeface="Arial"/>
                <a:ea typeface="Arial"/>
                <a:cs typeface="Arial"/>
              </a:defRPr>
            </a:pPr>
            <a:r>
              <a:rPr sz="825" b="1">
                <a:solidFill>
                  <a:srgbClr val="FFFFFF"/>
                </a:solidFill>
                <a:latin typeface="Arial"/>
                <a:ea typeface="Arial"/>
                <a:cs typeface="Arial"/>
              </a:rPr>
              <a:t>Python 3</a:t>
            </a:r>
          </a:p>
        </p:txBody>
      </p:sp>
      <p:sp>
        <p:nvSpPr>
          <p:cNvPr id="27" name="text">
            <a:extLst>
              <a:ext uri="{FF2B5EF4-FFF2-40B4-BE49-F238E27FC236}">
                <a16:creationId xmlns:a16="http://schemas.microsoft.com/office/drawing/2014/main" id="{53ADDA55-33D0-4B8C-B60E-3F6B294C55A9}"/>
              </a:ext>
            </a:extLst>
          </p:cNvPr>
          <p:cNvSpPr>
            <a:spLocks noGrp="1"/>
          </p:cNvSpPr>
          <p:nvPr/>
        </p:nvSpPr>
        <p:spPr>
          <a:xfrm>
            <a:off x="3057525" y="106680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def add(a, b):</a:t>
            </a:r>
          </a:p>
        </p:txBody>
      </p:sp>
      <p:sp>
        <p:nvSpPr>
          <p:cNvPr id="28" name="text">
            <a:extLst>
              <a:ext uri="{FF2B5EF4-FFF2-40B4-BE49-F238E27FC236}">
                <a16:creationId xmlns:a16="http://schemas.microsoft.com/office/drawing/2014/main" id="{262F1B24-4B69-4F1A-80AE-16DA7EE1E416}"/>
              </a:ext>
            </a:extLst>
          </p:cNvPr>
          <p:cNvSpPr>
            <a:spLocks noGrp="1"/>
          </p:cNvSpPr>
          <p:nvPr/>
        </p:nvSpPr>
        <p:spPr>
          <a:xfrm>
            <a:off x="3057525" y="119634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    return a + b</a:t>
            </a:r>
          </a:p>
        </p:txBody>
      </p:sp>
      <p:sp>
        <p:nvSpPr>
          <p:cNvPr id="29" name="text">
            <a:extLst>
              <a:ext uri="{FF2B5EF4-FFF2-40B4-BE49-F238E27FC236}">
                <a16:creationId xmlns:a16="http://schemas.microsoft.com/office/drawing/2014/main" id="{A50B34FD-EEE6-4083-9D2F-27363020CCA9}"/>
              </a:ext>
            </a:extLst>
          </p:cNvPr>
          <p:cNvSpPr>
            <a:spLocks noGrp="1"/>
          </p:cNvSpPr>
          <p:nvPr/>
        </p:nvSpPr>
        <p:spPr>
          <a:xfrm>
            <a:off x="3057525" y="1325880"/>
            <a:ext cx="2476500" cy="142875"/>
          </a:xfrm>
          <a:prstGeom prst="rect">
            <a:avLst/>
          </a:prstGeom>
          <a:noFill/>
          <a:ln w="0">
            <a:noFill/>
          </a:ln>
        </p:spPr>
        <p:txBody>
          <a:bodyPr wrap="square" lIns="0" tIns="0" rIns="0" bIns="0" anchor="t">
            <a:noAutofit/>
          </a:bodyPr>
          <a:lstStyle/>
          <a:p>
            <a:endParaRPr/>
          </a:p>
        </p:txBody>
      </p:sp>
      <p:sp>
        <p:nvSpPr>
          <p:cNvPr id="30" name="text">
            <a:extLst>
              <a:ext uri="{FF2B5EF4-FFF2-40B4-BE49-F238E27FC236}">
                <a16:creationId xmlns:a16="http://schemas.microsoft.com/office/drawing/2014/main" id="{306882EB-4018-4A83-B885-FCAB33293550}"/>
              </a:ext>
            </a:extLst>
          </p:cNvPr>
          <p:cNvSpPr>
            <a:spLocks noGrp="1"/>
          </p:cNvSpPr>
          <p:nvPr/>
        </p:nvSpPr>
        <p:spPr>
          <a:xfrm>
            <a:off x="3057525" y="145542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print(add(2, 3))</a:t>
            </a:r>
          </a:p>
        </p:txBody>
      </p:sp>
      <p:sp>
        <p:nvSpPr>
          <p:cNvPr id="31" name="text">
            <a:extLst>
              <a:ext uri="{FF2B5EF4-FFF2-40B4-BE49-F238E27FC236}">
                <a16:creationId xmlns:a16="http://schemas.microsoft.com/office/drawing/2014/main" id="{A3354CD5-EA17-4C1E-BA5A-6DFB51DDB056}"/>
              </a:ext>
            </a:extLst>
          </p:cNvPr>
          <p:cNvSpPr>
            <a:spLocks noGrp="1"/>
          </p:cNvSpPr>
          <p:nvPr/>
        </p:nvSpPr>
        <p:spPr>
          <a:xfrm>
            <a:off x="3057525" y="158496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print(add(2.5, 3.5))</a:t>
            </a:r>
          </a:p>
        </p:txBody>
      </p:sp>
      <p:sp>
        <p:nvSpPr>
          <p:cNvPr id="32" name="text">
            <a:extLst>
              <a:ext uri="{FF2B5EF4-FFF2-40B4-BE49-F238E27FC236}">
                <a16:creationId xmlns:a16="http://schemas.microsoft.com/office/drawing/2014/main" id="{5CD3A463-951F-47F3-AAA2-5C2EC26A9154}"/>
              </a:ext>
            </a:extLst>
          </p:cNvPr>
          <p:cNvSpPr>
            <a:spLocks noGrp="1"/>
          </p:cNvSpPr>
          <p:nvPr/>
        </p:nvSpPr>
        <p:spPr>
          <a:xfrm>
            <a:off x="228600" y="2600325"/>
            <a:ext cx="5314950" cy="228600"/>
          </a:xfrm>
          <a:prstGeom prst="rect">
            <a:avLst/>
          </a:prstGeom>
          <a:noFill/>
          <a:ln w="0">
            <a:noFill/>
          </a:ln>
        </p:spPr>
        <p:txBody>
          <a:bodyPr wrap="square" lIns="0" tIns="0" rIns="0" bIns="0" anchor="t">
            <a:noAutofit/>
          </a:bodyPr>
          <a:lstStyle/>
          <a:p>
            <a:pPr algn="l">
              <a:lnSpc>
                <a:spcPct val="110000"/>
              </a:lnSpc>
              <a:buNone/>
              <a:defRPr sz="885" b="0">
                <a:solidFill>
                  <a:srgbClr val="006ABA"/>
                </a:solidFill>
                <a:latin typeface="Arial"/>
                <a:ea typeface="Arial"/>
                <a:cs typeface="Arial"/>
              </a:defRPr>
            </a:pPr>
            <a:r>
              <a:rPr sz="885" b="0">
                <a:solidFill>
                  <a:srgbClr val="006ABA"/>
                </a:solidFill>
                <a:latin typeface="Arial"/>
                <a:ea typeface="Arial"/>
                <a:cs typeface="Arial"/>
              </a:rPr>
              <a:t>Results: 5 and 6. Python uses compatible operations at runtime.</a:t>
            </a:r>
          </a:p>
        </p:txBody>
      </p:sp>
      <p:sp>
        <p:nvSpPr>
          <p:cNvPr id="33" name="text">
            <a:extLst>
              <a:ext uri="{FF2B5EF4-FFF2-40B4-BE49-F238E27FC236}">
                <a16:creationId xmlns:a16="http://schemas.microsoft.com/office/drawing/2014/main" id="{C1FCC8C5-52EE-4EA9-B38B-46B312F45789}"/>
              </a:ext>
            </a:extLst>
          </p:cNvPr>
          <p:cNvSpPr>
            <a:spLocks noGrp="1"/>
          </p:cNvSpPr>
          <p:nvPr/>
        </p:nvSpPr>
        <p:spPr>
          <a:xfrm>
            <a:off x="228600" y="2867025"/>
            <a:ext cx="5334000" cy="95250"/>
          </a:xfrm>
          <a:prstGeom prst="rect">
            <a:avLst/>
          </a:prstGeom>
          <a:noFill/>
          <a:ln w="0">
            <a:noFill/>
          </a:ln>
        </p:spPr>
        <p:txBody>
          <a:bodyPr wrap="square" lIns="0" tIns="0" rIns="0" bIns="0" anchor="t">
            <a:noAutofit/>
          </a:bodyPr>
          <a:lstStyle/>
          <a:p>
            <a:pPr algn="l">
              <a:lnSpc>
                <a:spcPct val="110000"/>
              </a:lnSpc>
              <a:buNone/>
              <a:defRPr sz="510" b="0">
                <a:solidFill>
                  <a:srgbClr val="66717C"/>
                </a:solidFill>
                <a:latin typeface="Arial"/>
                <a:ea typeface="Arial"/>
                <a:cs typeface="Arial"/>
              </a:defRPr>
            </a:pPr>
            <a:r>
              <a:rPr sz="510" b="0">
                <a:solidFill>
                  <a:srgbClr val="66717C"/>
                </a:solidFill>
                <a:latin typeface="Arial"/>
                <a:ea typeface="Arial"/>
                <a:cs typeface="Arial"/>
              </a:rPr>
              <a:t>[CT]  [C]</a:t>
            </a:r>
          </a:p>
        </p:txBody>
      </p:sp>
    </p:spTree>
    <p:extLst>
      <p:ext uri="{BB962C8B-B14F-4D97-AF65-F5344CB8AC3E}">
        <p14:creationId xmlns:p14="http://schemas.microsoft.com/office/powerpoint/2010/main" val="36456721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19C03931-4A28-44C2-9238-650F85D8C2AD}"/>
              </a:ext>
            </a:extLst>
          </p:cNvPr>
          <p:cNvSpPr>
            <a:spLocks noGrp="1"/>
          </p:cNvSpPr>
          <p:nvPr>
            <p:ph type="title"/>
          </p:nvPr>
        </p:nvSpPr>
        <p:spPr>
          <a:xfrm>
            <a:off x="171450" y="95250"/>
            <a:ext cx="5429250" cy="304800"/>
          </a:xfrm>
          <a:prstGeom prst="rect">
            <a:avLst/>
          </a:prstGeom>
        </p:spPr>
        <p:txBody>
          <a:bodyPr vert="horz" wrap="square" lIns="0" tIns="0" rIns="0" bIns="0">
            <a:noAutofit/>
          </a:bodyPr>
          <a:lstStyle/>
          <a:p>
            <a:pPr marL="12700" algn="l">
              <a:lnSpc>
                <a:spcPct val="110000"/>
              </a:lnSpc>
              <a:spcBef>
                <a:spcPts val="135"/>
              </a:spcBef>
              <a:buNone/>
              <a:defRPr sz="1400">
                <a:solidFill>
                  <a:srgbClr val="006ABA"/>
                </a:solidFill>
                <a:latin typeface="Arial"/>
                <a:ea typeface="Arial"/>
                <a:cs typeface="Arial"/>
              </a:defRPr>
            </a:pPr>
            <a:r>
              <a:rPr sz="1400" b="0" spc="-10">
                <a:solidFill>
                  <a:srgbClr val="006ABA"/>
                </a:solidFill>
                <a:latin typeface="Arial"/>
                <a:ea typeface="Arial"/>
                <a:cs typeface="Arial"/>
              </a:rPr>
              <a:t>Dictionaries and hash maps</a:t>
            </a:r>
            <a:endParaRPr sz="1400" b="0" spc="-10">
              <a:latin typeface="Arial"/>
              <a:ea typeface="Arial"/>
              <a:cs typeface="Arial"/>
            </a:endParaRPr>
          </a:p>
        </p:txBody>
      </p:sp>
      <p:pic>
        <p:nvPicPr>
          <p:cNvPr id="31" name="object 4"/>
          <p:cNvPicPr>
            <a:picLocks noChangeAspect="1"/>
          </p:cNvPicPr>
          <p:nvPr/>
        </p:nvPicPr>
        <p:blipFill>
          <a:blip r:embed="rId3"/>
          <a:stretch>
            <a:fillRect/>
          </a:stretch>
        </p:blipFill>
        <p:spPr>
          <a:xfrm>
            <a:off x="152565" y="2988507"/>
            <a:ext cx="900668" cy="161917"/>
          </a:xfrm>
          <a:prstGeom prst="rect">
            <a:avLst/>
          </a:prstGeom>
        </p:spPr>
      </p:pic>
      <p:pic>
        <p:nvPicPr>
          <p:cNvPr id="32" name="object 5"/>
          <p:cNvPicPr>
            <a:picLocks noChangeAspect="1"/>
          </p:cNvPicPr>
          <p:nvPr/>
        </p:nvPicPr>
        <p:blipFill>
          <a:blip r:embed="rId4"/>
          <a:stretch>
            <a:fillRect/>
          </a:stretch>
        </p:blipFill>
        <p:spPr>
          <a:xfrm>
            <a:off x="1286560" y="2988417"/>
            <a:ext cx="610912" cy="162008"/>
          </a:xfrm>
          <a:prstGeom prst="rect">
            <a:avLst/>
          </a:prstGeom>
        </p:spPr>
      </p:pic>
      <p:sp>
        <p:nvSpPr>
          <p:cNvPr id="10" name="Footer Placeholder 7">
            <a:extLst>
              <a:ext uri="{FF2B5EF4-FFF2-40B4-BE49-F238E27FC236}">
                <a16:creationId xmlns:a16="http://schemas.microsoft.com/office/drawing/2014/main" id="{197FE2C8-8EE2-4937-3F30-294DB47641D6}"/>
              </a:ext>
            </a:extLst>
          </p:cNvPr>
          <p:cNvSpPr>
            <a:spLocks noGrp="1"/>
          </p:cNvSpPr>
          <p:nvPr>
            <p:ph type="ftr" idx="5"/>
          </p:nvPr>
        </p:nvSpPr>
        <p:spPr>
          <a:xfrm>
            <a:off x="2590800" y="3105150"/>
            <a:ext cx="2743200" cy="95250"/>
          </a:xfrm>
        </p:spPr>
        <p:txBody>
          <a:bodyPr wrap="square" lIns="0" tIns="0" rIns="0" bIns="0">
            <a:noAutofit/>
          </a:bodyPr>
          <a:lstStyle/>
          <a:p>
            <a:pPr algn="r">
              <a:lnSpc>
                <a:spcPct val="110000"/>
              </a:lnSpc>
              <a:buNone/>
              <a:defRPr sz="500">
                <a:solidFill>
                  <a:srgbClr val="888888"/>
                </a:solidFill>
                <a:latin typeface="Arial"/>
                <a:ea typeface="Arial"/>
                <a:cs typeface="Arial"/>
              </a:defRPr>
            </a:pPr>
            <a:r>
              <a:rPr sz="500">
                <a:solidFill>
                  <a:srgbClr val="888888"/>
                </a:solidFill>
                <a:latin typeface="Arial"/>
                <a:ea typeface="Arial"/>
                <a:cs typeface="Arial"/>
              </a:rPr>
              <a:t>MAS Foundations - Kamendu Panchal</a:t>
            </a:r>
            <a:endParaRPr sz="500" b="1">
              <a:solidFill>
                <a:schemeClr val="tx1"/>
              </a:solidFill>
              <a:latin typeface="Arial"/>
              <a:ea typeface="Arial"/>
              <a:cs typeface="Arial"/>
            </a:endParaRPr>
          </a:p>
        </p:txBody>
      </p:sp>
      <p:sp>
        <p:nvSpPr>
          <p:cNvPr id="3" name="TextBox 2">
            <a:extLst>
              <a:ext uri="{FF2B5EF4-FFF2-40B4-BE49-F238E27FC236}">
                <a16:creationId xmlns:a16="http://schemas.microsoft.com/office/drawing/2014/main" id="{DCE8FEB4-DA15-74FB-D091-FA2B80C9B501}"/>
              </a:ext>
            </a:extLst>
          </p:cNvPr>
          <p:cNvSpPr>
            <a:spLocks noGrp="1"/>
          </p:cNvSpPr>
          <p:nvPr/>
        </p:nvSpPr>
        <p:spPr>
          <a:xfrm>
            <a:off x="5438775" y="3086100"/>
            <a:ext cx="209550" cy="175260"/>
          </a:xfrm>
          <a:prstGeom prst="rect">
            <a:avLst/>
          </a:prstGeom>
          <a:noFill/>
        </p:spPr>
        <p:txBody>
          <a:bodyPr wrap="square" lIns="0" tIns="0" rIns="0" bIns="0">
            <a:noAutofit/>
          </a:bodyPr>
          <a:lstStyle/>
          <a:p>
            <a:pPr algn="r">
              <a:lnSpc>
                <a:spcPct val="110000"/>
              </a:lnSpc>
              <a:buNone/>
              <a:defRPr sz="500">
                <a:solidFill>
                  <a:srgbClr val="202020"/>
                </a:solidFill>
                <a:latin typeface="Arial"/>
                <a:ea typeface="Arial"/>
                <a:cs typeface="Arial"/>
              </a:defRPr>
            </a:pPr>
            <a:r>
              <a:rPr sz="500">
                <a:solidFill>
                  <a:srgbClr val="202020"/>
                </a:solidFill>
                <a:latin typeface="Arial"/>
                <a:ea typeface="Arial"/>
                <a:cs typeface="Arial"/>
              </a:rPr>
              <a:t>19</a:t>
            </a:r>
          </a:p>
        </p:txBody>
      </p:sp>
      <p:sp>
        <p:nvSpPr>
          <p:cNvPr id="13" name="text">
            <a:extLst>
              <a:ext uri="{FF2B5EF4-FFF2-40B4-BE49-F238E27FC236}">
                <a16:creationId xmlns:a16="http://schemas.microsoft.com/office/drawing/2014/main" id="{A53B40C5-1F80-4F6A-90E3-0C92F667966A}"/>
              </a:ext>
            </a:extLst>
          </p:cNvPr>
          <p:cNvSpPr>
            <a:spLocks noGrp="1"/>
          </p:cNvSpPr>
          <p:nvPr/>
        </p:nvSpPr>
        <p:spPr>
          <a:xfrm>
            <a:off x="228600" y="504825"/>
            <a:ext cx="5314950" cy="381000"/>
          </a:xfrm>
          <a:prstGeom prst="rect">
            <a:avLst/>
          </a:prstGeom>
          <a:noFill/>
          <a:ln w="0">
            <a:noFill/>
          </a:ln>
        </p:spPr>
        <p:txBody>
          <a:bodyPr wrap="square" lIns="0" tIns="0" rIns="0" bIns="0" anchor="t">
            <a:noAutofit/>
          </a:bodyPr>
          <a:lstStyle/>
          <a:p>
            <a:pPr algn="l">
              <a:lnSpc>
                <a:spcPct val="110000"/>
              </a:lnSpc>
              <a:buNone/>
              <a:defRPr sz="998" b="0">
                <a:solidFill>
                  <a:srgbClr val="202020"/>
                </a:solidFill>
                <a:latin typeface="Arial"/>
                <a:ea typeface="Arial"/>
                <a:cs typeface="Arial"/>
              </a:defRPr>
            </a:pPr>
            <a:r>
              <a:rPr sz="998" b="0">
                <a:solidFill>
                  <a:srgbClr val="202020"/>
                </a:solidFill>
                <a:latin typeface="Arial"/>
                <a:ea typeface="Arial"/>
                <a:cs typeface="Arial"/>
              </a:rPr>
              <a:t>A dictionary associates each unique key with a value.</a:t>
            </a:r>
          </a:p>
        </p:txBody>
      </p:sp>
      <p:sp>
        <p:nvSpPr>
          <p:cNvPr id="14" name="Rectangle 13">
            <a:extLst>
              <a:ext uri="{FF2B5EF4-FFF2-40B4-BE49-F238E27FC236}">
                <a16:creationId xmlns:a16="http://schemas.microsoft.com/office/drawing/2014/main" id="{7C2234CF-FFE5-481F-BA15-31641983023D}"/>
              </a:ext>
            </a:extLst>
          </p:cNvPr>
          <p:cNvSpPr>
            <a:spLocks noGrp="1"/>
          </p:cNvSpPr>
          <p:nvPr/>
        </p:nvSpPr>
        <p:spPr>
          <a:xfrm>
            <a:off x="228600" y="981075"/>
            <a:ext cx="2600325" cy="1504950"/>
          </a:xfrm>
          <a:prstGeom prst="rect">
            <a:avLst/>
          </a:prstGeom>
          <a:solidFill>
            <a:srgbClr val="101827"/>
          </a:solidFill>
          <a:ln w="0">
            <a:noFill/>
          </a:ln>
        </p:spPr>
      </p:sp>
      <p:sp>
        <p:nvSpPr>
          <p:cNvPr id="15" name="Rectangle 14">
            <a:extLst>
              <a:ext uri="{FF2B5EF4-FFF2-40B4-BE49-F238E27FC236}">
                <a16:creationId xmlns:a16="http://schemas.microsoft.com/office/drawing/2014/main" id="{C41154C3-A966-431F-AC1A-6B30D86F426E}"/>
              </a:ext>
            </a:extLst>
          </p:cNvPr>
          <p:cNvSpPr>
            <a:spLocks noGrp="1"/>
          </p:cNvSpPr>
          <p:nvPr/>
        </p:nvSpPr>
        <p:spPr>
          <a:xfrm>
            <a:off x="228600" y="800100"/>
            <a:ext cx="2600325" cy="180975"/>
          </a:xfrm>
          <a:prstGeom prst="rect">
            <a:avLst/>
          </a:prstGeom>
          <a:solidFill>
            <a:srgbClr val="006ABA"/>
          </a:solidFill>
          <a:ln w="0">
            <a:noFill/>
          </a:ln>
        </p:spPr>
      </p:sp>
      <p:sp>
        <p:nvSpPr>
          <p:cNvPr id="16" name="text">
            <a:extLst>
              <a:ext uri="{FF2B5EF4-FFF2-40B4-BE49-F238E27FC236}">
                <a16:creationId xmlns:a16="http://schemas.microsoft.com/office/drawing/2014/main" id="{FC632299-422F-4700-B8FF-298ACDB7F4AB}"/>
              </a:ext>
            </a:extLst>
          </p:cNvPr>
          <p:cNvSpPr>
            <a:spLocks noGrp="1"/>
          </p:cNvSpPr>
          <p:nvPr/>
        </p:nvSpPr>
        <p:spPr>
          <a:xfrm>
            <a:off x="228600" y="819150"/>
            <a:ext cx="2600325" cy="161925"/>
          </a:xfrm>
          <a:prstGeom prst="rect">
            <a:avLst/>
          </a:prstGeom>
          <a:noFill/>
          <a:ln w="0">
            <a:noFill/>
          </a:ln>
        </p:spPr>
        <p:txBody>
          <a:bodyPr wrap="square" lIns="0" tIns="0" rIns="0" bIns="0" anchor="t">
            <a:noAutofit/>
          </a:bodyPr>
          <a:lstStyle/>
          <a:p>
            <a:pPr algn="ctr">
              <a:lnSpc>
                <a:spcPct val="110000"/>
              </a:lnSpc>
              <a:buNone/>
              <a:defRPr sz="825" b="1">
                <a:solidFill>
                  <a:srgbClr val="FFFFFF"/>
                </a:solidFill>
                <a:latin typeface="Arial"/>
                <a:ea typeface="Arial"/>
                <a:cs typeface="Arial"/>
              </a:defRPr>
            </a:pPr>
            <a:r>
              <a:rPr sz="825" b="1">
                <a:solidFill>
                  <a:srgbClr val="FFFFFF"/>
                </a:solidFill>
                <a:latin typeface="Arial"/>
                <a:ea typeface="Arial"/>
                <a:cs typeface="Arial"/>
              </a:rPr>
              <a:t>C++17</a:t>
            </a:r>
          </a:p>
        </p:txBody>
      </p:sp>
      <p:sp>
        <p:nvSpPr>
          <p:cNvPr id="17" name="text">
            <a:extLst>
              <a:ext uri="{FF2B5EF4-FFF2-40B4-BE49-F238E27FC236}">
                <a16:creationId xmlns:a16="http://schemas.microsoft.com/office/drawing/2014/main" id="{DEDB9551-5C3F-455E-8B4D-987260073962}"/>
              </a:ext>
            </a:extLst>
          </p:cNvPr>
          <p:cNvSpPr>
            <a:spLocks noGrp="1"/>
          </p:cNvSpPr>
          <p:nvPr/>
        </p:nvSpPr>
        <p:spPr>
          <a:xfrm>
            <a:off x="295275" y="106680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std::unordered_map&lt;std::string, int&gt; g;</a:t>
            </a:r>
          </a:p>
        </p:txBody>
      </p:sp>
      <p:sp>
        <p:nvSpPr>
          <p:cNvPr id="18" name="text">
            <a:extLst>
              <a:ext uri="{FF2B5EF4-FFF2-40B4-BE49-F238E27FC236}">
                <a16:creationId xmlns:a16="http://schemas.microsoft.com/office/drawing/2014/main" id="{DF46C1F2-013E-427A-9B7B-FEE492A553D6}"/>
              </a:ext>
            </a:extLst>
          </p:cNvPr>
          <p:cNvSpPr>
            <a:spLocks noGrp="1"/>
          </p:cNvSpPr>
          <p:nvPr/>
        </p:nvSpPr>
        <p:spPr>
          <a:xfrm>
            <a:off x="295275" y="119634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g["Alice"] = 85;</a:t>
            </a:r>
          </a:p>
        </p:txBody>
      </p:sp>
      <p:sp>
        <p:nvSpPr>
          <p:cNvPr id="19" name="text">
            <a:extLst>
              <a:ext uri="{FF2B5EF4-FFF2-40B4-BE49-F238E27FC236}">
                <a16:creationId xmlns:a16="http://schemas.microsoft.com/office/drawing/2014/main" id="{78E04E6B-C3FD-46E8-B6F7-30431C253F6C}"/>
              </a:ext>
            </a:extLst>
          </p:cNvPr>
          <p:cNvSpPr>
            <a:spLocks noGrp="1"/>
          </p:cNvSpPr>
          <p:nvPr/>
        </p:nvSpPr>
        <p:spPr>
          <a:xfrm>
            <a:off x="295275" y="132588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g["Bob"] = 90;</a:t>
            </a:r>
          </a:p>
        </p:txBody>
      </p:sp>
      <p:sp>
        <p:nvSpPr>
          <p:cNvPr id="20" name="text">
            <a:extLst>
              <a:ext uri="{FF2B5EF4-FFF2-40B4-BE49-F238E27FC236}">
                <a16:creationId xmlns:a16="http://schemas.microsoft.com/office/drawing/2014/main" id="{55FC5966-35F0-4414-9889-4B17CCD805E8}"/>
              </a:ext>
            </a:extLst>
          </p:cNvPr>
          <p:cNvSpPr>
            <a:spLocks noGrp="1"/>
          </p:cNvSpPr>
          <p:nvPr/>
        </p:nvSpPr>
        <p:spPr>
          <a:xfrm>
            <a:off x="295275" y="145542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std::cout &lt;&lt; g.at("Alice") &lt;&lt; "\n";</a:t>
            </a:r>
          </a:p>
        </p:txBody>
      </p:sp>
      <p:sp>
        <p:nvSpPr>
          <p:cNvPr id="21" name="text">
            <a:extLst>
              <a:ext uri="{FF2B5EF4-FFF2-40B4-BE49-F238E27FC236}">
                <a16:creationId xmlns:a16="http://schemas.microsoft.com/office/drawing/2014/main" id="{DDF9A369-0DFF-483C-A575-5A666314B08A}"/>
              </a:ext>
            </a:extLst>
          </p:cNvPr>
          <p:cNvSpPr>
            <a:spLocks noGrp="1"/>
          </p:cNvSpPr>
          <p:nvPr/>
        </p:nvSpPr>
        <p:spPr>
          <a:xfrm>
            <a:off x="295275" y="158496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g["Bob"] = 95;</a:t>
            </a:r>
          </a:p>
        </p:txBody>
      </p:sp>
      <p:sp>
        <p:nvSpPr>
          <p:cNvPr id="22" name="Rectangle 21">
            <a:extLst>
              <a:ext uri="{FF2B5EF4-FFF2-40B4-BE49-F238E27FC236}">
                <a16:creationId xmlns:a16="http://schemas.microsoft.com/office/drawing/2014/main" id="{2B3FE755-D35F-478F-870A-CEF2B260893F}"/>
              </a:ext>
            </a:extLst>
          </p:cNvPr>
          <p:cNvSpPr>
            <a:spLocks noGrp="1"/>
          </p:cNvSpPr>
          <p:nvPr/>
        </p:nvSpPr>
        <p:spPr>
          <a:xfrm>
            <a:off x="2990850" y="981075"/>
            <a:ext cx="2600325" cy="1504950"/>
          </a:xfrm>
          <a:prstGeom prst="rect">
            <a:avLst/>
          </a:prstGeom>
          <a:solidFill>
            <a:srgbClr val="101827"/>
          </a:solidFill>
          <a:ln w="0">
            <a:noFill/>
          </a:ln>
        </p:spPr>
      </p:sp>
      <p:sp>
        <p:nvSpPr>
          <p:cNvPr id="23" name="Rectangle 22">
            <a:extLst>
              <a:ext uri="{FF2B5EF4-FFF2-40B4-BE49-F238E27FC236}">
                <a16:creationId xmlns:a16="http://schemas.microsoft.com/office/drawing/2014/main" id="{56F92DEB-97A0-4E17-A388-F2F287EB84CA}"/>
              </a:ext>
            </a:extLst>
          </p:cNvPr>
          <p:cNvSpPr>
            <a:spLocks noGrp="1"/>
          </p:cNvSpPr>
          <p:nvPr/>
        </p:nvSpPr>
        <p:spPr>
          <a:xfrm>
            <a:off x="2990850" y="800100"/>
            <a:ext cx="2600325" cy="180975"/>
          </a:xfrm>
          <a:prstGeom prst="rect">
            <a:avLst/>
          </a:prstGeom>
          <a:solidFill>
            <a:srgbClr val="1AA260"/>
          </a:solidFill>
          <a:ln w="0">
            <a:noFill/>
          </a:ln>
        </p:spPr>
      </p:sp>
      <p:sp>
        <p:nvSpPr>
          <p:cNvPr id="24" name="text">
            <a:extLst>
              <a:ext uri="{FF2B5EF4-FFF2-40B4-BE49-F238E27FC236}">
                <a16:creationId xmlns:a16="http://schemas.microsoft.com/office/drawing/2014/main" id="{427BDDBC-8519-4CD6-BF0A-B7A8403C2E8D}"/>
              </a:ext>
            </a:extLst>
          </p:cNvPr>
          <p:cNvSpPr>
            <a:spLocks noGrp="1"/>
          </p:cNvSpPr>
          <p:nvPr/>
        </p:nvSpPr>
        <p:spPr>
          <a:xfrm>
            <a:off x="2990850" y="819150"/>
            <a:ext cx="2600325" cy="161925"/>
          </a:xfrm>
          <a:prstGeom prst="rect">
            <a:avLst/>
          </a:prstGeom>
          <a:noFill/>
          <a:ln w="0">
            <a:noFill/>
          </a:ln>
        </p:spPr>
        <p:txBody>
          <a:bodyPr wrap="square" lIns="0" tIns="0" rIns="0" bIns="0" anchor="t">
            <a:noAutofit/>
          </a:bodyPr>
          <a:lstStyle/>
          <a:p>
            <a:pPr algn="ctr">
              <a:lnSpc>
                <a:spcPct val="110000"/>
              </a:lnSpc>
              <a:buNone/>
              <a:defRPr sz="825" b="1">
                <a:solidFill>
                  <a:srgbClr val="FFFFFF"/>
                </a:solidFill>
                <a:latin typeface="Arial"/>
                <a:ea typeface="Arial"/>
                <a:cs typeface="Arial"/>
              </a:defRPr>
            </a:pPr>
            <a:r>
              <a:rPr sz="825" b="1">
                <a:solidFill>
                  <a:srgbClr val="FFFFFF"/>
                </a:solidFill>
                <a:latin typeface="Arial"/>
                <a:ea typeface="Arial"/>
                <a:cs typeface="Arial"/>
              </a:rPr>
              <a:t>Python 3</a:t>
            </a:r>
          </a:p>
        </p:txBody>
      </p:sp>
      <p:sp>
        <p:nvSpPr>
          <p:cNvPr id="25" name="text">
            <a:extLst>
              <a:ext uri="{FF2B5EF4-FFF2-40B4-BE49-F238E27FC236}">
                <a16:creationId xmlns:a16="http://schemas.microsoft.com/office/drawing/2014/main" id="{BBD4980E-3BCE-4366-A074-92E5445B502F}"/>
              </a:ext>
            </a:extLst>
          </p:cNvPr>
          <p:cNvSpPr>
            <a:spLocks noGrp="1"/>
          </p:cNvSpPr>
          <p:nvPr/>
        </p:nvSpPr>
        <p:spPr>
          <a:xfrm>
            <a:off x="3057525" y="106680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g = {"Alice": 85, "Bob": 90}</a:t>
            </a:r>
          </a:p>
        </p:txBody>
      </p:sp>
      <p:sp>
        <p:nvSpPr>
          <p:cNvPr id="26" name="text">
            <a:extLst>
              <a:ext uri="{FF2B5EF4-FFF2-40B4-BE49-F238E27FC236}">
                <a16:creationId xmlns:a16="http://schemas.microsoft.com/office/drawing/2014/main" id="{97AE8BD4-E8B3-44D8-8070-BC92CB08B2D0}"/>
              </a:ext>
            </a:extLst>
          </p:cNvPr>
          <p:cNvSpPr>
            <a:spLocks noGrp="1"/>
          </p:cNvSpPr>
          <p:nvPr/>
        </p:nvSpPr>
        <p:spPr>
          <a:xfrm>
            <a:off x="3057525" y="119634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print(g["Alice"])</a:t>
            </a:r>
          </a:p>
        </p:txBody>
      </p:sp>
      <p:sp>
        <p:nvSpPr>
          <p:cNvPr id="27" name="text">
            <a:extLst>
              <a:ext uri="{FF2B5EF4-FFF2-40B4-BE49-F238E27FC236}">
                <a16:creationId xmlns:a16="http://schemas.microsoft.com/office/drawing/2014/main" id="{406AFC9B-EDB0-42D1-ADE5-C3E043C47CCD}"/>
              </a:ext>
            </a:extLst>
          </p:cNvPr>
          <p:cNvSpPr>
            <a:spLocks noGrp="1"/>
          </p:cNvSpPr>
          <p:nvPr/>
        </p:nvSpPr>
        <p:spPr>
          <a:xfrm>
            <a:off x="3057525" y="132588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g["Bob"] = 95</a:t>
            </a:r>
          </a:p>
        </p:txBody>
      </p:sp>
      <p:sp>
        <p:nvSpPr>
          <p:cNvPr id="28" name="text">
            <a:extLst>
              <a:ext uri="{FF2B5EF4-FFF2-40B4-BE49-F238E27FC236}">
                <a16:creationId xmlns:a16="http://schemas.microsoft.com/office/drawing/2014/main" id="{E9EC0EDC-6276-4300-80A0-609D08D8645A}"/>
              </a:ext>
            </a:extLst>
          </p:cNvPr>
          <p:cNvSpPr>
            <a:spLocks noGrp="1"/>
          </p:cNvSpPr>
          <p:nvPr/>
        </p:nvSpPr>
        <p:spPr>
          <a:xfrm>
            <a:off x="228600" y="2600325"/>
            <a:ext cx="5314950" cy="228600"/>
          </a:xfrm>
          <a:prstGeom prst="rect">
            <a:avLst/>
          </a:prstGeom>
          <a:noFill/>
          <a:ln w="0">
            <a:noFill/>
          </a:ln>
        </p:spPr>
        <p:txBody>
          <a:bodyPr wrap="square" lIns="0" tIns="0" rIns="0" bIns="0" anchor="t">
            <a:noAutofit/>
          </a:bodyPr>
          <a:lstStyle/>
          <a:p>
            <a:pPr algn="l">
              <a:lnSpc>
                <a:spcPct val="110000"/>
              </a:lnSpc>
              <a:buNone/>
              <a:defRPr sz="885" b="0">
                <a:solidFill>
                  <a:srgbClr val="006ABA"/>
                </a:solidFill>
                <a:latin typeface="Arial"/>
                <a:ea typeface="Arial"/>
                <a:cs typeface="Arial"/>
              </a:defRPr>
            </a:pPr>
            <a:r>
              <a:rPr sz="885" b="0">
                <a:solidFill>
                  <a:srgbClr val="006ABA"/>
                </a:solidFill>
                <a:latin typeface="Arial"/>
                <a:ea typeface="Arial"/>
                <a:cs typeface="Arial"/>
              </a:rPr>
              <a:t>Output: 85. A key identifies the value to retrieve.</a:t>
            </a:r>
          </a:p>
        </p:txBody>
      </p:sp>
      <p:sp>
        <p:nvSpPr>
          <p:cNvPr id="29" name="text">
            <a:extLst>
              <a:ext uri="{FF2B5EF4-FFF2-40B4-BE49-F238E27FC236}">
                <a16:creationId xmlns:a16="http://schemas.microsoft.com/office/drawing/2014/main" id="{ED821DAA-F217-4C1E-B166-120FED751542}"/>
              </a:ext>
            </a:extLst>
          </p:cNvPr>
          <p:cNvSpPr>
            <a:spLocks noGrp="1"/>
          </p:cNvSpPr>
          <p:nvPr/>
        </p:nvSpPr>
        <p:spPr>
          <a:xfrm>
            <a:off x="228600" y="2867025"/>
            <a:ext cx="5334000" cy="95250"/>
          </a:xfrm>
          <a:prstGeom prst="rect">
            <a:avLst/>
          </a:prstGeom>
          <a:noFill/>
          <a:ln w="0">
            <a:noFill/>
          </a:ln>
        </p:spPr>
        <p:txBody>
          <a:bodyPr wrap="square" lIns="0" tIns="0" rIns="0" bIns="0" anchor="t">
            <a:noAutofit/>
          </a:bodyPr>
          <a:lstStyle/>
          <a:p>
            <a:pPr algn="l">
              <a:lnSpc>
                <a:spcPct val="110000"/>
              </a:lnSpc>
              <a:buNone/>
              <a:defRPr sz="510" b="0">
                <a:solidFill>
                  <a:srgbClr val="66717C"/>
                </a:solidFill>
                <a:latin typeface="Arial"/>
                <a:ea typeface="Arial"/>
                <a:cs typeface="Arial"/>
              </a:defRPr>
            </a:pPr>
            <a:r>
              <a:rPr sz="510" b="0">
                <a:solidFill>
                  <a:srgbClr val="66717C"/>
                </a:solidFill>
                <a:latin typeface="Arial"/>
                <a:ea typeface="Arial"/>
                <a:cs typeface="Arial"/>
              </a:rPr>
              <a:t>[I]  [M]  [PY]  [C]</a:t>
            </a:r>
          </a:p>
        </p:txBody>
      </p:sp>
    </p:spTree>
    <p:extLst>
      <p:ext uri="{BB962C8B-B14F-4D97-AF65-F5344CB8AC3E}">
        <p14:creationId xmlns:p14="http://schemas.microsoft.com/office/powerpoint/2010/main" val="36456721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19C03931-4A28-44C2-9238-650F85D8C2AD}"/>
              </a:ext>
            </a:extLst>
          </p:cNvPr>
          <p:cNvSpPr>
            <a:spLocks noGrp="1"/>
          </p:cNvSpPr>
          <p:nvPr>
            <p:ph type="title"/>
          </p:nvPr>
        </p:nvSpPr>
        <p:spPr>
          <a:xfrm>
            <a:off x="171450" y="95250"/>
            <a:ext cx="5429250" cy="304800"/>
          </a:xfrm>
          <a:prstGeom prst="rect">
            <a:avLst/>
          </a:prstGeom>
        </p:spPr>
        <p:txBody>
          <a:bodyPr vert="horz" wrap="square" lIns="0" tIns="0" rIns="0" bIns="0">
            <a:noAutofit/>
          </a:bodyPr>
          <a:lstStyle/>
          <a:p>
            <a:pPr marL="12700" algn="l">
              <a:lnSpc>
                <a:spcPct val="110000"/>
              </a:lnSpc>
              <a:spcBef>
                <a:spcPts val="135"/>
              </a:spcBef>
              <a:buNone/>
              <a:defRPr sz="1400">
                <a:solidFill>
                  <a:srgbClr val="006ABA"/>
                </a:solidFill>
                <a:latin typeface="Arial"/>
                <a:ea typeface="Arial"/>
                <a:cs typeface="Arial"/>
              </a:defRPr>
            </a:pPr>
            <a:r>
              <a:rPr sz="1400" b="0" spc="-10">
                <a:solidFill>
                  <a:srgbClr val="006ABA"/>
                </a:solidFill>
                <a:latin typeface="Arial"/>
                <a:ea typeface="Arial"/>
                <a:cs typeface="Arial"/>
              </a:rPr>
              <a:t>Tuples: a small record</a:t>
            </a:r>
            <a:endParaRPr sz="1400" b="0" spc="-10">
              <a:latin typeface="Arial"/>
              <a:ea typeface="Arial"/>
              <a:cs typeface="Arial"/>
            </a:endParaRPr>
          </a:p>
        </p:txBody>
      </p:sp>
      <p:pic>
        <p:nvPicPr>
          <p:cNvPr id="28" name="object 4"/>
          <p:cNvPicPr>
            <a:picLocks noChangeAspect="1"/>
          </p:cNvPicPr>
          <p:nvPr/>
        </p:nvPicPr>
        <p:blipFill>
          <a:blip r:embed="rId3"/>
          <a:stretch>
            <a:fillRect/>
          </a:stretch>
        </p:blipFill>
        <p:spPr>
          <a:xfrm>
            <a:off x="152565" y="2988507"/>
            <a:ext cx="900668" cy="161917"/>
          </a:xfrm>
          <a:prstGeom prst="rect">
            <a:avLst/>
          </a:prstGeom>
        </p:spPr>
      </p:pic>
      <p:pic>
        <p:nvPicPr>
          <p:cNvPr id="29" name="object 5"/>
          <p:cNvPicPr>
            <a:picLocks noChangeAspect="1"/>
          </p:cNvPicPr>
          <p:nvPr/>
        </p:nvPicPr>
        <p:blipFill>
          <a:blip r:embed="rId4"/>
          <a:stretch>
            <a:fillRect/>
          </a:stretch>
        </p:blipFill>
        <p:spPr>
          <a:xfrm>
            <a:off x="1286560" y="2988417"/>
            <a:ext cx="610912" cy="162008"/>
          </a:xfrm>
          <a:prstGeom prst="rect">
            <a:avLst/>
          </a:prstGeom>
        </p:spPr>
      </p:pic>
      <p:sp>
        <p:nvSpPr>
          <p:cNvPr id="10" name="Footer Placeholder 7">
            <a:extLst>
              <a:ext uri="{FF2B5EF4-FFF2-40B4-BE49-F238E27FC236}">
                <a16:creationId xmlns:a16="http://schemas.microsoft.com/office/drawing/2014/main" id="{197FE2C8-8EE2-4937-3F30-294DB47641D6}"/>
              </a:ext>
            </a:extLst>
          </p:cNvPr>
          <p:cNvSpPr>
            <a:spLocks noGrp="1"/>
          </p:cNvSpPr>
          <p:nvPr>
            <p:ph type="ftr" idx="5"/>
          </p:nvPr>
        </p:nvSpPr>
        <p:spPr>
          <a:xfrm>
            <a:off x="2590800" y="3105150"/>
            <a:ext cx="2743200" cy="95250"/>
          </a:xfrm>
        </p:spPr>
        <p:txBody>
          <a:bodyPr wrap="square" lIns="0" tIns="0" rIns="0" bIns="0">
            <a:noAutofit/>
          </a:bodyPr>
          <a:lstStyle/>
          <a:p>
            <a:pPr algn="r">
              <a:lnSpc>
                <a:spcPct val="110000"/>
              </a:lnSpc>
              <a:buNone/>
              <a:defRPr sz="500">
                <a:solidFill>
                  <a:srgbClr val="888888"/>
                </a:solidFill>
                <a:latin typeface="Arial"/>
                <a:ea typeface="Arial"/>
                <a:cs typeface="Arial"/>
              </a:defRPr>
            </a:pPr>
            <a:r>
              <a:rPr sz="500">
                <a:solidFill>
                  <a:srgbClr val="888888"/>
                </a:solidFill>
                <a:latin typeface="Arial"/>
                <a:ea typeface="Arial"/>
                <a:cs typeface="Arial"/>
              </a:rPr>
              <a:t>MAS Foundations - Kamendu Panchal</a:t>
            </a:r>
            <a:endParaRPr sz="500" b="1">
              <a:solidFill>
                <a:schemeClr val="tx1"/>
              </a:solidFill>
              <a:latin typeface="Arial"/>
              <a:ea typeface="Arial"/>
              <a:cs typeface="Arial"/>
            </a:endParaRPr>
          </a:p>
        </p:txBody>
      </p:sp>
      <p:sp>
        <p:nvSpPr>
          <p:cNvPr id="3" name="TextBox 2">
            <a:extLst>
              <a:ext uri="{FF2B5EF4-FFF2-40B4-BE49-F238E27FC236}">
                <a16:creationId xmlns:a16="http://schemas.microsoft.com/office/drawing/2014/main" id="{DCE8FEB4-DA15-74FB-D091-FA2B80C9B501}"/>
              </a:ext>
            </a:extLst>
          </p:cNvPr>
          <p:cNvSpPr>
            <a:spLocks noGrp="1"/>
          </p:cNvSpPr>
          <p:nvPr/>
        </p:nvSpPr>
        <p:spPr>
          <a:xfrm>
            <a:off x="5438775" y="3086100"/>
            <a:ext cx="209550" cy="175260"/>
          </a:xfrm>
          <a:prstGeom prst="rect">
            <a:avLst/>
          </a:prstGeom>
          <a:noFill/>
        </p:spPr>
        <p:txBody>
          <a:bodyPr wrap="square" lIns="0" tIns="0" rIns="0" bIns="0">
            <a:noAutofit/>
          </a:bodyPr>
          <a:lstStyle/>
          <a:p>
            <a:pPr algn="r">
              <a:lnSpc>
                <a:spcPct val="110000"/>
              </a:lnSpc>
              <a:buNone/>
              <a:defRPr sz="500">
                <a:solidFill>
                  <a:srgbClr val="202020"/>
                </a:solidFill>
                <a:latin typeface="Arial"/>
                <a:ea typeface="Arial"/>
                <a:cs typeface="Arial"/>
              </a:defRPr>
            </a:pPr>
            <a:r>
              <a:rPr sz="500">
                <a:solidFill>
                  <a:srgbClr val="202020"/>
                </a:solidFill>
                <a:latin typeface="Arial"/>
                <a:ea typeface="Arial"/>
                <a:cs typeface="Arial"/>
              </a:rPr>
              <a:t>20</a:t>
            </a:r>
          </a:p>
        </p:txBody>
      </p:sp>
      <p:sp>
        <p:nvSpPr>
          <p:cNvPr id="13" name="text">
            <a:extLst>
              <a:ext uri="{FF2B5EF4-FFF2-40B4-BE49-F238E27FC236}">
                <a16:creationId xmlns:a16="http://schemas.microsoft.com/office/drawing/2014/main" id="{4CD727F7-E2EF-49B7-8DB6-D469BECAC458}"/>
              </a:ext>
            </a:extLst>
          </p:cNvPr>
          <p:cNvSpPr>
            <a:spLocks noGrp="1"/>
          </p:cNvSpPr>
          <p:nvPr/>
        </p:nvSpPr>
        <p:spPr>
          <a:xfrm>
            <a:off x="228600" y="504825"/>
            <a:ext cx="5314950" cy="381000"/>
          </a:xfrm>
          <a:prstGeom prst="rect">
            <a:avLst/>
          </a:prstGeom>
          <a:noFill/>
          <a:ln w="0">
            <a:noFill/>
          </a:ln>
        </p:spPr>
        <p:txBody>
          <a:bodyPr wrap="square" lIns="0" tIns="0" rIns="0" bIns="0" anchor="t">
            <a:noAutofit/>
          </a:bodyPr>
          <a:lstStyle/>
          <a:p>
            <a:pPr algn="l">
              <a:lnSpc>
                <a:spcPct val="110000"/>
              </a:lnSpc>
              <a:buNone/>
              <a:defRPr sz="998" b="0">
                <a:solidFill>
                  <a:srgbClr val="202020"/>
                </a:solidFill>
                <a:latin typeface="Arial"/>
                <a:ea typeface="Arial"/>
                <a:cs typeface="Arial"/>
              </a:defRPr>
            </a:pPr>
            <a:r>
              <a:rPr sz="998" b="0">
                <a:solidFill>
                  <a:srgbClr val="202020"/>
                </a:solidFill>
                <a:latin typeface="Arial"/>
                <a:ea typeface="Arial"/>
                <a:cs typeface="Arial"/>
              </a:rPr>
              <a:t>A Python tuple is an immutable sequence of object references.</a:t>
            </a:r>
          </a:p>
        </p:txBody>
      </p:sp>
      <p:sp>
        <p:nvSpPr>
          <p:cNvPr id="14" name="Rectangle 13">
            <a:extLst>
              <a:ext uri="{FF2B5EF4-FFF2-40B4-BE49-F238E27FC236}">
                <a16:creationId xmlns:a16="http://schemas.microsoft.com/office/drawing/2014/main" id="{4609FA9C-C23B-49B8-BBEC-C893E40095C1}"/>
              </a:ext>
            </a:extLst>
          </p:cNvPr>
          <p:cNvSpPr>
            <a:spLocks noGrp="1"/>
          </p:cNvSpPr>
          <p:nvPr/>
        </p:nvSpPr>
        <p:spPr>
          <a:xfrm>
            <a:off x="228600" y="981075"/>
            <a:ext cx="2600325" cy="1504950"/>
          </a:xfrm>
          <a:prstGeom prst="rect">
            <a:avLst/>
          </a:prstGeom>
          <a:solidFill>
            <a:srgbClr val="101827"/>
          </a:solidFill>
          <a:ln w="0">
            <a:noFill/>
          </a:ln>
        </p:spPr>
      </p:sp>
      <p:sp>
        <p:nvSpPr>
          <p:cNvPr id="15" name="Rectangle 14">
            <a:extLst>
              <a:ext uri="{FF2B5EF4-FFF2-40B4-BE49-F238E27FC236}">
                <a16:creationId xmlns:a16="http://schemas.microsoft.com/office/drawing/2014/main" id="{090AFF8D-EF30-4244-B487-34E17584F469}"/>
              </a:ext>
            </a:extLst>
          </p:cNvPr>
          <p:cNvSpPr>
            <a:spLocks noGrp="1"/>
          </p:cNvSpPr>
          <p:nvPr/>
        </p:nvSpPr>
        <p:spPr>
          <a:xfrm>
            <a:off x="228600" y="800100"/>
            <a:ext cx="2600325" cy="180975"/>
          </a:xfrm>
          <a:prstGeom prst="rect">
            <a:avLst/>
          </a:prstGeom>
          <a:solidFill>
            <a:srgbClr val="006ABA"/>
          </a:solidFill>
          <a:ln w="0">
            <a:noFill/>
          </a:ln>
        </p:spPr>
      </p:sp>
      <p:sp>
        <p:nvSpPr>
          <p:cNvPr id="16" name="text">
            <a:extLst>
              <a:ext uri="{FF2B5EF4-FFF2-40B4-BE49-F238E27FC236}">
                <a16:creationId xmlns:a16="http://schemas.microsoft.com/office/drawing/2014/main" id="{F56261C9-A7A3-4D33-9A71-5C1ABEF6F0C7}"/>
              </a:ext>
            </a:extLst>
          </p:cNvPr>
          <p:cNvSpPr>
            <a:spLocks noGrp="1"/>
          </p:cNvSpPr>
          <p:nvPr/>
        </p:nvSpPr>
        <p:spPr>
          <a:xfrm>
            <a:off x="228600" y="819150"/>
            <a:ext cx="2600325" cy="161925"/>
          </a:xfrm>
          <a:prstGeom prst="rect">
            <a:avLst/>
          </a:prstGeom>
          <a:noFill/>
          <a:ln w="0">
            <a:noFill/>
          </a:ln>
        </p:spPr>
        <p:txBody>
          <a:bodyPr wrap="square" lIns="0" tIns="0" rIns="0" bIns="0" anchor="t">
            <a:noAutofit/>
          </a:bodyPr>
          <a:lstStyle/>
          <a:p>
            <a:pPr algn="ctr">
              <a:lnSpc>
                <a:spcPct val="110000"/>
              </a:lnSpc>
              <a:buNone/>
              <a:defRPr sz="825" b="1">
                <a:solidFill>
                  <a:srgbClr val="FFFFFF"/>
                </a:solidFill>
                <a:latin typeface="Arial"/>
                <a:ea typeface="Arial"/>
                <a:cs typeface="Arial"/>
              </a:defRPr>
            </a:pPr>
            <a:r>
              <a:rPr sz="825" b="1">
                <a:solidFill>
                  <a:srgbClr val="FFFFFF"/>
                </a:solidFill>
                <a:latin typeface="Arial"/>
                <a:ea typeface="Arial"/>
                <a:cs typeface="Arial"/>
              </a:rPr>
              <a:t>C++17</a:t>
            </a:r>
          </a:p>
        </p:txBody>
      </p:sp>
      <p:sp>
        <p:nvSpPr>
          <p:cNvPr id="17" name="text">
            <a:extLst>
              <a:ext uri="{FF2B5EF4-FFF2-40B4-BE49-F238E27FC236}">
                <a16:creationId xmlns:a16="http://schemas.microsoft.com/office/drawing/2014/main" id="{38A60728-9367-4D1B-8497-2D101E56F13D}"/>
              </a:ext>
            </a:extLst>
          </p:cNvPr>
          <p:cNvSpPr>
            <a:spLocks noGrp="1"/>
          </p:cNvSpPr>
          <p:nvPr/>
        </p:nvSpPr>
        <p:spPr>
          <a:xfrm>
            <a:off x="295275" y="106680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std::tuple&lt;int, int&gt; point{10, 20};</a:t>
            </a:r>
          </a:p>
        </p:txBody>
      </p:sp>
      <p:sp>
        <p:nvSpPr>
          <p:cNvPr id="18" name="text">
            <a:extLst>
              <a:ext uri="{FF2B5EF4-FFF2-40B4-BE49-F238E27FC236}">
                <a16:creationId xmlns:a16="http://schemas.microsoft.com/office/drawing/2014/main" id="{CDFE3EA6-8A82-486B-8F59-BA7274F6437C}"/>
              </a:ext>
            </a:extLst>
          </p:cNvPr>
          <p:cNvSpPr>
            <a:spLocks noGrp="1"/>
          </p:cNvSpPr>
          <p:nvPr/>
        </p:nvSpPr>
        <p:spPr>
          <a:xfrm>
            <a:off x="295275" y="119634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std::cout &lt;&lt; std::get&lt;0&gt;(point) &lt;&lt; "\n";</a:t>
            </a:r>
          </a:p>
        </p:txBody>
      </p:sp>
      <p:sp>
        <p:nvSpPr>
          <p:cNvPr id="19" name="Rectangle 18">
            <a:extLst>
              <a:ext uri="{FF2B5EF4-FFF2-40B4-BE49-F238E27FC236}">
                <a16:creationId xmlns:a16="http://schemas.microsoft.com/office/drawing/2014/main" id="{587AEDAB-7086-4172-A801-395699A6F6F4}"/>
              </a:ext>
            </a:extLst>
          </p:cNvPr>
          <p:cNvSpPr>
            <a:spLocks noGrp="1"/>
          </p:cNvSpPr>
          <p:nvPr/>
        </p:nvSpPr>
        <p:spPr>
          <a:xfrm>
            <a:off x="2990850" y="981075"/>
            <a:ext cx="2600325" cy="1504950"/>
          </a:xfrm>
          <a:prstGeom prst="rect">
            <a:avLst/>
          </a:prstGeom>
          <a:solidFill>
            <a:srgbClr val="101827"/>
          </a:solidFill>
          <a:ln w="0">
            <a:noFill/>
          </a:ln>
        </p:spPr>
      </p:sp>
      <p:sp>
        <p:nvSpPr>
          <p:cNvPr id="20" name="Rectangle 19">
            <a:extLst>
              <a:ext uri="{FF2B5EF4-FFF2-40B4-BE49-F238E27FC236}">
                <a16:creationId xmlns:a16="http://schemas.microsoft.com/office/drawing/2014/main" id="{30CF9E4E-B7F5-4042-86DC-855D6EE9DA87}"/>
              </a:ext>
            </a:extLst>
          </p:cNvPr>
          <p:cNvSpPr>
            <a:spLocks noGrp="1"/>
          </p:cNvSpPr>
          <p:nvPr/>
        </p:nvSpPr>
        <p:spPr>
          <a:xfrm>
            <a:off x="2990850" y="800100"/>
            <a:ext cx="2600325" cy="180975"/>
          </a:xfrm>
          <a:prstGeom prst="rect">
            <a:avLst/>
          </a:prstGeom>
          <a:solidFill>
            <a:srgbClr val="1AA260"/>
          </a:solidFill>
          <a:ln w="0">
            <a:noFill/>
          </a:ln>
        </p:spPr>
      </p:sp>
      <p:sp>
        <p:nvSpPr>
          <p:cNvPr id="21" name="text">
            <a:extLst>
              <a:ext uri="{FF2B5EF4-FFF2-40B4-BE49-F238E27FC236}">
                <a16:creationId xmlns:a16="http://schemas.microsoft.com/office/drawing/2014/main" id="{7EB3A3B2-D788-413E-BCAC-1BBE4B10D9BA}"/>
              </a:ext>
            </a:extLst>
          </p:cNvPr>
          <p:cNvSpPr>
            <a:spLocks noGrp="1"/>
          </p:cNvSpPr>
          <p:nvPr/>
        </p:nvSpPr>
        <p:spPr>
          <a:xfrm>
            <a:off x="2990850" y="819150"/>
            <a:ext cx="2600325" cy="161925"/>
          </a:xfrm>
          <a:prstGeom prst="rect">
            <a:avLst/>
          </a:prstGeom>
          <a:noFill/>
          <a:ln w="0">
            <a:noFill/>
          </a:ln>
        </p:spPr>
        <p:txBody>
          <a:bodyPr wrap="square" lIns="0" tIns="0" rIns="0" bIns="0" anchor="t">
            <a:noAutofit/>
          </a:bodyPr>
          <a:lstStyle/>
          <a:p>
            <a:pPr algn="ctr">
              <a:lnSpc>
                <a:spcPct val="110000"/>
              </a:lnSpc>
              <a:buNone/>
              <a:defRPr sz="825" b="1">
                <a:solidFill>
                  <a:srgbClr val="FFFFFF"/>
                </a:solidFill>
                <a:latin typeface="Arial"/>
                <a:ea typeface="Arial"/>
                <a:cs typeface="Arial"/>
              </a:defRPr>
            </a:pPr>
            <a:r>
              <a:rPr sz="825" b="1">
                <a:solidFill>
                  <a:srgbClr val="FFFFFF"/>
                </a:solidFill>
                <a:latin typeface="Arial"/>
                <a:ea typeface="Arial"/>
                <a:cs typeface="Arial"/>
              </a:rPr>
              <a:t>Python 3</a:t>
            </a:r>
          </a:p>
        </p:txBody>
      </p:sp>
      <p:sp>
        <p:nvSpPr>
          <p:cNvPr id="22" name="text">
            <a:extLst>
              <a:ext uri="{FF2B5EF4-FFF2-40B4-BE49-F238E27FC236}">
                <a16:creationId xmlns:a16="http://schemas.microsoft.com/office/drawing/2014/main" id="{55074A17-E2E2-4ECE-A809-0CA2DDEFED6E}"/>
              </a:ext>
            </a:extLst>
          </p:cNvPr>
          <p:cNvSpPr>
            <a:spLocks noGrp="1"/>
          </p:cNvSpPr>
          <p:nvPr/>
        </p:nvSpPr>
        <p:spPr>
          <a:xfrm>
            <a:off x="3057525" y="106680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point = (10, 20)</a:t>
            </a:r>
          </a:p>
        </p:txBody>
      </p:sp>
      <p:sp>
        <p:nvSpPr>
          <p:cNvPr id="23" name="text">
            <a:extLst>
              <a:ext uri="{FF2B5EF4-FFF2-40B4-BE49-F238E27FC236}">
                <a16:creationId xmlns:a16="http://schemas.microsoft.com/office/drawing/2014/main" id="{409968F3-6E04-4236-AF00-F0B670720417}"/>
              </a:ext>
            </a:extLst>
          </p:cNvPr>
          <p:cNvSpPr>
            <a:spLocks noGrp="1"/>
          </p:cNvSpPr>
          <p:nvPr/>
        </p:nvSpPr>
        <p:spPr>
          <a:xfrm>
            <a:off x="3057525" y="119634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print(point[0])</a:t>
            </a:r>
          </a:p>
        </p:txBody>
      </p:sp>
      <p:sp>
        <p:nvSpPr>
          <p:cNvPr id="24" name="text">
            <a:extLst>
              <a:ext uri="{FF2B5EF4-FFF2-40B4-BE49-F238E27FC236}">
                <a16:creationId xmlns:a16="http://schemas.microsoft.com/office/drawing/2014/main" id="{0C24AB1D-41B0-4CB5-ABFD-1241B618A46D}"/>
              </a:ext>
            </a:extLst>
          </p:cNvPr>
          <p:cNvSpPr>
            <a:spLocks noGrp="1"/>
          </p:cNvSpPr>
          <p:nvPr/>
        </p:nvSpPr>
        <p:spPr>
          <a:xfrm>
            <a:off x="3057525" y="132588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x, y = point</a:t>
            </a:r>
          </a:p>
        </p:txBody>
      </p:sp>
      <p:sp>
        <p:nvSpPr>
          <p:cNvPr id="25" name="text">
            <a:extLst>
              <a:ext uri="{FF2B5EF4-FFF2-40B4-BE49-F238E27FC236}">
                <a16:creationId xmlns:a16="http://schemas.microsoft.com/office/drawing/2014/main" id="{60F335EB-D49B-4426-8FB0-08A77EF257E3}"/>
              </a:ext>
            </a:extLst>
          </p:cNvPr>
          <p:cNvSpPr>
            <a:spLocks noGrp="1"/>
          </p:cNvSpPr>
          <p:nvPr/>
        </p:nvSpPr>
        <p:spPr>
          <a:xfrm>
            <a:off x="228600" y="2600325"/>
            <a:ext cx="5314950" cy="228600"/>
          </a:xfrm>
          <a:prstGeom prst="rect">
            <a:avLst/>
          </a:prstGeom>
          <a:noFill/>
          <a:ln w="0">
            <a:noFill/>
          </a:ln>
        </p:spPr>
        <p:txBody>
          <a:bodyPr wrap="square" lIns="0" tIns="0" rIns="0" bIns="0" anchor="t">
            <a:noAutofit/>
          </a:bodyPr>
          <a:lstStyle/>
          <a:p>
            <a:pPr algn="l">
              <a:lnSpc>
                <a:spcPct val="110000"/>
              </a:lnSpc>
              <a:buNone/>
              <a:defRPr sz="885" b="0">
                <a:solidFill>
                  <a:srgbClr val="006ABA"/>
                </a:solidFill>
                <a:latin typeface="Arial"/>
                <a:ea typeface="Arial"/>
                <a:cs typeface="Arial"/>
              </a:defRPr>
            </a:pPr>
            <a:r>
              <a:rPr sz="885" b="0">
                <a:solidFill>
                  <a:srgbClr val="006ABA"/>
                </a:solidFill>
                <a:latin typeface="Arial"/>
                <a:ea typeface="Arial"/>
                <a:cs typeface="Arial"/>
              </a:rPr>
              <a:t>Output: 10. C++ tuple elements can be changed unless constrained.</a:t>
            </a:r>
          </a:p>
        </p:txBody>
      </p:sp>
      <p:sp>
        <p:nvSpPr>
          <p:cNvPr id="26" name="text">
            <a:extLst>
              <a:ext uri="{FF2B5EF4-FFF2-40B4-BE49-F238E27FC236}">
                <a16:creationId xmlns:a16="http://schemas.microsoft.com/office/drawing/2014/main" id="{1801E7F9-0099-4FF1-ADBF-614D0FE86050}"/>
              </a:ext>
            </a:extLst>
          </p:cNvPr>
          <p:cNvSpPr>
            <a:spLocks noGrp="1"/>
          </p:cNvSpPr>
          <p:nvPr/>
        </p:nvSpPr>
        <p:spPr>
          <a:xfrm>
            <a:off x="228600" y="2867025"/>
            <a:ext cx="5334000" cy="95250"/>
          </a:xfrm>
          <a:prstGeom prst="rect">
            <a:avLst/>
          </a:prstGeom>
          <a:noFill/>
          <a:ln w="0">
            <a:noFill/>
          </a:ln>
        </p:spPr>
        <p:txBody>
          <a:bodyPr wrap="square" lIns="0" tIns="0" rIns="0" bIns="0" anchor="t">
            <a:noAutofit/>
          </a:bodyPr>
          <a:lstStyle/>
          <a:p>
            <a:pPr algn="l">
              <a:lnSpc>
                <a:spcPct val="110000"/>
              </a:lnSpc>
              <a:buNone/>
              <a:defRPr sz="510" b="0">
                <a:solidFill>
                  <a:srgbClr val="66717C"/>
                </a:solidFill>
                <a:latin typeface="Arial"/>
                <a:ea typeface="Arial"/>
                <a:cs typeface="Arial"/>
              </a:defRPr>
            </a:pPr>
            <a:r>
              <a:rPr sz="510" b="0">
                <a:solidFill>
                  <a:srgbClr val="66717C"/>
                </a:solidFill>
                <a:latin typeface="Arial"/>
                <a:ea typeface="Arial"/>
                <a:cs typeface="Arial"/>
              </a:rPr>
              <a:t>[I]  [M]  [PY]  [C]</a:t>
            </a:r>
          </a:p>
        </p:txBody>
      </p:sp>
    </p:spTree>
    <p:extLst>
      <p:ext uri="{BB962C8B-B14F-4D97-AF65-F5344CB8AC3E}">
        <p14:creationId xmlns:p14="http://schemas.microsoft.com/office/powerpoint/2010/main" val="36456721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19C03931-4A28-44C2-9238-650F85D8C2AD}"/>
              </a:ext>
            </a:extLst>
          </p:cNvPr>
          <p:cNvSpPr>
            <a:spLocks noGrp="1"/>
          </p:cNvSpPr>
          <p:nvPr>
            <p:ph type="title"/>
          </p:nvPr>
        </p:nvSpPr>
        <p:spPr>
          <a:xfrm>
            <a:off x="171450" y="95250"/>
            <a:ext cx="5429250" cy="304800"/>
          </a:xfrm>
          <a:prstGeom prst="rect">
            <a:avLst/>
          </a:prstGeom>
        </p:spPr>
        <p:txBody>
          <a:bodyPr vert="horz" wrap="square" lIns="0" tIns="0" rIns="0" bIns="0">
            <a:noAutofit/>
          </a:bodyPr>
          <a:lstStyle/>
          <a:p>
            <a:pPr marL="12700" algn="l">
              <a:lnSpc>
                <a:spcPct val="110000"/>
              </a:lnSpc>
              <a:spcBef>
                <a:spcPts val="135"/>
              </a:spcBef>
              <a:buNone/>
              <a:defRPr sz="1400">
                <a:solidFill>
                  <a:srgbClr val="006ABA"/>
                </a:solidFill>
                <a:latin typeface="Arial"/>
                <a:ea typeface="Arial"/>
                <a:cs typeface="Arial"/>
              </a:defRPr>
            </a:pPr>
            <a:r>
              <a:rPr sz="1400" b="0" spc="-10">
                <a:solidFill>
                  <a:srgbClr val="006ABA"/>
                </a:solidFill>
                <a:latin typeface="Arial"/>
                <a:ea typeface="Arial"/>
                <a:cs typeface="Arial"/>
              </a:rPr>
              <a:t>Sets: unique membership</a:t>
            </a:r>
            <a:endParaRPr sz="1400" b="0" spc="-10">
              <a:latin typeface="Arial"/>
              <a:ea typeface="Arial"/>
              <a:cs typeface="Arial"/>
            </a:endParaRPr>
          </a:p>
        </p:txBody>
      </p:sp>
      <p:pic>
        <p:nvPicPr>
          <p:cNvPr id="29" name="object 4"/>
          <p:cNvPicPr>
            <a:picLocks noChangeAspect="1"/>
          </p:cNvPicPr>
          <p:nvPr/>
        </p:nvPicPr>
        <p:blipFill>
          <a:blip r:embed="rId3"/>
          <a:stretch>
            <a:fillRect/>
          </a:stretch>
        </p:blipFill>
        <p:spPr>
          <a:xfrm>
            <a:off x="152565" y="2988507"/>
            <a:ext cx="900668" cy="161917"/>
          </a:xfrm>
          <a:prstGeom prst="rect">
            <a:avLst/>
          </a:prstGeom>
        </p:spPr>
      </p:pic>
      <p:pic>
        <p:nvPicPr>
          <p:cNvPr id="30" name="object 5"/>
          <p:cNvPicPr>
            <a:picLocks noChangeAspect="1"/>
          </p:cNvPicPr>
          <p:nvPr/>
        </p:nvPicPr>
        <p:blipFill>
          <a:blip r:embed="rId4"/>
          <a:stretch>
            <a:fillRect/>
          </a:stretch>
        </p:blipFill>
        <p:spPr>
          <a:xfrm>
            <a:off x="1286560" y="2988417"/>
            <a:ext cx="610912" cy="162008"/>
          </a:xfrm>
          <a:prstGeom prst="rect">
            <a:avLst/>
          </a:prstGeom>
        </p:spPr>
      </p:pic>
      <p:sp>
        <p:nvSpPr>
          <p:cNvPr id="10" name="Footer Placeholder 7">
            <a:extLst>
              <a:ext uri="{FF2B5EF4-FFF2-40B4-BE49-F238E27FC236}">
                <a16:creationId xmlns:a16="http://schemas.microsoft.com/office/drawing/2014/main" id="{197FE2C8-8EE2-4937-3F30-294DB47641D6}"/>
              </a:ext>
            </a:extLst>
          </p:cNvPr>
          <p:cNvSpPr>
            <a:spLocks noGrp="1"/>
          </p:cNvSpPr>
          <p:nvPr>
            <p:ph type="ftr" idx="5"/>
          </p:nvPr>
        </p:nvSpPr>
        <p:spPr>
          <a:xfrm>
            <a:off x="2590800" y="3105150"/>
            <a:ext cx="2743200" cy="95250"/>
          </a:xfrm>
        </p:spPr>
        <p:txBody>
          <a:bodyPr wrap="square" lIns="0" tIns="0" rIns="0" bIns="0">
            <a:noAutofit/>
          </a:bodyPr>
          <a:lstStyle/>
          <a:p>
            <a:pPr algn="r">
              <a:lnSpc>
                <a:spcPct val="110000"/>
              </a:lnSpc>
              <a:buNone/>
              <a:defRPr sz="500">
                <a:solidFill>
                  <a:srgbClr val="888888"/>
                </a:solidFill>
                <a:latin typeface="Arial"/>
                <a:ea typeface="Arial"/>
                <a:cs typeface="Arial"/>
              </a:defRPr>
            </a:pPr>
            <a:r>
              <a:rPr sz="500">
                <a:solidFill>
                  <a:srgbClr val="888888"/>
                </a:solidFill>
                <a:latin typeface="Arial"/>
                <a:ea typeface="Arial"/>
                <a:cs typeface="Arial"/>
              </a:rPr>
              <a:t>MAS Foundations - Kamendu Panchal</a:t>
            </a:r>
            <a:endParaRPr sz="500" b="1">
              <a:solidFill>
                <a:schemeClr val="tx1"/>
              </a:solidFill>
              <a:latin typeface="Arial"/>
              <a:ea typeface="Arial"/>
              <a:cs typeface="Arial"/>
            </a:endParaRPr>
          </a:p>
        </p:txBody>
      </p:sp>
      <p:sp>
        <p:nvSpPr>
          <p:cNvPr id="3" name="TextBox 2">
            <a:extLst>
              <a:ext uri="{FF2B5EF4-FFF2-40B4-BE49-F238E27FC236}">
                <a16:creationId xmlns:a16="http://schemas.microsoft.com/office/drawing/2014/main" id="{DCE8FEB4-DA15-74FB-D091-FA2B80C9B501}"/>
              </a:ext>
            </a:extLst>
          </p:cNvPr>
          <p:cNvSpPr>
            <a:spLocks noGrp="1"/>
          </p:cNvSpPr>
          <p:nvPr/>
        </p:nvSpPr>
        <p:spPr>
          <a:xfrm>
            <a:off x="5438775" y="3086100"/>
            <a:ext cx="209550" cy="175260"/>
          </a:xfrm>
          <a:prstGeom prst="rect">
            <a:avLst/>
          </a:prstGeom>
          <a:noFill/>
        </p:spPr>
        <p:txBody>
          <a:bodyPr wrap="square" lIns="0" tIns="0" rIns="0" bIns="0">
            <a:noAutofit/>
          </a:bodyPr>
          <a:lstStyle/>
          <a:p>
            <a:pPr algn="r">
              <a:lnSpc>
                <a:spcPct val="110000"/>
              </a:lnSpc>
              <a:buNone/>
              <a:defRPr sz="500">
                <a:solidFill>
                  <a:srgbClr val="202020"/>
                </a:solidFill>
                <a:latin typeface="Arial"/>
                <a:ea typeface="Arial"/>
                <a:cs typeface="Arial"/>
              </a:defRPr>
            </a:pPr>
            <a:r>
              <a:rPr sz="500">
                <a:solidFill>
                  <a:srgbClr val="202020"/>
                </a:solidFill>
                <a:latin typeface="Arial"/>
                <a:ea typeface="Arial"/>
                <a:cs typeface="Arial"/>
              </a:rPr>
              <a:t>21</a:t>
            </a:r>
          </a:p>
        </p:txBody>
      </p:sp>
      <p:sp>
        <p:nvSpPr>
          <p:cNvPr id="13" name="text">
            <a:extLst>
              <a:ext uri="{FF2B5EF4-FFF2-40B4-BE49-F238E27FC236}">
                <a16:creationId xmlns:a16="http://schemas.microsoft.com/office/drawing/2014/main" id="{65896C28-0B1A-4E1A-9CE3-5781FF365C78}"/>
              </a:ext>
            </a:extLst>
          </p:cNvPr>
          <p:cNvSpPr>
            <a:spLocks noGrp="1"/>
          </p:cNvSpPr>
          <p:nvPr/>
        </p:nvSpPr>
        <p:spPr>
          <a:xfrm>
            <a:off x="228600" y="504825"/>
            <a:ext cx="5314950" cy="381000"/>
          </a:xfrm>
          <a:prstGeom prst="rect">
            <a:avLst/>
          </a:prstGeom>
          <a:noFill/>
          <a:ln w="0">
            <a:noFill/>
          </a:ln>
        </p:spPr>
        <p:txBody>
          <a:bodyPr wrap="square" lIns="0" tIns="0" rIns="0" bIns="0" anchor="t">
            <a:noAutofit/>
          </a:bodyPr>
          <a:lstStyle/>
          <a:p>
            <a:pPr algn="l">
              <a:lnSpc>
                <a:spcPct val="110000"/>
              </a:lnSpc>
              <a:buNone/>
              <a:defRPr sz="998" b="0">
                <a:solidFill>
                  <a:srgbClr val="202020"/>
                </a:solidFill>
                <a:latin typeface="Arial"/>
                <a:ea typeface="Arial"/>
                <a:cs typeface="Arial"/>
              </a:defRPr>
            </a:pPr>
            <a:r>
              <a:rPr sz="998" b="0">
                <a:solidFill>
                  <a:srgbClr val="202020"/>
                </a:solidFill>
                <a:latin typeface="Arial"/>
                <a:ea typeface="Arial"/>
                <a:cs typeface="Arial"/>
              </a:rPr>
              <a:t>A set stores distinct values and supports membership tests.</a:t>
            </a:r>
          </a:p>
        </p:txBody>
      </p:sp>
      <p:sp>
        <p:nvSpPr>
          <p:cNvPr id="14" name="Rectangle 13">
            <a:extLst>
              <a:ext uri="{FF2B5EF4-FFF2-40B4-BE49-F238E27FC236}">
                <a16:creationId xmlns:a16="http://schemas.microsoft.com/office/drawing/2014/main" id="{10CBA8AA-64B5-4A58-B947-74EAA9868D3F}"/>
              </a:ext>
            </a:extLst>
          </p:cNvPr>
          <p:cNvSpPr>
            <a:spLocks noGrp="1"/>
          </p:cNvSpPr>
          <p:nvPr/>
        </p:nvSpPr>
        <p:spPr>
          <a:xfrm>
            <a:off x="228600" y="981075"/>
            <a:ext cx="2600325" cy="1504950"/>
          </a:xfrm>
          <a:prstGeom prst="rect">
            <a:avLst/>
          </a:prstGeom>
          <a:solidFill>
            <a:srgbClr val="101827"/>
          </a:solidFill>
          <a:ln w="0">
            <a:noFill/>
          </a:ln>
        </p:spPr>
      </p:sp>
      <p:sp>
        <p:nvSpPr>
          <p:cNvPr id="15" name="Rectangle 14">
            <a:extLst>
              <a:ext uri="{FF2B5EF4-FFF2-40B4-BE49-F238E27FC236}">
                <a16:creationId xmlns:a16="http://schemas.microsoft.com/office/drawing/2014/main" id="{FF2807C8-8694-48C7-97F5-21D1BC60B558}"/>
              </a:ext>
            </a:extLst>
          </p:cNvPr>
          <p:cNvSpPr>
            <a:spLocks noGrp="1"/>
          </p:cNvSpPr>
          <p:nvPr/>
        </p:nvSpPr>
        <p:spPr>
          <a:xfrm>
            <a:off x="228600" y="800100"/>
            <a:ext cx="2600325" cy="180975"/>
          </a:xfrm>
          <a:prstGeom prst="rect">
            <a:avLst/>
          </a:prstGeom>
          <a:solidFill>
            <a:srgbClr val="006ABA"/>
          </a:solidFill>
          <a:ln w="0">
            <a:noFill/>
          </a:ln>
        </p:spPr>
      </p:sp>
      <p:sp>
        <p:nvSpPr>
          <p:cNvPr id="16" name="text">
            <a:extLst>
              <a:ext uri="{FF2B5EF4-FFF2-40B4-BE49-F238E27FC236}">
                <a16:creationId xmlns:a16="http://schemas.microsoft.com/office/drawing/2014/main" id="{48CB9A2E-AA28-4500-B088-B72DC286A7E0}"/>
              </a:ext>
            </a:extLst>
          </p:cNvPr>
          <p:cNvSpPr>
            <a:spLocks noGrp="1"/>
          </p:cNvSpPr>
          <p:nvPr/>
        </p:nvSpPr>
        <p:spPr>
          <a:xfrm>
            <a:off x="228600" y="819150"/>
            <a:ext cx="2600325" cy="161925"/>
          </a:xfrm>
          <a:prstGeom prst="rect">
            <a:avLst/>
          </a:prstGeom>
          <a:noFill/>
          <a:ln w="0">
            <a:noFill/>
          </a:ln>
        </p:spPr>
        <p:txBody>
          <a:bodyPr wrap="square" lIns="0" tIns="0" rIns="0" bIns="0" anchor="t">
            <a:noAutofit/>
          </a:bodyPr>
          <a:lstStyle/>
          <a:p>
            <a:pPr algn="ctr">
              <a:lnSpc>
                <a:spcPct val="110000"/>
              </a:lnSpc>
              <a:buNone/>
              <a:defRPr sz="825" b="1">
                <a:solidFill>
                  <a:srgbClr val="FFFFFF"/>
                </a:solidFill>
                <a:latin typeface="Arial"/>
                <a:ea typeface="Arial"/>
                <a:cs typeface="Arial"/>
              </a:defRPr>
            </a:pPr>
            <a:r>
              <a:rPr sz="825" b="1">
                <a:solidFill>
                  <a:srgbClr val="FFFFFF"/>
                </a:solidFill>
                <a:latin typeface="Arial"/>
                <a:ea typeface="Arial"/>
                <a:cs typeface="Arial"/>
              </a:rPr>
              <a:t>C++17</a:t>
            </a:r>
          </a:p>
        </p:txBody>
      </p:sp>
      <p:sp>
        <p:nvSpPr>
          <p:cNvPr id="17" name="text">
            <a:extLst>
              <a:ext uri="{FF2B5EF4-FFF2-40B4-BE49-F238E27FC236}">
                <a16:creationId xmlns:a16="http://schemas.microsoft.com/office/drawing/2014/main" id="{BE7352D0-27BD-4F66-AF26-6AEA40CC0B3D}"/>
              </a:ext>
            </a:extLst>
          </p:cNvPr>
          <p:cNvSpPr>
            <a:spLocks noGrp="1"/>
          </p:cNvSpPr>
          <p:nvPr/>
        </p:nvSpPr>
        <p:spPr>
          <a:xfrm>
            <a:off x="295275" y="106680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std::unordered_set&lt;int&gt; seen{1, 1, 2};</a:t>
            </a:r>
          </a:p>
        </p:txBody>
      </p:sp>
      <p:sp>
        <p:nvSpPr>
          <p:cNvPr id="18" name="text">
            <a:extLst>
              <a:ext uri="{FF2B5EF4-FFF2-40B4-BE49-F238E27FC236}">
                <a16:creationId xmlns:a16="http://schemas.microsoft.com/office/drawing/2014/main" id="{486EE79F-EC4C-45AC-8337-11D241F6FD98}"/>
              </a:ext>
            </a:extLst>
          </p:cNvPr>
          <p:cNvSpPr>
            <a:spLocks noGrp="1"/>
          </p:cNvSpPr>
          <p:nvPr/>
        </p:nvSpPr>
        <p:spPr>
          <a:xfrm>
            <a:off x="295275" y="119634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std::cout &lt;&lt; seen.size() &lt;&lt; "\n";</a:t>
            </a:r>
          </a:p>
        </p:txBody>
      </p:sp>
      <p:sp>
        <p:nvSpPr>
          <p:cNvPr id="19" name="text">
            <a:extLst>
              <a:ext uri="{FF2B5EF4-FFF2-40B4-BE49-F238E27FC236}">
                <a16:creationId xmlns:a16="http://schemas.microsoft.com/office/drawing/2014/main" id="{FAE18D73-EC5A-493B-B856-13E35049D991}"/>
              </a:ext>
            </a:extLst>
          </p:cNvPr>
          <p:cNvSpPr>
            <a:spLocks noGrp="1"/>
          </p:cNvSpPr>
          <p:nvPr/>
        </p:nvSpPr>
        <p:spPr>
          <a:xfrm>
            <a:off x="295275" y="132588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std::cout &lt;&lt; seen.count(2) &lt;&lt; "\n";</a:t>
            </a:r>
          </a:p>
        </p:txBody>
      </p:sp>
      <p:sp>
        <p:nvSpPr>
          <p:cNvPr id="20" name="Rectangle 19">
            <a:extLst>
              <a:ext uri="{FF2B5EF4-FFF2-40B4-BE49-F238E27FC236}">
                <a16:creationId xmlns:a16="http://schemas.microsoft.com/office/drawing/2014/main" id="{64BFCBCB-67D9-4EEF-8250-F2F4FBA351D8}"/>
              </a:ext>
            </a:extLst>
          </p:cNvPr>
          <p:cNvSpPr>
            <a:spLocks noGrp="1"/>
          </p:cNvSpPr>
          <p:nvPr/>
        </p:nvSpPr>
        <p:spPr>
          <a:xfrm>
            <a:off x="2990850" y="981075"/>
            <a:ext cx="2600325" cy="1504950"/>
          </a:xfrm>
          <a:prstGeom prst="rect">
            <a:avLst/>
          </a:prstGeom>
          <a:solidFill>
            <a:srgbClr val="101827"/>
          </a:solidFill>
          <a:ln w="0">
            <a:noFill/>
          </a:ln>
        </p:spPr>
      </p:sp>
      <p:sp>
        <p:nvSpPr>
          <p:cNvPr id="21" name="Rectangle 20">
            <a:extLst>
              <a:ext uri="{FF2B5EF4-FFF2-40B4-BE49-F238E27FC236}">
                <a16:creationId xmlns:a16="http://schemas.microsoft.com/office/drawing/2014/main" id="{8736AECB-FE92-4C6C-8F21-6D8852201657}"/>
              </a:ext>
            </a:extLst>
          </p:cNvPr>
          <p:cNvSpPr>
            <a:spLocks noGrp="1"/>
          </p:cNvSpPr>
          <p:nvPr/>
        </p:nvSpPr>
        <p:spPr>
          <a:xfrm>
            <a:off x="2990850" y="800100"/>
            <a:ext cx="2600325" cy="180975"/>
          </a:xfrm>
          <a:prstGeom prst="rect">
            <a:avLst/>
          </a:prstGeom>
          <a:solidFill>
            <a:srgbClr val="1AA260"/>
          </a:solidFill>
          <a:ln w="0">
            <a:noFill/>
          </a:ln>
        </p:spPr>
      </p:sp>
      <p:sp>
        <p:nvSpPr>
          <p:cNvPr id="22" name="text">
            <a:extLst>
              <a:ext uri="{FF2B5EF4-FFF2-40B4-BE49-F238E27FC236}">
                <a16:creationId xmlns:a16="http://schemas.microsoft.com/office/drawing/2014/main" id="{9D9273DE-E9E0-40FF-9F20-01E9BA888AE7}"/>
              </a:ext>
            </a:extLst>
          </p:cNvPr>
          <p:cNvSpPr>
            <a:spLocks noGrp="1"/>
          </p:cNvSpPr>
          <p:nvPr/>
        </p:nvSpPr>
        <p:spPr>
          <a:xfrm>
            <a:off x="2990850" y="819150"/>
            <a:ext cx="2600325" cy="161925"/>
          </a:xfrm>
          <a:prstGeom prst="rect">
            <a:avLst/>
          </a:prstGeom>
          <a:noFill/>
          <a:ln w="0">
            <a:noFill/>
          </a:ln>
        </p:spPr>
        <p:txBody>
          <a:bodyPr wrap="square" lIns="0" tIns="0" rIns="0" bIns="0" anchor="t">
            <a:noAutofit/>
          </a:bodyPr>
          <a:lstStyle/>
          <a:p>
            <a:pPr algn="ctr">
              <a:lnSpc>
                <a:spcPct val="110000"/>
              </a:lnSpc>
              <a:buNone/>
              <a:defRPr sz="825" b="1">
                <a:solidFill>
                  <a:srgbClr val="FFFFFF"/>
                </a:solidFill>
                <a:latin typeface="Arial"/>
                <a:ea typeface="Arial"/>
                <a:cs typeface="Arial"/>
              </a:defRPr>
            </a:pPr>
            <a:r>
              <a:rPr sz="825" b="1">
                <a:solidFill>
                  <a:srgbClr val="FFFFFF"/>
                </a:solidFill>
                <a:latin typeface="Arial"/>
                <a:ea typeface="Arial"/>
                <a:cs typeface="Arial"/>
              </a:rPr>
              <a:t>Python 3</a:t>
            </a:r>
          </a:p>
        </p:txBody>
      </p:sp>
      <p:sp>
        <p:nvSpPr>
          <p:cNvPr id="23" name="text">
            <a:extLst>
              <a:ext uri="{FF2B5EF4-FFF2-40B4-BE49-F238E27FC236}">
                <a16:creationId xmlns:a16="http://schemas.microsoft.com/office/drawing/2014/main" id="{BE410480-2238-4419-B0A6-B8615D63515C}"/>
              </a:ext>
            </a:extLst>
          </p:cNvPr>
          <p:cNvSpPr>
            <a:spLocks noGrp="1"/>
          </p:cNvSpPr>
          <p:nvPr/>
        </p:nvSpPr>
        <p:spPr>
          <a:xfrm>
            <a:off x="3057525" y="106680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seen = {1, 1, 2}</a:t>
            </a:r>
          </a:p>
        </p:txBody>
      </p:sp>
      <p:sp>
        <p:nvSpPr>
          <p:cNvPr id="24" name="text">
            <a:extLst>
              <a:ext uri="{FF2B5EF4-FFF2-40B4-BE49-F238E27FC236}">
                <a16:creationId xmlns:a16="http://schemas.microsoft.com/office/drawing/2014/main" id="{F5BD05D4-9205-4770-9093-A1655A452F14}"/>
              </a:ext>
            </a:extLst>
          </p:cNvPr>
          <p:cNvSpPr>
            <a:spLocks noGrp="1"/>
          </p:cNvSpPr>
          <p:nvPr/>
        </p:nvSpPr>
        <p:spPr>
          <a:xfrm>
            <a:off x="3057525" y="119634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print(len(seen))</a:t>
            </a:r>
          </a:p>
        </p:txBody>
      </p:sp>
      <p:sp>
        <p:nvSpPr>
          <p:cNvPr id="25" name="text">
            <a:extLst>
              <a:ext uri="{FF2B5EF4-FFF2-40B4-BE49-F238E27FC236}">
                <a16:creationId xmlns:a16="http://schemas.microsoft.com/office/drawing/2014/main" id="{5625D1D9-7174-41F6-8418-3C41F0002DC6}"/>
              </a:ext>
            </a:extLst>
          </p:cNvPr>
          <p:cNvSpPr>
            <a:spLocks noGrp="1"/>
          </p:cNvSpPr>
          <p:nvPr/>
        </p:nvSpPr>
        <p:spPr>
          <a:xfrm>
            <a:off x="3057525" y="132588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print(2 in seen)</a:t>
            </a:r>
          </a:p>
        </p:txBody>
      </p:sp>
      <p:sp>
        <p:nvSpPr>
          <p:cNvPr id="26" name="text">
            <a:extLst>
              <a:ext uri="{FF2B5EF4-FFF2-40B4-BE49-F238E27FC236}">
                <a16:creationId xmlns:a16="http://schemas.microsoft.com/office/drawing/2014/main" id="{821D4461-921D-44BE-85C8-7EA9E7E5AD1E}"/>
              </a:ext>
            </a:extLst>
          </p:cNvPr>
          <p:cNvSpPr>
            <a:spLocks noGrp="1"/>
          </p:cNvSpPr>
          <p:nvPr/>
        </p:nvSpPr>
        <p:spPr>
          <a:xfrm>
            <a:off x="228600" y="2600325"/>
            <a:ext cx="5314950" cy="228600"/>
          </a:xfrm>
          <a:prstGeom prst="rect">
            <a:avLst/>
          </a:prstGeom>
          <a:noFill/>
          <a:ln w="0">
            <a:noFill/>
          </a:ln>
        </p:spPr>
        <p:txBody>
          <a:bodyPr wrap="square" lIns="0" tIns="0" rIns="0" bIns="0" anchor="t">
            <a:noAutofit/>
          </a:bodyPr>
          <a:lstStyle/>
          <a:p>
            <a:pPr algn="l">
              <a:lnSpc>
                <a:spcPct val="110000"/>
              </a:lnSpc>
              <a:buNone/>
              <a:defRPr sz="885" b="0">
                <a:solidFill>
                  <a:srgbClr val="006ABA"/>
                </a:solidFill>
                <a:latin typeface="Arial"/>
                <a:ea typeface="Arial"/>
                <a:cs typeface="Arial"/>
              </a:defRPr>
            </a:pPr>
            <a:r>
              <a:rPr sz="885" b="0">
                <a:solidFill>
                  <a:srgbClr val="006ABA"/>
                </a:solidFill>
                <a:latin typeface="Arial"/>
                <a:ea typeface="Arial"/>
                <a:cs typeface="Arial"/>
              </a:rPr>
              <a:t>Two distinct values. Membership of 2 is true.</a:t>
            </a:r>
          </a:p>
        </p:txBody>
      </p:sp>
      <p:sp>
        <p:nvSpPr>
          <p:cNvPr id="27" name="text">
            <a:extLst>
              <a:ext uri="{FF2B5EF4-FFF2-40B4-BE49-F238E27FC236}">
                <a16:creationId xmlns:a16="http://schemas.microsoft.com/office/drawing/2014/main" id="{3717CD46-F890-4E09-8E11-6D7419DA56A5}"/>
              </a:ext>
            </a:extLst>
          </p:cNvPr>
          <p:cNvSpPr>
            <a:spLocks noGrp="1"/>
          </p:cNvSpPr>
          <p:nvPr/>
        </p:nvSpPr>
        <p:spPr>
          <a:xfrm>
            <a:off x="228600" y="2867025"/>
            <a:ext cx="5334000" cy="95250"/>
          </a:xfrm>
          <a:prstGeom prst="rect">
            <a:avLst/>
          </a:prstGeom>
          <a:noFill/>
          <a:ln w="0">
            <a:noFill/>
          </a:ln>
        </p:spPr>
        <p:txBody>
          <a:bodyPr wrap="square" lIns="0" tIns="0" rIns="0" bIns="0" anchor="t">
            <a:noAutofit/>
          </a:bodyPr>
          <a:lstStyle/>
          <a:p>
            <a:pPr algn="l">
              <a:lnSpc>
                <a:spcPct val="110000"/>
              </a:lnSpc>
              <a:buNone/>
              <a:defRPr sz="510" b="0">
                <a:solidFill>
                  <a:srgbClr val="66717C"/>
                </a:solidFill>
                <a:latin typeface="Arial"/>
                <a:ea typeface="Arial"/>
                <a:cs typeface="Arial"/>
              </a:defRPr>
            </a:pPr>
            <a:r>
              <a:rPr sz="510" b="0">
                <a:solidFill>
                  <a:srgbClr val="66717C"/>
                </a:solidFill>
                <a:latin typeface="Arial"/>
                <a:ea typeface="Arial"/>
                <a:cs typeface="Arial"/>
              </a:rPr>
              <a:t>[M]  [PY]  [C]</a:t>
            </a:r>
          </a:p>
        </p:txBody>
      </p:sp>
    </p:spTree>
    <p:extLst>
      <p:ext uri="{BB962C8B-B14F-4D97-AF65-F5344CB8AC3E}">
        <p14:creationId xmlns:p14="http://schemas.microsoft.com/office/powerpoint/2010/main" val="36456721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19C03931-4A28-44C2-9238-650F85D8C2AD}"/>
              </a:ext>
            </a:extLst>
          </p:cNvPr>
          <p:cNvSpPr>
            <a:spLocks noGrp="1"/>
          </p:cNvSpPr>
          <p:nvPr>
            <p:ph type="title"/>
          </p:nvPr>
        </p:nvSpPr>
        <p:spPr>
          <a:xfrm>
            <a:off x="171450" y="95250"/>
            <a:ext cx="5429250" cy="304800"/>
          </a:xfrm>
          <a:prstGeom prst="rect">
            <a:avLst/>
          </a:prstGeom>
        </p:spPr>
        <p:txBody>
          <a:bodyPr vert="horz" wrap="square" lIns="0" tIns="0" rIns="0" bIns="0">
            <a:noAutofit/>
          </a:bodyPr>
          <a:lstStyle/>
          <a:p>
            <a:pPr marL="12700" algn="l">
              <a:lnSpc>
                <a:spcPct val="110000"/>
              </a:lnSpc>
              <a:spcBef>
                <a:spcPts val="135"/>
              </a:spcBef>
              <a:buNone/>
              <a:defRPr sz="1400">
                <a:solidFill>
                  <a:srgbClr val="006ABA"/>
                </a:solidFill>
                <a:latin typeface="Arial"/>
                <a:ea typeface="Arial"/>
                <a:cs typeface="Arial"/>
              </a:defRPr>
            </a:pPr>
            <a:r>
              <a:rPr sz="1400" b="0" spc="-10">
                <a:solidFill>
                  <a:srgbClr val="006ABA"/>
                </a:solidFill>
                <a:latin typeface="Arial"/>
                <a:ea typeface="Arial"/>
                <a:cs typeface="Arial"/>
              </a:rPr>
              <a:t>Objects, equality and mutability</a:t>
            </a:r>
            <a:endParaRPr sz="1400" b="0" spc="-10">
              <a:latin typeface="Arial"/>
              <a:ea typeface="Arial"/>
              <a:cs typeface="Arial"/>
            </a:endParaRPr>
          </a:p>
        </p:txBody>
      </p:sp>
      <p:pic>
        <p:nvPicPr>
          <p:cNvPr id="24" name="object 4"/>
          <p:cNvPicPr>
            <a:picLocks noChangeAspect="1"/>
          </p:cNvPicPr>
          <p:nvPr/>
        </p:nvPicPr>
        <p:blipFill>
          <a:blip r:embed="rId3"/>
          <a:stretch>
            <a:fillRect/>
          </a:stretch>
        </p:blipFill>
        <p:spPr>
          <a:xfrm>
            <a:off x="152565" y="2988507"/>
            <a:ext cx="900668" cy="161917"/>
          </a:xfrm>
          <a:prstGeom prst="rect">
            <a:avLst/>
          </a:prstGeom>
        </p:spPr>
      </p:pic>
      <p:pic>
        <p:nvPicPr>
          <p:cNvPr id="25" name="object 5"/>
          <p:cNvPicPr>
            <a:picLocks noChangeAspect="1"/>
          </p:cNvPicPr>
          <p:nvPr/>
        </p:nvPicPr>
        <p:blipFill>
          <a:blip r:embed="rId4"/>
          <a:stretch>
            <a:fillRect/>
          </a:stretch>
        </p:blipFill>
        <p:spPr>
          <a:xfrm>
            <a:off x="1286560" y="2988417"/>
            <a:ext cx="610912" cy="162008"/>
          </a:xfrm>
          <a:prstGeom prst="rect">
            <a:avLst/>
          </a:prstGeom>
        </p:spPr>
      </p:pic>
      <p:sp>
        <p:nvSpPr>
          <p:cNvPr id="10" name="Footer Placeholder 7">
            <a:extLst>
              <a:ext uri="{FF2B5EF4-FFF2-40B4-BE49-F238E27FC236}">
                <a16:creationId xmlns:a16="http://schemas.microsoft.com/office/drawing/2014/main" id="{197FE2C8-8EE2-4937-3F30-294DB47641D6}"/>
              </a:ext>
            </a:extLst>
          </p:cNvPr>
          <p:cNvSpPr>
            <a:spLocks noGrp="1"/>
          </p:cNvSpPr>
          <p:nvPr>
            <p:ph type="ftr" idx="5"/>
          </p:nvPr>
        </p:nvSpPr>
        <p:spPr>
          <a:xfrm>
            <a:off x="2590800" y="3105150"/>
            <a:ext cx="2743200" cy="95250"/>
          </a:xfrm>
        </p:spPr>
        <p:txBody>
          <a:bodyPr wrap="square" lIns="0" tIns="0" rIns="0" bIns="0">
            <a:noAutofit/>
          </a:bodyPr>
          <a:lstStyle/>
          <a:p>
            <a:pPr algn="r">
              <a:lnSpc>
                <a:spcPct val="110000"/>
              </a:lnSpc>
              <a:buNone/>
              <a:defRPr sz="500">
                <a:solidFill>
                  <a:srgbClr val="888888"/>
                </a:solidFill>
                <a:latin typeface="Arial"/>
                <a:ea typeface="Arial"/>
                <a:cs typeface="Arial"/>
              </a:defRPr>
            </a:pPr>
            <a:r>
              <a:rPr sz="500">
                <a:solidFill>
                  <a:srgbClr val="888888"/>
                </a:solidFill>
                <a:latin typeface="Arial"/>
                <a:ea typeface="Arial"/>
                <a:cs typeface="Arial"/>
              </a:rPr>
              <a:t>MAS Foundations - Kamendu Panchal</a:t>
            </a:r>
            <a:endParaRPr sz="500" b="1">
              <a:solidFill>
                <a:schemeClr val="tx1"/>
              </a:solidFill>
              <a:latin typeface="Arial"/>
              <a:ea typeface="Arial"/>
              <a:cs typeface="Arial"/>
            </a:endParaRPr>
          </a:p>
        </p:txBody>
      </p:sp>
      <p:sp>
        <p:nvSpPr>
          <p:cNvPr id="3" name="TextBox 2">
            <a:extLst>
              <a:ext uri="{FF2B5EF4-FFF2-40B4-BE49-F238E27FC236}">
                <a16:creationId xmlns:a16="http://schemas.microsoft.com/office/drawing/2014/main" id="{DCE8FEB4-DA15-74FB-D091-FA2B80C9B501}"/>
              </a:ext>
            </a:extLst>
          </p:cNvPr>
          <p:cNvSpPr>
            <a:spLocks noGrp="1"/>
          </p:cNvSpPr>
          <p:nvPr/>
        </p:nvSpPr>
        <p:spPr>
          <a:xfrm>
            <a:off x="5438775" y="3086100"/>
            <a:ext cx="209550" cy="175260"/>
          </a:xfrm>
          <a:prstGeom prst="rect">
            <a:avLst/>
          </a:prstGeom>
          <a:noFill/>
        </p:spPr>
        <p:txBody>
          <a:bodyPr wrap="square" lIns="0" tIns="0" rIns="0" bIns="0">
            <a:noAutofit/>
          </a:bodyPr>
          <a:lstStyle/>
          <a:p>
            <a:pPr algn="r">
              <a:lnSpc>
                <a:spcPct val="110000"/>
              </a:lnSpc>
              <a:buNone/>
              <a:defRPr sz="500">
                <a:solidFill>
                  <a:srgbClr val="202020"/>
                </a:solidFill>
                <a:latin typeface="Arial"/>
                <a:ea typeface="Arial"/>
                <a:cs typeface="Arial"/>
              </a:defRPr>
            </a:pPr>
            <a:r>
              <a:rPr sz="500">
                <a:solidFill>
                  <a:srgbClr val="202020"/>
                </a:solidFill>
                <a:latin typeface="Arial"/>
                <a:ea typeface="Arial"/>
                <a:cs typeface="Arial"/>
              </a:rPr>
              <a:t>22</a:t>
            </a:r>
          </a:p>
        </p:txBody>
      </p:sp>
      <p:sp>
        <p:nvSpPr>
          <p:cNvPr id="13" name="text">
            <a:extLst>
              <a:ext uri="{FF2B5EF4-FFF2-40B4-BE49-F238E27FC236}">
                <a16:creationId xmlns:a16="http://schemas.microsoft.com/office/drawing/2014/main" id="{C31507E4-FE66-4A1A-9E52-0BF98DD74B38}"/>
              </a:ext>
            </a:extLst>
          </p:cNvPr>
          <p:cNvSpPr>
            <a:spLocks noGrp="1"/>
          </p:cNvSpPr>
          <p:nvPr/>
        </p:nvSpPr>
        <p:spPr>
          <a:xfrm>
            <a:off x="228600" y="504825"/>
            <a:ext cx="5314950" cy="381000"/>
          </a:xfrm>
          <a:prstGeom prst="rect">
            <a:avLst/>
          </a:prstGeom>
          <a:noFill/>
          <a:ln w="0">
            <a:noFill/>
          </a:ln>
        </p:spPr>
        <p:txBody>
          <a:bodyPr wrap="square" lIns="0" tIns="0" rIns="0" bIns="0" anchor="t">
            <a:noAutofit/>
          </a:bodyPr>
          <a:lstStyle/>
          <a:p>
            <a:pPr algn="l">
              <a:lnSpc>
                <a:spcPct val="110000"/>
              </a:lnSpc>
              <a:buNone/>
              <a:defRPr sz="998" b="0">
                <a:solidFill>
                  <a:srgbClr val="202020"/>
                </a:solidFill>
                <a:latin typeface="Arial"/>
                <a:ea typeface="Arial"/>
                <a:cs typeface="Arial"/>
              </a:defRPr>
            </a:pPr>
            <a:r>
              <a:rPr sz="998" b="0">
                <a:solidFill>
                  <a:srgbClr val="202020"/>
                </a:solidFill>
                <a:latin typeface="Arial"/>
                <a:ea typeface="Arial"/>
                <a:cs typeface="Arial"/>
              </a:rPr>
              <a:t>Python objects have an identity, a type and a value.</a:t>
            </a:r>
          </a:p>
        </p:txBody>
      </p:sp>
      <p:sp>
        <p:nvSpPr>
          <p:cNvPr id="14" name="text">
            <a:extLst>
              <a:ext uri="{FF2B5EF4-FFF2-40B4-BE49-F238E27FC236}">
                <a16:creationId xmlns:a16="http://schemas.microsoft.com/office/drawing/2014/main" id="{7AE8AF59-55A1-4929-AACF-AE3EAD702A71}"/>
              </a:ext>
            </a:extLst>
          </p:cNvPr>
          <p:cNvSpPr>
            <a:spLocks noGrp="1"/>
          </p:cNvSpPr>
          <p:nvPr/>
        </p:nvSpPr>
        <p:spPr>
          <a:xfrm>
            <a:off x="285750" y="1000125"/>
            <a:ext cx="1952625" cy="285750"/>
          </a:xfrm>
          <a:prstGeom prst="rect">
            <a:avLst/>
          </a:prstGeom>
          <a:noFill/>
          <a:ln w="0">
            <a:noFill/>
          </a:ln>
        </p:spPr>
        <p:txBody>
          <a:bodyPr wrap="square" lIns="0" tIns="0" rIns="0" bIns="0" anchor="t">
            <a:noAutofit/>
          </a:bodyPr>
          <a:lstStyle/>
          <a:p>
            <a:pPr algn="l">
              <a:lnSpc>
                <a:spcPct val="110000"/>
              </a:lnSpc>
              <a:buNone/>
              <a:defRPr sz="1050" b="1">
                <a:solidFill>
                  <a:srgbClr val="006ABA"/>
                </a:solidFill>
                <a:latin typeface="Arial"/>
                <a:ea typeface="Arial"/>
                <a:cs typeface="Arial"/>
              </a:defRPr>
            </a:pPr>
            <a:r>
              <a:rPr sz="1050" b="1">
                <a:solidFill>
                  <a:srgbClr val="006ABA"/>
                </a:solidFill>
                <a:latin typeface="Arial"/>
                <a:ea typeface="Arial"/>
                <a:cs typeface="Arial"/>
              </a:rPr>
              <a:t>Mutable</a:t>
            </a:r>
          </a:p>
        </p:txBody>
      </p:sp>
      <p:sp>
        <p:nvSpPr>
          <p:cNvPr id="15" name="text">
            <a:extLst>
              <a:ext uri="{FF2B5EF4-FFF2-40B4-BE49-F238E27FC236}">
                <a16:creationId xmlns:a16="http://schemas.microsoft.com/office/drawing/2014/main" id="{C8721B26-8FE2-4D74-B0D8-7E5CF704CFA7}"/>
              </a:ext>
            </a:extLst>
          </p:cNvPr>
          <p:cNvSpPr>
            <a:spLocks noGrp="1"/>
          </p:cNvSpPr>
          <p:nvPr/>
        </p:nvSpPr>
        <p:spPr>
          <a:xfrm>
            <a:off x="2409825" y="1000125"/>
            <a:ext cx="3067050" cy="304800"/>
          </a:xfrm>
          <a:prstGeom prst="rect">
            <a:avLst/>
          </a:prstGeom>
          <a:noFill/>
          <a:ln w="0">
            <a:noFill/>
          </a:ln>
        </p:spPr>
        <p:txBody>
          <a:bodyPr wrap="square" lIns="0" tIns="0" rIns="0" bIns="0" anchor="t">
            <a:noAutofit/>
          </a:bodyPr>
          <a:lstStyle/>
          <a:p>
            <a:pPr algn="l">
              <a:lnSpc>
                <a:spcPct val="110000"/>
              </a:lnSpc>
              <a:buNone/>
              <a:defRPr sz="1050" b="0">
                <a:solidFill>
                  <a:srgbClr val="202020"/>
                </a:solidFill>
                <a:latin typeface="Arial"/>
                <a:ea typeface="Arial"/>
                <a:cs typeface="Arial"/>
              </a:defRPr>
            </a:pPr>
            <a:r>
              <a:rPr sz="1050" b="0">
                <a:solidFill>
                  <a:srgbClr val="202020"/>
                </a:solidFill>
                <a:latin typeface="Arial"/>
                <a:ea typeface="Arial"/>
                <a:cs typeface="Arial"/>
              </a:rPr>
              <a:t>List, dictionary and set contents can change</a:t>
            </a:r>
          </a:p>
        </p:txBody>
      </p:sp>
      <p:sp>
        <p:nvSpPr>
          <p:cNvPr id="16" name="text">
            <a:extLst>
              <a:ext uri="{FF2B5EF4-FFF2-40B4-BE49-F238E27FC236}">
                <a16:creationId xmlns:a16="http://schemas.microsoft.com/office/drawing/2014/main" id="{B1CB92F7-CBF9-44BE-89BD-5C36187A2957}"/>
              </a:ext>
            </a:extLst>
          </p:cNvPr>
          <p:cNvSpPr>
            <a:spLocks noGrp="1"/>
          </p:cNvSpPr>
          <p:nvPr/>
        </p:nvSpPr>
        <p:spPr>
          <a:xfrm>
            <a:off x="285750" y="1390650"/>
            <a:ext cx="1952625" cy="285750"/>
          </a:xfrm>
          <a:prstGeom prst="rect">
            <a:avLst/>
          </a:prstGeom>
          <a:noFill/>
          <a:ln w="0">
            <a:noFill/>
          </a:ln>
        </p:spPr>
        <p:txBody>
          <a:bodyPr wrap="square" lIns="0" tIns="0" rIns="0" bIns="0" anchor="t">
            <a:noAutofit/>
          </a:bodyPr>
          <a:lstStyle/>
          <a:p>
            <a:pPr algn="l">
              <a:lnSpc>
                <a:spcPct val="110000"/>
              </a:lnSpc>
              <a:buNone/>
              <a:defRPr sz="1050" b="1">
                <a:solidFill>
                  <a:srgbClr val="006ABA"/>
                </a:solidFill>
                <a:latin typeface="Arial"/>
                <a:ea typeface="Arial"/>
                <a:cs typeface="Arial"/>
              </a:defRPr>
            </a:pPr>
            <a:r>
              <a:rPr sz="1050" b="1">
                <a:solidFill>
                  <a:srgbClr val="006ABA"/>
                </a:solidFill>
                <a:latin typeface="Arial"/>
                <a:ea typeface="Arial"/>
                <a:cs typeface="Arial"/>
              </a:rPr>
              <a:t>Immutable</a:t>
            </a:r>
          </a:p>
        </p:txBody>
      </p:sp>
      <p:sp>
        <p:nvSpPr>
          <p:cNvPr id="17" name="text">
            <a:extLst>
              <a:ext uri="{FF2B5EF4-FFF2-40B4-BE49-F238E27FC236}">
                <a16:creationId xmlns:a16="http://schemas.microsoft.com/office/drawing/2014/main" id="{BA4F6346-38A5-450F-AA2E-E87E5EC5FDFF}"/>
              </a:ext>
            </a:extLst>
          </p:cNvPr>
          <p:cNvSpPr>
            <a:spLocks noGrp="1"/>
          </p:cNvSpPr>
          <p:nvPr/>
        </p:nvSpPr>
        <p:spPr>
          <a:xfrm>
            <a:off x="2409825" y="1390650"/>
            <a:ext cx="3067050" cy="304800"/>
          </a:xfrm>
          <a:prstGeom prst="rect">
            <a:avLst/>
          </a:prstGeom>
          <a:noFill/>
          <a:ln w="0">
            <a:noFill/>
          </a:ln>
        </p:spPr>
        <p:txBody>
          <a:bodyPr wrap="square" lIns="0" tIns="0" rIns="0" bIns="0" anchor="t">
            <a:noAutofit/>
          </a:bodyPr>
          <a:lstStyle/>
          <a:p>
            <a:pPr algn="l">
              <a:lnSpc>
                <a:spcPct val="110000"/>
              </a:lnSpc>
              <a:buNone/>
              <a:defRPr sz="1050" b="0">
                <a:solidFill>
                  <a:srgbClr val="202020"/>
                </a:solidFill>
                <a:latin typeface="Arial"/>
                <a:ea typeface="Arial"/>
                <a:cs typeface="Arial"/>
              </a:defRPr>
            </a:pPr>
            <a:r>
              <a:rPr sz="1050" b="0">
                <a:solidFill>
                  <a:srgbClr val="202020"/>
                </a:solidFill>
                <a:latin typeface="Arial"/>
                <a:ea typeface="Arial"/>
                <a:cs typeface="Arial"/>
              </a:rPr>
              <a:t>Integers, strings and tuple positions cannot change</a:t>
            </a:r>
          </a:p>
        </p:txBody>
      </p:sp>
      <p:sp>
        <p:nvSpPr>
          <p:cNvPr id="18" name="text">
            <a:extLst>
              <a:ext uri="{FF2B5EF4-FFF2-40B4-BE49-F238E27FC236}">
                <a16:creationId xmlns:a16="http://schemas.microsoft.com/office/drawing/2014/main" id="{8D3201D1-F24F-4138-B199-ACF3B2AE6512}"/>
              </a:ext>
            </a:extLst>
          </p:cNvPr>
          <p:cNvSpPr>
            <a:spLocks noGrp="1"/>
          </p:cNvSpPr>
          <p:nvPr/>
        </p:nvSpPr>
        <p:spPr>
          <a:xfrm>
            <a:off x="285750" y="1781175"/>
            <a:ext cx="1952625" cy="285750"/>
          </a:xfrm>
          <a:prstGeom prst="rect">
            <a:avLst/>
          </a:prstGeom>
          <a:noFill/>
          <a:ln w="0">
            <a:noFill/>
          </a:ln>
        </p:spPr>
        <p:txBody>
          <a:bodyPr wrap="square" lIns="0" tIns="0" rIns="0" bIns="0" anchor="t">
            <a:noAutofit/>
          </a:bodyPr>
          <a:lstStyle/>
          <a:p>
            <a:pPr algn="l">
              <a:lnSpc>
                <a:spcPct val="110000"/>
              </a:lnSpc>
              <a:buNone/>
              <a:defRPr sz="1050" b="1">
                <a:solidFill>
                  <a:srgbClr val="006ABA"/>
                </a:solidFill>
                <a:latin typeface="Arial"/>
                <a:ea typeface="Arial"/>
                <a:cs typeface="Arial"/>
              </a:defRPr>
            </a:pPr>
            <a:r>
              <a:rPr sz="1050" b="1">
                <a:solidFill>
                  <a:srgbClr val="006ABA"/>
                </a:solidFill>
                <a:latin typeface="Arial"/>
                <a:ea typeface="Arial"/>
                <a:cs typeface="Arial"/>
              </a:rPr>
              <a:t>a == b</a:t>
            </a:r>
          </a:p>
        </p:txBody>
      </p:sp>
      <p:sp>
        <p:nvSpPr>
          <p:cNvPr id="19" name="text">
            <a:extLst>
              <a:ext uri="{FF2B5EF4-FFF2-40B4-BE49-F238E27FC236}">
                <a16:creationId xmlns:a16="http://schemas.microsoft.com/office/drawing/2014/main" id="{6719228B-7EF7-4DEB-93E5-F83C4CED6DCA}"/>
              </a:ext>
            </a:extLst>
          </p:cNvPr>
          <p:cNvSpPr>
            <a:spLocks noGrp="1"/>
          </p:cNvSpPr>
          <p:nvPr/>
        </p:nvSpPr>
        <p:spPr>
          <a:xfrm>
            <a:off x="2409825" y="1781175"/>
            <a:ext cx="3067050" cy="304800"/>
          </a:xfrm>
          <a:prstGeom prst="rect">
            <a:avLst/>
          </a:prstGeom>
          <a:noFill/>
          <a:ln w="0">
            <a:noFill/>
          </a:ln>
        </p:spPr>
        <p:txBody>
          <a:bodyPr wrap="square" lIns="0" tIns="0" rIns="0" bIns="0" anchor="t">
            <a:noAutofit/>
          </a:bodyPr>
          <a:lstStyle/>
          <a:p>
            <a:pPr algn="l">
              <a:lnSpc>
                <a:spcPct val="110000"/>
              </a:lnSpc>
              <a:buNone/>
              <a:defRPr sz="1050" b="0">
                <a:solidFill>
                  <a:srgbClr val="202020"/>
                </a:solidFill>
                <a:latin typeface="Arial"/>
                <a:ea typeface="Arial"/>
                <a:cs typeface="Arial"/>
              </a:defRPr>
            </a:pPr>
            <a:r>
              <a:rPr sz="1050" b="0">
                <a:solidFill>
                  <a:srgbClr val="202020"/>
                </a:solidFill>
                <a:latin typeface="Arial"/>
                <a:ea typeface="Arial"/>
                <a:cs typeface="Arial"/>
              </a:rPr>
              <a:t>Compare values</a:t>
            </a:r>
          </a:p>
        </p:txBody>
      </p:sp>
      <p:sp>
        <p:nvSpPr>
          <p:cNvPr id="20" name="text">
            <a:extLst>
              <a:ext uri="{FF2B5EF4-FFF2-40B4-BE49-F238E27FC236}">
                <a16:creationId xmlns:a16="http://schemas.microsoft.com/office/drawing/2014/main" id="{CF5DF82F-D97A-4A4C-BB46-BFD6B3F7D6FA}"/>
              </a:ext>
            </a:extLst>
          </p:cNvPr>
          <p:cNvSpPr>
            <a:spLocks noGrp="1"/>
          </p:cNvSpPr>
          <p:nvPr/>
        </p:nvSpPr>
        <p:spPr>
          <a:xfrm>
            <a:off x="285750" y="2171700"/>
            <a:ext cx="1952625" cy="285750"/>
          </a:xfrm>
          <a:prstGeom prst="rect">
            <a:avLst/>
          </a:prstGeom>
          <a:noFill/>
          <a:ln w="0">
            <a:noFill/>
          </a:ln>
        </p:spPr>
        <p:txBody>
          <a:bodyPr wrap="square" lIns="0" tIns="0" rIns="0" bIns="0" anchor="t">
            <a:noAutofit/>
          </a:bodyPr>
          <a:lstStyle/>
          <a:p>
            <a:pPr algn="l">
              <a:lnSpc>
                <a:spcPct val="110000"/>
              </a:lnSpc>
              <a:buNone/>
              <a:defRPr sz="1050" b="1">
                <a:solidFill>
                  <a:srgbClr val="006ABA"/>
                </a:solidFill>
                <a:latin typeface="Arial"/>
                <a:ea typeface="Arial"/>
                <a:cs typeface="Arial"/>
              </a:defRPr>
            </a:pPr>
            <a:r>
              <a:rPr sz="1050" b="1">
                <a:solidFill>
                  <a:srgbClr val="006ABA"/>
                </a:solidFill>
                <a:latin typeface="Arial"/>
                <a:ea typeface="Arial"/>
                <a:cs typeface="Arial"/>
              </a:rPr>
              <a:t>a is b</a:t>
            </a:r>
          </a:p>
        </p:txBody>
      </p:sp>
      <p:sp>
        <p:nvSpPr>
          <p:cNvPr id="21" name="text">
            <a:extLst>
              <a:ext uri="{FF2B5EF4-FFF2-40B4-BE49-F238E27FC236}">
                <a16:creationId xmlns:a16="http://schemas.microsoft.com/office/drawing/2014/main" id="{510DFCE4-F50A-42DA-AB4A-80B9F5B3320C}"/>
              </a:ext>
            </a:extLst>
          </p:cNvPr>
          <p:cNvSpPr>
            <a:spLocks noGrp="1"/>
          </p:cNvSpPr>
          <p:nvPr/>
        </p:nvSpPr>
        <p:spPr>
          <a:xfrm>
            <a:off x="2409825" y="2171700"/>
            <a:ext cx="3067050" cy="304800"/>
          </a:xfrm>
          <a:prstGeom prst="rect">
            <a:avLst/>
          </a:prstGeom>
          <a:noFill/>
          <a:ln w="0">
            <a:noFill/>
          </a:ln>
        </p:spPr>
        <p:txBody>
          <a:bodyPr wrap="square" lIns="0" tIns="0" rIns="0" bIns="0" anchor="t">
            <a:noAutofit/>
          </a:bodyPr>
          <a:lstStyle/>
          <a:p>
            <a:pPr algn="l">
              <a:lnSpc>
                <a:spcPct val="110000"/>
              </a:lnSpc>
              <a:buNone/>
              <a:defRPr sz="1050" b="0">
                <a:solidFill>
                  <a:srgbClr val="202020"/>
                </a:solidFill>
                <a:latin typeface="Arial"/>
                <a:ea typeface="Arial"/>
                <a:cs typeface="Arial"/>
              </a:defRPr>
            </a:pPr>
            <a:r>
              <a:rPr sz="1050" b="0">
                <a:solidFill>
                  <a:srgbClr val="202020"/>
                </a:solidFill>
                <a:latin typeface="Arial"/>
                <a:ea typeface="Arial"/>
                <a:cs typeface="Arial"/>
              </a:rPr>
              <a:t>Ask whether both names refer to one object</a:t>
            </a:r>
          </a:p>
        </p:txBody>
      </p:sp>
      <p:sp>
        <p:nvSpPr>
          <p:cNvPr id="22" name="text">
            <a:extLst>
              <a:ext uri="{FF2B5EF4-FFF2-40B4-BE49-F238E27FC236}">
                <a16:creationId xmlns:a16="http://schemas.microsoft.com/office/drawing/2014/main" id="{751FBF94-9F0D-41A1-BDF9-558954678929}"/>
              </a:ext>
            </a:extLst>
          </p:cNvPr>
          <p:cNvSpPr>
            <a:spLocks noGrp="1"/>
          </p:cNvSpPr>
          <p:nvPr/>
        </p:nvSpPr>
        <p:spPr>
          <a:xfrm>
            <a:off x="228600" y="2867025"/>
            <a:ext cx="5334000" cy="95250"/>
          </a:xfrm>
          <a:prstGeom prst="rect">
            <a:avLst/>
          </a:prstGeom>
          <a:noFill/>
          <a:ln w="0">
            <a:noFill/>
          </a:ln>
        </p:spPr>
        <p:txBody>
          <a:bodyPr wrap="square" lIns="0" tIns="0" rIns="0" bIns="0" anchor="t">
            <a:noAutofit/>
          </a:bodyPr>
          <a:lstStyle/>
          <a:p>
            <a:pPr algn="l">
              <a:lnSpc>
                <a:spcPct val="110000"/>
              </a:lnSpc>
              <a:buNone/>
              <a:defRPr sz="510" b="0">
                <a:solidFill>
                  <a:srgbClr val="66717C"/>
                </a:solidFill>
                <a:latin typeface="Arial"/>
                <a:ea typeface="Arial"/>
                <a:cs typeface="Arial"/>
              </a:defRPr>
            </a:pPr>
            <a:r>
              <a:rPr sz="510" b="0">
                <a:solidFill>
                  <a:srgbClr val="66717C"/>
                </a:solidFill>
                <a:latin typeface="Arial"/>
                <a:ea typeface="Arial"/>
                <a:cs typeface="Arial"/>
              </a:rPr>
              <a:t>[M]  [PY]</a:t>
            </a:r>
          </a:p>
        </p:txBody>
      </p:sp>
    </p:spTree>
    <p:extLst>
      <p:ext uri="{BB962C8B-B14F-4D97-AF65-F5344CB8AC3E}">
        <p14:creationId xmlns:p14="http://schemas.microsoft.com/office/powerpoint/2010/main" val="36456721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19C03931-4A28-44C2-9238-650F85D8C2AD}"/>
              </a:ext>
            </a:extLst>
          </p:cNvPr>
          <p:cNvSpPr>
            <a:spLocks noGrp="1"/>
          </p:cNvSpPr>
          <p:nvPr>
            <p:ph type="title"/>
          </p:nvPr>
        </p:nvSpPr>
        <p:spPr>
          <a:xfrm>
            <a:off x="171450" y="95250"/>
            <a:ext cx="5429250" cy="304800"/>
          </a:xfrm>
          <a:prstGeom prst="rect">
            <a:avLst/>
          </a:prstGeom>
        </p:spPr>
        <p:txBody>
          <a:bodyPr vert="horz" wrap="square" lIns="0" tIns="0" rIns="0" bIns="0">
            <a:noAutofit/>
          </a:bodyPr>
          <a:lstStyle/>
          <a:p>
            <a:pPr marL="12700" algn="l">
              <a:lnSpc>
                <a:spcPct val="110000"/>
              </a:lnSpc>
              <a:spcBef>
                <a:spcPts val="135"/>
              </a:spcBef>
              <a:buNone/>
              <a:defRPr sz="1400">
                <a:solidFill>
                  <a:srgbClr val="006ABA"/>
                </a:solidFill>
                <a:latin typeface="Arial"/>
                <a:ea typeface="Arial"/>
                <a:cs typeface="Arial"/>
              </a:defRPr>
            </a:pPr>
            <a:r>
              <a:rPr sz="1400" b="0" spc="-10">
                <a:solidFill>
                  <a:srgbClr val="006ABA"/>
                </a:solidFill>
                <a:latin typeface="Arial"/>
                <a:ea typeface="Arial"/>
                <a:cs typeface="Arial"/>
              </a:rPr>
              <a:t>Linked lists</a:t>
            </a:r>
            <a:endParaRPr sz="1400" b="0" spc="-10">
              <a:latin typeface="Arial"/>
              <a:ea typeface="Arial"/>
              <a:cs typeface="Arial"/>
            </a:endParaRPr>
          </a:p>
        </p:txBody>
      </p:sp>
      <p:pic>
        <p:nvPicPr>
          <p:cNvPr id="24" name="object 4"/>
          <p:cNvPicPr>
            <a:picLocks noChangeAspect="1"/>
          </p:cNvPicPr>
          <p:nvPr/>
        </p:nvPicPr>
        <p:blipFill>
          <a:blip r:embed="rId3"/>
          <a:stretch>
            <a:fillRect/>
          </a:stretch>
        </p:blipFill>
        <p:spPr>
          <a:xfrm>
            <a:off x="152565" y="2988507"/>
            <a:ext cx="900668" cy="161917"/>
          </a:xfrm>
          <a:prstGeom prst="rect">
            <a:avLst/>
          </a:prstGeom>
        </p:spPr>
      </p:pic>
      <p:pic>
        <p:nvPicPr>
          <p:cNvPr id="25" name="object 5"/>
          <p:cNvPicPr>
            <a:picLocks noChangeAspect="1"/>
          </p:cNvPicPr>
          <p:nvPr/>
        </p:nvPicPr>
        <p:blipFill>
          <a:blip r:embed="rId4"/>
          <a:stretch>
            <a:fillRect/>
          </a:stretch>
        </p:blipFill>
        <p:spPr>
          <a:xfrm>
            <a:off x="1286560" y="2988417"/>
            <a:ext cx="610912" cy="162008"/>
          </a:xfrm>
          <a:prstGeom prst="rect">
            <a:avLst/>
          </a:prstGeom>
        </p:spPr>
      </p:pic>
      <p:sp>
        <p:nvSpPr>
          <p:cNvPr id="10" name="Footer Placeholder 7">
            <a:extLst>
              <a:ext uri="{FF2B5EF4-FFF2-40B4-BE49-F238E27FC236}">
                <a16:creationId xmlns:a16="http://schemas.microsoft.com/office/drawing/2014/main" id="{197FE2C8-8EE2-4937-3F30-294DB47641D6}"/>
              </a:ext>
            </a:extLst>
          </p:cNvPr>
          <p:cNvSpPr>
            <a:spLocks noGrp="1"/>
          </p:cNvSpPr>
          <p:nvPr>
            <p:ph type="ftr" idx="5"/>
          </p:nvPr>
        </p:nvSpPr>
        <p:spPr>
          <a:xfrm>
            <a:off x="2590800" y="3105150"/>
            <a:ext cx="2743200" cy="95250"/>
          </a:xfrm>
        </p:spPr>
        <p:txBody>
          <a:bodyPr wrap="square" lIns="0" tIns="0" rIns="0" bIns="0">
            <a:noAutofit/>
          </a:bodyPr>
          <a:lstStyle/>
          <a:p>
            <a:pPr algn="r">
              <a:lnSpc>
                <a:spcPct val="110000"/>
              </a:lnSpc>
              <a:buNone/>
              <a:defRPr sz="500">
                <a:solidFill>
                  <a:srgbClr val="888888"/>
                </a:solidFill>
                <a:latin typeface="Arial"/>
                <a:ea typeface="Arial"/>
                <a:cs typeface="Arial"/>
              </a:defRPr>
            </a:pPr>
            <a:r>
              <a:rPr sz="500">
                <a:solidFill>
                  <a:srgbClr val="888888"/>
                </a:solidFill>
                <a:latin typeface="Arial"/>
                <a:ea typeface="Arial"/>
                <a:cs typeface="Arial"/>
              </a:rPr>
              <a:t>MAS Foundations - Kamendu Panchal</a:t>
            </a:r>
            <a:endParaRPr sz="500" b="1">
              <a:solidFill>
                <a:schemeClr val="tx1"/>
              </a:solidFill>
              <a:latin typeface="Arial"/>
              <a:ea typeface="Arial"/>
              <a:cs typeface="Arial"/>
            </a:endParaRPr>
          </a:p>
        </p:txBody>
      </p:sp>
      <p:sp>
        <p:nvSpPr>
          <p:cNvPr id="3" name="TextBox 2">
            <a:extLst>
              <a:ext uri="{FF2B5EF4-FFF2-40B4-BE49-F238E27FC236}">
                <a16:creationId xmlns:a16="http://schemas.microsoft.com/office/drawing/2014/main" id="{DCE8FEB4-DA15-74FB-D091-FA2B80C9B501}"/>
              </a:ext>
            </a:extLst>
          </p:cNvPr>
          <p:cNvSpPr>
            <a:spLocks noGrp="1"/>
          </p:cNvSpPr>
          <p:nvPr/>
        </p:nvSpPr>
        <p:spPr>
          <a:xfrm>
            <a:off x="5438775" y="3086100"/>
            <a:ext cx="209550" cy="175260"/>
          </a:xfrm>
          <a:prstGeom prst="rect">
            <a:avLst/>
          </a:prstGeom>
          <a:noFill/>
        </p:spPr>
        <p:txBody>
          <a:bodyPr wrap="square" lIns="0" tIns="0" rIns="0" bIns="0">
            <a:noAutofit/>
          </a:bodyPr>
          <a:lstStyle/>
          <a:p>
            <a:pPr algn="r">
              <a:lnSpc>
                <a:spcPct val="110000"/>
              </a:lnSpc>
              <a:buNone/>
              <a:defRPr sz="500">
                <a:solidFill>
                  <a:srgbClr val="202020"/>
                </a:solidFill>
                <a:latin typeface="Arial"/>
                <a:ea typeface="Arial"/>
                <a:cs typeface="Arial"/>
              </a:defRPr>
            </a:pPr>
            <a:r>
              <a:rPr sz="500">
                <a:solidFill>
                  <a:srgbClr val="202020"/>
                </a:solidFill>
                <a:latin typeface="Arial"/>
                <a:ea typeface="Arial"/>
                <a:cs typeface="Arial"/>
              </a:rPr>
              <a:t>23</a:t>
            </a:r>
          </a:p>
        </p:txBody>
      </p:sp>
      <p:sp>
        <p:nvSpPr>
          <p:cNvPr id="13" name="text">
            <a:extLst>
              <a:ext uri="{FF2B5EF4-FFF2-40B4-BE49-F238E27FC236}">
                <a16:creationId xmlns:a16="http://schemas.microsoft.com/office/drawing/2014/main" id="{382125FA-0A22-4E44-818B-F472922368F8}"/>
              </a:ext>
            </a:extLst>
          </p:cNvPr>
          <p:cNvSpPr>
            <a:spLocks noGrp="1"/>
          </p:cNvSpPr>
          <p:nvPr/>
        </p:nvSpPr>
        <p:spPr>
          <a:xfrm>
            <a:off x="228600" y="504825"/>
            <a:ext cx="5314950" cy="381000"/>
          </a:xfrm>
          <a:prstGeom prst="rect">
            <a:avLst/>
          </a:prstGeom>
          <a:noFill/>
          <a:ln w="0">
            <a:noFill/>
          </a:ln>
        </p:spPr>
        <p:txBody>
          <a:bodyPr wrap="square" lIns="0" tIns="0" rIns="0" bIns="0" anchor="t">
            <a:noAutofit/>
          </a:bodyPr>
          <a:lstStyle/>
          <a:p>
            <a:pPr algn="l">
              <a:lnSpc>
                <a:spcPct val="110000"/>
              </a:lnSpc>
              <a:buNone/>
              <a:defRPr sz="998" b="0">
                <a:solidFill>
                  <a:srgbClr val="202020"/>
                </a:solidFill>
                <a:latin typeface="Arial"/>
                <a:ea typeface="Arial"/>
                <a:cs typeface="Arial"/>
              </a:defRPr>
            </a:pPr>
            <a:r>
              <a:rPr sz="998" b="0">
                <a:solidFill>
                  <a:srgbClr val="202020"/>
                </a:solidFill>
                <a:latin typeface="Arial"/>
                <a:ea typeface="Arial"/>
                <a:cs typeface="Arial"/>
              </a:rPr>
              <a:t>A linked list stores values in nodes connected by links.</a:t>
            </a:r>
          </a:p>
        </p:txBody>
      </p:sp>
      <p:sp>
        <p:nvSpPr>
          <p:cNvPr id="14" name="diagram-node">
            <a:extLst>
              <a:ext uri="{FF2B5EF4-FFF2-40B4-BE49-F238E27FC236}">
                <a16:creationId xmlns:a16="http://schemas.microsoft.com/office/drawing/2014/main" id="{1BFDE672-EC5F-42F2-AC66-0AEA07BD34EB}"/>
              </a:ext>
            </a:extLst>
          </p:cNvPr>
          <p:cNvSpPr>
            <a:spLocks noGrp="1"/>
          </p:cNvSpPr>
          <p:nvPr/>
        </p:nvSpPr>
        <p:spPr>
          <a:xfrm>
            <a:off x="428625" y="1409700"/>
            <a:ext cx="1143000" cy="476250"/>
          </a:xfrm>
          <a:prstGeom prst="rect">
            <a:avLst/>
          </a:prstGeom>
          <a:solidFill>
            <a:srgbClr val="FFFFFF"/>
          </a:solidFill>
          <a:ln w="11430">
            <a:solidFill>
              <a:srgbClr val="006ABA"/>
            </a:solidFill>
          </a:ln>
        </p:spPr>
        <p:txBody>
          <a:bodyPr wrap="square" lIns="47625" tIns="28575" rIns="47625" bIns="28575" anchor="ctr">
            <a:noAutofit/>
          </a:bodyPr>
          <a:lstStyle/>
          <a:p>
            <a:pPr algn="ctr">
              <a:lnSpc>
                <a:spcPct val="107000"/>
              </a:lnSpc>
              <a:buNone/>
              <a:defRPr sz="975">
                <a:solidFill>
                  <a:srgbClr val="202020"/>
                </a:solidFill>
                <a:latin typeface="Arial"/>
                <a:ea typeface="Arial"/>
                <a:cs typeface="Arial"/>
              </a:defRPr>
            </a:pPr>
            <a:r>
              <a:rPr sz="975">
                <a:solidFill>
                  <a:srgbClr val="202020"/>
                </a:solidFill>
                <a:latin typeface="Arial"/>
                <a:ea typeface="Arial"/>
                <a:cs typeface="Arial"/>
              </a:rPr>
              <a:t>10</a:t>
            </a:r>
          </a:p>
        </p:txBody>
      </p:sp>
      <p:sp>
        <p:nvSpPr>
          <p:cNvPr id="15" name="diagram-node">
            <a:extLst>
              <a:ext uri="{FF2B5EF4-FFF2-40B4-BE49-F238E27FC236}">
                <a16:creationId xmlns:a16="http://schemas.microsoft.com/office/drawing/2014/main" id="{2E683CC3-A87E-4EA7-9C5E-4EDA7B0DA2C0}"/>
              </a:ext>
            </a:extLst>
          </p:cNvPr>
          <p:cNvSpPr>
            <a:spLocks noGrp="1"/>
          </p:cNvSpPr>
          <p:nvPr/>
        </p:nvSpPr>
        <p:spPr>
          <a:xfrm>
            <a:off x="2314575" y="1409700"/>
            <a:ext cx="1143000" cy="476250"/>
          </a:xfrm>
          <a:prstGeom prst="rect">
            <a:avLst/>
          </a:prstGeom>
          <a:solidFill>
            <a:srgbClr val="FFFFFF"/>
          </a:solidFill>
          <a:ln w="11430">
            <a:solidFill>
              <a:srgbClr val="006ABA"/>
            </a:solidFill>
          </a:ln>
        </p:spPr>
        <p:txBody>
          <a:bodyPr wrap="square" lIns="47625" tIns="28575" rIns="47625" bIns="28575" anchor="ctr">
            <a:noAutofit/>
          </a:bodyPr>
          <a:lstStyle/>
          <a:p>
            <a:pPr algn="ctr">
              <a:lnSpc>
                <a:spcPct val="107000"/>
              </a:lnSpc>
              <a:buNone/>
              <a:defRPr sz="975">
                <a:solidFill>
                  <a:srgbClr val="202020"/>
                </a:solidFill>
                <a:latin typeface="Arial"/>
                <a:ea typeface="Arial"/>
                <a:cs typeface="Arial"/>
              </a:defRPr>
            </a:pPr>
            <a:r>
              <a:rPr sz="975">
                <a:solidFill>
                  <a:srgbClr val="202020"/>
                </a:solidFill>
                <a:latin typeface="Arial"/>
                <a:ea typeface="Arial"/>
                <a:cs typeface="Arial"/>
              </a:rPr>
              <a:t>20</a:t>
            </a:r>
          </a:p>
        </p:txBody>
      </p:sp>
      <p:sp>
        <p:nvSpPr>
          <p:cNvPr id="16" name="diagram-node">
            <a:extLst>
              <a:ext uri="{FF2B5EF4-FFF2-40B4-BE49-F238E27FC236}">
                <a16:creationId xmlns:a16="http://schemas.microsoft.com/office/drawing/2014/main" id="{476C43CC-1436-4676-9C61-FC36459D35C4}"/>
              </a:ext>
            </a:extLst>
          </p:cNvPr>
          <p:cNvSpPr>
            <a:spLocks noGrp="1"/>
          </p:cNvSpPr>
          <p:nvPr/>
        </p:nvSpPr>
        <p:spPr>
          <a:xfrm>
            <a:off x="4200525" y="1409700"/>
            <a:ext cx="1143000" cy="476250"/>
          </a:xfrm>
          <a:prstGeom prst="rect">
            <a:avLst/>
          </a:prstGeom>
          <a:solidFill>
            <a:srgbClr val="FFFFFF"/>
          </a:solidFill>
          <a:ln w="11430">
            <a:solidFill>
              <a:srgbClr val="006ABA"/>
            </a:solidFill>
          </a:ln>
        </p:spPr>
        <p:txBody>
          <a:bodyPr wrap="square" lIns="47625" tIns="28575" rIns="47625" bIns="28575" anchor="ctr">
            <a:noAutofit/>
          </a:bodyPr>
          <a:lstStyle/>
          <a:p>
            <a:pPr algn="ctr">
              <a:lnSpc>
                <a:spcPct val="107000"/>
              </a:lnSpc>
              <a:buNone/>
              <a:defRPr sz="975">
                <a:solidFill>
                  <a:srgbClr val="202020"/>
                </a:solidFill>
                <a:latin typeface="Arial"/>
                <a:ea typeface="Arial"/>
                <a:cs typeface="Arial"/>
              </a:defRPr>
            </a:pPr>
            <a:r>
              <a:rPr sz="975">
                <a:solidFill>
                  <a:srgbClr val="202020"/>
                </a:solidFill>
                <a:latin typeface="Arial"/>
                <a:ea typeface="Arial"/>
                <a:cs typeface="Arial"/>
              </a:rPr>
              <a:t>30</a:t>
            </a:r>
          </a:p>
        </p:txBody>
      </p:sp>
      <p:cxnSp>
        <p:nvCxnSpPr>
          <p:cNvPr id="32" name="Straight Arrow Connector 31"/>
          <p:cNvCxnSpPr>
            <a:stCxn id="14" idx="3"/>
            <a:endCxn id="15" idx="1"/>
          </p:cNvCxnSpPr>
          <p:nvPr/>
        </p:nvCxnSpPr>
        <p:spPr>
          <a:xfrm>
            <a:off x="1571625" y="1647825"/>
            <a:ext cx="742950" cy="0"/>
          </a:xfrm>
          <a:prstGeom prst="straightConnector1">
            <a:avLst/>
          </a:prstGeom>
          <a:ln w="11430">
            <a:solidFill>
              <a:srgbClr val="66717C"/>
            </a:solidFill>
            <a:headEnd type="none" w="med" len="med"/>
            <a:tailEnd type="triangle" w="sm" len="sm"/>
          </a:ln>
        </p:spPr>
      </p:cxnSp>
      <p:cxnSp>
        <p:nvCxnSpPr>
          <p:cNvPr id="33" name="Straight Arrow Connector 32"/>
          <p:cNvCxnSpPr>
            <a:stCxn id="15" idx="3"/>
            <a:endCxn id="16" idx="1"/>
          </p:cNvCxnSpPr>
          <p:nvPr/>
        </p:nvCxnSpPr>
        <p:spPr>
          <a:xfrm>
            <a:off x="3457575" y="1647825"/>
            <a:ext cx="742950" cy="0"/>
          </a:xfrm>
          <a:prstGeom prst="straightConnector1">
            <a:avLst/>
          </a:prstGeom>
          <a:ln w="11430">
            <a:solidFill>
              <a:srgbClr val="66717C"/>
            </a:solidFill>
            <a:headEnd type="none" w="med" len="med"/>
            <a:tailEnd type="triangle" w="sm" len="sm"/>
          </a:ln>
        </p:spPr>
      </p:cxnSp>
      <p:sp>
        <p:nvSpPr>
          <p:cNvPr id="19" name="text">
            <a:extLst>
              <a:ext uri="{FF2B5EF4-FFF2-40B4-BE49-F238E27FC236}">
                <a16:creationId xmlns:a16="http://schemas.microsoft.com/office/drawing/2014/main" id="{A69E9FFF-CC05-4EE0-8F36-319401F7E147}"/>
              </a:ext>
            </a:extLst>
          </p:cNvPr>
          <p:cNvSpPr>
            <a:spLocks noGrp="1"/>
          </p:cNvSpPr>
          <p:nvPr/>
        </p:nvSpPr>
        <p:spPr>
          <a:xfrm>
            <a:off x="1590675" y="1133475"/>
            <a:ext cx="714375" cy="190500"/>
          </a:xfrm>
          <a:prstGeom prst="rect">
            <a:avLst/>
          </a:prstGeom>
          <a:noFill/>
          <a:ln w="0">
            <a:noFill/>
          </a:ln>
        </p:spPr>
        <p:txBody>
          <a:bodyPr wrap="square" lIns="0" tIns="0" rIns="0" bIns="0" anchor="t">
            <a:noAutofit/>
          </a:bodyPr>
          <a:lstStyle/>
          <a:p>
            <a:pPr algn="ctr">
              <a:lnSpc>
                <a:spcPct val="110000"/>
              </a:lnSpc>
              <a:buNone/>
              <a:defRPr sz="863" b="0">
                <a:solidFill>
                  <a:srgbClr val="006ABA"/>
                </a:solidFill>
                <a:latin typeface="Arial"/>
                <a:ea typeface="Arial"/>
                <a:cs typeface="Arial"/>
              </a:defRPr>
            </a:pPr>
            <a:r>
              <a:rPr sz="863" b="0">
                <a:solidFill>
                  <a:srgbClr val="006ABA"/>
                </a:solidFill>
                <a:latin typeface="Arial"/>
                <a:ea typeface="Arial"/>
                <a:cs typeface="Arial"/>
              </a:rPr>
              <a:t>next</a:t>
            </a:r>
          </a:p>
        </p:txBody>
      </p:sp>
      <p:sp>
        <p:nvSpPr>
          <p:cNvPr id="20" name="text">
            <a:extLst>
              <a:ext uri="{FF2B5EF4-FFF2-40B4-BE49-F238E27FC236}">
                <a16:creationId xmlns:a16="http://schemas.microsoft.com/office/drawing/2014/main" id="{A7A5DA18-77F1-45FC-8458-65BCEC4BB08B}"/>
              </a:ext>
            </a:extLst>
          </p:cNvPr>
          <p:cNvSpPr>
            <a:spLocks noGrp="1"/>
          </p:cNvSpPr>
          <p:nvPr/>
        </p:nvSpPr>
        <p:spPr>
          <a:xfrm>
            <a:off x="3476625" y="1133475"/>
            <a:ext cx="714375" cy="190500"/>
          </a:xfrm>
          <a:prstGeom prst="rect">
            <a:avLst/>
          </a:prstGeom>
          <a:noFill/>
          <a:ln w="0">
            <a:noFill/>
          </a:ln>
        </p:spPr>
        <p:txBody>
          <a:bodyPr wrap="square" lIns="0" tIns="0" rIns="0" bIns="0" anchor="t">
            <a:noAutofit/>
          </a:bodyPr>
          <a:lstStyle/>
          <a:p>
            <a:pPr algn="ctr">
              <a:lnSpc>
                <a:spcPct val="110000"/>
              </a:lnSpc>
              <a:buNone/>
              <a:defRPr sz="863" b="0">
                <a:solidFill>
                  <a:srgbClr val="006ABA"/>
                </a:solidFill>
                <a:latin typeface="Arial"/>
                <a:ea typeface="Arial"/>
                <a:cs typeface="Arial"/>
              </a:defRPr>
            </a:pPr>
            <a:r>
              <a:rPr sz="863" b="0">
                <a:solidFill>
                  <a:srgbClr val="006ABA"/>
                </a:solidFill>
                <a:latin typeface="Arial"/>
                <a:ea typeface="Arial"/>
                <a:cs typeface="Arial"/>
              </a:rPr>
              <a:t>next</a:t>
            </a:r>
          </a:p>
        </p:txBody>
      </p:sp>
      <p:sp>
        <p:nvSpPr>
          <p:cNvPr id="21" name="text">
            <a:extLst>
              <a:ext uri="{FF2B5EF4-FFF2-40B4-BE49-F238E27FC236}">
                <a16:creationId xmlns:a16="http://schemas.microsoft.com/office/drawing/2014/main" id="{5F968528-5565-4B43-B54C-A83EC0A1D0AA}"/>
              </a:ext>
            </a:extLst>
          </p:cNvPr>
          <p:cNvSpPr>
            <a:spLocks noGrp="1"/>
          </p:cNvSpPr>
          <p:nvPr/>
        </p:nvSpPr>
        <p:spPr>
          <a:xfrm>
            <a:off x="228600" y="2600325"/>
            <a:ext cx="5314950" cy="228600"/>
          </a:xfrm>
          <a:prstGeom prst="rect">
            <a:avLst/>
          </a:prstGeom>
          <a:noFill/>
          <a:ln w="0">
            <a:noFill/>
          </a:ln>
        </p:spPr>
        <p:txBody>
          <a:bodyPr wrap="square" lIns="0" tIns="0" rIns="0" bIns="0" anchor="t">
            <a:noAutofit/>
          </a:bodyPr>
          <a:lstStyle/>
          <a:p>
            <a:pPr algn="l">
              <a:lnSpc>
                <a:spcPct val="110000"/>
              </a:lnSpc>
              <a:buNone/>
              <a:defRPr sz="885" b="0">
                <a:solidFill>
                  <a:srgbClr val="006ABA"/>
                </a:solidFill>
                <a:latin typeface="Arial"/>
                <a:ea typeface="Arial"/>
                <a:cs typeface="Arial"/>
              </a:defRPr>
            </a:pPr>
            <a:r>
              <a:rPr sz="885" b="0">
                <a:solidFill>
                  <a:srgbClr val="006ABA"/>
                </a:solidFill>
                <a:latin typeface="Arial"/>
                <a:ea typeface="Arial"/>
                <a:cs typeface="Arial"/>
              </a:rPr>
              <a:t>Finding a position can take O(n), even when relinking is cheap.</a:t>
            </a:r>
          </a:p>
        </p:txBody>
      </p:sp>
      <p:sp>
        <p:nvSpPr>
          <p:cNvPr id="22" name="text">
            <a:extLst>
              <a:ext uri="{FF2B5EF4-FFF2-40B4-BE49-F238E27FC236}">
                <a16:creationId xmlns:a16="http://schemas.microsoft.com/office/drawing/2014/main" id="{466338DE-A0C7-4A57-A06A-85F04D17C88F}"/>
              </a:ext>
            </a:extLst>
          </p:cNvPr>
          <p:cNvSpPr>
            <a:spLocks noGrp="1"/>
          </p:cNvSpPr>
          <p:nvPr/>
        </p:nvSpPr>
        <p:spPr>
          <a:xfrm>
            <a:off x="228600" y="2867025"/>
            <a:ext cx="5334000" cy="95250"/>
          </a:xfrm>
          <a:prstGeom prst="rect">
            <a:avLst/>
          </a:prstGeom>
          <a:noFill/>
          <a:ln w="0">
            <a:noFill/>
          </a:ln>
        </p:spPr>
        <p:txBody>
          <a:bodyPr wrap="square" lIns="0" tIns="0" rIns="0" bIns="0" anchor="t">
            <a:noAutofit/>
          </a:bodyPr>
          <a:lstStyle/>
          <a:p>
            <a:pPr algn="l">
              <a:lnSpc>
                <a:spcPct val="110000"/>
              </a:lnSpc>
              <a:buNone/>
              <a:defRPr sz="510" b="0">
                <a:solidFill>
                  <a:srgbClr val="66717C"/>
                </a:solidFill>
                <a:latin typeface="Arial"/>
                <a:ea typeface="Arial"/>
                <a:cs typeface="Arial"/>
              </a:defRPr>
            </a:pPr>
            <a:r>
              <a:rPr sz="510" b="0">
                <a:solidFill>
                  <a:srgbClr val="66717C"/>
                </a:solidFill>
                <a:latin typeface="Arial"/>
                <a:ea typeface="Arial"/>
                <a:cs typeface="Arial"/>
              </a:rPr>
              <a:t>[M]</a:t>
            </a:r>
          </a:p>
        </p:txBody>
      </p:sp>
    </p:spTree>
    <p:extLst>
      <p:ext uri="{BB962C8B-B14F-4D97-AF65-F5344CB8AC3E}">
        <p14:creationId xmlns:p14="http://schemas.microsoft.com/office/powerpoint/2010/main" val="36456721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19C03931-4A28-44C2-9238-650F85D8C2AD}"/>
              </a:ext>
            </a:extLst>
          </p:cNvPr>
          <p:cNvSpPr>
            <a:spLocks noGrp="1"/>
          </p:cNvSpPr>
          <p:nvPr>
            <p:ph type="title"/>
          </p:nvPr>
        </p:nvSpPr>
        <p:spPr>
          <a:xfrm>
            <a:off x="171450" y="95250"/>
            <a:ext cx="5429250" cy="304800"/>
          </a:xfrm>
          <a:prstGeom prst="rect">
            <a:avLst/>
          </a:prstGeom>
        </p:spPr>
        <p:txBody>
          <a:bodyPr vert="horz" wrap="square" lIns="0" tIns="0" rIns="0" bIns="0">
            <a:noAutofit/>
          </a:bodyPr>
          <a:lstStyle/>
          <a:p>
            <a:pPr marL="12700" algn="l">
              <a:lnSpc>
                <a:spcPct val="110000"/>
              </a:lnSpc>
              <a:spcBef>
                <a:spcPts val="135"/>
              </a:spcBef>
              <a:buNone/>
              <a:defRPr sz="1400">
                <a:solidFill>
                  <a:srgbClr val="006ABA"/>
                </a:solidFill>
                <a:latin typeface="Arial"/>
                <a:ea typeface="Arial"/>
                <a:cs typeface="Arial"/>
              </a:defRPr>
            </a:pPr>
            <a:r>
              <a:rPr sz="1400" b="0" spc="-10">
                <a:solidFill>
                  <a:srgbClr val="006ABA"/>
                </a:solidFill>
                <a:latin typeface="Arial"/>
                <a:ea typeface="Arial"/>
                <a:cs typeface="Arial"/>
              </a:rPr>
              <a:t>Stacks: last in, first out</a:t>
            </a:r>
            <a:endParaRPr sz="1400" b="0" spc="-10">
              <a:latin typeface="Arial"/>
              <a:ea typeface="Arial"/>
              <a:cs typeface="Arial"/>
            </a:endParaRPr>
          </a:p>
        </p:txBody>
      </p:sp>
      <p:pic>
        <p:nvPicPr>
          <p:cNvPr id="32" name="object 4"/>
          <p:cNvPicPr>
            <a:picLocks noChangeAspect="1"/>
          </p:cNvPicPr>
          <p:nvPr/>
        </p:nvPicPr>
        <p:blipFill>
          <a:blip r:embed="rId3"/>
          <a:stretch>
            <a:fillRect/>
          </a:stretch>
        </p:blipFill>
        <p:spPr>
          <a:xfrm>
            <a:off x="152565" y="2988507"/>
            <a:ext cx="900668" cy="161917"/>
          </a:xfrm>
          <a:prstGeom prst="rect">
            <a:avLst/>
          </a:prstGeom>
        </p:spPr>
      </p:pic>
      <p:pic>
        <p:nvPicPr>
          <p:cNvPr id="33" name="object 5"/>
          <p:cNvPicPr>
            <a:picLocks noChangeAspect="1"/>
          </p:cNvPicPr>
          <p:nvPr/>
        </p:nvPicPr>
        <p:blipFill>
          <a:blip r:embed="rId4"/>
          <a:stretch>
            <a:fillRect/>
          </a:stretch>
        </p:blipFill>
        <p:spPr>
          <a:xfrm>
            <a:off x="1286560" y="2988417"/>
            <a:ext cx="610912" cy="162008"/>
          </a:xfrm>
          <a:prstGeom prst="rect">
            <a:avLst/>
          </a:prstGeom>
        </p:spPr>
      </p:pic>
      <p:sp>
        <p:nvSpPr>
          <p:cNvPr id="10" name="Footer Placeholder 7">
            <a:extLst>
              <a:ext uri="{FF2B5EF4-FFF2-40B4-BE49-F238E27FC236}">
                <a16:creationId xmlns:a16="http://schemas.microsoft.com/office/drawing/2014/main" id="{197FE2C8-8EE2-4937-3F30-294DB47641D6}"/>
              </a:ext>
            </a:extLst>
          </p:cNvPr>
          <p:cNvSpPr>
            <a:spLocks noGrp="1"/>
          </p:cNvSpPr>
          <p:nvPr>
            <p:ph type="ftr" idx="5"/>
          </p:nvPr>
        </p:nvSpPr>
        <p:spPr>
          <a:xfrm>
            <a:off x="2590800" y="3105150"/>
            <a:ext cx="2743200" cy="95250"/>
          </a:xfrm>
        </p:spPr>
        <p:txBody>
          <a:bodyPr wrap="square" lIns="0" tIns="0" rIns="0" bIns="0">
            <a:noAutofit/>
          </a:bodyPr>
          <a:lstStyle/>
          <a:p>
            <a:pPr algn="r">
              <a:lnSpc>
                <a:spcPct val="110000"/>
              </a:lnSpc>
              <a:buNone/>
              <a:defRPr sz="500">
                <a:solidFill>
                  <a:srgbClr val="888888"/>
                </a:solidFill>
                <a:latin typeface="Arial"/>
                <a:ea typeface="Arial"/>
                <a:cs typeface="Arial"/>
              </a:defRPr>
            </a:pPr>
            <a:r>
              <a:rPr sz="500">
                <a:solidFill>
                  <a:srgbClr val="888888"/>
                </a:solidFill>
                <a:latin typeface="Arial"/>
                <a:ea typeface="Arial"/>
                <a:cs typeface="Arial"/>
              </a:rPr>
              <a:t>MAS Foundations - Kamendu Panchal</a:t>
            </a:r>
            <a:endParaRPr sz="500" b="1">
              <a:solidFill>
                <a:schemeClr val="tx1"/>
              </a:solidFill>
              <a:latin typeface="Arial"/>
              <a:ea typeface="Arial"/>
              <a:cs typeface="Arial"/>
            </a:endParaRPr>
          </a:p>
        </p:txBody>
      </p:sp>
      <p:sp>
        <p:nvSpPr>
          <p:cNvPr id="3" name="TextBox 2">
            <a:extLst>
              <a:ext uri="{FF2B5EF4-FFF2-40B4-BE49-F238E27FC236}">
                <a16:creationId xmlns:a16="http://schemas.microsoft.com/office/drawing/2014/main" id="{DCE8FEB4-DA15-74FB-D091-FA2B80C9B501}"/>
              </a:ext>
            </a:extLst>
          </p:cNvPr>
          <p:cNvSpPr>
            <a:spLocks noGrp="1"/>
          </p:cNvSpPr>
          <p:nvPr/>
        </p:nvSpPr>
        <p:spPr>
          <a:xfrm>
            <a:off x="5438775" y="3086100"/>
            <a:ext cx="209550" cy="175260"/>
          </a:xfrm>
          <a:prstGeom prst="rect">
            <a:avLst/>
          </a:prstGeom>
          <a:noFill/>
        </p:spPr>
        <p:txBody>
          <a:bodyPr wrap="square" lIns="0" tIns="0" rIns="0" bIns="0">
            <a:noAutofit/>
          </a:bodyPr>
          <a:lstStyle/>
          <a:p>
            <a:pPr algn="r">
              <a:lnSpc>
                <a:spcPct val="110000"/>
              </a:lnSpc>
              <a:buNone/>
              <a:defRPr sz="500">
                <a:solidFill>
                  <a:srgbClr val="202020"/>
                </a:solidFill>
                <a:latin typeface="Arial"/>
                <a:ea typeface="Arial"/>
                <a:cs typeface="Arial"/>
              </a:defRPr>
            </a:pPr>
            <a:r>
              <a:rPr sz="500">
                <a:solidFill>
                  <a:srgbClr val="202020"/>
                </a:solidFill>
                <a:latin typeface="Arial"/>
                <a:ea typeface="Arial"/>
                <a:cs typeface="Arial"/>
              </a:rPr>
              <a:t>24</a:t>
            </a:r>
          </a:p>
        </p:txBody>
      </p:sp>
      <p:sp>
        <p:nvSpPr>
          <p:cNvPr id="13" name="text">
            <a:extLst>
              <a:ext uri="{FF2B5EF4-FFF2-40B4-BE49-F238E27FC236}">
                <a16:creationId xmlns:a16="http://schemas.microsoft.com/office/drawing/2014/main" id="{2AD26FE3-D04F-4D78-9A95-C07D5DA443DF}"/>
              </a:ext>
            </a:extLst>
          </p:cNvPr>
          <p:cNvSpPr>
            <a:spLocks noGrp="1"/>
          </p:cNvSpPr>
          <p:nvPr/>
        </p:nvSpPr>
        <p:spPr>
          <a:xfrm>
            <a:off x="228600" y="504825"/>
            <a:ext cx="5314950" cy="381000"/>
          </a:xfrm>
          <a:prstGeom prst="rect">
            <a:avLst/>
          </a:prstGeom>
          <a:noFill/>
          <a:ln w="0">
            <a:noFill/>
          </a:ln>
        </p:spPr>
        <p:txBody>
          <a:bodyPr wrap="square" lIns="0" tIns="0" rIns="0" bIns="0" anchor="t">
            <a:noAutofit/>
          </a:bodyPr>
          <a:lstStyle/>
          <a:p>
            <a:pPr algn="l">
              <a:lnSpc>
                <a:spcPct val="110000"/>
              </a:lnSpc>
              <a:buNone/>
              <a:defRPr sz="998" b="0">
                <a:solidFill>
                  <a:srgbClr val="202020"/>
                </a:solidFill>
                <a:latin typeface="Arial"/>
                <a:ea typeface="Arial"/>
                <a:cs typeface="Arial"/>
              </a:defRPr>
            </a:pPr>
            <a:r>
              <a:rPr sz="998" b="0">
                <a:solidFill>
                  <a:srgbClr val="202020"/>
                </a:solidFill>
                <a:latin typeface="Arial"/>
                <a:ea typeface="Arial"/>
                <a:cs typeface="Arial"/>
              </a:rPr>
              <a:t>A stack adds and removes items at the same end.</a:t>
            </a:r>
          </a:p>
        </p:txBody>
      </p:sp>
      <p:sp>
        <p:nvSpPr>
          <p:cNvPr id="14" name="Rectangle 13">
            <a:extLst>
              <a:ext uri="{FF2B5EF4-FFF2-40B4-BE49-F238E27FC236}">
                <a16:creationId xmlns:a16="http://schemas.microsoft.com/office/drawing/2014/main" id="{DF9C722C-74A9-4B62-AAED-2A3B633CE57B}"/>
              </a:ext>
            </a:extLst>
          </p:cNvPr>
          <p:cNvSpPr>
            <a:spLocks noGrp="1"/>
          </p:cNvSpPr>
          <p:nvPr/>
        </p:nvSpPr>
        <p:spPr>
          <a:xfrm>
            <a:off x="228600" y="981075"/>
            <a:ext cx="2600325" cy="1504950"/>
          </a:xfrm>
          <a:prstGeom prst="rect">
            <a:avLst/>
          </a:prstGeom>
          <a:solidFill>
            <a:srgbClr val="101827"/>
          </a:solidFill>
          <a:ln w="0">
            <a:noFill/>
          </a:ln>
        </p:spPr>
      </p:sp>
      <p:sp>
        <p:nvSpPr>
          <p:cNvPr id="15" name="Rectangle 14">
            <a:extLst>
              <a:ext uri="{FF2B5EF4-FFF2-40B4-BE49-F238E27FC236}">
                <a16:creationId xmlns:a16="http://schemas.microsoft.com/office/drawing/2014/main" id="{3FE23A8A-80D5-42ED-9B12-5FF18AE3D989}"/>
              </a:ext>
            </a:extLst>
          </p:cNvPr>
          <p:cNvSpPr>
            <a:spLocks noGrp="1"/>
          </p:cNvSpPr>
          <p:nvPr/>
        </p:nvSpPr>
        <p:spPr>
          <a:xfrm>
            <a:off x="228600" y="800100"/>
            <a:ext cx="2600325" cy="180975"/>
          </a:xfrm>
          <a:prstGeom prst="rect">
            <a:avLst/>
          </a:prstGeom>
          <a:solidFill>
            <a:srgbClr val="006ABA"/>
          </a:solidFill>
          <a:ln w="0">
            <a:noFill/>
          </a:ln>
        </p:spPr>
      </p:sp>
      <p:sp>
        <p:nvSpPr>
          <p:cNvPr id="16" name="text">
            <a:extLst>
              <a:ext uri="{FF2B5EF4-FFF2-40B4-BE49-F238E27FC236}">
                <a16:creationId xmlns:a16="http://schemas.microsoft.com/office/drawing/2014/main" id="{8779E3A9-D291-4DAE-A8A5-112D0B9CD888}"/>
              </a:ext>
            </a:extLst>
          </p:cNvPr>
          <p:cNvSpPr>
            <a:spLocks noGrp="1"/>
          </p:cNvSpPr>
          <p:nvPr/>
        </p:nvSpPr>
        <p:spPr>
          <a:xfrm>
            <a:off x="228600" y="819150"/>
            <a:ext cx="2600325" cy="161925"/>
          </a:xfrm>
          <a:prstGeom prst="rect">
            <a:avLst/>
          </a:prstGeom>
          <a:noFill/>
          <a:ln w="0">
            <a:noFill/>
          </a:ln>
        </p:spPr>
        <p:txBody>
          <a:bodyPr wrap="square" lIns="0" tIns="0" rIns="0" bIns="0" anchor="t">
            <a:noAutofit/>
          </a:bodyPr>
          <a:lstStyle/>
          <a:p>
            <a:pPr algn="ctr">
              <a:lnSpc>
                <a:spcPct val="110000"/>
              </a:lnSpc>
              <a:buNone/>
              <a:defRPr sz="825" b="1">
                <a:solidFill>
                  <a:srgbClr val="FFFFFF"/>
                </a:solidFill>
                <a:latin typeface="Arial"/>
                <a:ea typeface="Arial"/>
                <a:cs typeface="Arial"/>
              </a:defRPr>
            </a:pPr>
            <a:r>
              <a:rPr sz="825" b="1">
                <a:solidFill>
                  <a:srgbClr val="FFFFFF"/>
                </a:solidFill>
                <a:latin typeface="Arial"/>
                <a:ea typeface="Arial"/>
                <a:cs typeface="Arial"/>
              </a:rPr>
              <a:t>C++17</a:t>
            </a:r>
          </a:p>
        </p:txBody>
      </p:sp>
      <p:sp>
        <p:nvSpPr>
          <p:cNvPr id="17" name="text">
            <a:extLst>
              <a:ext uri="{FF2B5EF4-FFF2-40B4-BE49-F238E27FC236}">
                <a16:creationId xmlns:a16="http://schemas.microsoft.com/office/drawing/2014/main" id="{99949440-91DA-4710-9CB7-032D62BCE74A}"/>
              </a:ext>
            </a:extLst>
          </p:cNvPr>
          <p:cNvSpPr>
            <a:spLocks noGrp="1"/>
          </p:cNvSpPr>
          <p:nvPr/>
        </p:nvSpPr>
        <p:spPr>
          <a:xfrm>
            <a:off x="295275" y="106680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std::stack&lt;int&gt; s;</a:t>
            </a:r>
          </a:p>
        </p:txBody>
      </p:sp>
      <p:sp>
        <p:nvSpPr>
          <p:cNvPr id="18" name="text">
            <a:extLst>
              <a:ext uri="{FF2B5EF4-FFF2-40B4-BE49-F238E27FC236}">
                <a16:creationId xmlns:a16="http://schemas.microsoft.com/office/drawing/2014/main" id="{A8D99019-848C-4F51-8D53-26DB9473A8F1}"/>
              </a:ext>
            </a:extLst>
          </p:cNvPr>
          <p:cNvSpPr>
            <a:spLocks noGrp="1"/>
          </p:cNvSpPr>
          <p:nvPr/>
        </p:nvSpPr>
        <p:spPr>
          <a:xfrm>
            <a:off x="295275" y="119634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s.push(10);</a:t>
            </a:r>
          </a:p>
        </p:txBody>
      </p:sp>
      <p:sp>
        <p:nvSpPr>
          <p:cNvPr id="19" name="text">
            <a:extLst>
              <a:ext uri="{FF2B5EF4-FFF2-40B4-BE49-F238E27FC236}">
                <a16:creationId xmlns:a16="http://schemas.microsoft.com/office/drawing/2014/main" id="{00983065-3CA8-461D-9F9B-ACBADFEFEB10}"/>
              </a:ext>
            </a:extLst>
          </p:cNvPr>
          <p:cNvSpPr>
            <a:spLocks noGrp="1"/>
          </p:cNvSpPr>
          <p:nvPr/>
        </p:nvSpPr>
        <p:spPr>
          <a:xfrm>
            <a:off x="295275" y="132588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s.push(20);</a:t>
            </a:r>
          </a:p>
        </p:txBody>
      </p:sp>
      <p:sp>
        <p:nvSpPr>
          <p:cNvPr id="20" name="text">
            <a:extLst>
              <a:ext uri="{FF2B5EF4-FFF2-40B4-BE49-F238E27FC236}">
                <a16:creationId xmlns:a16="http://schemas.microsoft.com/office/drawing/2014/main" id="{9D7FED31-C0E2-4129-AD8D-38135E3E2EE8}"/>
              </a:ext>
            </a:extLst>
          </p:cNvPr>
          <p:cNvSpPr>
            <a:spLocks noGrp="1"/>
          </p:cNvSpPr>
          <p:nvPr/>
        </p:nvSpPr>
        <p:spPr>
          <a:xfrm>
            <a:off x="295275" y="145542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std::cout &lt;&lt; s.top() &lt;&lt; "\n";</a:t>
            </a:r>
          </a:p>
        </p:txBody>
      </p:sp>
      <p:sp>
        <p:nvSpPr>
          <p:cNvPr id="21" name="text">
            <a:extLst>
              <a:ext uri="{FF2B5EF4-FFF2-40B4-BE49-F238E27FC236}">
                <a16:creationId xmlns:a16="http://schemas.microsoft.com/office/drawing/2014/main" id="{D3A0D6FA-4C0C-4022-854E-CECC20BFB278}"/>
              </a:ext>
            </a:extLst>
          </p:cNvPr>
          <p:cNvSpPr>
            <a:spLocks noGrp="1"/>
          </p:cNvSpPr>
          <p:nvPr/>
        </p:nvSpPr>
        <p:spPr>
          <a:xfrm>
            <a:off x="295275" y="158496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s.pop();</a:t>
            </a:r>
          </a:p>
        </p:txBody>
      </p:sp>
      <p:sp>
        <p:nvSpPr>
          <p:cNvPr id="22" name="Rectangle 21">
            <a:extLst>
              <a:ext uri="{FF2B5EF4-FFF2-40B4-BE49-F238E27FC236}">
                <a16:creationId xmlns:a16="http://schemas.microsoft.com/office/drawing/2014/main" id="{74380443-323D-48D8-AEA4-08D24B390352}"/>
              </a:ext>
            </a:extLst>
          </p:cNvPr>
          <p:cNvSpPr>
            <a:spLocks noGrp="1"/>
          </p:cNvSpPr>
          <p:nvPr/>
        </p:nvSpPr>
        <p:spPr>
          <a:xfrm>
            <a:off x="2990850" y="981075"/>
            <a:ext cx="2600325" cy="1504950"/>
          </a:xfrm>
          <a:prstGeom prst="rect">
            <a:avLst/>
          </a:prstGeom>
          <a:solidFill>
            <a:srgbClr val="101827"/>
          </a:solidFill>
          <a:ln w="0">
            <a:noFill/>
          </a:ln>
        </p:spPr>
      </p:sp>
      <p:sp>
        <p:nvSpPr>
          <p:cNvPr id="23" name="Rectangle 22">
            <a:extLst>
              <a:ext uri="{FF2B5EF4-FFF2-40B4-BE49-F238E27FC236}">
                <a16:creationId xmlns:a16="http://schemas.microsoft.com/office/drawing/2014/main" id="{E4EA3188-7188-483D-88A3-1029B94AD4C8}"/>
              </a:ext>
            </a:extLst>
          </p:cNvPr>
          <p:cNvSpPr>
            <a:spLocks noGrp="1"/>
          </p:cNvSpPr>
          <p:nvPr/>
        </p:nvSpPr>
        <p:spPr>
          <a:xfrm>
            <a:off x="2990850" y="800100"/>
            <a:ext cx="2600325" cy="180975"/>
          </a:xfrm>
          <a:prstGeom prst="rect">
            <a:avLst/>
          </a:prstGeom>
          <a:solidFill>
            <a:srgbClr val="1AA260"/>
          </a:solidFill>
          <a:ln w="0">
            <a:noFill/>
          </a:ln>
        </p:spPr>
      </p:sp>
      <p:sp>
        <p:nvSpPr>
          <p:cNvPr id="24" name="text">
            <a:extLst>
              <a:ext uri="{FF2B5EF4-FFF2-40B4-BE49-F238E27FC236}">
                <a16:creationId xmlns:a16="http://schemas.microsoft.com/office/drawing/2014/main" id="{FBC8EBC5-6F21-4DDA-BB77-3A053159BFDD}"/>
              </a:ext>
            </a:extLst>
          </p:cNvPr>
          <p:cNvSpPr>
            <a:spLocks noGrp="1"/>
          </p:cNvSpPr>
          <p:nvPr/>
        </p:nvSpPr>
        <p:spPr>
          <a:xfrm>
            <a:off x="2990850" y="819150"/>
            <a:ext cx="2600325" cy="161925"/>
          </a:xfrm>
          <a:prstGeom prst="rect">
            <a:avLst/>
          </a:prstGeom>
          <a:noFill/>
          <a:ln w="0">
            <a:noFill/>
          </a:ln>
        </p:spPr>
        <p:txBody>
          <a:bodyPr wrap="square" lIns="0" tIns="0" rIns="0" bIns="0" anchor="t">
            <a:noAutofit/>
          </a:bodyPr>
          <a:lstStyle/>
          <a:p>
            <a:pPr algn="ctr">
              <a:lnSpc>
                <a:spcPct val="110000"/>
              </a:lnSpc>
              <a:buNone/>
              <a:defRPr sz="825" b="1">
                <a:solidFill>
                  <a:srgbClr val="FFFFFF"/>
                </a:solidFill>
                <a:latin typeface="Arial"/>
                <a:ea typeface="Arial"/>
                <a:cs typeface="Arial"/>
              </a:defRPr>
            </a:pPr>
            <a:r>
              <a:rPr sz="825" b="1">
                <a:solidFill>
                  <a:srgbClr val="FFFFFF"/>
                </a:solidFill>
                <a:latin typeface="Arial"/>
                <a:ea typeface="Arial"/>
                <a:cs typeface="Arial"/>
              </a:rPr>
              <a:t>Python 3</a:t>
            </a:r>
          </a:p>
        </p:txBody>
      </p:sp>
      <p:sp>
        <p:nvSpPr>
          <p:cNvPr id="25" name="text">
            <a:extLst>
              <a:ext uri="{FF2B5EF4-FFF2-40B4-BE49-F238E27FC236}">
                <a16:creationId xmlns:a16="http://schemas.microsoft.com/office/drawing/2014/main" id="{762E721A-E18B-435C-B19B-9F3237CEDA7A}"/>
              </a:ext>
            </a:extLst>
          </p:cNvPr>
          <p:cNvSpPr>
            <a:spLocks noGrp="1"/>
          </p:cNvSpPr>
          <p:nvPr/>
        </p:nvSpPr>
        <p:spPr>
          <a:xfrm>
            <a:off x="3057525" y="106680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s = []</a:t>
            </a:r>
          </a:p>
        </p:txBody>
      </p:sp>
      <p:sp>
        <p:nvSpPr>
          <p:cNvPr id="26" name="text">
            <a:extLst>
              <a:ext uri="{FF2B5EF4-FFF2-40B4-BE49-F238E27FC236}">
                <a16:creationId xmlns:a16="http://schemas.microsoft.com/office/drawing/2014/main" id="{DDA1EE72-BB71-4657-A6B7-8DAB6F8B815D}"/>
              </a:ext>
            </a:extLst>
          </p:cNvPr>
          <p:cNvSpPr>
            <a:spLocks noGrp="1"/>
          </p:cNvSpPr>
          <p:nvPr/>
        </p:nvSpPr>
        <p:spPr>
          <a:xfrm>
            <a:off x="3057525" y="119634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s.append(10)</a:t>
            </a:r>
          </a:p>
        </p:txBody>
      </p:sp>
      <p:sp>
        <p:nvSpPr>
          <p:cNvPr id="27" name="text">
            <a:extLst>
              <a:ext uri="{FF2B5EF4-FFF2-40B4-BE49-F238E27FC236}">
                <a16:creationId xmlns:a16="http://schemas.microsoft.com/office/drawing/2014/main" id="{3D8DCE5E-658D-4390-B7D0-4C614D01F3CC}"/>
              </a:ext>
            </a:extLst>
          </p:cNvPr>
          <p:cNvSpPr>
            <a:spLocks noGrp="1"/>
          </p:cNvSpPr>
          <p:nvPr/>
        </p:nvSpPr>
        <p:spPr>
          <a:xfrm>
            <a:off x="3057525" y="132588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s.append(20)</a:t>
            </a:r>
          </a:p>
        </p:txBody>
      </p:sp>
      <p:sp>
        <p:nvSpPr>
          <p:cNvPr id="28" name="text">
            <a:extLst>
              <a:ext uri="{FF2B5EF4-FFF2-40B4-BE49-F238E27FC236}">
                <a16:creationId xmlns:a16="http://schemas.microsoft.com/office/drawing/2014/main" id="{6B4A6B10-2711-41C3-82B7-825A7C07C358}"/>
              </a:ext>
            </a:extLst>
          </p:cNvPr>
          <p:cNvSpPr>
            <a:spLocks noGrp="1"/>
          </p:cNvSpPr>
          <p:nvPr/>
        </p:nvSpPr>
        <p:spPr>
          <a:xfrm>
            <a:off x="3057525" y="145542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print(s.pop())</a:t>
            </a:r>
          </a:p>
        </p:txBody>
      </p:sp>
      <p:sp>
        <p:nvSpPr>
          <p:cNvPr id="29" name="text">
            <a:extLst>
              <a:ext uri="{FF2B5EF4-FFF2-40B4-BE49-F238E27FC236}">
                <a16:creationId xmlns:a16="http://schemas.microsoft.com/office/drawing/2014/main" id="{3FBD6BDF-C91A-4A29-9A76-A36AE58845F1}"/>
              </a:ext>
            </a:extLst>
          </p:cNvPr>
          <p:cNvSpPr>
            <a:spLocks noGrp="1"/>
          </p:cNvSpPr>
          <p:nvPr/>
        </p:nvSpPr>
        <p:spPr>
          <a:xfrm>
            <a:off x="228600" y="2600325"/>
            <a:ext cx="5314950" cy="228600"/>
          </a:xfrm>
          <a:prstGeom prst="rect">
            <a:avLst/>
          </a:prstGeom>
          <a:noFill/>
          <a:ln w="0">
            <a:noFill/>
          </a:ln>
        </p:spPr>
        <p:txBody>
          <a:bodyPr wrap="square" lIns="0" tIns="0" rIns="0" bIns="0" anchor="t">
            <a:noAutofit/>
          </a:bodyPr>
          <a:lstStyle/>
          <a:p>
            <a:pPr algn="l">
              <a:lnSpc>
                <a:spcPct val="110000"/>
              </a:lnSpc>
              <a:buNone/>
              <a:defRPr sz="885" b="0">
                <a:solidFill>
                  <a:srgbClr val="006ABA"/>
                </a:solidFill>
                <a:latin typeface="Arial"/>
                <a:ea typeface="Arial"/>
                <a:cs typeface="Arial"/>
              </a:defRPr>
            </a:pPr>
            <a:r>
              <a:rPr sz="885" b="0">
                <a:solidFill>
                  <a:srgbClr val="006ABA"/>
                </a:solidFill>
                <a:latin typeface="Arial"/>
                <a:ea typeface="Arial"/>
                <a:cs typeface="Arial"/>
              </a:rPr>
              <a:t>Output: 20. The most recently added item leaves first.</a:t>
            </a:r>
          </a:p>
        </p:txBody>
      </p:sp>
      <p:sp>
        <p:nvSpPr>
          <p:cNvPr id="30" name="text">
            <a:extLst>
              <a:ext uri="{FF2B5EF4-FFF2-40B4-BE49-F238E27FC236}">
                <a16:creationId xmlns:a16="http://schemas.microsoft.com/office/drawing/2014/main" id="{E56C63D9-D73C-41E4-9123-69BA3D7734CC}"/>
              </a:ext>
            </a:extLst>
          </p:cNvPr>
          <p:cNvSpPr>
            <a:spLocks noGrp="1"/>
          </p:cNvSpPr>
          <p:nvPr/>
        </p:nvSpPr>
        <p:spPr>
          <a:xfrm>
            <a:off x="228600" y="2867025"/>
            <a:ext cx="5334000" cy="95250"/>
          </a:xfrm>
          <a:prstGeom prst="rect">
            <a:avLst/>
          </a:prstGeom>
          <a:noFill/>
          <a:ln w="0">
            <a:noFill/>
          </a:ln>
        </p:spPr>
        <p:txBody>
          <a:bodyPr wrap="square" lIns="0" tIns="0" rIns="0" bIns="0" anchor="t">
            <a:noAutofit/>
          </a:bodyPr>
          <a:lstStyle/>
          <a:p>
            <a:pPr algn="l">
              <a:lnSpc>
                <a:spcPct val="110000"/>
              </a:lnSpc>
              <a:buNone/>
              <a:defRPr sz="510" b="0">
                <a:solidFill>
                  <a:srgbClr val="66717C"/>
                </a:solidFill>
                <a:latin typeface="Arial"/>
                <a:ea typeface="Arial"/>
                <a:cs typeface="Arial"/>
              </a:defRPr>
            </a:pPr>
            <a:r>
              <a:rPr sz="510" b="0">
                <a:solidFill>
                  <a:srgbClr val="66717C"/>
                </a:solidFill>
                <a:latin typeface="Arial"/>
                <a:ea typeface="Arial"/>
                <a:cs typeface="Arial"/>
              </a:rPr>
              <a:t>[I]  [M]  [PY]  [C]</a:t>
            </a:r>
          </a:p>
        </p:txBody>
      </p:sp>
    </p:spTree>
    <p:extLst>
      <p:ext uri="{BB962C8B-B14F-4D97-AF65-F5344CB8AC3E}">
        <p14:creationId xmlns:p14="http://schemas.microsoft.com/office/powerpoint/2010/main" val="364567217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19C03931-4A28-44C2-9238-650F85D8C2AD}"/>
              </a:ext>
            </a:extLst>
          </p:cNvPr>
          <p:cNvSpPr>
            <a:spLocks noGrp="1"/>
          </p:cNvSpPr>
          <p:nvPr>
            <p:ph type="title"/>
          </p:nvPr>
        </p:nvSpPr>
        <p:spPr>
          <a:xfrm>
            <a:off x="171450" y="95250"/>
            <a:ext cx="5429250" cy="304800"/>
          </a:xfrm>
          <a:prstGeom prst="rect">
            <a:avLst/>
          </a:prstGeom>
        </p:spPr>
        <p:txBody>
          <a:bodyPr vert="horz" wrap="square" lIns="0" tIns="0" rIns="0" bIns="0">
            <a:noAutofit/>
          </a:bodyPr>
          <a:lstStyle/>
          <a:p>
            <a:pPr marL="12700" algn="l">
              <a:lnSpc>
                <a:spcPct val="110000"/>
              </a:lnSpc>
              <a:spcBef>
                <a:spcPts val="135"/>
              </a:spcBef>
              <a:buNone/>
              <a:defRPr sz="1400">
                <a:solidFill>
                  <a:srgbClr val="006ABA"/>
                </a:solidFill>
                <a:latin typeface="Arial"/>
                <a:ea typeface="Arial"/>
                <a:cs typeface="Arial"/>
              </a:defRPr>
            </a:pPr>
            <a:r>
              <a:rPr sz="1400" b="0" spc="-10">
                <a:solidFill>
                  <a:srgbClr val="006ABA"/>
                </a:solidFill>
                <a:latin typeface="Arial"/>
                <a:ea typeface="Arial"/>
                <a:cs typeface="Arial"/>
              </a:rPr>
              <a:t>Queues: first in, first out</a:t>
            </a:r>
            <a:endParaRPr sz="1400" b="0" spc="-10">
              <a:latin typeface="Arial"/>
              <a:ea typeface="Arial"/>
              <a:cs typeface="Arial"/>
            </a:endParaRPr>
          </a:p>
        </p:txBody>
      </p:sp>
      <p:pic>
        <p:nvPicPr>
          <p:cNvPr id="31" name="object 4"/>
          <p:cNvPicPr>
            <a:picLocks noChangeAspect="1"/>
          </p:cNvPicPr>
          <p:nvPr/>
        </p:nvPicPr>
        <p:blipFill>
          <a:blip r:embed="rId3"/>
          <a:stretch>
            <a:fillRect/>
          </a:stretch>
        </p:blipFill>
        <p:spPr>
          <a:xfrm>
            <a:off x="152565" y="2988507"/>
            <a:ext cx="900668" cy="161917"/>
          </a:xfrm>
          <a:prstGeom prst="rect">
            <a:avLst/>
          </a:prstGeom>
        </p:spPr>
      </p:pic>
      <p:pic>
        <p:nvPicPr>
          <p:cNvPr id="32" name="object 5"/>
          <p:cNvPicPr>
            <a:picLocks noChangeAspect="1"/>
          </p:cNvPicPr>
          <p:nvPr/>
        </p:nvPicPr>
        <p:blipFill>
          <a:blip r:embed="rId4"/>
          <a:stretch>
            <a:fillRect/>
          </a:stretch>
        </p:blipFill>
        <p:spPr>
          <a:xfrm>
            <a:off x="1286560" y="2988417"/>
            <a:ext cx="610912" cy="162008"/>
          </a:xfrm>
          <a:prstGeom prst="rect">
            <a:avLst/>
          </a:prstGeom>
        </p:spPr>
      </p:pic>
      <p:sp>
        <p:nvSpPr>
          <p:cNvPr id="10" name="Footer Placeholder 7">
            <a:extLst>
              <a:ext uri="{FF2B5EF4-FFF2-40B4-BE49-F238E27FC236}">
                <a16:creationId xmlns:a16="http://schemas.microsoft.com/office/drawing/2014/main" id="{197FE2C8-8EE2-4937-3F30-294DB47641D6}"/>
              </a:ext>
            </a:extLst>
          </p:cNvPr>
          <p:cNvSpPr>
            <a:spLocks noGrp="1"/>
          </p:cNvSpPr>
          <p:nvPr>
            <p:ph type="ftr" idx="5"/>
          </p:nvPr>
        </p:nvSpPr>
        <p:spPr>
          <a:xfrm>
            <a:off x="2590800" y="3105150"/>
            <a:ext cx="2743200" cy="95250"/>
          </a:xfrm>
        </p:spPr>
        <p:txBody>
          <a:bodyPr wrap="square" lIns="0" tIns="0" rIns="0" bIns="0">
            <a:noAutofit/>
          </a:bodyPr>
          <a:lstStyle/>
          <a:p>
            <a:pPr algn="r">
              <a:lnSpc>
                <a:spcPct val="110000"/>
              </a:lnSpc>
              <a:buNone/>
              <a:defRPr sz="500">
                <a:solidFill>
                  <a:srgbClr val="888888"/>
                </a:solidFill>
                <a:latin typeface="Arial"/>
                <a:ea typeface="Arial"/>
                <a:cs typeface="Arial"/>
              </a:defRPr>
            </a:pPr>
            <a:r>
              <a:rPr sz="500">
                <a:solidFill>
                  <a:srgbClr val="888888"/>
                </a:solidFill>
                <a:latin typeface="Arial"/>
                <a:ea typeface="Arial"/>
                <a:cs typeface="Arial"/>
              </a:rPr>
              <a:t>MAS Foundations - Kamendu Panchal</a:t>
            </a:r>
            <a:endParaRPr sz="500" b="1">
              <a:solidFill>
                <a:schemeClr val="tx1"/>
              </a:solidFill>
              <a:latin typeface="Arial"/>
              <a:ea typeface="Arial"/>
              <a:cs typeface="Arial"/>
            </a:endParaRPr>
          </a:p>
        </p:txBody>
      </p:sp>
      <p:sp>
        <p:nvSpPr>
          <p:cNvPr id="3" name="TextBox 2">
            <a:extLst>
              <a:ext uri="{FF2B5EF4-FFF2-40B4-BE49-F238E27FC236}">
                <a16:creationId xmlns:a16="http://schemas.microsoft.com/office/drawing/2014/main" id="{DCE8FEB4-DA15-74FB-D091-FA2B80C9B501}"/>
              </a:ext>
            </a:extLst>
          </p:cNvPr>
          <p:cNvSpPr>
            <a:spLocks noGrp="1"/>
          </p:cNvSpPr>
          <p:nvPr/>
        </p:nvSpPr>
        <p:spPr>
          <a:xfrm>
            <a:off x="5438775" y="3086100"/>
            <a:ext cx="209550" cy="175260"/>
          </a:xfrm>
          <a:prstGeom prst="rect">
            <a:avLst/>
          </a:prstGeom>
          <a:noFill/>
        </p:spPr>
        <p:txBody>
          <a:bodyPr wrap="square" lIns="0" tIns="0" rIns="0" bIns="0">
            <a:noAutofit/>
          </a:bodyPr>
          <a:lstStyle/>
          <a:p>
            <a:pPr algn="r">
              <a:lnSpc>
                <a:spcPct val="110000"/>
              </a:lnSpc>
              <a:buNone/>
              <a:defRPr sz="500">
                <a:solidFill>
                  <a:srgbClr val="202020"/>
                </a:solidFill>
                <a:latin typeface="Arial"/>
                <a:ea typeface="Arial"/>
                <a:cs typeface="Arial"/>
              </a:defRPr>
            </a:pPr>
            <a:r>
              <a:rPr sz="500">
                <a:solidFill>
                  <a:srgbClr val="202020"/>
                </a:solidFill>
                <a:latin typeface="Arial"/>
                <a:ea typeface="Arial"/>
                <a:cs typeface="Arial"/>
              </a:rPr>
              <a:t>25</a:t>
            </a:r>
          </a:p>
        </p:txBody>
      </p:sp>
      <p:sp>
        <p:nvSpPr>
          <p:cNvPr id="13" name="text">
            <a:extLst>
              <a:ext uri="{FF2B5EF4-FFF2-40B4-BE49-F238E27FC236}">
                <a16:creationId xmlns:a16="http://schemas.microsoft.com/office/drawing/2014/main" id="{F8883F17-7C38-4DB7-A718-EAF2C816D20E}"/>
              </a:ext>
            </a:extLst>
          </p:cNvPr>
          <p:cNvSpPr>
            <a:spLocks noGrp="1"/>
          </p:cNvSpPr>
          <p:nvPr/>
        </p:nvSpPr>
        <p:spPr>
          <a:xfrm>
            <a:off x="228600" y="504825"/>
            <a:ext cx="5314950" cy="381000"/>
          </a:xfrm>
          <a:prstGeom prst="rect">
            <a:avLst/>
          </a:prstGeom>
          <a:noFill/>
          <a:ln w="0">
            <a:noFill/>
          </a:ln>
        </p:spPr>
        <p:txBody>
          <a:bodyPr wrap="square" lIns="0" tIns="0" rIns="0" bIns="0" anchor="t">
            <a:noAutofit/>
          </a:bodyPr>
          <a:lstStyle/>
          <a:p>
            <a:pPr algn="l">
              <a:lnSpc>
                <a:spcPct val="110000"/>
              </a:lnSpc>
              <a:buNone/>
              <a:defRPr sz="998" b="0">
                <a:solidFill>
                  <a:srgbClr val="202020"/>
                </a:solidFill>
                <a:latin typeface="Arial"/>
                <a:ea typeface="Arial"/>
                <a:cs typeface="Arial"/>
              </a:defRPr>
            </a:pPr>
            <a:r>
              <a:rPr sz="998" b="0">
                <a:solidFill>
                  <a:srgbClr val="202020"/>
                </a:solidFill>
                <a:latin typeface="Arial"/>
                <a:ea typeface="Arial"/>
                <a:cs typeface="Arial"/>
              </a:rPr>
              <a:t>A queue adds at the rear and removes from the front.</a:t>
            </a:r>
          </a:p>
        </p:txBody>
      </p:sp>
      <p:sp>
        <p:nvSpPr>
          <p:cNvPr id="14" name="Rectangle 13">
            <a:extLst>
              <a:ext uri="{FF2B5EF4-FFF2-40B4-BE49-F238E27FC236}">
                <a16:creationId xmlns:a16="http://schemas.microsoft.com/office/drawing/2014/main" id="{5F9077DF-68D1-421A-BC7A-E5066856B8FC}"/>
              </a:ext>
            </a:extLst>
          </p:cNvPr>
          <p:cNvSpPr>
            <a:spLocks noGrp="1"/>
          </p:cNvSpPr>
          <p:nvPr/>
        </p:nvSpPr>
        <p:spPr>
          <a:xfrm>
            <a:off x="228600" y="981075"/>
            <a:ext cx="2600325" cy="1504950"/>
          </a:xfrm>
          <a:prstGeom prst="rect">
            <a:avLst/>
          </a:prstGeom>
          <a:solidFill>
            <a:srgbClr val="101827"/>
          </a:solidFill>
          <a:ln w="0">
            <a:noFill/>
          </a:ln>
        </p:spPr>
      </p:sp>
      <p:sp>
        <p:nvSpPr>
          <p:cNvPr id="15" name="Rectangle 14">
            <a:extLst>
              <a:ext uri="{FF2B5EF4-FFF2-40B4-BE49-F238E27FC236}">
                <a16:creationId xmlns:a16="http://schemas.microsoft.com/office/drawing/2014/main" id="{3AA9B844-32B0-4DF4-982B-460C1A1A417E}"/>
              </a:ext>
            </a:extLst>
          </p:cNvPr>
          <p:cNvSpPr>
            <a:spLocks noGrp="1"/>
          </p:cNvSpPr>
          <p:nvPr/>
        </p:nvSpPr>
        <p:spPr>
          <a:xfrm>
            <a:off x="228600" y="800100"/>
            <a:ext cx="2600325" cy="180975"/>
          </a:xfrm>
          <a:prstGeom prst="rect">
            <a:avLst/>
          </a:prstGeom>
          <a:solidFill>
            <a:srgbClr val="006ABA"/>
          </a:solidFill>
          <a:ln w="0">
            <a:noFill/>
          </a:ln>
        </p:spPr>
      </p:sp>
      <p:sp>
        <p:nvSpPr>
          <p:cNvPr id="16" name="text">
            <a:extLst>
              <a:ext uri="{FF2B5EF4-FFF2-40B4-BE49-F238E27FC236}">
                <a16:creationId xmlns:a16="http://schemas.microsoft.com/office/drawing/2014/main" id="{ABFA5D6E-7FCC-48BE-B7FC-64842884683E}"/>
              </a:ext>
            </a:extLst>
          </p:cNvPr>
          <p:cNvSpPr>
            <a:spLocks noGrp="1"/>
          </p:cNvSpPr>
          <p:nvPr/>
        </p:nvSpPr>
        <p:spPr>
          <a:xfrm>
            <a:off x="228600" y="819150"/>
            <a:ext cx="2600325" cy="161925"/>
          </a:xfrm>
          <a:prstGeom prst="rect">
            <a:avLst/>
          </a:prstGeom>
          <a:noFill/>
          <a:ln w="0">
            <a:noFill/>
          </a:ln>
        </p:spPr>
        <p:txBody>
          <a:bodyPr wrap="square" lIns="0" tIns="0" rIns="0" bIns="0" anchor="t">
            <a:noAutofit/>
          </a:bodyPr>
          <a:lstStyle/>
          <a:p>
            <a:pPr algn="ctr">
              <a:lnSpc>
                <a:spcPct val="110000"/>
              </a:lnSpc>
              <a:buNone/>
              <a:defRPr sz="825" b="1">
                <a:solidFill>
                  <a:srgbClr val="FFFFFF"/>
                </a:solidFill>
                <a:latin typeface="Arial"/>
                <a:ea typeface="Arial"/>
                <a:cs typeface="Arial"/>
              </a:defRPr>
            </a:pPr>
            <a:r>
              <a:rPr sz="825" b="1">
                <a:solidFill>
                  <a:srgbClr val="FFFFFF"/>
                </a:solidFill>
                <a:latin typeface="Arial"/>
                <a:ea typeface="Arial"/>
                <a:cs typeface="Arial"/>
              </a:rPr>
              <a:t>C++17</a:t>
            </a:r>
          </a:p>
        </p:txBody>
      </p:sp>
      <p:sp>
        <p:nvSpPr>
          <p:cNvPr id="17" name="text">
            <a:extLst>
              <a:ext uri="{FF2B5EF4-FFF2-40B4-BE49-F238E27FC236}">
                <a16:creationId xmlns:a16="http://schemas.microsoft.com/office/drawing/2014/main" id="{2BFD7484-CAE3-4657-8A43-A181B1C686D1}"/>
              </a:ext>
            </a:extLst>
          </p:cNvPr>
          <p:cNvSpPr>
            <a:spLocks noGrp="1"/>
          </p:cNvSpPr>
          <p:nvPr/>
        </p:nvSpPr>
        <p:spPr>
          <a:xfrm>
            <a:off x="295275" y="106680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std::queue&lt;int&gt; q;</a:t>
            </a:r>
          </a:p>
        </p:txBody>
      </p:sp>
      <p:sp>
        <p:nvSpPr>
          <p:cNvPr id="18" name="text">
            <a:extLst>
              <a:ext uri="{FF2B5EF4-FFF2-40B4-BE49-F238E27FC236}">
                <a16:creationId xmlns:a16="http://schemas.microsoft.com/office/drawing/2014/main" id="{308776CC-6D7A-4A70-8C2E-5CBE4E372C6E}"/>
              </a:ext>
            </a:extLst>
          </p:cNvPr>
          <p:cNvSpPr>
            <a:spLocks noGrp="1"/>
          </p:cNvSpPr>
          <p:nvPr/>
        </p:nvSpPr>
        <p:spPr>
          <a:xfrm>
            <a:off x="295275" y="119634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q.push(10);</a:t>
            </a:r>
          </a:p>
        </p:txBody>
      </p:sp>
      <p:sp>
        <p:nvSpPr>
          <p:cNvPr id="19" name="text">
            <a:extLst>
              <a:ext uri="{FF2B5EF4-FFF2-40B4-BE49-F238E27FC236}">
                <a16:creationId xmlns:a16="http://schemas.microsoft.com/office/drawing/2014/main" id="{D0F4D87F-F028-4358-A9B5-F650D81E5D70}"/>
              </a:ext>
            </a:extLst>
          </p:cNvPr>
          <p:cNvSpPr>
            <a:spLocks noGrp="1"/>
          </p:cNvSpPr>
          <p:nvPr/>
        </p:nvSpPr>
        <p:spPr>
          <a:xfrm>
            <a:off x="295275" y="132588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q.push(20);</a:t>
            </a:r>
          </a:p>
        </p:txBody>
      </p:sp>
      <p:sp>
        <p:nvSpPr>
          <p:cNvPr id="20" name="text">
            <a:extLst>
              <a:ext uri="{FF2B5EF4-FFF2-40B4-BE49-F238E27FC236}">
                <a16:creationId xmlns:a16="http://schemas.microsoft.com/office/drawing/2014/main" id="{654AF89F-2A50-4DC5-91EF-E1D416B5DFFE}"/>
              </a:ext>
            </a:extLst>
          </p:cNvPr>
          <p:cNvSpPr>
            <a:spLocks noGrp="1"/>
          </p:cNvSpPr>
          <p:nvPr/>
        </p:nvSpPr>
        <p:spPr>
          <a:xfrm>
            <a:off x="295275" y="145542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std::cout &lt;&lt; q.front() &lt;&lt; "\n";</a:t>
            </a:r>
          </a:p>
        </p:txBody>
      </p:sp>
      <p:sp>
        <p:nvSpPr>
          <p:cNvPr id="21" name="text">
            <a:extLst>
              <a:ext uri="{FF2B5EF4-FFF2-40B4-BE49-F238E27FC236}">
                <a16:creationId xmlns:a16="http://schemas.microsoft.com/office/drawing/2014/main" id="{55B8B4AE-7D4E-49BC-9FCE-424E80BD9D73}"/>
              </a:ext>
            </a:extLst>
          </p:cNvPr>
          <p:cNvSpPr>
            <a:spLocks noGrp="1"/>
          </p:cNvSpPr>
          <p:nvPr/>
        </p:nvSpPr>
        <p:spPr>
          <a:xfrm>
            <a:off x="295275" y="158496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q.pop();</a:t>
            </a:r>
          </a:p>
        </p:txBody>
      </p:sp>
      <p:sp>
        <p:nvSpPr>
          <p:cNvPr id="22" name="Rectangle 21">
            <a:extLst>
              <a:ext uri="{FF2B5EF4-FFF2-40B4-BE49-F238E27FC236}">
                <a16:creationId xmlns:a16="http://schemas.microsoft.com/office/drawing/2014/main" id="{C5A0A811-EB07-48AE-9A08-4FD8553FFE33}"/>
              </a:ext>
            </a:extLst>
          </p:cNvPr>
          <p:cNvSpPr>
            <a:spLocks noGrp="1"/>
          </p:cNvSpPr>
          <p:nvPr/>
        </p:nvSpPr>
        <p:spPr>
          <a:xfrm>
            <a:off x="2990850" y="981075"/>
            <a:ext cx="2600325" cy="1504950"/>
          </a:xfrm>
          <a:prstGeom prst="rect">
            <a:avLst/>
          </a:prstGeom>
          <a:solidFill>
            <a:srgbClr val="101827"/>
          </a:solidFill>
          <a:ln w="0">
            <a:noFill/>
          </a:ln>
        </p:spPr>
      </p:sp>
      <p:sp>
        <p:nvSpPr>
          <p:cNvPr id="23" name="Rectangle 22">
            <a:extLst>
              <a:ext uri="{FF2B5EF4-FFF2-40B4-BE49-F238E27FC236}">
                <a16:creationId xmlns:a16="http://schemas.microsoft.com/office/drawing/2014/main" id="{56395415-18A5-497E-BF38-8A683D4C71EE}"/>
              </a:ext>
            </a:extLst>
          </p:cNvPr>
          <p:cNvSpPr>
            <a:spLocks noGrp="1"/>
          </p:cNvSpPr>
          <p:nvPr/>
        </p:nvSpPr>
        <p:spPr>
          <a:xfrm>
            <a:off x="2990850" y="800100"/>
            <a:ext cx="2600325" cy="180975"/>
          </a:xfrm>
          <a:prstGeom prst="rect">
            <a:avLst/>
          </a:prstGeom>
          <a:solidFill>
            <a:srgbClr val="1AA260"/>
          </a:solidFill>
          <a:ln w="0">
            <a:noFill/>
          </a:ln>
        </p:spPr>
      </p:sp>
      <p:sp>
        <p:nvSpPr>
          <p:cNvPr id="24" name="text">
            <a:extLst>
              <a:ext uri="{FF2B5EF4-FFF2-40B4-BE49-F238E27FC236}">
                <a16:creationId xmlns:a16="http://schemas.microsoft.com/office/drawing/2014/main" id="{B8705FF3-A5F9-4864-B562-720062E8F544}"/>
              </a:ext>
            </a:extLst>
          </p:cNvPr>
          <p:cNvSpPr>
            <a:spLocks noGrp="1"/>
          </p:cNvSpPr>
          <p:nvPr/>
        </p:nvSpPr>
        <p:spPr>
          <a:xfrm>
            <a:off x="2990850" y="819150"/>
            <a:ext cx="2600325" cy="161925"/>
          </a:xfrm>
          <a:prstGeom prst="rect">
            <a:avLst/>
          </a:prstGeom>
          <a:noFill/>
          <a:ln w="0">
            <a:noFill/>
          </a:ln>
        </p:spPr>
        <p:txBody>
          <a:bodyPr wrap="square" lIns="0" tIns="0" rIns="0" bIns="0" anchor="t">
            <a:noAutofit/>
          </a:bodyPr>
          <a:lstStyle/>
          <a:p>
            <a:pPr algn="ctr">
              <a:lnSpc>
                <a:spcPct val="110000"/>
              </a:lnSpc>
              <a:buNone/>
              <a:defRPr sz="825" b="1">
                <a:solidFill>
                  <a:srgbClr val="FFFFFF"/>
                </a:solidFill>
                <a:latin typeface="Arial"/>
                <a:ea typeface="Arial"/>
                <a:cs typeface="Arial"/>
              </a:defRPr>
            </a:pPr>
            <a:r>
              <a:rPr sz="825" b="1">
                <a:solidFill>
                  <a:srgbClr val="FFFFFF"/>
                </a:solidFill>
                <a:latin typeface="Arial"/>
                <a:ea typeface="Arial"/>
                <a:cs typeface="Arial"/>
              </a:rPr>
              <a:t>Python 3</a:t>
            </a:r>
          </a:p>
        </p:txBody>
      </p:sp>
      <p:sp>
        <p:nvSpPr>
          <p:cNvPr id="25" name="text">
            <a:extLst>
              <a:ext uri="{FF2B5EF4-FFF2-40B4-BE49-F238E27FC236}">
                <a16:creationId xmlns:a16="http://schemas.microsoft.com/office/drawing/2014/main" id="{2D14D356-EBB7-43CD-A54A-47ED5484A81C}"/>
              </a:ext>
            </a:extLst>
          </p:cNvPr>
          <p:cNvSpPr>
            <a:spLocks noGrp="1"/>
          </p:cNvSpPr>
          <p:nvPr/>
        </p:nvSpPr>
        <p:spPr>
          <a:xfrm>
            <a:off x="3057525" y="106680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from collections import deque</a:t>
            </a:r>
          </a:p>
        </p:txBody>
      </p:sp>
      <p:sp>
        <p:nvSpPr>
          <p:cNvPr id="26" name="text">
            <a:extLst>
              <a:ext uri="{FF2B5EF4-FFF2-40B4-BE49-F238E27FC236}">
                <a16:creationId xmlns:a16="http://schemas.microsoft.com/office/drawing/2014/main" id="{8488FCEB-B151-449B-BB8C-5C787E827B76}"/>
              </a:ext>
            </a:extLst>
          </p:cNvPr>
          <p:cNvSpPr>
            <a:spLocks noGrp="1"/>
          </p:cNvSpPr>
          <p:nvPr/>
        </p:nvSpPr>
        <p:spPr>
          <a:xfrm>
            <a:off x="3057525" y="119634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q = deque([10, 20])</a:t>
            </a:r>
          </a:p>
        </p:txBody>
      </p:sp>
      <p:sp>
        <p:nvSpPr>
          <p:cNvPr id="27" name="text">
            <a:extLst>
              <a:ext uri="{FF2B5EF4-FFF2-40B4-BE49-F238E27FC236}">
                <a16:creationId xmlns:a16="http://schemas.microsoft.com/office/drawing/2014/main" id="{4745FC73-6478-4646-BBE7-4D1F06F8D060}"/>
              </a:ext>
            </a:extLst>
          </p:cNvPr>
          <p:cNvSpPr>
            <a:spLocks noGrp="1"/>
          </p:cNvSpPr>
          <p:nvPr/>
        </p:nvSpPr>
        <p:spPr>
          <a:xfrm>
            <a:off x="3057525" y="132588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print(q.popleft())</a:t>
            </a:r>
          </a:p>
        </p:txBody>
      </p:sp>
      <p:sp>
        <p:nvSpPr>
          <p:cNvPr id="28" name="text">
            <a:extLst>
              <a:ext uri="{FF2B5EF4-FFF2-40B4-BE49-F238E27FC236}">
                <a16:creationId xmlns:a16="http://schemas.microsoft.com/office/drawing/2014/main" id="{957ABD25-D06F-4E66-B7F8-456C19A21500}"/>
              </a:ext>
            </a:extLst>
          </p:cNvPr>
          <p:cNvSpPr>
            <a:spLocks noGrp="1"/>
          </p:cNvSpPr>
          <p:nvPr/>
        </p:nvSpPr>
        <p:spPr>
          <a:xfrm>
            <a:off x="228600" y="2600325"/>
            <a:ext cx="5314950" cy="228600"/>
          </a:xfrm>
          <a:prstGeom prst="rect">
            <a:avLst/>
          </a:prstGeom>
          <a:noFill/>
          <a:ln w="0">
            <a:noFill/>
          </a:ln>
        </p:spPr>
        <p:txBody>
          <a:bodyPr wrap="square" lIns="0" tIns="0" rIns="0" bIns="0" anchor="t">
            <a:noAutofit/>
          </a:bodyPr>
          <a:lstStyle/>
          <a:p>
            <a:pPr algn="l">
              <a:lnSpc>
                <a:spcPct val="110000"/>
              </a:lnSpc>
              <a:buNone/>
              <a:defRPr sz="885" b="0">
                <a:solidFill>
                  <a:srgbClr val="006ABA"/>
                </a:solidFill>
                <a:latin typeface="Arial"/>
                <a:ea typeface="Arial"/>
                <a:cs typeface="Arial"/>
              </a:defRPr>
            </a:pPr>
            <a:r>
              <a:rPr sz="885" b="0">
                <a:solidFill>
                  <a:srgbClr val="006ABA"/>
                </a:solidFill>
                <a:latin typeface="Arial"/>
                <a:ea typeface="Arial"/>
                <a:cs typeface="Arial"/>
              </a:rPr>
              <a:t>Output: 10. The earliest added item leaves first.</a:t>
            </a:r>
          </a:p>
        </p:txBody>
      </p:sp>
      <p:sp>
        <p:nvSpPr>
          <p:cNvPr id="29" name="text">
            <a:extLst>
              <a:ext uri="{FF2B5EF4-FFF2-40B4-BE49-F238E27FC236}">
                <a16:creationId xmlns:a16="http://schemas.microsoft.com/office/drawing/2014/main" id="{BADD7042-A5A4-4F1C-8D6C-46F94E4F5EB0}"/>
              </a:ext>
            </a:extLst>
          </p:cNvPr>
          <p:cNvSpPr>
            <a:spLocks noGrp="1"/>
          </p:cNvSpPr>
          <p:nvPr/>
        </p:nvSpPr>
        <p:spPr>
          <a:xfrm>
            <a:off x="228600" y="2867025"/>
            <a:ext cx="5334000" cy="95250"/>
          </a:xfrm>
          <a:prstGeom prst="rect">
            <a:avLst/>
          </a:prstGeom>
          <a:noFill/>
          <a:ln w="0">
            <a:noFill/>
          </a:ln>
        </p:spPr>
        <p:txBody>
          <a:bodyPr wrap="square" lIns="0" tIns="0" rIns="0" bIns="0" anchor="t">
            <a:noAutofit/>
          </a:bodyPr>
          <a:lstStyle/>
          <a:p>
            <a:pPr algn="l">
              <a:lnSpc>
                <a:spcPct val="110000"/>
              </a:lnSpc>
              <a:buNone/>
              <a:defRPr sz="510" b="0">
                <a:solidFill>
                  <a:srgbClr val="66717C"/>
                </a:solidFill>
                <a:latin typeface="Arial"/>
                <a:ea typeface="Arial"/>
                <a:cs typeface="Arial"/>
              </a:defRPr>
            </a:pPr>
            <a:r>
              <a:rPr sz="510" b="0">
                <a:solidFill>
                  <a:srgbClr val="66717C"/>
                </a:solidFill>
                <a:latin typeface="Arial"/>
                <a:ea typeface="Arial"/>
                <a:cs typeface="Arial"/>
              </a:rPr>
              <a:t>[I]  [M]  [PY]  [C]</a:t>
            </a:r>
          </a:p>
        </p:txBody>
      </p:sp>
    </p:spTree>
    <p:extLst>
      <p:ext uri="{BB962C8B-B14F-4D97-AF65-F5344CB8AC3E}">
        <p14:creationId xmlns:p14="http://schemas.microsoft.com/office/powerpoint/2010/main" val="36456721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19C03931-4A28-44C2-9238-650F85D8C2AD}"/>
              </a:ext>
            </a:extLst>
          </p:cNvPr>
          <p:cNvSpPr>
            <a:spLocks noGrp="1"/>
          </p:cNvSpPr>
          <p:nvPr>
            <p:ph type="title"/>
          </p:nvPr>
        </p:nvSpPr>
        <p:spPr>
          <a:xfrm>
            <a:off x="171450" y="95250"/>
            <a:ext cx="5429250" cy="304800"/>
          </a:xfrm>
          <a:prstGeom prst="rect">
            <a:avLst/>
          </a:prstGeom>
        </p:spPr>
        <p:txBody>
          <a:bodyPr vert="horz" wrap="square" lIns="0" tIns="0" rIns="0" bIns="0">
            <a:noAutofit/>
          </a:bodyPr>
          <a:lstStyle/>
          <a:p>
            <a:pPr marL="12700" algn="l">
              <a:lnSpc>
                <a:spcPct val="110000"/>
              </a:lnSpc>
              <a:spcBef>
                <a:spcPts val="135"/>
              </a:spcBef>
              <a:buNone/>
              <a:defRPr sz="1400">
                <a:solidFill>
                  <a:srgbClr val="006ABA"/>
                </a:solidFill>
                <a:latin typeface="Arial"/>
                <a:ea typeface="Arial"/>
                <a:cs typeface="Arial"/>
              </a:defRPr>
            </a:pPr>
            <a:r>
              <a:rPr sz="1400" b="0" spc="-10">
                <a:solidFill>
                  <a:srgbClr val="006ABA"/>
                </a:solidFill>
                <a:latin typeface="Arial"/>
                <a:ea typeface="Arial"/>
                <a:cs typeface="Arial"/>
              </a:rPr>
              <a:t>Deques: both ends are available</a:t>
            </a:r>
            <a:endParaRPr sz="1400" b="0" spc="-10">
              <a:latin typeface="Arial"/>
              <a:ea typeface="Arial"/>
              <a:cs typeface="Arial"/>
            </a:endParaRPr>
          </a:p>
        </p:txBody>
      </p:sp>
      <p:pic>
        <p:nvPicPr>
          <p:cNvPr id="35" name="object 4"/>
          <p:cNvPicPr>
            <a:picLocks noChangeAspect="1"/>
          </p:cNvPicPr>
          <p:nvPr/>
        </p:nvPicPr>
        <p:blipFill>
          <a:blip r:embed="rId3"/>
          <a:stretch>
            <a:fillRect/>
          </a:stretch>
        </p:blipFill>
        <p:spPr>
          <a:xfrm>
            <a:off x="152565" y="2988507"/>
            <a:ext cx="900668" cy="161917"/>
          </a:xfrm>
          <a:prstGeom prst="rect">
            <a:avLst/>
          </a:prstGeom>
        </p:spPr>
      </p:pic>
      <p:pic>
        <p:nvPicPr>
          <p:cNvPr id="36" name="object 5"/>
          <p:cNvPicPr>
            <a:picLocks noChangeAspect="1"/>
          </p:cNvPicPr>
          <p:nvPr/>
        </p:nvPicPr>
        <p:blipFill>
          <a:blip r:embed="rId4"/>
          <a:stretch>
            <a:fillRect/>
          </a:stretch>
        </p:blipFill>
        <p:spPr>
          <a:xfrm>
            <a:off x="1286560" y="2988417"/>
            <a:ext cx="610912" cy="162008"/>
          </a:xfrm>
          <a:prstGeom prst="rect">
            <a:avLst/>
          </a:prstGeom>
        </p:spPr>
      </p:pic>
      <p:sp>
        <p:nvSpPr>
          <p:cNvPr id="10" name="Footer Placeholder 7">
            <a:extLst>
              <a:ext uri="{FF2B5EF4-FFF2-40B4-BE49-F238E27FC236}">
                <a16:creationId xmlns:a16="http://schemas.microsoft.com/office/drawing/2014/main" id="{197FE2C8-8EE2-4937-3F30-294DB47641D6}"/>
              </a:ext>
            </a:extLst>
          </p:cNvPr>
          <p:cNvSpPr>
            <a:spLocks noGrp="1"/>
          </p:cNvSpPr>
          <p:nvPr>
            <p:ph type="ftr" idx="5"/>
          </p:nvPr>
        </p:nvSpPr>
        <p:spPr>
          <a:xfrm>
            <a:off x="2590800" y="3105150"/>
            <a:ext cx="2743200" cy="95250"/>
          </a:xfrm>
        </p:spPr>
        <p:txBody>
          <a:bodyPr wrap="square" lIns="0" tIns="0" rIns="0" bIns="0">
            <a:noAutofit/>
          </a:bodyPr>
          <a:lstStyle/>
          <a:p>
            <a:pPr algn="r">
              <a:lnSpc>
                <a:spcPct val="110000"/>
              </a:lnSpc>
              <a:buNone/>
              <a:defRPr sz="500">
                <a:solidFill>
                  <a:srgbClr val="888888"/>
                </a:solidFill>
                <a:latin typeface="Arial"/>
                <a:ea typeface="Arial"/>
                <a:cs typeface="Arial"/>
              </a:defRPr>
            </a:pPr>
            <a:r>
              <a:rPr sz="500">
                <a:solidFill>
                  <a:srgbClr val="888888"/>
                </a:solidFill>
                <a:latin typeface="Arial"/>
                <a:ea typeface="Arial"/>
                <a:cs typeface="Arial"/>
              </a:rPr>
              <a:t>MAS Foundations - Kamendu Panchal</a:t>
            </a:r>
            <a:endParaRPr sz="500" b="1">
              <a:solidFill>
                <a:schemeClr val="tx1"/>
              </a:solidFill>
              <a:latin typeface="Arial"/>
              <a:ea typeface="Arial"/>
              <a:cs typeface="Arial"/>
            </a:endParaRPr>
          </a:p>
        </p:txBody>
      </p:sp>
      <p:sp>
        <p:nvSpPr>
          <p:cNvPr id="3" name="TextBox 2">
            <a:extLst>
              <a:ext uri="{FF2B5EF4-FFF2-40B4-BE49-F238E27FC236}">
                <a16:creationId xmlns:a16="http://schemas.microsoft.com/office/drawing/2014/main" id="{DCE8FEB4-DA15-74FB-D091-FA2B80C9B501}"/>
              </a:ext>
            </a:extLst>
          </p:cNvPr>
          <p:cNvSpPr>
            <a:spLocks noGrp="1"/>
          </p:cNvSpPr>
          <p:nvPr/>
        </p:nvSpPr>
        <p:spPr>
          <a:xfrm>
            <a:off x="5438775" y="3086100"/>
            <a:ext cx="209550" cy="175260"/>
          </a:xfrm>
          <a:prstGeom prst="rect">
            <a:avLst/>
          </a:prstGeom>
          <a:noFill/>
        </p:spPr>
        <p:txBody>
          <a:bodyPr wrap="square" lIns="0" tIns="0" rIns="0" bIns="0">
            <a:noAutofit/>
          </a:bodyPr>
          <a:lstStyle/>
          <a:p>
            <a:pPr algn="r">
              <a:lnSpc>
                <a:spcPct val="110000"/>
              </a:lnSpc>
              <a:buNone/>
              <a:defRPr sz="500">
                <a:solidFill>
                  <a:srgbClr val="202020"/>
                </a:solidFill>
                <a:latin typeface="Arial"/>
                <a:ea typeface="Arial"/>
                <a:cs typeface="Arial"/>
              </a:defRPr>
            </a:pPr>
            <a:r>
              <a:rPr sz="500">
                <a:solidFill>
                  <a:srgbClr val="202020"/>
                </a:solidFill>
                <a:latin typeface="Arial"/>
                <a:ea typeface="Arial"/>
                <a:cs typeface="Arial"/>
              </a:rPr>
              <a:t>26</a:t>
            </a:r>
          </a:p>
        </p:txBody>
      </p:sp>
      <p:sp>
        <p:nvSpPr>
          <p:cNvPr id="13" name="text">
            <a:extLst>
              <a:ext uri="{FF2B5EF4-FFF2-40B4-BE49-F238E27FC236}">
                <a16:creationId xmlns:a16="http://schemas.microsoft.com/office/drawing/2014/main" id="{D25777B0-2A1C-467C-8C47-C6BAAF9FC8E2}"/>
              </a:ext>
            </a:extLst>
          </p:cNvPr>
          <p:cNvSpPr>
            <a:spLocks noGrp="1"/>
          </p:cNvSpPr>
          <p:nvPr/>
        </p:nvSpPr>
        <p:spPr>
          <a:xfrm>
            <a:off x="228600" y="504825"/>
            <a:ext cx="5314950" cy="381000"/>
          </a:xfrm>
          <a:prstGeom prst="rect">
            <a:avLst/>
          </a:prstGeom>
          <a:noFill/>
          <a:ln w="0">
            <a:noFill/>
          </a:ln>
        </p:spPr>
        <p:txBody>
          <a:bodyPr wrap="square" lIns="0" tIns="0" rIns="0" bIns="0" anchor="t">
            <a:noAutofit/>
          </a:bodyPr>
          <a:lstStyle/>
          <a:p>
            <a:pPr algn="l">
              <a:lnSpc>
                <a:spcPct val="110000"/>
              </a:lnSpc>
              <a:buNone/>
              <a:defRPr sz="998" b="0">
                <a:solidFill>
                  <a:srgbClr val="202020"/>
                </a:solidFill>
                <a:latin typeface="Arial"/>
                <a:ea typeface="Arial"/>
                <a:cs typeface="Arial"/>
              </a:defRPr>
            </a:pPr>
            <a:r>
              <a:rPr sz="998" b="0">
                <a:solidFill>
                  <a:srgbClr val="202020"/>
                </a:solidFill>
                <a:latin typeface="Arial"/>
                <a:ea typeface="Arial"/>
                <a:cs typeface="Arial"/>
              </a:rPr>
              <a:t>A deque allows insertion and removal at either end.</a:t>
            </a:r>
          </a:p>
        </p:txBody>
      </p:sp>
      <p:sp>
        <p:nvSpPr>
          <p:cNvPr id="14" name="Rectangle 13">
            <a:extLst>
              <a:ext uri="{FF2B5EF4-FFF2-40B4-BE49-F238E27FC236}">
                <a16:creationId xmlns:a16="http://schemas.microsoft.com/office/drawing/2014/main" id="{D5A8F2D7-F05B-4AE3-8B73-F199ACD09703}"/>
              </a:ext>
            </a:extLst>
          </p:cNvPr>
          <p:cNvSpPr>
            <a:spLocks noGrp="1"/>
          </p:cNvSpPr>
          <p:nvPr/>
        </p:nvSpPr>
        <p:spPr>
          <a:xfrm>
            <a:off x="228600" y="981075"/>
            <a:ext cx="2600325" cy="1504950"/>
          </a:xfrm>
          <a:prstGeom prst="rect">
            <a:avLst/>
          </a:prstGeom>
          <a:solidFill>
            <a:srgbClr val="101827"/>
          </a:solidFill>
          <a:ln w="0">
            <a:noFill/>
          </a:ln>
        </p:spPr>
      </p:sp>
      <p:sp>
        <p:nvSpPr>
          <p:cNvPr id="15" name="Rectangle 14">
            <a:extLst>
              <a:ext uri="{FF2B5EF4-FFF2-40B4-BE49-F238E27FC236}">
                <a16:creationId xmlns:a16="http://schemas.microsoft.com/office/drawing/2014/main" id="{972DF6E5-0D76-4D82-84BA-4DA6C32463F0}"/>
              </a:ext>
            </a:extLst>
          </p:cNvPr>
          <p:cNvSpPr>
            <a:spLocks noGrp="1"/>
          </p:cNvSpPr>
          <p:nvPr/>
        </p:nvSpPr>
        <p:spPr>
          <a:xfrm>
            <a:off x="228600" y="800100"/>
            <a:ext cx="2600325" cy="180975"/>
          </a:xfrm>
          <a:prstGeom prst="rect">
            <a:avLst/>
          </a:prstGeom>
          <a:solidFill>
            <a:srgbClr val="006ABA"/>
          </a:solidFill>
          <a:ln w="0">
            <a:noFill/>
          </a:ln>
        </p:spPr>
      </p:sp>
      <p:sp>
        <p:nvSpPr>
          <p:cNvPr id="16" name="text">
            <a:extLst>
              <a:ext uri="{FF2B5EF4-FFF2-40B4-BE49-F238E27FC236}">
                <a16:creationId xmlns:a16="http://schemas.microsoft.com/office/drawing/2014/main" id="{0D3CD7AD-AFFC-473D-9F98-7B2E4DDB7412}"/>
              </a:ext>
            </a:extLst>
          </p:cNvPr>
          <p:cNvSpPr>
            <a:spLocks noGrp="1"/>
          </p:cNvSpPr>
          <p:nvPr/>
        </p:nvSpPr>
        <p:spPr>
          <a:xfrm>
            <a:off x="228600" y="819150"/>
            <a:ext cx="2600325" cy="161925"/>
          </a:xfrm>
          <a:prstGeom prst="rect">
            <a:avLst/>
          </a:prstGeom>
          <a:noFill/>
          <a:ln w="0">
            <a:noFill/>
          </a:ln>
        </p:spPr>
        <p:txBody>
          <a:bodyPr wrap="square" lIns="0" tIns="0" rIns="0" bIns="0" anchor="t">
            <a:noAutofit/>
          </a:bodyPr>
          <a:lstStyle/>
          <a:p>
            <a:pPr algn="ctr">
              <a:lnSpc>
                <a:spcPct val="110000"/>
              </a:lnSpc>
              <a:buNone/>
              <a:defRPr sz="825" b="1">
                <a:solidFill>
                  <a:srgbClr val="FFFFFF"/>
                </a:solidFill>
                <a:latin typeface="Arial"/>
                <a:ea typeface="Arial"/>
                <a:cs typeface="Arial"/>
              </a:defRPr>
            </a:pPr>
            <a:r>
              <a:rPr sz="825" b="1">
                <a:solidFill>
                  <a:srgbClr val="FFFFFF"/>
                </a:solidFill>
                <a:latin typeface="Arial"/>
                <a:ea typeface="Arial"/>
                <a:cs typeface="Arial"/>
              </a:rPr>
              <a:t>C++17</a:t>
            </a:r>
          </a:p>
        </p:txBody>
      </p:sp>
      <p:sp>
        <p:nvSpPr>
          <p:cNvPr id="17" name="text">
            <a:extLst>
              <a:ext uri="{FF2B5EF4-FFF2-40B4-BE49-F238E27FC236}">
                <a16:creationId xmlns:a16="http://schemas.microsoft.com/office/drawing/2014/main" id="{0019CA69-D520-48F7-A969-231E0325906D}"/>
              </a:ext>
            </a:extLst>
          </p:cNvPr>
          <p:cNvSpPr>
            <a:spLocks noGrp="1"/>
          </p:cNvSpPr>
          <p:nvPr/>
        </p:nvSpPr>
        <p:spPr>
          <a:xfrm>
            <a:off x="295275" y="106680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std::deque&lt;int&gt; d{1, 2};</a:t>
            </a:r>
          </a:p>
        </p:txBody>
      </p:sp>
      <p:sp>
        <p:nvSpPr>
          <p:cNvPr id="18" name="text">
            <a:extLst>
              <a:ext uri="{FF2B5EF4-FFF2-40B4-BE49-F238E27FC236}">
                <a16:creationId xmlns:a16="http://schemas.microsoft.com/office/drawing/2014/main" id="{34A98E1A-9BA5-41DF-8CA4-8ECE0A8A8A0E}"/>
              </a:ext>
            </a:extLst>
          </p:cNvPr>
          <p:cNvSpPr>
            <a:spLocks noGrp="1"/>
          </p:cNvSpPr>
          <p:nvPr/>
        </p:nvSpPr>
        <p:spPr>
          <a:xfrm>
            <a:off x="295275" y="119634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d.push_front(0);</a:t>
            </a:r>
          </a:p>
        </p:txBody>
      </p:sp>
      <p:sp>
        <p:nvSpPr>
          <p:cNvPr id="19" name="text">
            <a:extLst>
              <a:ext uri="{FF2B5EF4-FFF2-40B4-BE49-F238E27FC236}">
                <a16:creationId xmlns:a16="http://schemas.microsoft.com/office/drawing/2014/main" id="{5441A5F6-38AD-4276-A2D1-27D8E1960177}"/>
              </a:ext>
            </a:extLst>
          </p:cNvPr>
          <p:cNvSpPr>
            <a:spLocks noGrp="1"/>
          </p:cNvSpPr>
          <p:nvPr/>
        </p:nvSpPr>
        <p:spPr>
          <a:xfrm>
            <a:off x="295275" y="132588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d.push_back(3);</a:t>
            </a:r>
          </a:p>
        </p:txBody>
      </p:sp>
      <p:sp>
        <p:nvSpPr>
          <p:cNvPr id="20" name="text">
            <a:extLst>
              <a:ext uri="{FF2B5EF4-FFF2-40B4-BE49-F238E27FC236}">
                <a16:creationId xmlns:a16="http://schemas.microsoft.com/office/drawing/2014/main" id="{29FE27D3-AD57-4F50-9D3A-C9C5496596D2}"/>
              </a:ext>
            </a:extLst>
          </p:cNvPr>
          <p:cNvSpPr>
            <a:spLocks noGrp="1"/>
          </p:cNvSpPr>
          <p:nvPr/>
        </p:nvSpPr>
        <p:spPr>
          <a:xfrm>
            <a:off x="295275" y="145542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std::cout &lt;&lt; d.front() &lt;&lt; "\n";</a:t>
            </a:r>
          </a:p>
        </p:txBody>
      </p:sp>
      <p:sp>
        <p:nvSpPr>
          <p:cNvPr id="21" name="text">
            <a:extLst>
              <a:ext uri="{FF2B5EF4-FFF2-40B4-BE49-F238E27FC236}">
                <a16:creationId xmlns:a16="http://schemas.microsoft.com/office/drawing/2014/main" id="{E921FBAC-FA5A-4813-97FE-2BC3B2A19A3B}"/>
              </a:ext>
            </a:extLst>
          </p:cNvPr>
          <p:cNvSpPr>
            <a:spLocks noGrp="1"/>
          </p:cNvSpPr>
          <p:nvPr/>
        </p:nvSpPr>
        <p:spPr>
          <a:xfrm>
            <a:off x="295275" y="158496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d.pop_front();</a:t>
            </a:r>
          </a:p>
        </p:txBody>
      </p:sp>
      <p:sp>
        <p:nvSpPr>
          <p:cNvPr id="22" name="text">
            <a:extLst>
              <a:ext uri="{FF2B5EF4-FFF2-40B4-BE49-F238E27FC236}">
                <a16:creationId xmlns:a16="http://schemas.microsoft.com/office/drawing/2014/main" id="{CEEA46E3-F254-4BB6-993A-B2D0899C2EE9}"/>
              </a:ext>
            </a:extLst>
          </p:cNvPr>
          <p:cNvSpPr>
            <a:spLocks noGrp="1"/>
          </p:cNvSpPr>
          <p:nvPr/>
        </p:nvSpPr>
        <p:spPr>
          <a:xfrm>
            <a:off x="295275" y="171450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d.pop_back();</a:t>
            </a:r>
          </a:p>
        </p:txBody>
      </p:sp>
      <p:sp>
        <p:nvSpPr>
          <p:cNvPr id="23" name="Rectangle 22">
            <a:extLst>
              <a:ext uri="{FF2B5EF4-FFF2-40B4-BE49-F238E27FC236}">
                <a16:creationId xmlns:a16="http://schemas.microsoft.com/office/drawing/2014/main" id="{FDE8CE1D-7FFE-479C-AC62-9AF1F9944FE3}"/>
              </a:ext>
            </a:extLst>
          </p:cNvPr>
          <p:cNvSpPr>
            <a:spLocks noGrp="1"/>
          </p:cNvSpPr>
          <p:nvPr/>
        </p:nvSpPr>
        <p:spPr>
          <a:xfrm>
            <a:off x="2990850" y="981075"/>
            <a:ext cx="2600325" cy="1504950"/>
          </a:xfrm>
          <a:prstGeom prst="rect">
            <a:avLst/>
          </a:prstGeom>
          <a:solidFill>
            <a:srgbClr val="101827"/>
          </a:solidFill>
          <a:ln w="0">
            <a:noFill/>
          </a:ln>
        </p:spPr>
      </p:sp>
      <p:sp>
        <p:nvSpPr>
          <p:cNvPr id="24" name="Rectangle 23">
            <a:extLst>
              <a:ext uri="{FF2B5EF4-FFF2-40B4-BE49-F238E27FC236}">
                <a16:creationId xmlns:a16="http://schemas.microsoft.com/office/drawing/2014/main" id="{96D7BAA1-697F-47E5-B4FD-3B5350B024D8}"/>
              </a:ext>
            </a:extLst>
          </p:cNvPr>
          <p:cNvSpPr>
            <a:spLocks noGrp="1"/>
          </p:cNvSpPr>
          <p:nvPr/>
        </p:nvSpPr>
        <p:spPr>
          <a:xfrm>
            <a:off x="2990850" y="800100"/>
            <a:ext cx="2600325" cy="180975"/>
          </a:xfrm>
          <a:prstGeom prst="rect">
            <a:avLst/>
          </a:prstGeom>
          <a:solidFill>
            <a:srgbClr val="1AA260"/>
          </a:solidFill>
          <a:ln w="0">
            <a:noFill/>
          </a:ln>
        </p:spPr>
      </p:sp>
      <p:sp>
        <p:nvSpPr>
          <p:cNvPr id="25" name="text">
            <a:extLst>
              <a:ext uri="{FF2B5EF4-FFF2-40B4-BE49-F238E27FC236}">
                <a16:creationId xmlns:a16="http://schemas.microsoft.com/office/drawing/2014/main" id="{04BEFC67-E119-4CF1-9857-B82218B40956}"/>
              </a:ext>
            </a:extLst>
          </p:cNvPr>
          <p:cNvSpPr>
            <a:spLocks noGrp="1"/>
          </p:cNvSpPr>
          <p:nvPr/>
        </p:nvSpPr>
        <p:spPr>
          <a:xfrm>
            <a:off x="2990850" y="819150"/>
            <a:ext cx="2600325" cy="161925"/>
          </a:xfrm>
          <a:prstGeom prst="rect">
            <a:avLst/>
          </a:prstGeom>
          <a:noFill/>
          <a:ln w="0">
            <a:noFill/>
          </a:ln>
        </p:spPr>
        <p:txBody>
          <a:bodyPr wrap="square" lIns="0" tIns="0" rIns="0" bIns="0" anchor="t">
            <a:noAutofit/>
          </a:bodyPr>
          <a:lstStyle/>
          <a:p>
            <a:pPr algn="ctr">
              <a:lnSpc>
                <a:spcPct val="110000"/>
              </a:lnSpc>
              <a:buNone/>
              <a:defRPr sz="825" b="1">
                <a:solidFill>
                  <a:srgbClr val="FFFFFF"/>
                </a:solidFill>
                <a:latin typeface="Arial"/>
                <a:ea typeface="Arial"/>
                <a:cs typeface="Arial"/>
              </a:defRPr>
            </a:pPr>
            <a:r>
              <a:rPr sz="825" b="1">
                <a:solidFill>
                  <a:srgbClr val="FFFFFF"/>
                </a:solidFill>
                <a:latin typeface="Arial"/>
                <a:ea typeface="Arial"/>
                <a:cs typeface="Arial"/>
              </a:rPr>
              <a:t>Python 3</a:t>
            </a:r>
          </a:p>
        </p:txBody>
      </p:sp>
      <p:sp>
        <p:nvSpPr>
          <p:cNvPr id="26" name="text">
            <a:extLst>
              <a:ext uri="{FF2B5EF4-FFF2-40B4-BE49-F238E27FC236}">
                <a16:creationId xmlns:a16="http://schemas.microsoft.com/office/drawing/2014/main" id="{C722C874-2B02-4CB3-89BF-7578ED29DF53}"/>
              </a:ext>
            </a:extLst>
          </p:cNvPr>
          <p:cNvSpPr>
            <a:spLocks noGrp="1"/>
          </p:cNvSpPr>
          <p:nvPr/>
        </p:nvSpPr>
        <p:spPr>
          <a:xfrm>
            <a:off x="3057525" y="106680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from collections import deque</a:t>
            </a:r>
          </a:p>
        </p:txBody>
      </p:sp>
      <p:sp>
        <p:nvSpPr>
          <p:cNvPr id="27" name="text">
            <a:extLst>
              <a:ext uri="{FF2B5EF4-FFF2-40B4-BE49-F238E27FC236}">
                <a16:creationId xmlns:a16="http://schemas.microsoft.com/office/drawing/2014/main" id="{1BF124EA-974A-4981-ABBF-3181E73073A0}"/>
              </a:ext>
            </a:extLst>
          </p:cNvPr>
          <p:cNvSpPr>
            <a:spLocks noGrp="1"/>
          </p:cNvSpPr>
          <p:nvPr/>
        </p:nvSpPr>
        <p:spPr>
          <a:xfrm>
            <a:off x="3057525" y="119634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d = deque([1, 2])</a:t>
            </a:r>
          </a:p>
        </p:txBody>
      </p:sp>
      <p:sp>
        <p:nvSpPr>
          <p:cNvPr id="28" name="text">
            <a:extLst>
              <a:ext uri="{FF2B5EF4-FFF2-40B4-BE49-F238E27FC236}">
                <a16:creationId xmlns:a16="http://schemas.microsoft.com/office/drawing/2014/main" id="{4DC2A7E9-B8BB-4206-B013-985A60EB1047}"/>
              </a:ext>
            </a:extLst>
          </p:cNvPr>
          <p:cNvSpPr>
            <a:spLocks noGrp="1"/>
          </p:cNvSpPr>
          <p:nvPr/>
        </p:nvSpPr>
        <p:spPr>
          <a:xfrm>
            <a:off x="3057525" y="132588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d.appendleft(0)</a:t>
            </a:r>
          </a:p>
        </p:txBody>
      </p:sp>
      <p:sp>
        <p:nvSpPr>
          <p:cNvPr id="29" name="text">
            <a:extLst>
              <a:ext uri="{FF2B5EF4-FFF2-40B4-BE49-F238E27FC236}">
                <a16:creationId xmlns:a16="http://schemas.microsoft.com/office/drawing/2014/main" id="{E692BD9C-43F5-427E-BA11-CEBE25A51703}"/>
              </a:ext>
            </a:extLst>
          </p:cNvPr>
          <p:cNvSpPr>
            <a:spLocks noGrp="1"/>
          </p:cNvSpPr>
          <p:nvPr/>
        </p:nvSpPr>
        <p:spPr>
          <a:xfrm>
            <a:off x="3057525" y="145542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d.append(3)</a:t>
            </a:r>
          </a:p>
        </p:txBody>
      </p:sp>
      <p:sp>
        <p:nvSpPr>
          <p:cNvPr id="30" name="text">
            <a:extLst>
              <a:ext uri="{FF2B5EF4-FFF2-40B4-BE49-F238E27FC236}">
                <a16:creationId xmlns:a16="http://schemas.microsoft.com/office/drawing/2014/main" id="{92AB5EFC-75F5-48B9-A516-DE08130D8825}"/>
              </a:ext>
            </a:extLst>
          </p:cNvPr>
          <p:cNvSpPr>
            <a:spLocks noGrp="1"/>
          </p:cNvSpPr>
          <p:nvPr/>
        </p:nvSpPr>
        <p:spPr>
          <a:xfrm>
            <a:off x="3057525" y="158496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print(d.popleft())</a:t>
            </a:r>
          </a:p>
        </p:txBody>
      </p:sp>
      <p:sp>
        <p:nvSpPr>
          <p:cNvPr id="31" name="text">
            <a:extLst>
              <a:ext uri="{FF2B5EF4-FFF2-40B4-BE49-F238E27FC236}">
                <a16:creationId xmlns:a16="http://schemas.microsoft.com/office/drawing/2014/main" id="{3088AF13-9F5B-4287-BE07-3A273266FF1B}"/>
              </a:ext>
            </a:extLst>
          </p:cNvPr>
          <p:cNvSpPr>
            <a:spLocks noGrp="1"/>
          </p:cNvSpPr>
          <p:nvPr/>
        </p:nvSpPr>
        <p:spPr>
          <a:xfrm>
            <a:off x="3057525" y="171450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d.pop()</a:t>
            </a:r>
          </a:p>
        </p:txBody>
      </p:sp>
      <p:sp>
        <p:nvSpPr>
          <p:cNvPr id="32" name="text">
            <a:extLst>
              <a:ext uri="{FF2B5EF4-FFF2-40B4-BE49-F238E27FC236}">
                <a16:creationId xmlns:a16="http://schemas.microsoft.com/office/drawing/2014/main" id="{5450B7E9-9E5F-44AE-9006-A3AFB6FE3EBE}"/>
              </a:ext>
            </a:extLst>
          </p:cNvPr>
          <p:cNvSpPr>
            <a:spLocks noGrp="1"/>
          </p:cNvSpPr>
          <p:nvPr/>
        </p:nvSpPr>
        <p:spPr>
          <a:xfrm>
            <a:off x="228600" y="2600325"/>
            <a:ext cx="5314950" cy="228600"/>
          </a:xfrm>
          <a:prstGeom prst="rect">
            <a:avLst/>
          </a:prstGeom>
          <a:noFill/>
          <a:ln w="0">
            <a:noFill/>
          </a:ln>
        </p:spPr>
        <p:txBody>
          <a:bodyPr wrap="square" lIns="0" tIns="0" rIns="0" bIns="0" anchor="t">
            <a:noAutofit/>
          </a:bodyPr>
          <a:lstStyle/>
          <a:p>
            <a:pPr algn="l">
              <a:lnSpc>
                <a:spcPct val="110000"/>
              </a:lnSpc>
              <a:buNone/>
              <a:defRPr sz="885" b="0">
                <a:solidFill>
                  <a:srgbClr val="006ABA"/>
                </a:solidFill>
                <a:latin typeface="Arial"/>
                <a:ea typeface="Arial"/>
                <a:cs typeface="Arial"/>
              </a:defRPr>
            </a:pPr>
            <a:r>
              <a:rPr sz="885" b="0">
                <a:solidFill>
                  <a:srgbClr val="006ABA"/>
                </a:solidFill>
                <a:latin typeface="Arial"/>
                <a:ea typeface="Arial"/>
                <a:cs typeface="Arial"/>
              </a:rPr>
              <a:t>Output: 0. Final deque: 1, 2.</a:t>
            </a:r>
          </a:p>
        </p:txBody>
      </p:sp>
      <p:sp>
        <p:nvSpPr>
          <p:cNvPr id="33" name="text">
            <a:extLst>
              <a:ext uri="{FF2B5EF4-FFF2-40B4-BE49-F238E27FC236}">
                <a16:creationId xmlns:a16="http://schemas.microsoft.com/office/drawing/2014/main" id="{490AAF90-C141-44FB-990D-A3330CAC313B}"/>
              </a:ext>
            </a:extLst>
          </p:cNvPr>
          <p:cNvSpPr>
            <a:spLocks noGrp="1"/>
          </p:cNvSpPr>
          <p:nvPr/>
        </p:nvSpPr>
        <p:spPr>
          <a:xfrm>
            <a:off x="228600" y="2867025"/>
            <a:ext cx="5334000" cy="95250"/>
          </a:xfrm>
          <a:prstGeom prst="rect">
            <a:avLst/>
          </a:prstGeom>
          <a:noFill/>
          <a:ln w="0">
            <a:noFill/>
          </a:ln>
        </p:spPr>
        <p:txBody>
          <a:bodyPr wrap="square" lIns="0" tIns="0" rIns="0" bIns="0" anchor="t">
            <a:noAutofit/>
          </a:bodyPr>
          <a:lstStyle/>
          <a:p>
            <a:pPr algn="l">
              <a:lnSpc>
                <a:spcPct val="110000"/>
              </a:lnSpc>
              <a:buNone/>
              <a:defRPr sz="510" b="0">
                <a:solidFill>
                  <a:srgbClr val="66717C"/>
                </a:solidFill>
                <a:latin typeface="Arial"/>
                <a:ea typeface="Arial"/>
                <a:cs typeface="Arial"/>
              </a:defRPr>
            </a:pPr>
            <a:r>
              <a:rPr sz="510" b="0">
                <a:solidFill>
                  <a:srgbClr val="66717C"/>
                </a:solidFill>
                <a:latin typeface="Arial"/>
                <a:ea typeface="Arial"/>
                <a:cs typeface="Arial"/>
              </a:rPr>
              <a:t>[A]  [PY]  [C]</a:t>
            </a:r>
          </a:p>
        </p:txBody>
      </p:sp>
    </p:spTree>
    <p:extLst>
      <p:ext uri="{BB962C8B-B14F-4D97-AF65-F5344CB8AC3E}">
        <p14:creationId xmlns:p14="http://schemas.microsoft.com/office/powerpoint/2010/main" val="36456721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19C03931-4A28-44C2-9238-650F85D8C2AD}"/>
              </a:ext>
            </a:extLst>
          </p:cNvPr>
          <p:cNvSpPr>
            <a:spLocks noGrp="1"/>
          </p:cNvSpPr>
          <p:nvPr>
            <p:ph type="title"/>
          </p:nvPr>
        </p:nvSpPr>
        <p:spPr>
          <a:xfrm>
            <a:off x="171450" y="95250"/>
            <a:ext cx="5429250" cy="304800"/>
          </a:xfrm>
          <a:prstGeom prst="rect">
            <a:avLst/>
          </a:prstGeom>
        </p:spPr>
        <p:txBody>
          <a:bodyPr vert="horz" wrap="square" lIns="0" tIns="0" rIns="0" bIns="0">
            <a:noAutofit/>
          </a:bodyPr>
          <a:lstStyle/>
          <a:p>
            <a:pPr marL="12700" algn="l">
              <a:lnSpc>
                <a:spcPct val="110000"/>
              </a:lnSpc>
              <a:spcBef>
                <a:spcPts val="135"/>
              </a:spcBef>
              <a:buNone/>
              <a:defRPr sz="1400">
                <a:solidFill>
                  <a:srgbClr val="006ABA"/>
                </a:solidFill>
                <a:latin typeface="Arial"/>
                <a:ea typeface="Arial"/>
                <a:cs typeface="Arial"/>
              </a:defRPr>
            </a:pPr>
            <a:r>
              <a:rPr sz="1400" b="0" spc="-10">
                <a:solidFill>
                  <a:srgbClr val="006ABA"/>
                </a:solidFill>
                <a:latin typeface="Arial"/>
                <a:ea typeface="Arial"/>
                <a:cs typeface="Arial"/>
              </a:rPr>
              <a:t>Trees: hierarchical relationships</a:t>
            </a:r>
            <a:endParaRPr sz="1400" b="0" spc="-10">
              <a:latin typeface="Arial"/>
              <a:ea typeface="Arial"/>
              <a:cs typeface="Arial"/>
            </a:endParaRPr>
          </a:p>
        </p:txBody>
      </p:sp>
      <p:pic>
        <p:nvPicPr>
          <p:cNvPr id="28" name="object 4"/>
          <p:cNvPicPr>
            <a:picLocks noChangeAspect="1"/>
          </p:cNvPicPr>
          <p:nvPr/>
        </p:nvPicPr>
        <p:blipFill>
          <a:blip r:embed="rId3"/>
          <a:stretch>
            <a:fillRect/>
          </a:stretch>
        </p:blipFill>
        <p:spPr>
          <a:xfrm>
            <a:off x="152565" y="2988507"/>
            <a:ext cx="900668" cy="161917"/>
          </a:xfrm>
          <a:prstGeom prst="rect">
            <a:avLst/>
          </a:prstGeom>
        </p:spPr>
      </p:pic>
      <p:pic>
        <p:nvPicPr>
          <p:cNvPr id="29" name="object 5"/>
          <p:cNvPicPr>
            <a:picLocks noChangeAspect="1"/>
          </p:cNvPicPr>
          <p:nvPr/>
        </p:nvPicPr>
        <p:blipFill>
          <a:blip r:embed="rId4"/>
          <a:stretch>
            <a:fillRect/>
          </a:stretch>
        </p:blipFill>
        <p:spPr>
          <a:xfrm>
            <a:off x="1286560" y="2988417"/>
            <a:ext cx="610912" cy="162008"/>
          </a:xfrm>
          <a:prstGeom prst="rect">
            <a:avLst/>
          </a:prstGeom>
        </p:spPr>
      </p:pic>
      <p:sp>
        <p:nvSpPr>
          <p:cNvPr id="10" name="Footer Placeholder 7">
            <a:extLst>
              <a:ext uri="{FF2B5EF4-FFF2-40B4-BE49-F238E27FC236}">
                <a16:creationId xmlns:a16="http://schemas.microsoft.com/office/drawing/2014/main" id="{197FE2C8-8EE2-4937-3F30-294DB47641D6}"/>
              </a:ext>
            </a:extLst>
          </p:cNvPr>
          <p:cNvSpPr>
            <a:spLocks noGrp="1"/>
          </p:cNvSpPr>
          <p:nvPr>
            <p:ph type="ftr" idx="5"/>
          </p:nvPr>
        </p:nvSpPr>
        <p:spPr>
          <a:xfrm>
            <a:off x="2590800" y="3105150"/>
            <a:ext cx="2743200" cy="95250"/>
          </a:xfrm>
        </p:spPr>
        <p:txBody>
          <a:bodyPr wrap="square" lIns="0" tIns="0" rIns="0" bIns="0">
            <a:noAutofit/>
          </a:bodyPr>
          <a:lstStyle/>
          <a:p>
            <a:pPr algn="r">
              <a:lnSpc>
                <a:spcPct val="110000"/>
              </a:lnSpc>
              <a:buNone/>
              <a:defRPr sz="500">
                <a:solidFill>
                  <a:srgbClr val="888888"/>
                </a:solidFill>
                <a:latin typeface="Arial"/>
                <a:ea typeface="Arial"/>
                <a:cs typeface="Arial"/>
              </a:defRPr>
            </a:pPr>
            <a:r>
              <a:rPr sz="500">
                <a:solidFill>
                  <a:srgbClr val="888888"/>
                </a:solidFill>
                <a:latin typeface="Arial"/>
                <a:ea typeface="Arial"/>
                <a:cs typeface="Arial"/>
              </a:rPr>
              <a:t>MAS Foundations - Kamendu Panchal</a:t>
            </a:r>
            <a:endParaRPr sz="500" b="1">
              <a:solidFill>
                <a:schemeClr val="tx1"/>
              </a:solidFill>
              <a:latin typeface="Arial"/>
              <a:ea typeface="Arial"/>
              <a:cs typeface="Arial"/>
            </a:endParaRPr>
          </a:p>
        </p:txBody>
      </p:sp>
      <p:sp>
        <p:nvSpPr>
          <p:cNvPr id="3" name="TextBox 2">
            <a:extLst>
              <a:ext uri="{FF2B5EF4-FFF2-40B4-BE49-F238E27FC236}">
                <a16:creationId xmlns:a16="http://schemas.microsoft.com/office/drawing/2014/main" id="{DCE8FEB4-DA15-74FB-D091-FA2B80C9B501}"/>
              </a:ext>
            </a:extLst>
          </p:cNvPr>
          <p:cNvSpPr>
            <a:spLocks noGrp="1"/>
          </p:cNvSpPr>
          <p:nvPr/>
        </p:nvSpPr>
        <p:spPr>
          <a:xfrm>
            <a:off x="5438775" y="3086100"/>
            <a:ext cx="209550" cy="175260"/>
          </a:xfrm>
          <a:prstGeom prst="rect">
            <a:avLst/>
          </a:prstGeom>
          <a:noFill/>
        </p:spPr>
        <p:txBody>
          <a:bodyPr wrap="square" lIns="0" tIns="0" rIns="0" bIns="0">
            <a:noAutofit/>
          </a:bodyPr>
          <a:lstStyle/>
          <a:p>
            <a:pPr algn="r">
              <a:lnSpc>
                <a:spcPct val="110000"/>
              </a:lnSpc>
              <a:buNone/>
              <a:defRPr sz="500">
                <a:solidFill>
                  <a:srgbClr val="202020"/>
                </a:solidFill>
                <a:latin typeface="Arial"/>
                <a:ea typeface="Arial"/>
                <a:cs typeface="Arial"/>
              </a:defRPr>
            </a:pPr>
            <a:r>
              <a:rPr sz="500">
                <a:solidFill>
                  <a:srgbClr val="202020"/>
                </a:solidFill>
                <a:latin typeface="Arial"/>
                <a:ea typeface="Arial"/>
                <a:cs typeface="Arial"/>
              </a:rPr>
              <a:t>27</a:t>
            </a:r>
          </a:p>
        </p:txBody>
      </p:sp>
      <p:sp>
        <p:nvSpPr>
          <p:cNvPr id="13" name="text">
            <a:extLst>
              <a:ext uri="{FF2B5EF4-FFF2-40B4-BE49-F238E27FC236}">
                <a16:creationId xmlns:a16="http://schemas.microsoft.com/office/drawing/2014/main" id="{FCB33BC7-F5AB-4E03-B7C6-9835C6961C51}"/>
              </a:ext>
            </a:extLst>
          </p:cNvPr>
          <p:cNvSpPr>
            <a:spLocks noGrp="1"/>
          </p:cNvSpPr>
          <p:nvPr/>
        </p:nvSpPr>
        <p:spPr>
          <a:xfrm>
            <a:off x="228600" y="504825"/>
            <a:ext cx="5314950" cy="381000"/>
          </a:xfrm>
          <a:prstGeom prst="rect">
            <a:avLst/>
          </a:prstGeom>
          <a:noFill/>
          <a:ln w="0">
            <a:noFill/>
          </a:ln>
        </p:spPr>
        <p:txBody>
          <a:bodyPr wrap="square" lIns="0" tIns="0" rIns="0" bIns="0" anchor="t">
            <a:noAutofit/>
          </a:bodyPr>
          <a:lstStyle/>
          <a:p>
            <a:pPr algn="l">
              <a:lnSpc>
                <a:spcPct val="110000"/>
              </a:lnSpc>
              <a:buNone/>
              <a:defRPr sz="998" b="0">
                <a:solidFill>
                  <a:srgbClr val="202020"/>
                </a:solidFill>
                <a:latin typeface="Arial"/>
                <a:ea typeface="Arial"/>
                <a:cs typeface="Arial"/>
              </a:defRPr>
            </a:pPr>
            <a:r>
              <a:rPr sz="998" b="0">
                <a:solidFill>
                  <a:srgbClr val="202020"/>
                </a:solidFill>
                <a:latin typeface="Arial"/>
                <a:ea typeface="Arial"/>
                <a:cs typeface="Arial"/>
              </a:rPr>
              <a:t>A tree is a connected graph with no cycles.</a:t>
            </a:r>
          </a:p>
        </p:txBody>
      </p:sp>
      <p:sp>
        <p:nvSpPr>
          <p:cNvPr id="14" name="diagram-node">
            <a:extLst>
              <a:ext uri="{FF2B5EF4-FFF2-40B4-BE49-F238E27FC236}">
                <a16:creationId xmlns:a16="http://schemas.microsoft.com/office/drawing/2014/main" id="{25CEEEF4-A5A3-4E07-A784-B2BDBC9D11D7}"/>
              </a:ext>
            </a:extLst>
          </p:cNvPr>
          <p:cNvSpPr>
            <a:spLocks noGrp="1"/>
          </p:cNvSpPr>
          <p:nvPr/>
        </p:nvSpPr>
        <p:spPr>
          <a:xfrm>
            <a:off x="2524125" y="923925"/>
            <a:ext cx="666750" cy="323850"/>
          </a:xfrm>
          <a:prstGeom prst="ellipse">
            <a:avLst/>
          </a:prstGeom>
          <a:solidFill>
            <a:srgbClr val="EAF3FA"/>
          </a:solidFill>
          <a:ln w="11430">
            <a:solidFill>
              <a:srgbClr val="006ABA"/>
            </a:solidFill>
          </a:ln>
        </p:spPr>
        <p:txBody>
          <a:bodyPr wrap="square" lIns="47625" tIns="28575" rIns="47625" bIns="28575" anchor="ctr">
            <a:noAutofit/>
          </a:bodyPr>
          <a:lstStyle/>
          <a:p>
            <a:pPr algn="ctr">
              <a:lnSpc>
                <a:spcPct val="107000"/>
              </a:lnSpc>
              <a:buNone/>
              <a:defRPr sz="1125">
                <a:solidFill>
                  <a:srgbClr val="202020"/>
                </a:solidFill>
                <a:latin typeface="Arial"/>
                <a:ea typeface="Arial"/>
                <a:cs typeface="Arial"/>
              </a:defRPr>
            </a:pPr>
            <a:r>
              <a:rPr sz="1125">
                <a:solidFill>
                  <a:srgbClr val="202020"/>
                </a:solidFill>
                <a:latin typeface="Arial"/>
                <a:ea typeface="Arial"/>
                <a:cs typeface="Arial"/>
              </a:rPr>
              <a:t>10</a:t>
            </a:r>
          </a:p>
        </p:txBody>
      </p:sp>
      <p:sp>
        <p:nvSpPr>
          <p:cNvPr id="15" name="diagram-node">
            <a:extLst>
              <a:ext uri="{FF2B5EF4-FFF2-40B4-BE49-F238E27FC236}">
                <a16:creationId xmlns:a16="http://schemas.microsoft.com/office/drawing/2014/main" id="{547C74C5-F383-4D67-A21B-5A2EFF9F3A01}"/>
              </a:ext>
            </a:extLst>
          </p:cNvPr>
          <p:cNvSpPr>
            <a:spLocks noGrp="1"/>
          </p:cNvSpPr>
          <p:nvPr/>
        </p:nvSpPr>
        <p:spPr>
          <a:xfrm>
            <a:off x="1381125" y="1524000"/>
            <a:ext cx="666750" cy="323850"/>
          </a:xfrm>
          <a:prstGeom prst="ellipse">
            <a:avLst/>
          </a:prstGeom>
          <a:solidFill>
            <a:srgbClr val="FFFFFF"/>
          </a:solidFill>
          <a:ln w="11430">
            <a:solidFill>
              <a:srgbClr val="006ABA"/>
            </a:solidFill>
          </a:ln>
        </p:spPr>
        <p:txBody>
          <a:bodyPr wrap="square" lIns="47625" tIns="28575" rIns="47625" bIns="28575" anchor="ctr">
            <a:noAutofit/>
          </a:bodyPr>
          <a:lstStyle/>
          <a:p>
            <a:pPr algn="ctr">
              <a:lnSpc>
                <a:spcPct val="107000"/>
              </a:lnSpc>
              <a:buNone/>
              <a:defRPr sz="975">
                <a:solidFill>
                  <a:srgbClr val="202020"/>
                </a:solidFill>
                <a:latin typeface="Arial"/>
                <a:ea typeface="Arial"/>
                <a:cs typeface="Arial"/>
              </a:defRPr>
            </a:pPr>
            <a:r>
              <a:rPr sz="975">
                <a:solidFill>
                  <a:srgbClr val="202020"/>
                </a:solidFill>
                <a:latin typeface="Arial"/>
                <a:ea typeface="Arial"/>
                <a:cs typeface="Arial"/>
              </a:rPr>
              <a:t>5</a:t>
            </a:r>
          </a:p>
        </p:txBody>
      </p:sp>
      <p:sp>
        <p:nvSpPr>
          <p:cNvPr id="16" name="diagram-node">
            <a:extLst>
              <a:ext uri="{FF2B5EF4-FFF2-40B4-BE49-F238E27FC236}">
                <a16:creationId xmlns:a16="http://schemas.microsoft.com/office/drawing/2014/main" id="{FE4DEEDC-EF41-4D6C-8345-4C5AFFEE6561}"/>
              </a:ext>
            </a:extLst>
          </p:cNvPr>
          <p:cNvSpPr>
            <a:spLocks noGrp="1"/>
          </p:cNvSpPr>
          <p:nvPr/>
        </p:nvSpPr>
        <p:spPr>
          <a:xfrm>
            <a:off x="3667125" y="1524000"/>
            <a:ext cx="666750" cy="323850"/>
          </a:xfrm>
          <a:prstGeom prst="ellipse">
            <a:avLst/>
          </a:prstGeom>
          <a:solidFill>
            <a:srgbClr val="FFFFFF"/>
          </a:solidFill>
          <a:ln w="11430">
            <a:solidFill>
              <a:srgbClr val="006ABA"/>
            </a:solidFill>
          </a:ln>
        </p:spPr>
        <p:txBody>
          <a:bodyPr wrap="square" lIns="47625" tIns="28575" rIns="47625" bIns="28575" anchor="ctr">
            <a:noAutofit/>
          </a:bodyPr>
          <a:lstStyle/>
          <a:p>
            <a:pPr algn="ctr">
              <a:lnSpc>
                <a:spcPct val="107000"/>
              </a:lnSpc>
              <a:buNone/>
              <a:defRPr sz="975">
                <a:solidFill>
                  <a:srgbClr val="202020"/>
                </a:solidFill>
                <a:latin typeface="Arial"/>
                <a:ea typeface="Arial"/>
                <a:cs typeface="Arial"/>
              </a:defRPr>
            </a:pPr>
            <a:r>
              <a:rPr sz="975">
                <a:solidFill>
                  <a:srgbClr val="202020"/>
                </a:solidFill>
                <a:latin typeface="Arial"/>
                <a:ea typeface="Arial"/>
                <a:cs typeface="Arial"/>
              </a:rPr>
              <a:t>15</a:t>
            </a:r>
          </a:p>
        </p:txBody>
      </p:sp>
      <p:sp>
        <p:nvSpPr>
          <p:cNvPr id="17" name="diagram-node">
            <a:extLst>
              <a:ext uri="{FF2B5EF4-FFF2-40B4-BE49-F238E27FC236}">
                <a16:creationId xmlns:a16="http://schemas.microsoft.com/office/drawing/2014/main" id="{57054472-718B-49FD-AC40-D637AF090DEA}"/>
              </a:ext>
            </a:extLst>
          </p:cNvPr>
          <p:cNvSpPr>
            <a:spLocks noGrp="1"/>
          </p:cNvSpPr>
          <p:nvPr/>
        </p:nvSpPr>
        <p:spPr>
          <a:xfrm>
            <a:off x="714375" y="2105025"/>
            <a:ext cx="666750" cy="323850"/>
          </a:xfrm>
          <a:prstGeom prst="ellipse">
            <a:avLst/>
          </a:prstGeom>
          <a:solidFill>
            <a:srgbClr val="FFFFFF"/>
          </a:solidFill>
          <a:ln w="11430">
            <a:solidFill>
              <a:srgbClr val="006ABA"/>
            </a:solidFill>
          </a:ln>
        </p:spPr>
        <p:txBody>
          <a:bodyPr wrap="square" lIns="47625" tIns="28575" rIns="47625" bIns="28575" anchor="ctr">
            <a:noAutofit/>
          </a:bodyPr>
          <a:lstStyle/>
          <a:p>
            <a:pPr algn="ctr">
              <a:lnSpc>
                <a:spcPct val="107000"/>
              </a:lnSpc>
              <a:buNone/>
              <a:defRPr sz="975">
                <a:solidFill>
                  <a:srgbClr val="202020"/>
                </a:solidFill>
                <a:latin typeface="Arial"/>
                <a:ea typeface="Arial"/>
                <a:cs typeface="Arial"/>
              </a:defRPr>
            </a:pPr>
            <a:r>
              <a:rPr sz="975">
                <a:solidFill>
                  <a:srgbClr val="202020"/>
                </a:solidFill>
                <a:latin typeface="Arial"/>
                <a:ea typeface="Arial"/>
                <a:cs typeface="Arial"/>
              </a:rPr>
              <a:t>2</a:t>
            </a:r>
          </a:p>
        </p:txBody>
      </p:sp>
      <p:sp>
        <p:nvSpPr>
          <p:cNvPr id="18" name="diagram-node">
            <a:extLst>
              <a:ext uri="{FF2B5EF4-FFF2-40B4-BE49-F238E27FC236}">
                <a16:creationId xmlns:a16="http://schemas.microsoft.com/office/drawing/2014/main" id="{FCB1C6FB-2CE5-47EC-B2B0-F4050EB14669}"/>
              </a:ext>
            </a:extLst>
          </p:cNvPr>
          <p:cNvSpPr>
            <a:spLocks noGrp="1"/>
          </p:cNvSpPr>
          <p:nvPr/>
        </p:nvSpPr>
        <p:spPr>
          <a:xfrm>
            <a:off x="2047875" y="2105025"/>
            <a:ext cx="666750" cy="323850"/>
          </a:xfrm>
          <a:prstGeom prst="ellipse">
            <a:avLst/>
          </a:prstGeom>
          <a:solidFill>
            <a:srgbClr val="FFFFFF"/>
          </a:solidFill>
          <a:ln w="11430">
            <a:solidFill>
              <a:srgbClr val="006ABA"/>
            </a:solidFill>
          </a:ln>
        </p:spPr>
        <p:txBody>
          <a:bodyPr wrap="square" lIns="47625" tIns="28575" rIns="47625" bIns="28575" anchor="ctr">
            <a:noAutofit/>
          </a:bodyPr>
          <a:lstStyle/>
          <a:p>
            <a:pPr algn="ctr">
              <a:lnSpc>
                <a:spcPct val="107000"/>
              </a:lnSpc>
              <a:buNone/>
              <a:defRPr sz="975">
                <a:solidFill>
                  <a:srgbClr val="202020"/>
                </a:solidFill>
                <a:latin typeface="Arial"/>
                <a:ea typeface="Arial"/>
                <a:cs typeface="Arial"/>
              </a:defRPr>
            </a:pPr>
            <a:r>
              <a:rPr sz="975">
                <a:solidFill>
                  <a:srgbClr val="202020"/>
                </a:solidFill>
                <a:latin typeface="Arial"/>
                <a:ea typeface="Arial"/>
                <a:cs typeface="Arial"/>
              </a:rPr>
              <a:t>7</a:t>
            </a:r>
          </a:p>
        </p:txBody>
      </p:sp>
      <p:cxnSp>
        <p:nvCxnSpPr>
          <p:cNvPr id="38" name="Straight Arrow Connector 37"/>
          <p:cNvCxnSpPr>
            <a:stCxn id="14" idx="4"/>
            <a:endCxn id="15" idx="0"/>
          </p:cNvCxnSpPr>
          <p:nvPr/>
        </p:nvCxnSpPr>
        <p:spPr>
          <a:xfrm flipH="1">
            <a:off x="1714500" y="1247775"/>
            <a:ext cx="1143000" cy="276225"/>
          </a:xfrm>
          <a:prstGeom prst="straightConnector1">
            <a:avLst/>
          </a:prstGeom>
          <a:ln w="11430">
            <a:solidFill>
              <a:srgbClr val="66717C"/>
            </a:solidFill>
            <a:headEnd type="none" w="med" len="med"/>
            <a:tailEnd type="none" w="sm" len="sm"/>
          </a:ln>
        </p:spPr>
      </p:cxnSp>
      <p:cxnSp>
        <p:nvCxnSpPr>
          <p:cNvPr id="39" name="Straight Arrow Connector 38"/>
          <p:cNvCxnSpPr>
            <a:stCxn id="14" idx="4"/>
            <a:endCxn id="16" idx="0"/>
          </p:cNvCxnSpPr>
          <p:nvPr/>
        </p:nvCxnSpPr>
        <p:spPr>
          <a:xfrm>
            <a:off x="2857500" y="1247775"/>
            <a:ext cx="1143000" cy="276225"/>
          </a:xfrm>
          <a:prstGeom prst="straightConnector1">
            <a:avLst/>
          </a:prstGeom>
          <a:ln w="11430">
            <a:solidFill>
              <a:srgbClr val="66717C"/>
            </a:solidFill>
            <a:headEnd type="none" w="med" len="med"/>
            <a:tailEnd type="none" w="sm" len="sm"/>
          </a:ln>
        </p:spPr>
      </p:cxnSp>
      <p:cxnSp>
        <p:nvCxnSpPr>
          <p:cNvPr id="40" name="Straight Arrow Connector 39"/>
          <p:cNvCxnSpPr>
            <a:stCxn id="15" idx="4"/>
            <a:endCxn id="17" idx="0"/>
          </p:cNvCxnSpPr>
          <p:nvPr/>
        </p:nvCxnSpPr>
        <p:spPr>
          <a:xfrm flipH="1">
            <a:off x="1047750" y="1847850"/>
            <a:ext cx="666750" cy="257175"/>
          </a:xfrm>
          <a:prstGeom prst="straightConnector1">
            <a:avLst/>
          </a:prstGeom>
          <a:ln w="11430">
            <a:solidFill>
              <a:srgbClr val="66717C"/>
            </a:solidFill>
            <a:headEnd type="none" w="med" len="med"/>
            <a:tailEnd type="none" w="sm" len="sm"/>
          </a:ln>
        </p:spPr>
      </p:cxnSp>
      <p:cxnSp>
        <p:nvCxnSpPr>
          <p:cNvPr id="41" name="Straight Arrow Connector 40"/>
          <p:cNvCxnSpPr>
            <a:stCxn id="15" idx="4"/>
            <a:endCxn id="18" idx="0"/>
          </p:cNvCxnSpPr>
          <p:nvPr/>
        </p:nvCxnSpPr>
        <p:spPr>
          <a:xfrm>
            <a:off x="1714500" y="1847850"/>
            <a:ext cx="666750" cy="257175"/>
          </a:xfrm>
          <a:prstGeom prst="straightConnector1">
            <a:avLst/>
          </a:prstGeom>
          <a:ln w="11430">
            <a:solidFill>
              <a:srgbClr val="66717C"/>
            </a:solidFill>
            <a:headEnd type="none" w="med" len="med"/>
            <a:tailEnd type="none" w="sm" len="sm"/>
          </a:ln>
        </p:spPr>
      </p:cxnSp>
      <p:sp>
        <p:nvSpPr>
          <p:cNvPr id="23" name="text">
            <a:extLst>
              <a:ext uri="{FF2B5EF4-FFF2-40B4-BE49-F238E27FC236}">
                <a16:creationId xmlns:a16="http://schemas.microsoft.com/office/drawing/2014/main" id="{4B2029FE-C3FB-47D4-82DB-55276B12AC2F}"/>
              </a:ext>
            </a:extLst>
          </p:cNvPr>
          <p:cNvSpPr>
            <a:spLocks noGrp="1"/>
          </p:cNvSpPr>
          <p:nvPr/>
        </p:nvSpPr>
        <p:spPr>
          <a:xfrm>
            <a:off x="3324225" y="962025"/>
            <a:ext cx="666750" cy="190500"/>
          </a:xfrm>
          <a:prstGeom prst="rect">
            <a:avLst/>
          </a:prstGeom>
          <a:noFill/>
          <a:ln w="0">
            <a:noFill/>
          </a:ln>
        </p:spPr>
        <p:txBody>
          <a:bodyPr wrap="square" lIns="0" tIns="0" rIns="0" bIns="0" anchor="t">
            <a:noAutofit/>
          </a:bodyPr>
          <a:lstStyle/>
          <a:p>
            <a:pPr algn="ctr">
              <a:lnSpc>
                <a:spcPct val="110000"/>
              </a:lnSpc>
              <a:buNone/>
              <a:defRPr sz="863" b="0">
                <a:solidFill>
                  <a:srgbClr val="006ABA"/>
                </a:solidFill>
                <a:latin typeface="Arial"/>
                <a:ea typeface="Arial"/>
                <a:cs typeface="Arial"/>
              </a:defRPr>
            </a:pPr>
            <a:r>
              <a:rPr sz="863" b="0">
                <a:solidFill>
                  <a:srgbClr val="006ABA"/>
                </a:solidFill>
                <a:latin typeface="Arial"/>
                <a:ea typeface="Arial"/>
                <a:cs typeface="Arial"/>
              </a:rPr>
              <a:t>root</a:t>
            </a:r>
          </a:p>
        </p:txBody>
      </p:sp>
      <p:sp>
        <p:nvSpPr>
          <p:cNvPr id="24" name="text">
            <a:extLst>
              <a:ext uri="{FF2B5EF4-FFF2-40B4-BE49-F238E27FC236}">
                <a16:creationId xmlns:a16="http://schemas.microsoft.com/office/drawing/2014/main" id="{9D9639F8-241B-4732-BC60-11086ABC467E}"/>
              </a:ext>
            </a:extLst>
          </p:cNvPr>
          <p:cNvSpPr>
            <a:spLocks noGrp="1"/>
          </p:cNvSpPr>
          <p:nvPr/>
        </p:nvSpPr>
        <p:spPr>
          <a:xfrm>
            <a:off x="4419600" y="1581150"/>
            <a:ext cx="666750" cy="190500"/>
          </a:xfrm>
          <a:prstGeom prst="rect">
            <a:avLst/>
          </a:prstGeom>
          <a:noFill/>
          <a:ln w="0">
            <a:noFill/>
          </a:ln>
        </p:spPr>
        <p:txBody>
          <a:bodyPr wrap="square" lIns="0" tIns="0" rIns="0" bIns="0" anchor="t">
            <a:noAutofit/>
          </a:bodyPr>
          <a:lstStyle/>
          <a:p>
            <a:pPr algn="ctr">
              <a:lnSpc>
                <a:spcPct val="110000"/>
              </a:lnSpc>
              <a:buNone/>
              <a:defRPr sz="863" b="0">
                <a:solidFill>
                  <a:srgbClr val="006ABA"/>
                </a:solidFill>
                <a:latin typeface="Arial"/>
                <a:ea typeface="Arial"/>
                <a:cs typeface="Arial"/>
              </a:defRPr>
            </a:pPr>
            <a:r>
              <a:rPr sz="863" b="0">
                <a:solidFill>
                  <a:srgbClr val="006ABA"/>
                </a:solidFill>
                <a:latin typeface="Arial"/>
                <a:ea typeface="Arial"/>
                <a:cs typeface="Arial"/>
              </a:rPr>
              <a:t>leaf</a:t>
            </a:r>
          </a:p>
        </p:txBody>
      </p:sp>
      <p:sp>
        <p:nvSpPr>
          <p:cNvPr id="25" name="text">
            <a:extLst>
              <a:ext uri="{FF2B5EF4-FFF2-40B4-BE49-F238E27FC236}">
                <a16:creationId xmlns:a16="http://schemas.microsoft.com/office/drawing/2014/main" id="{C9ED50FD-AB32-4A17-8195-431D522BA430}"/>
              </a:ext>
            </a:extLst>
          </p:cNvPr>
          <p:cNvSpPr>
            <a:spLocks noGrp="1"/>
          </p:cNvSpPr>
          <p:nvPr/>
        </p:nvSpPr>
        <p:spPr>
          <a:xfrm>
            <a:off x="228600" y="2600325"/>
            <a:ext cx="5314950" cy="228600"/>
          </a:xfrm>
          <a:prstGeom prst="rect">
            <a:avLst/>
          </a:prstGeom>
          <a:noFill/>
          <a:ln w="0">
            <a:noFill/>
          </a:ln>
        </p:spPr>
        <p:txBody>
          <a:bodyPr wrap="square" lIns="0" tIns="0" rIns="0" bIns="0" anchor="t">
            <a:noAutofit/>
          </a:bodyPr>
          <a:lstStyle/>
          <a:p>
            <a:pPr algn="l">
              <a:lnSpc>
                <a:spcPct val="110000"/>
              </a:lnSpc>
              <a:buNone/>
              <a:defRPr sz="885" b="0">
                <a:solidFill>
                  <a:srgbClr val="006ABA"/>
                </a:solidFill>
                <a:latin typeface="Arial"/>
                <a:ea typeface="Arial"/>
                <a:cs typeface="Arial"/>
              </a:defRPr>
            </a:pPr>
            <a:r>
              <a:rPr sz="885" b="0">
                <a:solidFill>
                  <a:srgbClr val="006ABA"/>
                </a:solidFill>
                <a:latin typeface="Arial"/>
                <a:ea typeface="Arial"/>
                <a:cs typeface="Arial"/>
              </a:rPr>
              <a:t>Root: 10. Leaves: 2, 7, 15. Height: 2 edges.</a:t>
            </a:r>
          </a:p>
        </p:txBody>
      </p:sp>
      <p:sp>
        <p:nvSpPr>
          <p:cNvPr id="26" name="text">
            <a:extLst>
              <a:ext uri="{FF2B5EF4-FFF2-40B4-BE49-F238E27FC236}">
                <a16:creationId xmlns:a16="http://schemas.microsoft.com/office/drawing/2014/main" id="{A5C141C6-F3F0-4B6E-BFA6-377D18A4091E}"/>
              </a:ext>
            </a:extLst>
          </p:cNvPr>
          <p:cNvSpPr>
            <a:spLocks noGrp="1"/>
          </p:cNvSpPr>
          <p:nvPr/>
        </p:nvSpPr>
        <p:spPr>
          <a:xfrm>
            <a:off x="228600" y="2867025"/>
            <a:ext cx="5334000" cy="95250"/>
          </a:xfrm>
          <a:prstGeom prst="rect">
            <a:avLst/>
          </a:prstGeom>
          <a:noFill/>
          <a:ln w="0">
            <a:noFill/>
          </a:ln>
        </p:spPr>
        <p:txBody>
          <a:bodyPr wrap="square" lIns="0" tIns="0" rIns="0" bIns="0" anchor="t">
            <a:noAutofit/>
          </a:bodyPr>
          <a:lstStyle/>
          <a:p>
            <a:pPr algn="l">
              <a:lnSpc>
                <a:spcPct val="110000"/>
              </a:lnSpc>
              <a:buNone/>
              <a:defRPr sz="510" b="0">
                <a:solidFill>
                  <a:srgbClr val="66717C"/>
                </a:solidFill>
                <a:latin typeface="Arial"/>
                <a:ea typeface="Arial"/>
                <a:cs typeface="Arial"/>
              </a:defRPr>
            </a:pPr>
            <a:r>
              <a:rPr sz="510" b="0">
                <a:solidFill>
                  <a:srgbClr val="66717C"/>
                </a:solidFill>
                <a:latin typeface="Arial"/>
                <a:ea typeface="Arial"/>
                <a:cs typeface="Arial"/>
              </a:rPr>
              <a:t>[I]  [A]</a:t>
            </a:r>
          </a:p>
        </p:txBody>
      </p:sp>
    </p:spTree>
    <p:extLst>
      <p:ext uri="{BB962C8B-B14F-4D97-AF65-F5344CB8AC3E}">
        <p14:creationId xmlns:p14="http://schemas.microsoft.com/office/powerpoint/2010/main" val="364567217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19C03931-4A28-44C2-9238-650F85D8C2AD}"/>
              </a:ext>
            </a:extLst>
          </p:cNvPr>
          <p:cNvSpPr>
            <a:spLocks noGrp="1"/>
          </p:cNvSpPr>
          <p:nvPr>
            <p:ph type="title"/>
          </p:nvPr>
        </p:nvSpPr>
        <p:spPr>
          <a:xfrm>
            <a:off x="171450" y="95250"/>
            <a:ext cx="5429250" cy="304800"/>
          </a:xfrm>
          <a:prstGeom prst="rect">
            <a:avLst/>
          </a:prstGeom>
        </p:spPr>
        <p:txBody>
          <a:bodyPr vert="horz" wrap="square" lIns="0" tIns="0" rIns="0" bIns="0">
            <a:noAutofit/>
          </a:bodyPr>
          <a:lstStyle/>
          <a:p>
            <a:pPr marL="12700" algn="l">
              <a:lnSpc>
                <a:spcPct val="110000"/>
              </a:lnSpc>
              <a:spcBef>
                <a:spcPts val="135"/>
              </a:spcBef>
              <a:buNone/>
              <a:defRPr sz="1400">
                <a:solidFill>
                  <a:srgbClr val="006ABA"/>
                </a:solidFill>
                <a:latin typeface="Arial"/>
                <a:ea typeface="Arial"/>
                <a:cs typeface="Arial"/>
              </a:defRPr>
            </a:pPr>
            <a:r>
              <a:rPr sz="1400" b="0" spc="-10">
                <a:solidFill>
                  <a:srgbClr val="006ABA"/>
                </a:solidFill>
                <a:latin typeface="Arial"/>
                <a:ea typeface="Arial"/>
                <a:cs typeface="Arial"/>
              </a:rPr>
              <a:t>Binary search trees</a:t>
            </a:r>
            <a:endParaRPr sz="1400" b="0" spc="-10">
              <a:latin typeface="Arial"/>
              <a:ea typeface="Arial"/>
              <a:cs typeface="Arial"/>
            </a:endParaRPr>
          </a:p>
        </p:txBody>
      </p:sp>
      <p:pic>
        <p:nvPicPr>
          <p:cNvPr id="28" name="object 4"/>
          <p:cNvPicPr>
            <a:picLocks noChangeAspect="1"/>
          </p:cNvPicPr>
          <p:nvPr/>
        </p:nvPicPr>
        <p:blipFill>
          <a:blip r:embed="rId3"/>
          <a:stretch>
            <a:fillRect/>
          </a:stretch>
        </p:blipFill>
        <p:spPr>
          <a:xfrm>
            <a:off x="152565" y="2988507"/>
            <a:ext cx="900668" cy="161917"/>
          </a:xfrm>
          <a:prstGeom prst="rect">
            <a:avLst/>
          </a:prstGeom>
        </p:spPr>
      </p:pic>
      <p:pic>
        <p:nvPicPr>
          <p:cNvPr id="29" name="object 5"/>
          <p:cNvPicPr>
            <a:picLocks noChangeAspect="1"/>
          </p:cNvPicPr>
          <p:nvPr/>
        </p:nvPicPr>
        <p:blipFill>
          <a:blip r:embed="rId4"/>
          <a:stretch>
            <a:fillRect/>
          </a:stretch>
        </p:blipFill>
        <p:spPr>
          <a:xfrm>
            <a:off x="1286560" y="2988417"/>
            <a:ext cx="610912" cy="162008"/>
          </a:xfrm>
          <a:prstGeom prst="rect">
            <a:avLst/>
          </a:prstGeom>
        </p:spPr>
      </p:pic>
      <p:sp>
        <p:nvSpPr>
          <p:cNvPr id="10" name="Footer Placeholder 7">
            <a:extLst>
              <a:ext uri="{FF2B5EF4-FFF2-40B4-BE49-F238E27FC236}">
                <a16:creationId xmlns:a16="http://schemas.microsoft.com/office/drawing/2014/main" id="{197FE2C8-8EE2-4937-3F30-294DB47641D6}"/>
              </a:ext>
            </a:extLst>
          </p:cNvPr>
          <p:cNvSpPr>
            <a:spLocks noGrp="1"/>
          </p:cNvSpPr>
          <p:nvPr>
            <p:ph type="ftr" idx="5"/>
          </p:nvPr>
        </p:nvSpPr>
        <p:spPr>
          <a:xfrm>
            <a:off x="2590800" y="3105150"/>
            <a:ext cx="2743200" cy="95250"/>
          </a:xfrm>
        </p:spPr>
        <p:txBody>
          <a:bodyPr wrap="square" lIns="0" tIns="0" rIns="0" bIns="0">
            <a:noAutofit/>
          </a:bodyPr>
          <a:lstStyle/>
          <a:p>
            <a:pPr algn="r">
              <a:lnSpc>
                <a:spcPct val="110000"/>
              </a:lnSpc>
              <a:buNone/>
              <a:defRPr sz="500">
                <a:solidFill>
                  <a:srgbClr val="888888"/>
                </a:solidFill>
                <a:latin typeface="Arial"/>
                <a:ea typeface="Arial"/>
                <a:cs typeface="Arial"/>
              </a:defRPr>
            </a:pPr>
            <a:r>
              <a:rPr sz="500">
                <a:solidFill>
                  <a:srgbClr val="888888"/>
                </a:solidFill>
                <a:latin typeface="Arial"/>
                <a:ea typeface="Arial"/>
                <a:cs typeface="Arial"/>
              </a:rPr>
              <a:t>MAS Foundations - Kamendu Panchal</a:t>
            </a:r>
            <a:endParaRPr sz="500" b="1">
              <a:solidFill>
                <a:schemeClr val="tx1"/>
              </a:solidFill>
              <a:latin typeface="Arial"/>
              <a:ea typeface="Arial"/>
              <a:cs typeface="Arial"/>
            </a:endParaRPr>
          </a:p>
        </p:txBody>
      </p:sp>
      <p:sp>
        <p:nvSpPr>
          <p:cNvPr id="3" name="TextBox 2">
            <a:extLst>
              <a:ext uri="{FF2B5EF4-FFF2-40B4-BE49-F238E27FC236}">
                <a16:creationId xmlns:a16="http://schemas.microsoft.com/office/drawing/2014/main" id="{DCE8FEB4-DA15-74FB-D091-FA2B80C9B501}"/>
              </a:ext>
            </a:extLst>
          </p:cNvPr>
          <p:cNvSpPr>
            <a:spLocks noGrp="1"/>
          </p:cNvSpPr>
          <p:nvPr/>
        </p:nvSpPr>
        <p:spPr>
          <a:xfrm>
            <a:off x="5438775" y="3086100"/>
            <a:ext cx="209550" cy="175260"/>
          </a:xfrm>
          <a:prstGeom prst="rect">
            <a:avLst/>
          </a:prstGeom>
          <a:noFill/>
        </p:spPr>
        <p:txBody>
          <a:bodyPr wrap="square" lIns="0" tIns="0" rIns="0" bIns="0">
            <a:noAutofit/>
          </a:bodyPr>
          <a:lstStyle/>
          <a:p>
            <a:pPr algn="r">
              <a:lnSpc>
                <a:spcPct val="110000"/>
              </a:lnSpc>
              <a:buNone/>
              <a:defRPr sz="500">
                <a:solidFill>
                  <a:srgbClr val="202020"/>
                </a:solidFill>
                <a:latin typeface="Arial"/>
                <a:ea typeface="Arial"/>
                <a:cs typeface="Arial"/>
              </a:defRPr>
            </a:pPr>
            <a:r>
              <a:rPr sz="500">
                <a:solidFill>
                  <a:srgbClr val="202020"/>
                </a:solidFill>
                <a:latin typeface="Arial"/>
                <a:ea typeface="Arial"/>
                <a:cs typeface="Arial"/>
              </a:rPr>
              <a:t>28</a:t>
            </a:r>
          </a:p>
        </p:txBody>
      </p:sp>
      <p:sp>
        <p:nvSpPr>
          <p:cNvPr id="13" name="text">
            <a:extLst>
              <a:ext uri="{FF2B5EF4-FFF2-40B4-BE49-F238E27FC236}">
                <a16:creationId xmlns:a16="http://schemas.microsoft.com/office/drawing/2014/main" id="{8F64A0B5-D100-4B44-9C9A-E7EE7E6FFB55}"/>
              </a:ext>
            </a:extLst>
          </p:cNvPr>
          <p:cNvSpPr>
            <a:spLocks noGrp="1"/>
          </p:cNvSpPr>
          <p:nvPr/>
        </p:nvSpPr>
        <p:spPr>
          <a:xfrm>
            <a:off x="228600" y="504825"/>
            <a:ext cx="5314950" cy="381000"/>
          </a:xfrm>
          <a:prstGeom prst="rect">
            <a:avLst/>
          </a:prstGeom>
          <a:noFill/>
          <a:ln w="0">
            <a:noFill/>
          </a:ln>
        </p:spPr>
        <p:txBody>
          <a:bodyPr wrap="square" lIns="0" tIns="0" rIns="0" bIns="0" anchor="t">
            <a:noAutofit/>
          </a:bodyPr>
          <a:lstStyle/>
          <a:p>
            <a:pPr algn="l">
              <a:lnSpc>
                <a:spcPct val="110000"/>
              </a:lnSpc>
              <a:buNone/>
              <a:defRPr sz="998" b="0">
                <a:solidFill>
                  <a:srgbClr val="202020"/>
                </a:solidFill>
                <a:latin typeface="Arial"/>
                <a:ea typeface="Arial"/>
                <a:cs typeface="Arial"/>
              </a:defRPr>
            </a:pPr>
            <a:r>
              <a:rPr sz="998" b="0">
                <a:solidFill>
                  <a:srgbClr val="202020"/>
                </a:solidFill>
                <a:latin typeface="Arial"/>
                <a:ea typeface="Arial"/>
                <a:cs typeface="Arial"/>
              </a:rPr>
              <a:t>For distinct keys: smaller values belong left, larger values right.</a:t>
            </a:r>
          </a:p>
        </p:txBody>
      </p:sp>
      <p:sp>
        <p:nvSpPr>
          <p:cNvPr id="14" name="diagram-node">
            <a:extLst>
              <a:ext uri="{FF2B5EF4-FFF2-40B4-BE49-F238E27FC236}">
                <a16:creationId xmlns:a16="http://schemas.microsoft.com/office/drawing/2014/main" id="{E6B1D84D-6D10-4B76-A41C-CE1C437A8126}"/>
              </a:ext>
            </a:extLst>
          </p:cNvPr>
          <p:cNvSpPr>
            <a:spLocks noGrp="1"/>
          </p:cNvSpPr>
          <p:nvPr/>
        </p:nvSpPr>
        <p:spPr>
          <a:xfrm>
            <a:off x="2524125" y="923925"/>
            <a:ext cx="666750" cy="323850"/>
          </a:xfrm>
          <a:prstGeom prst="ellipse">
            <a:avLst/>
          </a:prstGeom>
          <a:solidFill>
            <a:srgbClr val="EAF3FA"/>
          </a:solidFill>
          <a:ln w="11430">
            <a:solidFill>
              <a:srgbClr val="006ABA"/>
            </a:solidFill>
          </a:ln>
        </p:spPr>
        <p:txBody>
          <a:bodyPr wrap="square" lIns="47625" tIns="28575" rIns="47625" bIns="28575" anchor="ctr">
            <a:noAutofit/>
          </a:bodyPr>
          <a:lstStyle/>
          <a:p>
            <a:pPr algn="ctr">
              <a:lnSpc>
                <a:spcPct val="107000"/>
              </a:lnSpc>
              <a:buNone/>
              <a:defRPr sz="1125">
                <a:solidFill>
                  <a:srgbClr val="202020"/>
                </a:solidFill>
                <a:latin typeface="Arial"/>
                <a:ea typeface="Arial"/>
                <a:cs typeface="Arial"/>
              </a:defRPr>
            </a:pPr>
            <a:r>
              <a:rPr sz="1125">
                <a:solidFill>
                  <a:srgbClr val="202020"/>
                </a:solidFill>
                <a:latin typeface="Arial"/>
                <a:ea typeface="Arial"/>
                <a:cs typeface="Arial"/>
              </a:rPr>
              <a:t>10</a:t>
            </a:r>
          </a:p>
        </p:txBody>
      </p:sp>
      <p:sp>
        <p:nvSpPr>
          <p:cNvPr id="15" name="diagram-node">
            <a:extLst>
              <a:ext uri="{FF2B5EF4-FFF2-40B4-BE49-F238E27FC236}">
                <a16:creationId xmlns:a16="http://schemas.microsoft.com/office/drawing/2014/main" id="{D4A5CE66-683E-4791-A5F5-72E0F1F4CD06}"/>
              </a:ext>
            </a:extLst>
          </p:cNvPr>
          <p:cNvSpPr>
            <a:spLocks noGrp="1"/>
          </p:cNvSpPr>
          <p:nvPr/>
        </p:nvSpPr>
        <p:spPr>
          <a:xfrm>
            <a:off x="1381125" y="1524000"/>
            <a:ext cx="666750" cy="323850"/>
          </a:xfrm>
          <a:prstGeom prst="ellipse">
            <a:avLst/>
          </a:prstGeom>
          <a:solidFill>
            <a:srgbClr val="FFFFFF"/>
          </a:solidFill>
          <a:ln w="11430">
            <a:solidFill>
              <a:srgbClr val="006ABA"/>
            </a:solidFill>
          </a:ln>
        </p:spPr>
        <p:txBody>
          <a:bodyPr wrap="square" lIns="47625" tIns="28575" rIns="47625" bIns="28575" anchor="ctr">
            <a:noAutofit/>
          </a:bodyPr>
          <a:lstStyle/>
          <a:p>
            <a:pPr algn="ctr">
              <a:lnSpc>
                <a:spcPct val="107000"/>
              </a:lnSpc>
              <a:buNone/>
              <a:defRPr sz="975">
                <a:solidFill>
                  <a:srgbClr val="202020"/>
                </a:solidFill>
                <a:latin typeface="Arial"/>
                <a:ea typeface="Arial"/>
                <a:cs typeface="Arial"/>
              </a:defRPr>
            </a:pPr>
            <a:r>
              <a:rPr sz="975">
                <a:solidFill>
                  <a:srgbClr val="202020"/>
                </a:solidFill>
                <a:latin typeface="Arial"/>
                <a:ea typeface="Arial"/>
                <a:cs typeface="Arial"/>
              </a:rPr>
              <a:t>5</a:t>
            </a:r>
          </a:p>
        </p:txBody>
      </p:sp>
      <p:sp>
        <p:nvSpPr>
          <p:cNvPr id="16" name="diagram-node">
            <a:extLst>
              <a:ext uri="{FF2B5EF4-FFF2-40B4-BE49-F238E27FC236}">
                <a16:creationId xmlns:a16="http://schemas.microsoft.com/office/drawing/2014/main" id="{4270FE9E-8616-4936-92CA-051BFEE48B17}"/>
              </a:ext>
            </a:extLst>
          </p:cNvPr>
          <p:cNvSpPr>
            <a:spLocks noGrp="1"/>
          </p:cNvSpPr>
          <p:nvPr/>
        </p:nvSpPr>
        <p:spPr>
          <a:xfrm>
            <a:off x="3667125" y="1524000"/>
            <a:ext cx="666750" cy="323850"/>
          </a:xfrm>
          <a:prstGeom prst="ellipse">
            <a:avLst/>
          </a:prstGeom>
          <a:solidFill>
            <a:srgbClr val="FFFFFF"/>
          </a:solidFill>
          <a:ln w="11430">
            <a:solidFill>
              <a:srgbClr val="006ABA"/>
            </a:solidFill>
          </a:ln>
        </p:spPr>
        <p:txBody>
          <a:bodyPr wrap="square" lIns="47625" tIns="28575" rIns="47625" bIns="28575" anchor="ctr">
            <a:noAutofit/>
          </a:bodyPr>
          <a:lstStyle/>
          <a:p>
            <a:pPr algn="ctr">
              <a:lnSpc>
                <a:spcPct val="107000"/>
              </a:lnSpc>
              <a:buNone/>
              <a:defRPr sz="975">
                <a:solidFill>
                  <a:srgbClr val="202020"/>
                </a:solidFill>
                <a:latin typeface="Arial"/>
                <a:ea typeface="Arial"/>
                <a:cs typeface="Arial"/>
              </a:defRPr>
            </a:pPr>
            <a:r>
              <a:rPr sz="975">
                <a:solidFill>
                  <a:srgbClr val="202020"/>
                </a:solidFill>
                <a:latin typeface="Arial"/>
                <a:ea typeface="Arial"/>
                <a:cs typeface="Arial"/>
              </a:rPr>
              <a:t>15</a:t>
            </a:r>
          </a:p>
        </p:txBody>
      </p:sp>
      <p:sp>
        <p:nvSpPr>
          <p:cNvPr id="17" name="diagram-node">
            <a:extLst>
              <a:ext uri="{FF2B5EF4-FFF2-40B4-BE49-F238E27FC236}">
                <a16:creationId xmlns:a16="http://schemas.microsoft.com/office/drawing/2014/main" id="{047C8D64-F237-4A12-A35C-1AE4AD2BEB70}"/>
              </a:ext>
            </a:extLst>
          </p:cNvPr>
          <p:cNvSpPr>
            <a:spLocks noGrp="1"/>
          </p:cNvSpPr>
          <p:nvPr/>
        </p:nvSpPr>
        <p:spPr>
          <a:xfrm>
            <a:off x="714375" y="2105025"/>
            <a:ext cx="666750" cy="323850"/>
          </a:xfrm>
          <a:prstGeom prst="ellipse">
            <a:avLst/>
          </a:prstGeom>
          <a:solidFill>
            <a:srgbClr val="FFFFFF"/>
          </a:solidFill>
          <a:ln w="11430">
            <a:solidFill>
              <a:srgbClr val="006ABA"/>
            </a:solidFill>
          </a:ln>
        </p:spPr>
        <p:txBody>
          <a:bodyPr wrap="square" lIns="47625" tIns="28575" rIns="47625" bIns="28575" anchor="ctr">
            <a:noAutofit/>
          </a:bodyPr>
          <a:lstStyle/>
          <a:p>
            <a:pPr algn="ctr">
              <a:lnSpc>
                <a:spcPct val="107000"/>
              </a:lnSpc>
              <a:buNone/>
              <a:defRPr sz="975">
                <a:solidFill>
                  <a:srgbClr val="202020"/>
                </a:solidFill>
                <a:latin typeface="Arial"/>
                <a:ea typeface="Arial"/>
                <a:cs typeface="Arial"/>
              </a:defRPr>
            </a:pPr>
            <a:r>
              <a:rPr sz="975">
                <a:solidFill>
                  <a:srgbClr val="202020"/>
                </a:solidFill>
                <a:latin typeface="Arial"/>
                <a:ea typeface="Arial"/>
                <a:cs typeface="Arial"/>
              </a:rPr>
              <a:t>2</a:t>
            </a:r>
          </a:p>
        </p:txBody>
      </p:sp>
      <p:sp>
        <p:nvSpPr>
          <p:cNvPr id="18" name="diagram-node">
            <a:extLst>
              <a:ext uri="{FF2B5EF4-FFF2-40B4-BE49-F238E27FC236}">
                <a16:creationId xmlns:a16="http://schemas.microsoft.com/office/drawing/2014/main" id="{925FAB1E-1E69-4D89-A0E2-7095EC571C8E}"/>
              </a:ext>
            </a:extLst>
          </p:cNvPr>
          <p:cNvSpPr>
            <a:spLocks noGrp="1"/>
          </p:cNvSpPr>
          <p:nvPr/>
        </p:nvSpPr>
        <p:spPr>
          <a:xfrm>
            <a:off x="2047875" y="2105025"/>
            <a:ext cx="666750" cy="323850"/>
          </a:xfrm>
          <a:prstGeom prst="ellipse">
            <a:avLst/>
          </a:prstGeom>
          <a:solidFill>
            <a:srgbClr val="FFFFFF"/>
          </a:solidFill>
          <a:ln w="11430">
            <a:solidFill>
              <a:srgbClr val="006ABA"/>
            </a:solidFill>
          </a:ln>
        </p:spPr>
        <p:txBody>
          <a:bodyPr wrap="square" lIns="47625" tIns="28575" rIns="47625" bIns="28575" anchor="ctr">
            <a:noAutofit/>
          </a:bodyPr>
          <a:lstStyle/>
          <a:p>
            <a:pPr algn="ctr">
              <a:lnSpc>
                <a:spcPct val="107000"/>
              </a:lnSpc>
              <a:buNone/>
              <a:defRPr sz="975">
                <a:solidFill>
                  <a:srgbClr val="202020"/>
                </a:solidFill>
                <a:latin typeface="Arial"/>
                <a:ea typeface="Arial"/>
                <a:cs typeface="Arial"/>
              </a:defRPr>
            </a:pPr>
            <a:r>
              <a:rPr sz="975">
                <a:solidFill>
                  <a:srgbClr val="202020"/>
                </a:solidFill>
                <a:latin typeface="Arial"/>
                <a:ea typeface="Arial"/>
                <a:cs typeface="Arial"/>
              </a:rPr>
              <a:t>7</a:t>
            </a:r>
          </a:p>
        </p:txBody>
      </p:sp>
      <p:cxnSp>
        <p:nvCxnSpPr>
          <p:cNvPr id="38" name="Straight Arrow Connector 37"/>
          <p:cNvCxnSpPr>
            <a:stCxn id="14" idx="4"/>
            <a:endCxn id="15" idx="0"/>
          </p:cNvCxnSpPr>
          <p:nvPr/>
        </p:nvCxnSpPr>
        <p:spPr>
          <a:xfrm flipH="1">
            <a:off x="1714500" y="1247775"/>
            <a:ext cx="1143000" cy="276225"/>
          </a:xfrm>
          <a:prstGeom prst="straightConnector1">
            <a:avLst/>
          </a:prstGeom>
          <a:ln w="11430">
            <a:solidFill>
              <a:srgbClr val="66717C"/>
            </a:solidFill>
            <a:headEnd type="none" w="med" len="med"/>
            <a:tailEnd type="none" w="sm" len="sm"/>
          </a:ln>
        </p:spPr>
      </p:cxnSp>
      <p:cxnSp>
        <p:nvCxnSpPr>
          <p:cNvPr id="39" name="Straight Arrow Connector 38"/>
          <p:cNvCxnSpPr>
            <a:stCxn id="14" idx="4"/>
            <a:endCxn id="16" idx="0"/>
          </p:cNvCxnSpPr>
          <p:nvPr/>
        </p:nvCxnSpPr>
        <p:spPr>
          <a:xfrm>
            <a:off x="2857500" y="1247775"/>
            <a:ext cx="1143000" cy="276225"/>
          </a:xfrm>
          <a:prstGeom prst="straightConnector1">
            <a:avLst/>
          </a:prstGeom>
          <a:ln w="11430">
            <a:solidFill>
              <a:srgbClr val="66717C"/>
            </a:solidFill>
            <a:headEnd type="none" w="med" len="med"/>
            <a:tailEnd type="none" w="sm" len="sm"/>
          </a:ln>
        </p:spPr>
      </p:cxnSp>
      <p:cxnSp>
        <p:nvCxnSpPr>
          <p:cNvPr id="40" name="Straight Arrow Connector 39"/>
          <p:cNvCxnSpPr>
            <a:stCxn id="15" idx="4"/>
            <a:endCxn id="17" idx="0"/>
          </p:cNvCxnSpPr>
          <p:nvPr/>
        </p:nvCxnSpPr>
        <p:spPr>
          <a:xfrm flipH="1">
            <a:off x="1047750" y="1847850"/>
            <a:ext cx="666750" cy="257175"/>
          </a:xfrm>
          <a:prstGeom prst="straightConnector1">
            <a:avLst/>
          </a:prstGeom>
          <a:ln w="11430">
            <a:solidFill>
              <a:srgbClr val="66717C"/>
            </a:solidFill>
            <a:headEnd type="none" w="med" len="med"/>
            <a:tailEnd type="none" w="sm" len="sm"/>
          </a:ln>
        </p:spPr>
      </p:cxnSp>
      <p:cxnSp>
        <p:nvCxnSpPr>
          <p:cNvPr id="41" name="Straight Arrow Connector 40"/>
          <p:cNvCxnSpPr>
            <a:stCxn id="15" idx="4"/>
            <a:endCxn id="18" idx="0"/>
          </p:cNvCxnSpPr>
          <p:nvPr/>
        </p:nvCxnSpPr>
        <p:spPr>
          <a:xfrm>
            <a:off x="1714500" y="1847850"/>
            <a:ext cx="666750" cy="257175"/>
          </a:xfrm>
          <a:prstGeom prst="straightConnector1">
            <a:avLst/>
          </a:prstGeom>
          <a:ln w="11430">
            <a:solidFill>
              <a:srgbClr val="66717C"/>
            </a:solidFill>
            <a:headEnd type="none" w="med" len="med"/>
            <a:tailEnd type="none" w="sm" len="sm"/>
          </a:ln>
        </p:spPr>
      </p:cxnSp>
      <p:sp>
        <p:nvSpPr>
          <p:cNvPr id="23" name="text">
            <a:extLst>
              <a:ext uri="{FF2B5EF4-FFF2-40B4-BE49-F238E27FC236}">
                <a16:creationId xmlns:a16="http://schemas.microsoft.com/office/drawing/2014/main" id="{35674815-DB11-4DDD-A21E-5DA65AFBEBE0}"/>
              </a:ext>
            </a:extLst>
          </p:cNvPr>
          <p:cNvSpPr>
            <a:spLocks noGrp="1"/>
          </p:cNvSpPr>
          <p:nvPr/>
        </p:nvSpPr>
        <p:spPr>
          <a:xfrm>
            <a:off x="3324225" y="962025"/>
            <a:ext cx="666750" cy="190500"/>
          </a:xfrm>
          <a:prstGeom prst="rect">
            <a:avLst/>
          </a:prstGeom>
          <a:noFill/>
          <a:ln w="0">
            <a:noFill/>
          </a:ln>
        </p:spPr>
        <p:txBody>
          <a:bodyPr wrap="square" lIns="0" tIns="0" rIns="0" bIns="0" anchor="t">
            <a:noAutofit/>
          </a:bodyPr>
          <a:lstStyle/>
          <a:p>
            <a:pPr algn="ctr">
              <a:lnSpc>
                <a:spcPct val="110000"/>
              </a:lnSpc>
              <a:buNone/>
              <a:defRPr sz="863" b="0">
                <a:solidFill>
                  <a:srgbClr val="006ABA"/>
                </a:solidFill>
                <a:latin typeface="Arial"/>
                <a:ea typeface="Arial"/>
                <a:cs typeface="Arial"/>
              </a:defRPr>
            </a:pPr>
            <a:r>
              <a:rPr sz="863" b="0">
                <a:solidFill>
                  <a:srgbClr val="006ABA"/>
                </a:solidFill>
                <a:latin typeface="Arial"/>
                <a:ea typeface="Arial"/>
                <a:cs typeface="Arial"/>
              </a:rPr>
              <a:t>root</a:t>
            </a:r>
          </a:p>
        </p:txBody>
      </p:sp>
      <p:sp>
        <p:nvSpPr>
          <p:cNvPr id="24" name="text">
            <a:extLst>
              <a:ext uri="{FF2B5EF4-FFF2-40B4-BE49-F238E27FC236}">
                <a16:creationId xmlns:a16="http://schemas.microsoft.com/office/drawing/2014/main" id="{1C25AA37-708D-407A-9C6D-F6B0CC64835F}"/>
              </a:ext>
            </a:extLst>
          </p:cNvPr>
          <p:cNvSpPr>
            <a:spLocks noGrp="1"/>
          </p:cNvSpPr>
          <p:nvPr/>
        </p:nvSpPr>
        <p:spPr>
          <a:xfrm>
            <a:off x="4419600" y="1581150"/>
            <a:ext cx="666750" cy="190500"/>
          </a:xfrm>
          <a:prstGeom prst="rect">
            <a:avLst/>
          </a:prstGeom>
          <a:noFill/>
          <a:ln w="0">
            <a:noFill/>
          </a:ln>
        </p:spPr>
        <p:txBody>
          <a:bodyPr wrap="square" lIns="0" tIns="0" rIns="0" bIns="0" anchor="t">
            <a:noAutofit/>
          </a:bodyPr>
          <a:lstStyle/>
          <a:p>
            <a:pPr algn="ctr">
              <a:lnSpc>
                <a:spcPct val="110000"/>
              </a:lnSpc>
              <a:buNone/>
              <a:defRPr sz="863" b="0">
                <a:solidFill>
                  <a:srgbClr val="006ABA"/>
                </a:solidFill>
                <a:latin typeface="Arial"/>
                <a:ea typeface="Arial"/>
                <a:cs typeface="Arial"/>
              </a:defRPr>
            </a:pPr>
            <a:r>
              <a:rPr sz="863" b="0">
                <a:solidFill>
                  <a:srgbClr val="006ABA"/>
                </a:solidFill>
                <a:latin typeface="Arial"/>
                <a:ea typeface="Arial"/>
                <a:cs typeface="Arial"/>
              </a:rPr>
              <a:t>leaf</a:t>
            </a:r>
          </a:p>
        </p:txBody>
      </p:sp>
      <p:sp>
        <p:nvSpPr>
          <p:cNvPr id="25" name="text">
            <a:extLst>
              <a:ext uri="{FF2B5EF4-FFF2-40B4-BE49-F238E27FC236}">
                <a16:creationId xmlns:a16="http://schemas.microsoft.com/office/drawing/2014/main" id="{9CEF709F-9D46-465B-A059-B31049790271}"/>
              </a:ext>
            </a:extLst>
          </p:cNvPr>
          <p:cNvSpPr>
            <a:spLocks noGrp="1"/>
          </p:cNvSpPr>
          <p:nvPr/>
        </p:nvSpPr>
        <p:spPr>
          <a:xfrm>
            <a:off x="228600" y="2600325"/>
            <a:ext cx="5314950" cy="228600"/>
          </a:xfrm>
          <a:prstGeom prst="rect">
            <a:avLst/>
          </a:prstGeom>
          <a:noFill/>
          <a:ln w="0">
            <a:noFill/>
          </a:ln>
        </p:spPr>
        <p:txBody>
          <a:bodyPr wrap="square" lIns="0" tIns="0" rIns="0" bIns="0" anchor="t">
            <a:noAutofit/>
          </a:bodyPr>
          <a:lstStyle/>
          <a:p>
            <a:pPr algn="l">
              <a:lnSpc>
                <a:spcPct val="110000"/>
              </a:lnSpc>
              <a:buNone/>
              <a:defRPr sz="885" b="0">
                <a:solidFill>
                  <a:srgbClr val="006ABA"/>
                </a:solidFill>
                <a:latin typeface="Arial"/>
                <a:ea typeface="Arial"/>
                <a:cs typeface="Arial"/>
              </a:defRPr>
            </a:pPr>
            <a:r>
              <a:rPr sz="885" b="0">
                <a:solidFill>
                  <a:srgbClr val="006ABA"/>
                </a:solidFill>
                <a:latin typeface="Arial"/>
                <a:ea typeface="Arial"/>
                <a:cs typeface="Arial"/>
              </a:rPr>
              <a:t>Search for 7: 10, then 5, then 7. Cost depends on height.</a:t>
            </a:r>
          </a:p>
        </p:txBody>
      </p:sp>
      <p:sp>
        <p:nvSpPr>
          <p:cNvPr id="26" name="text">
            <a:extLst>
              <a:ext uri="{FF2B5EF4-FFF2-40B4-BE49-F238E27FC236}">
                <a16:creationId xmlns:a16="http://schemas.microsoft.com/office/drawing/2014/main" id="{17A30C38-97F9-4B5C-9DBD-A01AC6851B82}"/>
              </a:ext>
            </a:extLst>
          </p:cNvPr>
          <p:cNvSpPr>
            <a:spLocks noGrp="1"/>
          </p:cNvSpPr>
          <p:nvPr/>
        </p:nvSpPr>
        <p:spPr>
          <a:xfrm>
            <a:off x="228600" y="2867025"/>
            <a:ext cx="5334000" cy="95250"/>
          </a:xfrm>
          <a:prstGeom prst="rect">
            <a:avLst/>
          </a:prstGeom>
          <a:noFill/>
          <a:ln w="0">
            <a:noFill/>
          </a:ln>
        </p:spPr>
        <p:txBody>
          <a:bodyPr wrap="square" lIns="0" tIns="0" rIns="0" bIns="0" anchor="t">
            <a:noAutofit/>
          </a:bodyPr>
          <a:lstStyle/>
          <a:p>
            <a:pPr algn="l">
              <a:lnSpc>
                <a:spcPct val="110000"/>
              </a:lnSpc>
              <a:buNone/>
              <a:defRPr sz="510" b="0">
                <a:solidFill>
                  <a:srgbClr val="66717C"/>
                </a:solidFill>
                <a:latin typeface="Arial"/>
                <a:ea typeface="Arial"/>
                <a:cs typeface="Arial"/>
              </a:defRPr>
            </a:pPr>
            <a:r>
              <a:rPr sz="510" b="0">
                <a:solidFill>
                  <a:srgbClr val="66717C"/>
                </a:solidFill>
                <a:latin typeface="Arial"/>
                <a:ea typeface="Arial"/>
                <a:cs typeface="Arial"/>
              </a:rPr>
              <a:t>[I]  [A]</a:t>
            </a:r>
          </a:p>
        </p:txBody>
      </p:sp>
    </p:spTree>
    <p:extLst>
      <p:ext uri="{BB962C8B-B14F-4D97-AF65-F5344CB8AC3E}">
        <p14:creationId xmlns:p14="http://schemas.microsoft.com/office/powerpoint/2010/main" val="364567217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19C03931-4A28-44C2-9238-650F85D8C2AD}"/>
              </a:ext>
            </a:extLst>
          </p:cNvPr>
          <p:cNvSpPr>
            <a:spLocks noGrp="1"/>
          </p:cNvSpPr>
          <p:nvPr>
            <p:ph type="title"/>
          </p:nvPr>
        </p:nvSpPr>
        <p:spPr>
          <a:xfrm>
            <a:off x="171450" y="95250"/>
            <a:ext cx="5429250" cy="304800"/>
          </a:xfrm>
          <a:prstGeom prst="rect">
            <a:avLst/>
          </a:prstGeom>
        </p:spPr>
        <p:txBody>
          <a:bodyPr vert="horz" wrap="square" lIns="0" tIns="0" rIns="0" bIns="0">
            <a:noAutofit/>
          </a:bodyPr>
          <a:lstStyle/>
          <a:p>
            <a:pPr marL="12700" algn="l">
              <a:lnSpc>
                <a:spcPct val="110000"/>
              </a:lnSpc>
              <a:spcBef>
                <a:spcPts val="135"/>
              </a:spcBef>
              <a:buNone/>
              <a:defRPr sz="1400">
                <a:solidFill>
                  <a:srgbClr val="006ABA"/>
                </a:solidFill>
                <a:latin typeface="Arial"/>
                <a:ea typeface="Arial"/>
                <a:cs typeface="Arial"/>
              </a:defRPr>
            </a:pPr>
            <a:r>
              <a:rPr sz="1400" b="0" spc="-10">
                <a:solidFill>
                  <a:srgbClr val="006ABA"/>
                </a:solidFill>
                <a:latin typeface="Arial"/>
                <a:ea typeface="Arial"/>
                <a:cs typeface="Arial"/>
              </a:rPr>
              <a:t>Traversal in trees</a:t>
            </a:r>
            <a:endParaRPr sz="1400" b="0" spc="-10">
              <a:latin typeface="Arial"/>
              <a:ea typeface="Arial"/>
              <a:cs typeface="Arial"/>
            </a:endParaRPr>
          </a:p>
        </p:txBody>
      </p:sp>
      <p:pic>
        <p:nvPicPr>
          <p:cNvPr id="32" name="object 4"/>
          <p:cNvPicPr>
            <a:picLocks noChangeAspect="1"/>
          </p:cNvPicPr>
          <p:nvPr/>
        </p:nvPicPr>
        <p:blipFill>
          <a:blip r:embed="rId3"/>
          <a:stretch>
            <a:fillRect/>
          </a:stretch>
        </p:blipFill>
        <p:spPr>
          <a:xfrm>
            <a:off x="152565" y="2988507"/>
            <a:ext cx="900668" cy="161917"/>
          </a:xfrm>
          <a:prstGeom prst="rect">
            <a:avLst/>
          </a:prstGeom>
        </p:spPr>
      </p:pic>
      <p:pic>
        <p:nvPicPr>
          <p:cNvPr id="33" name="object 5"/>
          <p:cNvPicPr>
            <a:picLocks noChangeAspect="1"/>
          </p:cNvPicPr>
          <p:nvPr/>
        </p:nvPicPr>
        <p:blipFill>
          <a:blip r:embed="rId4"/>
          <a:stretch>
            <a:fillRect/>
          </a:stretch>
        </p:blipFill>
        <p:spPr>
          <a:xfrm>
            <a:off x="1286560" y="2988417"/>
            <a:ext cx="610912" cy="162008"/>
          </a:xfrm>
          <a:prstGeom prst="rect">
            <a:avLst/>
          </a:prstGeom>
        </p:spPr>
      </p:pic>
      <p:sp>
        <p:nvSpPr>
          <p:cNvPr id="10" name="Footer Placeholder 7">
            <a:extLst>
              <a:ext uri="{FF2B5EF4-FFF2-40B4-BE49-F238E27FC236}">
                <a16:creationId xmlns:a16="http://schemas.microsoft.com/office/drawing/2014/main" id="{197FE2C8-8EE2-4937-3F30-294DB47641D6}"/>
              </a:ext>
            </a:extLst>
          </p:cNvPr>
          <p:cNvSpPr>
            <a:spLocks noGrp="1"/>
          </p:cNvSpPr>
          <p:nvPr>
            <p:ph type="ftr" idx="5"/>
          </p:nvPr>
        </p:nvSpPr>
        <p:spPr>
          <a:xfrm>
            <a:off x="2590800" y="3105150"/>
            <a:ext cx="2743200" cy="95250"/>
          </a:xfrm>
        </p:spPr>
        <p:txBody>
          <a:bodyPr wrap="square" lIns="0" tIns="0" rIns="0" bIns="0">
            <a:noAutofit/>
          </a:bodyPr>
          <a:lstStyle/>
          <a:p>
            <a:pPr algn="r">
              <a:lnSpc>
                <a:spcPct val="110000"/>
              </a:lnSpc>
              <a:buNone/>
              <a:defRPr sz="500">
                <a:solidFill>
                  <a:srgbClr val="888888"/>
                </a:solidFill>
                <a:latin typeface="Arial"/>
                <a:ea typeface="Arial"/>
                <a:cs typeface="Arial"/>
              </a:defRPr>
            </a:pPr>
            <a:r>
              <a:rPr sz="500">
                <a:solidFill>
                  <a:srgbClr val="888888"/>
                </a:solidFill>
                <a:latin typeface="Arial"/>
                <a:ea typeface="Arial"/>
                <a:cs typeface="Arial"/>
              </a:rPr>
              <a:t>MAS Foundations - Kamendu Panchal</a:t>
            </a:r>
            <a:endParaRPr sz="500" b="1">
              <a:solidFill>
                <a:schemeClr val="tx1"/>
              </a:solidFill>
              <a:latin typeface="Arial"/>
              <a:ea typeface="Arial"/>
              <a:cs typeface="Arial"/>
            </a:endParaRPr>
          </a:p>
        </p:txBody>
      </p:sp>
      <p:sp>
        <p:nvSpPr>
          <p:cNvPr id="3" name="TextBox 2">
            <a:extLst>
              <a:ext uri="{FF2B5EF4-FFF2-40B4-BE49-F238E27FC236}">
                <a16:creationId xmlns:a16="http://schemas.microsoft.com/office/drawing/2014/main" id="{DCE8FEB4-DA15-74FB-D091-FA2B80C9B501}"/>
              </a:ext>
            </a:extLst>
          </p:cNvPr>
          <p:cNvSpPr>
            <a:spLocks noGrp="1"/>
          </p:cNvSpPr>
          <p:nvPr/>
        </p:nvSpPr>
        <p:spPr>
          <a:xfrm>
            <a:off x="5438775" y="3086100"/>
            <a:ext cx="209550" cy="175260"/>
          </a:xfrm>
          <a:prstGeom prst="rect">
            <a:avLst/>
          </a:prstGeom>
          <a:noFill/>
        </p:spPr>
        <p:txBody>
          <a:bodyPr wrap="square" lIns="0" tIns="0" rIns="0" bIns="0">
            <a:noAutofit/>
          </a:bodyPr>
          <a:lstStyle/>
          <a:p>
            <a:pPr algn="r">
              <a:lnSpc>
                <a:spcPct val="110000"/>
              </a:lnSpc>
              <a:buNone/>
              <a:defRPr sz="500">
                <a:solidFill>
                  <a:srgbClr val="202020"/>
                </a:solidFill>
                <a:latin typeface="Arial"/>
                <a:ea typeface="Arial"/>
                <a:cs typeface="Arial"/>
              </a:defRPr>
            </a:pPr>
            <a:r>
              <a:rPr sz="500">
                <a:solidFill>
                  <a:srgbClr val="202020"/>
                </a:solidFill>
                <a:latin typeface="Arial"/>
                <a:ea typeface="Arial"/>
                <a:cs typeface="Arial"/>
              </a:rPr>
              <a:t>29</a:t>
            </a:r>
          </a:p>
        </p:txBody>
      </p:sp>
      <p:sp>
        <p:nvSpPr>
          <p:cNvPr id="13" name="text">
            <a:extLst>
              <a:ext uri="{FF2B5EF4-FFF2-40B4-BE49-F238E27FC236}">
                <a16:creationId xmlns:a16="http://schemas.microsoft.com/office/drawing/2014/main" id="{F2D6CAB1-6ABE-487A-9AA1-E1D1103BF670}"/>
              </a:ext>
            </a:extLst>
          </p:cNvPr>
          <p:cNvSpPr>
            <a:spLocks noGrp="1"/>
          </p:cNvSpPr>
          <p:nvPr/>
        </p:nvSpPr>
        <p:spPr>
          <a:xfrm>
            <a:off x="228600" y="504825"/>
            <a:ext cx="5314950" cy="381000"/>
          </a:xfrm>
          <a:prstGeom prst="rect">
            <a:avLst/>
          </a:prstGeom>
          <a:noFill/>
          <a:ln w="0">
            <a:noFill/>
          </a:ln>
        </p:spPr>
        <p:txBody>
          <a:bodyPr wrap="square" lIns="0" tIns="0" rIns="0" bIns="0" anchor="t">
            <a:noAutofit/>
          </a:bodyPr>
          <a:lstStyle/>
          <a:p>
            <a:pPr algn="l">
              <a:lnSpc>
                <a:spcPct val="110000"/>
              </a:lnSpc>
              <a:buNone/>
              <a:defRPr sz="998" b="0">
                <a:solidFill>
                  <a:srgbClr val="202020"/>
                </a:solidFill>
                <a:latin typeface="Arial"/>
                <a:ea typeface="Arial"/>
                <a:cs typeface="Arial"/>
              </a:defRPr>
            </a:pPr>
            <a:r>
              <a:rPr sz="998" b="0">
                <a:solidFill>
                  <a:srgbClr val="202020"/>
                </a:solidFill>
                <a:latin typeface="Arial"/>
                <a:ea typeface="Arial"/>
                <a:cs typeface="Arial"/>
              </a:rPr>
              <a:t>Traversal visits the nodes in a specified order.</a:t>
            </a:r>
          </a:p>
        </p:txBody>
      </p:sp>
      <p:sp>
        <p:nvSpPr>
          <p:cNvPr id="14" name="diagram-node">
            <a:extLst>
              <a:ext uri="{FF2B5EF4-FFF2-40B4-BE49-F238E27FC236}">
                <a16:creationId xmlns:a16="http://schemas.microsoft.com/office/drawing/2014/main" id="{EE654022-40C5-4528-8B4D-B539567B1C5E}"/>
              </a:ext>
            </a:extLst>
          </p:cNvPr>
          <p:cNvSpPr>
            <a:spLocks noGrp="1"/>
          </p:cNvSpPr>
          <p:nvPr/>
        </p:nvSpPr>
        <p:spPr>
          <a:xfrm>
            <a:off x="1057275" y="981075"/>
            <a:ext cx="571500" cy="295275"/>
          </a:xfrm>
          <a:prstGeom prst="ellipse">
            <a:avLst/>
          </a:prstGeom>
          <a:solidFill>
            <a:srgbClr val="EAF3FA"/>
          </a:solidFill>
          <a:ln w="11430">
            <a:solidFill>
              <a:srgbClr val="006ABA"/>
            </a:solidFill>
          </a:ln>
        </p:spPr>
        <p:txBody>
          <a:bodyPr wrap="square" lIns="47625" tIns="28575" rIns="47625" bIns="28575" anchor="ctr">
            <a:noAutofit/>
          </a:bodyPr>
          <a:lstStyle/>
          <a:p>
            <a:pPr algn="ctr">
              <a:lnSpc>
                <a:spcPct val="107000"/>
              </a:lnSpc>
              <a:buNone/>
              <a:defRPr sz="975">
                <a:solidFill>
                  <a:srgbClr val="202020"/>
                </a:solidFill>
                <a:latin typeface="Arial"/>
                <a:ea typeface="Arial"/>
                <a:cs typeface="Arial"/>
              </a:defRPr>
            </a:pPr>
            <a:r>
              <a:rPr sz="975">
                <a:solidFill>
                  <a:srgbClr val="202020"/>
                </a:solidFill>
                <a:latin typeface="Arial"/>
                <a:ea typeface="Arial"/>
                <a:cs typeface="Arial"/>
              </a:rPr>
              <a:t>10</a:t>
            </a:r>
          </a:p>
        </p:txBody>
      </p:sp>
      <p:sp>
        <p:nvSpPr>
          <p:cNvPr id="15" name="diagram-node">
            <a:extLst>
              <a:ext uri="{FF2B5EF4-FFF2-40B4-BE49-F238E27FC236}">
                <a16:creationId xmlns:a16="http://schemas.microsoft.com/office/drawing/2014/main" id="{0D6A424A-367F-44F2-80DE-47CEFCE38ACF}"/>
              </a:ext>
            </a:extLst>
          </p:cNvPr>
          <p:cNvSpPr>
            <a:spLocks noGrp="1"/>
          </p:cNvSpPr>
          <p:nvPr/>
        </p:nvSpPr>
        <p:spPr>
          <a:xfrm>
            <a:off x="504825" y="1543050"/>
            <a:ext cx="571500" cy="295275"/>
          </a:xfrm>
          <a:prstGeom prst="ellipse">
            <a:avLst/>
          </a:prstGeom>
          <a:solidFill>
            <a:srgbClr val="FFFFFF"/>
          </a:solidFill>
          <a:ln w="11430">
            <a:solidFill>
              <a:srgbClr val="006ABA"/>
            </a:solidFill>
          </a:ln>
        </p:spPr>
        <p:txBody>
          <a:bodyPr wrap="square" lIns="47625" tIns="28575" rIns="47625" bIns="28575" anchor="ctr">
            <a:noAutofit/>
          </a:bodyPr>
          <a:lstStyle/>
          <a:p>
            <a:pPr algn="ctr">
              <a:lnSpc>
                <a:spcPct val="107000"/>
              </a:lnSpc>
              <a:buNone/>
              <a:defRPr sz="975">
                <a:solidFill>
                  <a:srgbClr val="202020"/>
                </a:solidFill>
                <a:latin typeface="Arial"/>
                <a:ea typeface="Arial"/>
                <a:cs typeface="Arial"/>
              </a:defRPr>
            </a:pPr>
            <a:r>
              <a:rPr sz="975">
                <a:solidFill>
                  <a:srgbClr val="202020"/>
                </a:solidFill>
                <a:latin typeface="Arial"/>
                <a:ea typeface="Arial"/>
                <a:cs typeface="Arial"/>
              </a:rPr>
              <a:t>5</a:t>
            </a:r>
          </a:p>
        </p:txBody>
      </p:sp>
      <p:sp>
        <p:nvSpPr>
          <p:cNvPr id="16" name="diagram-node">
            <a:extLst>
              <a:ext uri="{FF2B5EF4-FFF2-40B4-BE49-F238E27FC236}">
                <a16:creationId xmlns:a16="http://schemas.microsoft.com/office/drawing/2014/main" id="{B76370C5-BCD1-410C-B9E8-165ED7B5F680}"/>
              </a:ext>
            </a:extLst>
          </p:cNvPr>
          <p:cNvSpPr>
            <a:spLocks noGrp="1"/>
          </p:cNvSpPr>
          <p:nvPr/>
        </p:nvSpPr>
        <p:spPr>
          <a:xfrm>
            <a:off x="1743075" y="1543050"/>
            <a:ext cx="571500" cy="295275"/>
          </a:xfrm>
          <a:prstGeom prst="ellipse">
            <a:avLst/>
          </a:prstGeom>
          <a:solidFill>
            <a:srgbClr val="FFFFFF"/>
          </a:solidFill>
          <a:ln w="11430">
            <a:solidFill>
              <a:srgbClr val="006ABA"/>
            </a:solidFill>
          </a:ln>
        </p:spPr>
        <p:txBody>
          <a:bodyPr wrap="square" lIns="47625" tIns="28575" rIns="47625" bIns="28575" anchor="ctr">
            <a:noAutofit/>
          </a:bodyPr>
          <a:lstStyle/>
          <a:p>
            <a:pPr algn="ctr">
              <a:lnSpc>
                <a:spcPct val="107000"/>
              </a:lnSpc>
              <a:buNone/>
              <a:defRPr sz="975">
                <a:solidFill>
                  <a:srgbClr val="202020"/>
                </a:solidFill>
                <a:latin typeface="Arial"/>
                <a:ea typeface="Arial"/>
                <a:cs typeface="Arial"/>
              </a:defRPr>
            </a:pPr>
            <a:r>
              <a:rPr sz="975">
                <a:solidFill>
                  <a:srgbClr val="202020"/>
                </a:solidFill>
                <a:latin typeface="Arial"/>
                <a:ea typeface="Arial"/>
                <a:cs typeface="Arial"/>
              </a:rPr>
              <a:t>15</a:t>
            </a:r>
          </a:p>
        </p:txBody>
      </p:sp>
      <p:sp>
        <p:nvSpPr>
          <p:cNvPr id="17" name="diagram-node">
            <a:extLst>
              <a:ext uri="{FF2B5EF4-FFF2-40B4-BE49-F238E27FC236}">
                <a16:creationId xmlns:a16="http://schemas.microsoft.com/office/drawing/2014/main" id="{E0178324-1EC7-4720-BDC6-6A04291C212D}"/>
              </a:ext>
            </a:extLst>
          </p:cNvPr>
          <p:cNvSpPr>
            <a:spLocks noGrp="1"/>
          </p:cNvSpPr>
          <p:nvPr/>
        </p:nvSpPr>
        <p:spPr>
          <a:xfrm>
            <a:off x="228600" y="2095500"/>
            <a:ext cx="571500" cy="295275"/>
          </a:xfrm>
          <a:prstGeom prst="ellipse">
            <a:avLst/>
          </a:prstGeom>
          <a:solidFill>
            <a:srgbClr val="FFFFFF"/>
          </a:solidFill>
          <a:ln w="11430">
            <a:solidFill>
              <a:srgbClr val="006ABA"/>
            </a:solidFill>
          </a:ln>
        </p:spPr>
        <p:txBody>
          <a:bodyPr wrap="square" lIns="47625" tIns="28575" rIns="47625" bIns="28575" anchor="ctr">
            <a:noAutofit/>
          </a:bodyPr>
          <a:lstStyle/>
          <a:p>
            <a:pPr algn="ctr">
              <a:lnSpc>
                <a:spcPct val="107000"/>
              </a:lnSpc>
              <a:buNone/>
              <a:defRPr sz="975">
                <a:solidFill>
                  <a:srgbClr val="202020"/>
                </a:solidFill>
                <a:latin typeface="Arial"/>
                <a:ea typeface="Arial"/>
                <a:cs typeface="Arial"/>
              </a:defRPr>
            </a:pPr>
            <a:r>
              <a:rPr sz="975">
                <a:solidFill>
                  <a:srgbClr val="202020"/>
                </a:solidFill>
                <a:latin typeface="Arial"/>
                <a:ea typeface="Arial"/>
                <a:cs typeface="Arial"/>
              </a:rPr>
              <a:t>2</a:t>
            </a:r>
          </a:p>
        </p:txBody>
      </p:sp>
      <p:sp>
        <p:nvSpPr>
          <p:cNvPr id="18" name="diagram-node">
            <a:extLst>
              <a:ext uri="{FF2B5EF4-FFF2-40B4-BE49-F238E27FC236}">
                <a16:creationId xmlns:a16="http://schemas.microsoft.com/office/drawing/2014/main" id="{56DC7EBF-94F6-4A1D-A60C-5B7B658C2AF9}"/>
              </a:ext>
            </a:extLst>
          </p:cNvPr>
          <p:cNvSpPr>
            <a:spLocks noGrp="1"/>
          </p:cNvSpPr>
          <p:nvPr/>
        </p:nvSpPr>
        <p:spPr>
          <a:xfrm>
            <a:off x="1057275" y="2095500"/>
            <a:ext cx="571500" cy="295275"/>
          </a:xfrm>
          <a:prstGeom prst="ellipse">
            <a:avLst/>
          </a:prstGeom>
          <a:solidFill>
            <a:srgbClr val="FFFFFF"/>
          </a:solidFill>
          <a:ln w="11430">
            <a:solidFill>
              <a:srgbClr val="006ABA"/>
            </a:solidFill>
          </a:ln>
        </p:spPr>
        <p:txBody>
          <a:bodyPr wrap="square" lIns="47625" tIns="28575" rIns="47625" bIns="28575" anchor="ctr">
            <a:noAutofit/>
          </a:bodyPr>
          <a:lstStyle/>
          <a:p>
            <a:pPr algn="ctr">
              <a:lnSpc>
                <a:spcPct val="107000"/>
              </a:lnSpc>
              <a:buNone/>
              <a:defRPr sz="975">
                <a:solidFill>
                  <a:srgbClr val="202020"/>
                </a:solidFill>
                <a:latin typeface="Arial"/>
                <a:ea typeface="Arial"/>
                <a:cs typeface="Arial"/>
              </a:defRPr>
            </a:pPr>
            <a:r>
              <a:rPr sz="975">
                <a:solidFill>
                  <a:srgbClr val="202020"/>
                </a:solidFill>
                <a:latin typeface="Arial"/>
                <a:ea typeface="Arial"/>
                <a:cs typeface="Arial"/>
              </a:rPr>
              <a:t>7</a:t>
            </a:r>
          </a:p>
        </p:txBody>
      </p:sp>
      <p:cxnSp>
        <p:nvCxnSpPr>
          <p:cNvPr id="42" name="Straight Arrow Connector 41"/>
          <p:cNvCxnSpPr>
            <a:stCxn id="14" idx="4"/>
            <a:endCxn id="15" idx="0"/>
          </p:cNvCxnSpPr>
          <p:nvPr/>
        </p:nvCxnSpPr>
        <p:spPr>
          <a:xfrm flipH="1">
            <a:off x="790575" y="1276350"/>
            <a:ext cx="552450" cy="266700"/>
          </a:xfrm>
          <a:prstGeom prst="straightConnector1">
            <a:avLst/>
          </a:prstGeom>
          <a:ln w="11430">
            <a:solidFill>
              <a:srgbClr val="66717C"/>
            </a:solidFill>
            <a:headEnd type="none" w="med" len="med"/>
            <a:tailEnd type="none" w="sm" len="sm"/>
          </a:ln>
        </p:spPr>
      </p:cxnSp>
      <p:cxnSp>
        <p:nvCxnSpPr>
          <p:cNvPr id="43" name="Straight Arrow Connector 42"/>
          <p:cNvCxnSpPr>
            <a:stCxn id="14" idx="4"/>
            <a:endCxn id="16" idx="0"/>
          </p:cNvCxnSpPr>
          <p:nvPr/>
        </p:nvCxnSpPr>
        <p:spPr>
          <a:xfrm>
            <a:off x="1343025" y="1276350"/>
            <a:ext cx="685800" cy="266700"/>
          </a:xfrm>
          <a:prstGeom prst="straightConnector1">
            <a:avLst/>
          </a:prstGeom>
          <a:ln w="11430">
            <a:solidFill>
              <a:srgbClr val="66717C"/>
            </a:solidFill>
            <a:headEnd type="none" w="med" len="med"/>
            <a:tailEnd type="none" w="sm" len="sm"/>
          </a:ln>
        </p:spPr>
      </p:cxnSp>
      <p:cxnSp>
        <p:nvCxnSpPr>
          <p:cNvPr id="44" name="Straight Arrow Connector 43"/>
          <p:cNvCxnSpPr>
            <a:stCxn id="15" idx="4"/>
            <a:endCxn id="17" idx="0"/>
          </p:cNvCxnSpPr>
          <p:nvPr/>
        </p:nvCxnSpPr>
        <p:spPr>
          <a:xfrm flipH="1">
            <a:off x="514350" y="1838325"/>
            <a:ext cx="276225" cy="257175"/>
          </a:xfrm>
          <a:prstGeom prst="straightConnector1">
            <a:avLst/>
          </a:prstGeom>
          <a:ln w="11430">
            <a:solidFill>
              <a:srgbClr val="66717C"/>
            </a:solidFill>
            <a:headEnd type="none" w="med" len="med"/>
            <a:tailEnd type="none" w="sm" len="sm"/>
          </a:ln>
        </p:spPr>
      </p:cxnSp>
      <p:cxnSp>
        <p:nvCxnSpPr>
          <p:cNvPr id="45" name="Straight Arrow Connector 44"/>
          <p:cNvCxnSpPr>
            <a:stCxn id="15" idx="4"/>
            <a:endCxn id="18" idx="0"/>
          </p:cNvCxnSpPr>
          <p:nvPr/>
        </p:nvCxnSpPr>
        <p:spPr>
          <a:xfrm>
            <a:off x="790575" y="1838325"/>
            <a:ext cx="552450" cy="257175"/>
          </a:xfrm>
          <a:prstGeom prst="straightConnector1">
            <a:avLst/>
          </a:prstGeom>
          <a:ln w="11430">
            <a:solidFill>
              <a:srgbClr val="66717C"/>
            </a:solidFill>
            <a:headEnd type="none" w="med" len="med"/>
            <a:tailEnd type="none" w="sm" len="sm"/>
          </a:ln>
        </p:spPr>
      </p:cxnSp>
      <p:sp>
        <p:nvSpPr>
          <p:cNvPr id="23" name="text">
            <a:extLst>
              <a:ext uri="{FF2B5EF4-FFF2-40B4-BE49-F238E27FC236}">
                <a16:creationId xmlns:a16="http://schemas.microsoft.com/office/drawing/2014/main" id="{C31FEC77-52F2-4895-9EB9-F94979EB9853}"/>
              </a:ext>
            </a:extLst>
          </p:cNvPr>
          <p:cNvSpPr>
            <a:spLocks noGrp="1"/>
          </p:cNvSpPr>
          <p:nvPr/>
        </p:nvSpPr>
        <p:spPr>
          <a:xfrm>
            <a:off x="2743200" y="962025"/>
            <a:ext cx="2857500" cy="219075"/>
          </a:xfrm>
          <a:prstGeom prst="rect">
            <a:avLst/>
          </a:prstGeom>
          <a:noFill/>
          <a:ln w="0">
            <a:noFill/>
          </a:ln>
        </p:spPr>
        <p:txBody>
          <a:bodyPr wrap="square" lIns="0" tIns="0" rIns="0" bIns="0" anchor="t">
            <a:noAutofit/>
          </a:bodyPr>
          <a:lstStyle/>
          <a:p>
            <a:pPr algn="l">
              <a:lnSpc>
                <a:spcPct val="110000"/>
              </a:lnSpc>
              <a:buNone/>
              <a:defRPr sz="975" b="1">
                <a:solidFill>
                  <a:srgbClr val="006ABA"/>
                </a:solidFill>
                <a:latin typeface="Arial"/>
                <a:ea typeface="Arial"/>
                <a:cs typeface="Arial"/>
              </a:defRPr>
            </a:pPr>
            <a:r>
              <a:rPr sz="975" b="1">
                <a:solidFill>
                  <a:srgbClr val="006ABA"/>
                </a:solidFill>
                <a:latin typeface="Arial"/>
                <a:ea typeface="Arial"/>
                <a:cs typeface="Arial"/>
              </a:rPr>
              <a:t>Pre-order: node, left, right</a:t>
            </a:r>
          </a:p>
        </p:txBody>
      </p:sp>
      <p:sp>
        <p:nvSpPr>
          <p:cNvPr id="24" name="text">
            <a:extLst>
              <a:ext uri="{FF2B5EF4-FFF2-40B4-BE49-F238E27FC236}">
                <a16:creationId xmlns:a16="http://schemas.microsoft.com/office/drawing/2014/main" id="{592DDD2D-862F-4355-83CC-0BF71604DAB4}"/>
              </a:ext>
            </a:extLst>
          </p:cNvPr>
          <p:cNvSpPr>
            <a:spLocks noGrp="1"/>
          </p:cNvSpPr>
          <p:nvPr/>
        </p:nvSpPr>
        <p:spPr>
          <a:xfrm>
            <a:off x="2743200" y="1200150"/>
            <a:ext cx="2857500" cy="219075"/>
          </a:xfrm>
          <a:prstGeom prst="rect">
            <a:avLst/>
          </a:prstGeom>
          <a:noFill/>
          <a:ln w="0">
            <a:noFill/>
          </a:ln>
        </p:spPr>
        <p:txBody>
          <a:bodyPr wrap="square" lIns="0" tIns="0" rIns="0" bIns="0" anchor="t">
            <a:noAutofit/>
          </a:bodyPr>
          <a:lstStyle/>
          <a:p>
            <a:pPr algn="l">
              <a:lnSpc>
                <a:spcPct val="110000"/>
              </a:lnSpc>
              <a:buNone/>
              <a:defRPr sz="1050" b="0">
                <a:solidFill>
                  <a:srgbClr val="202020"/>
                </a:solidFill>
                <a:latin typeface="Arial"/>
                <a:ea typeface="Arial"/>
                <a:cs typeface="Arial"/>
              </a:defRPr>
            </a:pPr>
            <a:r>
              <a:rPr sz="1050" b="0">
                <a:solidFill>
                  <a:srgbClr val="202020"/>
                </a:solidFill>
                <a:latin typeface="Arial"/>
                <a:ea typeface="Arial"/>
                <a:cs typeface="Arial"/>
              </a:rPr>
              <a:t>10, 5, 2, 7, 15</a:t>
            </a:r>
          </a:p>
        </p:txBody>
      </p:sp>
      <p:sp>
        <p:nvSpPr>
          <p:cNvPr id="25" name="text">
            <a:extLst>
              <a:ext uri="{FF2B5EF4-FFF2-40B4-BE49-F238E27FC236}">
                <a16:creationId xmlns:a16="http://schemas.microsoft.com/office/drawing/2014/main" id="{9F5E3F96-5C6B-464F-ACDB-9216BD69248F}"/>
              </a:ext>
            </a:extLst>
          </p:cNvPr>
          <p:cNvSpPr>
            <a:spLocks noGrp="1"/>
          </p:cNvSpPr>
          <p:nvPr/>
        </p:nvSpPr>
        <p:spPr>
          <a:xfrm>
            <a:off x="2743200" y="1524000"/>
            <a:ext cx="2857500" cy="219075"/>
          </a:xfrm>
          <a:prstGeom prst="rect">
            <a:avLst/>
          </a:prstGeom>
          <a:noFill/>
          <a:ln w="0">
            <a:noFill/>
          </a:ln>
        </p:spPr>
        <p:txBody>
          <a:bodyPr wrap="square" lIns="0" tIns="0" rIns="0" bIns="0" anchor="t">
            <a:noAutofit/>
          </a:bodyPr>
          <a:lstStyle/>
          <a:p>
            <a:pPr algn="l">
              <a:lnSpc>
                <a:spcPct val="110000"/>
              </a:lnSpc>
              <a:buNone/>
              <a:defRPr sz="975" b="1">
                <a:solidFill>
                  <a:srgbClr val="006ABA"/>
                </a:solidFill>
                <a:latin typeface="Arial"/>
                <a:ea typeface="Arial"/>
                <a:cs typeface="Arial"/>
              </a:defRPr>
            </a:pPr>
            <a:r>
              <a:rPr sz="975" b="1">
                <a:solidFill>
                  <a:srgbClr val="006ABA"/>
                </a:solidFill>
                <a:latin typeface="Arial"/>
                <a:ea typeface="Arial"/>
                <a:cs typeface="Arial"/>
              </a:rPr>
              <a:t>In-order: left, node, right</a:t>
            </a:r>
          </a:p>
        </p:txBody>
      </p:sp>
      <p:sp>
        <p:nvSpPr>
          <p:cNvPr id="26" name="text">
            <a:extLst>
              <a:ext uri="{FF2B5EF4-FFF2-40B4-BE49-F238E27FC236}">
                <a16:creationId xmlns:a16="http://schemas.microsoft.com/office/drawing/2014/main" id="{772C1083-1D10-4651-B796-CA5B1CE089D8}"/>
              </a:ext>
            </a:extLst>
          </p:cNvPr>
          <p:cNvSpPr>
            <a:spLocks noGrp="1"/>
          </p:cNvSpPr>
          <p:nvPr/>
        </p:nvSpPr>
        <p:spPr>
          <a:xfrm>
            <a:off x="2743200" y="1762125"/>
            <a:ext cx="2857500" cy="219075"/>
          </a:xfrm>
          <a:prstGeom prst="rect">
            <a:avLst/>
          </a:prstGeom>
          <a:noFill/>
          <a:ln w="0">
            <a:noFill/>
          </a:ln>
        </p:spPr>
        <p:txBody>
          <a:bodyPr wrap="square" lIns="0" tIns="0" rIns="0" bIns="0" anchor="t">
            <a:noAutofit/>
          </a:bodyPr>
          <a:lstStyle/>
          <a:p>
            <a:pPr algn="l">
              <a:lnSpc>
                <a:spcPct val="110000"/>
              </a:lnSpc>
              <a:buNone/>
              <a:defRPr sz="1050" b="0">
                <a:solidFill>
                  <a:srgbClr val="202020"/>
                </a:solidFill>
                <a:latin typeface="Arial"/>
                <a:ea typeface="Arial"/>
                <a:cs typeface="Arial"/>
              </a:defRPr>
            </a:pPr>
            <a:r>
              <a:rPr sz="1050" b="0">
                <a:solidFill>
                  <a:srgbClr val="202020"/>
                </a:solidFill>
                <a:latin typeface="Arial"/>
                <a:ea typeface="Arial"/>
                <a:cs typeface="Arial"/>
              </a:rPr>
              <a:t>2, 5, 7, 10, 15</a:t>
            </a:r>
          </a:p>
        </p:txBody>
      </p:sp>
      <p:sp>
        <p:nvSpPr>
          <p:cNvPr id="27" name="text">
            <a:extLst>
              <a:ext uri="{FF2B5EF4-FFF2-40B4-BE49-F238E27FC236}">
                <a16:creationId xmlns:a16="http://schemas.microsoft.com/office/drawing/2014/main" id="{E04E0C1A-FCA6-43B3-A2EC-756659784805}"/>
              </a:ext>
            </a:extLst>
          </p:cNvPr>
          <p:cNvSpPr>
            <a:spLocks noGrp="1"/>
          </p:cNvSpPr>
          <p:nvPr/>
        </p:nvSpPr>
        <p:spPr>
          <a:xfrm>
            <a:off x="2743200" y="2085975"/>
            <a:ext cx="2857500" cy="219075"/>
          </a:xfrm>
          <a:prstGeom prst="rect">
            <a:avLst/>
          </a:prstGeom>
          <a:noFill/>
          <a:ln w="0">
            <a:noFill/>
          </a:ln>
        </p:spPr>
        <p:txBody>
          <a:bodyPr wrap="square" lIns="0" tIns="0" rIns="0" bIns="0" anchor="t">
            <a:noAutofit/>
          </a:bodyPr>
          <a:lstStyle/>
          <a:p>
            <a:pPr algn="l">
              <a:lnSpc>
                <a:spcPct val="110000"/>
              </a:lnSpc>
              <a:buNone/>
              <a:defRPr sz="975" b="1">
                <a:solidFill>
                  <a:srgbClr val="006ABA"/>
                </a:solidFill>
                <a:latin typeface="Arial"/>
                <a:ea typeface="Arial"/>
                <a:cs typeface="Arial"/>
              </a:defRPr>
            </a:pPr>
            <a:r>
              <a:rPr sz="975" b="1">
                <a:solidFill>
                  <a:srgbClr val="006ABA"/>
                </a:solidFill>
                <a:latin typeface="Arial"/>
                <a:ea typeface="Arial"/>
                <a:cs typeface="Arial"/>
              </a:rPr>
              <a:t>Post-order: left, right, node</a:t>
            </a:r>
          </a:p>
        </p:txBody>
      </p:sp>
      <p:sp>
        <p:nvSpPr>
          <p:cNvPr id="28" name="text">
            <a:extLst>
              <a:ext uri="{FF2B5EF4-FFF2-40B4-BE49-F238E27FC236}">
                <a16:creationId xmlns:a16="http://schemas.microsoft.com/office/drawing/2014/main" id="{499464B1-1D2B-4BDD-82CB-869BAD5C36EC}"/>
              </a:ext>
            </a:extLst>
          </p:cNvPr>
          <p:cNvSpPr>
            <a:spLocks noGrp="1"/>
          </p:cNvSpPr>
          <p:nvPr/>
        </p:nvSpPr>
        <p:spPr>
          <a:xfrm>
            <a:off x="2743200" y="2324100"/>
            <a:ext cx="2857500" cy="219075"/>
          </a:xfrm>
          <a:prstGeom prst="rect">
            <a:avLst/>
          </a:prstGeom>
          <a:noFill/>
          <a:ln w="0">
            <a:noFill/>
          </a:ln>
        </p:spPr>
        <p:txBody>
          <a:bodyPr wrap="square" lIns="0" tIns="0" rIns="0" bIns="0" anchor="t">
            <a:noAutofit/>
          </a:bodyPr>
          <a:lstStyle/>
          <a:p>
            <a:pPr algn="l">
              <a:lnSpc>
                <a:spcPct val="110000"/>
              </a:lnSpc>
              <a:buNone/>
              <a:defRPr sz="1050" b="0">
                <a:solidFill>
                  <a:srgbClr val="202020"/>
                </a:solidFill>
                <a:latin typeface="Arial"/>
                <a:ea typeface="Arial"/>
                <a:cs typeface="Arial"/>
              </a:defRPr>
            </a:pPr>
            <a:r>
              <a:rPr sz="1050" b="0">
                <a:solidFill>
                  <a:srgbClr val="202020"/>
                </a:solidFill>
                <a:latin typeface="Arial"/>
                <a:ea typeface="Arial"/>
                <a:cs typeface="Arial"/>
              </a:rPr>
              <a:t>2, 7, 5, 15, 10</a:t>
            </a:r>
          </a:p>
        </p:txBody>
      </p:sp>
      <p:sp>
        <p:nvSpPr>
          <p:cNvPr id="29" name="text">
            <a:extLst>
              <a:ext uri="{FF2B5EF4-FFF2-40B4-BE49-F238E27FC236}">
                <a16:creationId xmlns:a16="http://schemas.microsoft.com/office/drawing/2014/main" id="{BE794CD1-01FC-4291-8383-627758E944A6}"/>
              </a:ext>
            </a:extLst>
          </p:cNvPr>
          <p:cNvSpPr>
            <a:spLocks noGrp="1"/>
          </p:cNvSpPr>
          <p:nvPr/>
        </p:nvSpPr>
        <p:spPr>
          <a:xfrm>
            <a:off x="228600" y="2600325"/>
            <a:ext cx="5314950" cy="228600"/>
          </a:xfrm>
          <a:prstGeom prst="rect">
            <a:avLst/>
          </a:prstGeom>
          <a:noFill/>
          <a:ln w="0">
            <a:noFill/>
          </a:ln>
        </p:spPr>
        <p:txBody>
          <a:bodyPr wrap="square" lIns="0" tIns="0" rIns="0" bIns="0" anchor="t">
            <a:noAutofit/>
          </a:bodyPr>
          <a:lstStyle/>
          <a:p>
            <a:pPr algn="l">
              <a:lnSpc>
                <a:spcPct val="110000"/>
              </a:lnSpc>
              <a:buNone/>
              <a:defRPr sz="885" b="0">
                <a:solidFill>
                  <a:srgbClr val="006ABA"/>
                </a:solidFill>
                <a:latin typeface="Arial"/>
                <a:ea typeface="Arial"/>
                <a:cs typeface="Arial"/>
              </a:defRPr>
            </a:pPr>
            <a:r>
              <a:rPr sz="885" b="0">
                <a:solidFill>
                  <a:srgbClr val="006ABA"/>
                </a:solidFill>
                <a:latin typeface="Arial"/>
                <a:ea typeface="Arial"/>
                <a:cs typeface="Arial"/>
              </a:rPr>
              <a:t>Each complete traversal visits n nodes: O(n) time.</a:t>
            </a:r>
          </a:p>
        </p:txBody>
      </p:sp>
      <p:sp>
        <p:nvSpPr>
          <p:cNvPr id="30" name="text">
            <a:extLst>
              <a:ext uri="{FF2B5EF4-FFF2-40B4-BE49-F238E27FC236}">
                <a16:creationId xmlns:a16="http://schemas.microsoft.com/office/drawing/2014/main" id="{6BAD434F-0AD0-4D8B-82C2-D41A33E7B094}"/>
              </a:ext>
            </a:extLst>
          </p:cNvPr>
          <p:cNvSpPr>
            <a:spLocks noGrp="1"/>
          </p:cNvSpPr>
          <p:nvPr/>
        </p:nvSpPr>
        <p:spPr>
          <a:xfrm>
            <a:off x="228600" y="2867025"/>
            <a:ext cx="5334000" cy="95250"/>
          </a:xfrm>
          <a:prstGeom prst="rect">
            <a:avLst/>
          </a:prstGeom>
          <a:noFill/>
          <a:ln w="0">
            <a:noFill/>
          </a:ln>
        </p:spPr>
        <p:txBody>
          <a:bodyPr wrap="square" lIns="0" tIns="0" rIns="0" bIns="0" anchor="t">
            <a:noAutofit/>
          </a:bodyPr>
          <a:lstStyle/>
          <a:p>
            <a:pPr algn="l">
              <a:lnSpc>
                <a:spcPct val="110000"/>
              </a:lnSpc>
              <a:buNone/>
              <a:defRPr sz="510" b="0">
                <a:solidFill>
                  <a:srgbClr val="66717C"/>
                </a:solidFill>
                <a:latin typeface="Arial"/>
                <a:ea typeface="Arial"/>
                <a:cs typeface="Arial"/>
              </a:defRPr>
            </a:pPr>
            <a:r>
              <a:rPr sz="510" b="0">
                <a:solidFill>
                  <a:srgbClr val="66717C"/>
                </a:solidFill>
                <a:latin typeface="Arial"/>
                <a:ea typeface="Arial"/>
                <a:cs typeface="Arial"/>
              </a:rPr>
              <a:t>[A]  [I]</a:t>
            </a:r>
          </a:p>
        </p:txBody>
      </p:sp>
    </p:spTree>
    <p:extLst>
      <p:ext uri="{BB962C8B-B14F-4D97-AF65-F5344CB8AC3E}">
        <p14:creationId xmlns:p14="http://schemas.microsoft.com/office/powerpoint/2010/main" val="364567217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19C03931-4A28-44C2-9238-650F85D8C2AD}"/>
              </a:ext>
            </a:extLst>
          </p:cNvPr>
          <p:cNvSpPr>
            <a:spLocks noGrp="1"/>
          </p:cNvSpPr>
          <p:nvPr>
            <p:ph type="title"/>
          </p:nvPr>
        </p:nvSpPr>
        <p:spPr>
          <a:xfrm>
            <a:off x="171450" y="95250"/>
            <a:ext cx="5429250" cy="304800"/>
          </a:xfrm>
          <a:prstGeom prst="rect">
            <a:avLst/>
          </a:prstGeom>
        </p:spPr>
        <p:txBody>
          <a:bodyPr vert="horz" wrap="square" lIns="0" tIns="0" rIns="0" bIns="0">
            <a:noAutofit/>
          </a:bodyPr>
          <a:lstStyle/>
          <a:p>
            <a:pPr marL="12700" algn="l">
              <a:lnSpc>
                <a:spcPct val="110000"/>
              </a:lnSpc>
              <a:spcBef>
                <a:spcPts val="135"/>
              </a:spcBef>
              <a:buNone/>
              <a:defRPr sz="1400">
                <a:solidFill>
                  <a:srgbClr val="006ABA"/>
                </a:solidFill>
                <a:latin typeface="Arial"/>
                <a:ea typeface="Arial"/>
                <a:cs typeface="Arial"/>
              </a:defRPr>
            </a:pPr>
            <a:r>
              <a:rPr sz="1400" b="0" spc="-10">
                <a:solidFill>
                  <a:srgbClr val="006ABA"/>
                </a:solidFill>
                <a:latin typeface="Arial"/>
                <a:ea typeface="Arial"/>
                <a:cs typeface="Arial"/>
              </a:rPr>
              <a:t>A tree represented by child links</a:t>
            </a:r>
            <a:endParaRPr sz="1400" b="0" spc="-10">
              <a:latin typeface="Arial"/>
              <a:ea typeface="Arial"/>
              <a:cs typeface="Arial"/>
            </a:endParaRPr>
          </a:p>
        </p:txBody>
      </p:sp>
      <p:pic>
        <p:nvPicPr>
          <p:cNvPr id="31" name="object 4"/>
          <p:cNvPicPr>
            <a:picLocks noChangeAspect="1"/>
          </p:cNvPicPr>
          <p:nvPr/>
        </p:nvPicPr>
        <p:blipFill>
          <a:blip r:embed="rId3"/>
          <a:stretch>
            <a:fillRect/>
          </a:stretch>
        </p:blipFill>
        <p:spPr>
          <a:xfrm>
            <a:off x="152565" y="2988507"/>
            <a:ext cx="900668" cy="161917"/>
          </a:xfrm>
          <a:prstGeom prst="rect">
            <a:avLst/>
          </a:prstGeom>
        </p:spPr>
      </p:pic>
      <p:pic>
        <p:nvPicPr>
          <p:cNvPr id="32" name="object 5"/>
          <p:cNvPicPr>
            <a:picLocks noChangeAspect="1"/>
          </p:cNvPicPr>
          <p:nvPr/>
        </p:nvPicPr>
        <p:blipFill>
          <a:blip r:embed="rId4"/>
          <a:stretch>
            <a:fillRect/>
          </a:stretch>
        </p:blipFill>
        <p:spPr>
          <a:xfrm>
            <a:off x="1286560" y="2988417"/>
            <a:ext cx="610912" cy="162008"/>
          </a:xfrm>
          <a:prstGeom prst="rect">
            <a:avLst/>
          </a:prstGeom>
        </p:spPr>
      </p:pic>
      <p:sp>
        <p:nvSpPr>
          <p:cNvPr id="10" name="Footer Placeholder 7">
            <a:extLst>
              <a:ext uri="{FF2B5EF4-FFF2-40B4-BE49-F238E27FC236}">
                <a16:creationId xmlns:a16="http://schemas.microsoft.com/office/drawing/2014/main" id="{197FE2C8-8EE2-4937-3F30-294DB47641D6}"/>
              </a:ext>
            </a:extLst>
          </p:cNvPr>
          <p:cNvSpPr>
            <a:spLocks noGrp="1"/>
          </p:cNvSpPr>
          <p:nvPr>
            <p:ph type="ftr" idx="5"/>
          </p:nvPr>
        </p:nvSpPr>
        <p:spPr>
          <a:xfrm>
            <a:off x="2590800" y="3105150"/>
            <a:ext cx="2743200" cy="95250"/>
          </a:xfrm>
        </p:spPr>
        <p:txBody>
          <a:bodyPr wrap="square" lIns="0" tIns="0" rIns="0" bIns="0">
            <a:noAutofit/>
          </a:bodyPr>
          <a:lstStyle/>
          <a:p>
            <a:pPr algn="r">
              <a:lnSpc>
                <a:spcPct val="110000"/>
              </a:lnSpc>
              <a:buNone/>
              <a:defRPr sz="500">
                <a:solidFill>
                  <a:srgbClr val="888888"/>
                </a:solidFill>
                <a:latin typeface="Arial"/>
                <a:ea typeface="Arial"/>
                <a:cs typeface="Arial"/>
              </a:defRPr>
            </a:pPr>
            <a:r>
              <a:rPr sz="500">
                <a:solidFill>
                  <a:srgbClr val="888888"/>
                </a:solidFill>
                <a:latin typeface="Arial"/>
                <a:ea typeface="Arial"/>
                <a:cs typeface="Arial"/>
              </a:rPr>
              <a:t>MAS Foundations - Kamendu Panchal</a:t>
            </a:r>
            <a:endParaRPr sz="500" b="1">
              <a:solidFill>
                <a:schemeClr val="tx1"/>
              </a:solidFill>
              <a:latin typeface="Arial"/>
              <a:ea typeface="Arial"/>
              <a:cs typeface="Arial"/>
            </a:endParaRPr>
          </a:p>
        </p:txBody>
      </p:sp>
      <p:sp>
        <p:nvSpPr>
          <p:cNvPr id="3" name="TextBox 2">
            <a:extLst>
              <a:ext uri="{FF2B5EF4-FFF2-40B4-BE49-F238E27FC236}">
                <a16:creationId xmlns:a16="http://schemas.microsoft.com/office/drawing/2014/main" id="{DCE8FEB4-DA15-74FB-D091-FA2B80C9B501}"/>
              </a:ext>
            </a:extLst>
          </p:cNvPr>
          <p:cNvSpPr>
            <a:spLocks noGrp="1"/>
          </p:cNvSpPr>
          <p:nvPr/>
        </p:nvSpPr>
        <p:spPr>
          <a:xfrm>
            <a:off x="5438775" y="3086100"/>
            <a:ext cx="209550" cy="175260"/>
          </a:xfrm>
          <a:prstGeom prst="rect">
            <a:avLst/>
          </a:prstGeom>
          <a:noFill/>
        </p:spPr>
        <p:txBody>
          <a:bodyPr wrap="square" lIns="0" tIns="0" rIns="0" bIns="0">
            <a:noAutofit/>
          </a:bodyPr>
          <a:lstStyle/>
          <a:p>
            <a:pPr algn="r">
              <a:lnSpc>
                <a:spcPct val="110000"/>
              </a:lnSpc>
              <a:buNone/>
              <a:defRPr sz="500">
                <a:solidFill>
                  <a:srgbClr val="202020"/>
                </a:solidFill>
                <a:latin typeface="Arial"/>
                <a:ea typeface="Arial"/>
                <a:cs typeface="Arial"/>
              </a:defRPr>
            </a:pPr>
            <a:r>
              <a:rPr sz="500">
                <a:solidFill>
                  <a:srgbClr val="202020"/>
                </a:solidFill>
                <a:latin typeface="Arial"/>
                <a:ea typeface="Arial"/>
                <a:cs typeface="Arial"/>
              </a:rPr>
              <a:t>30</a:t>
            </a:r>
          </a:p>
        </p:txBody>
      </p:sp>
      <p:sp>
        <p:nvSpPr>
          <p:cNvPr id="13" name="text">
            <a:extLst>
              <a:ext uri="{FF2B5EF4-FFF2-40B4-BE49-F238E27FC236}">
                <a16:creationId xmlns:a16="http://schemas.microsoft.com/office/drawing/2014/main" id="{BE003100-B65B-4581-8902-FDAF788EB11E}"/>
              </a:ext>
            </a:extLst>
          </p:cNvPr>
          <p:cNvSpPr>
            <a:spLocks noGrp="1"/>
          </p:cNvSpPr>
          <p:nvPr/>
        </p:nvSpPr>
        <p:spPr>
          <a:xfrm>
            <a:off x="228600" y="504825"/>
            <a:ext cx="5314950" cy="381000"/>
          </a:xfrm>
          <a:prstGeom prst="rect">
            <a:avLst/>
          </a:prstGeom>
          <a:noFill/>
          <a:ln w="0">
            <a:noFill/>
          </a:ln>
        </p:spPr>
        <p:txBody>
          <a:bodyPr wrap="square" lIns="0" tIns="0" rIns="0" bIns="0" anchor="t">
            <a:noAutofit/>
          </a:bodyPr>
          <a:lstStyle/>
          <a:p>
            <a:pPr algn="l">
              <a:lnSpc>
                <a:spcPct val="110000"/>
              </a:lnSpc>
              <a:buNone/>
              <a:defRPr sz="998" b="0">
                <a:solidFill>
                  <a:srgbClr val="202020"/>
                </a:solidFill>
                <a:latin typeface="Arial"/>
                <a:ea typeface="Arial"/>
                <a:cs typeface="Arial"/>
              </a:defRPr>
            </a:pPr>
            <a:r>
              <a:rPr sz="998" b="0">
                <a:solidFill>
                  <a:srgbClr val="202020"/>
                </a:solidFill>
                <a:latin typeface="Arial"/>
                <a:ea typeface="Arial"/>
                <a:cs typeface="Arial"/>
              </a:rPr>
              <a:t>Each key stores its left and right child, in that order.</a:t>
            </a:r>
          </a:p>
        </p:txBody>
      </p:sp>
      <p:sp>
        <p:nvSpPr>
          <p:cNvPr id="14" name="Rectangle 13">
            <a:extLst>
              <a:ext uri="{FF2B5EF4-FFF2-40B4-BE49-F238E27FC236}">
                <a16:creationId xmlns:a16="http://schemas.microsoft.com/office/drawing/2014/main" id="{41446A86-BC35-4F1D-91EA-0D8AEDCBF442}"/>
              </a:ext>
            </a:extLst>
          </p:cNvPr>
          <p:cNvSpPr>
            <a:spLocks noGrp="1"/>
          </p:cNvSpPr>
          <p:nvPr/>
        </p:nvSpPr>
        <p:spPr>
          <a:xfrm>
            <a:off x="228600" y="981075"/>
            <a:ext cx="2600325" cy="1504950"/>
          </a:xfrm>
          <a:prstGeom prst="rect">
            <a:avLst/>
          </a:prstGeom>
          <a:solidFill>
            <a:srgbClr val="101827"/>
          </a:solidFill>
          <a:ln w="0">
            <a:noFill/>
          </a:ln>
        </p:spPr>
      </p:sp>
      <p:sp>
        <p:nvSpPr>
          <p:cNvPr id="15" name="Rectangle 14">
            <a:extLst>
              <a:ext uri="{FF2B5EF4-FFF2-40B4-BE49-F238E27FC236}">
                <a16:creationId xmlns:a16="http://schemas.microsoft.com/office/drawing/2014/main" id="{885CFFC2-F754-42E9-A326-DCDF0318B011}"/>
              </a:ext>
            </a:extLst>
          </p:cNvPr>
          <p:cNvSpPr>
            <a:spLocks noGrp="1"/>
          </p:cNvSpPr>
          <p:nvPr/>
        </p:nvSpPr>
        <p:spPr>
          <a:xfrm>
            <a:off x="228600" y="800100"/>
            <a:ext cx="2600325" cy="180975"/>
          </a:xfrm>
          <a:prstGeom prst="rect">
            <a:avLst/>
          </a:prstGeom>
          <a:solidFill>
            <a:srgbClr val="006ABA"/>
          </a:solidFill>
          <a:ln w="0">
            <a:noFill/>
          </a:ln>
        </p:spPr>
      </p:sp>
      <p:sp>
        <p:nvSpPr>
          <p:cNvPr id="16" name="text">
            <a:extLst>
              <a:ext uri="{FF2B5EF4-FFF2-40B4-BE49-F238E27FC236}">
                <a16:creationId xmlns:a16="http://schemas.microsoft.com/office/drawing/2014/main" id="{7F04B444-5AAE-4A9B-9148-DFA4D3AFAD62}"/>
              </a:ext>
            </a:extLst>
          </p:cNvPr>
          <p:cNvSpPr>
            <a:spLocks noGrp="1"/>
          </p:cNvSpPr>
          <p:nvPr/>
        </p:nvSpPr>
        <p:spPr>
          <a:xfrm>
            <a:off x="228600" y="819150"/>
            <a:ext cx="2600325" cy="161925"/>
          </a:xfrm>
          <a:prstGeom prst="rect">
            <a:avLst/>
          </a:prstGeom>
          <a:noFill/>
          <a:ln w="0">
            <a:noFill/>
          </a:ln>
        </p:spPr>
        <p:txBody>
          <a:bodyPr wrap="square" lIns="0" tIns="0" rIns="0" bIns="0" anchor="t">
            <a:noAutofit/>
          </a:bodyPr>
          <a:lstStyle/>
          <a:p>
            <a:pPr algn="ctr">
              <a:lnSpc>
                <a:spcPct val="110000"/>
              </a:lnSpc>
              <a:buNone/>
              <a:defRPr sz="825" b="1">
                <a:solidFill>
                  <a:srgbClr val="FFFFFF"/>
                </a:solidFill>
                <a:latin typeface="Arial"/>
                <a:ea typeface="Arial"/>
                <a:cs typeface="Arial"/>
              </a:defRPr>
            </a:pPr>
            <a:r>
              <a:rPr sz="825" b="1">
                <a:solidFill>
                  <a:srgbClr val="FFFFFF"/>
                </a:solidFill>
                <a:latin typeface="Arial"/>
                <a:ea typeface="Arial"/>
                <a:cs typeface="Arial"/>
              </a:rPr>
              <a:t>C++17</a:t>
            </a:r>
          </a:p>
        </p:txBody>
      </p:sp>
      <p:sp>
        <p:nvSpPr>
          <p:cNvPr id="17" name="text">
            <a:extLst>
              <a:ext uri="{FF2B5EF4-FFF2-40B4-BE49-F238E27FC236}">
                <a16:creationId xmlns:a16="http://schemas.microsoft.com/office/drawing/2014/main" id="{8C83C598-C4DE-414C-A74D-125E3176244D}"/>
              </a:ext>
            </a:extLst>
          </p:cNvPr>
          <p:cNvSpPr>
            <a:spLocks noGrp="1"/>
          </p:cNvSpPr>
          <p:nvPr/>
        </p:nvSpPr>
        <p:spPr>
          <a:xfrm>
            <a:off x="295275" y="106680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std::map&lt;int, std::vector&lt;int&gt;&gt; tree{</a:t>
            </a:r>
          </a:p>
        </p:txBody>
      </p:sp>
      <p:sp>
        <p:nvSpPr>
          <p:cNvPr id="18" name="text">
            <a:extLst>
              <a:ext uri="{FF2B5EF4-FFF2-40B4-BE49-F238E27FC236}">
                <a16:creationId xmlns:a16="http://schemas.microsoft.com/office/drawing/2014/main" id="{9BCE276E-A651-4C09-AA3D-9EBEBB548F36}"/>
              </a:ext>
            </a:extLst>
          </p:cNvPr>
          <p:cNvSpPr>
            <a:spLocks noGrp="1"/>
          </p:cNvSpPr>
          <p:nvPr/>
        </p:nvSpPr>
        <p:spPr>
          <a:xfrm>
            <a:off x="295275" y="119634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  {10, {5, 15}}, {5, {2, 7}},</a:t>
            </a:r>
          </a:p>
        </p:txBody>
      </p:sp>
      <p:sp>
        <p:nvSpPr>
          <p:cNvPr id="19" name="text">
            <a:extLst>
              <a:ext uri="{FF2B5EF4-FFF2-40B4-BE49-F238E27FC236}">
                <a16:creationId xmlns:a16="http://schemas.microsoft.com/office/drawing/2014/main" id="{90395317-C767-4A67-8497-AF0F059FAF86}"/>
              </a:ext>
            </a:extLst>
          </p:cNvPr>
          <p:cNvSpPr>
            <a:spLocks noGrp="1"/>
          </p:cNvSpPr>
          <p:nvPr/>
        </p:nvSpPr>
        <p:spPr>
          <a:xfrm>
            <a:off x="295275" y="132588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  {2, {}}, {7, {}}, {15, {}}</a:t>
            </a:r>
          </a:p>
        </p:txBody>
      </p:sp>
      <p:sp>
        <p:nvSpPr>
          <p:cNvPr id="20" name="text">
            <a:extLst>
              <a:ext uri="{FF2B5EF4-FFF2-40B4-BE49-F238E27FC236}">
                <a16:creationId xmlns:a16="http://schemas.microsoft.com/office/drawing/2014/main" id="{8166E414-C742-432D-8521-9D329E3365DC}"/>
              </a:ext>
            </a:extLst>
          </p:cNvPr>
          <p:cNvSpPr>
            <a:spLocks noGrp="1"/>
          </p:cNvSpPr>
          <p:nvPr/>
        </p:nvSpPr>
        <p:spPr>
          <a:xfrm>
            <a:off x="295275" y="145542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a:t>
            </a:r>
          </a:p>
        </p:txBody>
      </p:sp>
      <p:sp>
        <p:nvSpPr>
          <p:cNvPr id="21" name="text">
            <a:extLst>
              <a:ext uri="{FF2B5EF4-FFF2-40B4-BE49-F238E27FC236}">
                <a16:creationId xmlns:a16="http://schemas.microsoft.com/office/drawing/2014/main" id="{B57C2444-D79B-4DF0-89F8-1B517F58134A}"/>
              </a:ext>
            </a:extLst>
          </p:cNvPr>
          <p:cNvSpPr>
            <a:spLocks noGrp="1"/>
          </p:cNvSpPr>
          <p:nvPr/>
        </p:nvSpPr>
        <p:spPr>
          <a:xfrm>
            <a:off x="295275" y="158496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std::cout &lt;&lt; tree.at(10)[0] &lt;&lt; "\n";</a:t>
            </a:r>
          </a:p>
        </p:txBody>
      </p:sp>
      <p:sp>
        <p:nvSpPr>
          <p:cNvPr id="22" name="Rectangle 21">
            <a:extLst>
              <a:ext uri="{FF2B5EF4-FFF2-40B4-BE49-F238E27FC236}">
                <a16:creationId xmlns:a16="http://schemas.microsoft.com/office/drawing/2014/main" id="{B08E4A03-9357-4CAB-A856-27DA369C9636}"/>
              </a:ext>
            </a:extLst>
          </p:cNvPr>
          <p:cNvSpPr>
            <a:spLocks noGrp="1"/>
          </p:cNvSpPr>
          <p:nvPr/>
        </p:nvSpPr>
        <p:spPr>
          <a:xfrm>
            <a:off x="2990850" y="981075"/>
            <a:ext cx="2600325" cy="1504950"/>
          </a:xfrm>
          <a:prstGeom prst="rect">
            <a:avLst/>
          </a:prstGeom>
          <a:solidFill>
            <a:srgbClr val="101827"/>
          </a:solidFill>
          <a:ln w="0">
            <a:noFill/>
          </a:ln>
        </p:spPr>
      </p:sp>
      <p:sp>
        <p:nvSpPr>
          <p:cNvPr id="23" name="Rectangle 22">
            <a:extLst>
              <a:ext uri="{FF2B5EF4-FFF2-40B4-BE49-F238E27FC236}">
                <a16:creationId xmlns:a16="http://schemas.microsoft.com/office/drawing/2014/main" id="{C608148A-278F-41AF-A70D-4CA282DA99D4}"/>
              </a:ext>
            </a:extLst>
          </p:cNvPr>
          <p:cNvSpPr>
            <a:spLocks noGrp="1"/>
          </p:cNvSpPr>
          <p:nvPr/>
        </p:nvSpPr>
        <p:spPr>
          <a:xfrm>
            <a:off x="2990850" y="800100"/>
            <a:ext cx="2600325" cy="180975"/>
          </a:xfrm>
          <a:prstGeom prst="rect">
            <a:avLst/>
          </a:prstGeom>
          <a:solidFill>
            <a:srgbClr val="1AA260"/>
          </a:solidFill>
          <a:ln w="0">
            <a:noFill/>
          </a:ln>
        </p:spPr>
      </p:sp>
      <p:sp>
        <p:nvSpPr>
          <p:cNvPr id="24" name="text">
            <a:extLst>
              <a:ext uri="{FF2B5EF4-FFF2-40B4-BE49-F238E27FC236}">
                <a16:creationId xmlns:a16="http://schemas.microsoft.com/office/drawing/2014/main" id="{4CD42E41-6432-4667-8030-08773D330199}"/>
              </a:ext>
            </a:extLst>
          </p:cNvPr>
          <p:cNvSpPr>
            <a:spLocks noGrp="1"/>
          </p:cNvSpPr>
          <p:nvPr/>
        </p:nvSpPr>
        <p:spPr>
          <a:xfrm>
            <a:off x="2990850" y="819150"/>
            <a:ext cx="2600325" cy="161925"/>
          </a:xfrm>
          <a:prstGeom prst="rect">
            <a:avLst/>
          </a:prstGeom>
          <a:noFill/>
          <a:ln w="0">
            <a:noFill/>
          </a:ln>
        </p:spPr>
        <p:txBody>
          <a:bodyPr wrap="square" lIns="0" tIns="0" rIns="0" bIns="0" anchor="t">
            <a:noAutofit/>
          </a:bodyPr>
          <a:lstStyle/>
          <a:p>
            <a:pPr algn="ctr">
              <a:lnSpc>
                <a:spcPct val="110000"/>
              </a:lnSpc>
              <a:buNone/>
              <a:defRPr sz="825" b="1">
                <a:solidFill>
                  <a:srgbClr val="FFFFFF"/>
                </a:solidFill>
                <a:latin typeface="Arial"/>
                <a:ea typeface="Arial"/>
                <a:cs typeface="Arial"/>
              </a:defRPr>
            </a:pPr>
            <a:r>
              <a:rPr sz="825" b="1">
                <a:solidFill>
                  <a:srgbClr val="FFFFFF"/>
                </a:solidFill>
                <a:latin typeface="Arial"/>
                <a:ea typeface="Arial"/>
                <a:cs typeface="Arial"/>
              </a:rPr>
              <a:t>Python 3</a:t>
            </a:r>
          </a:p>
        </p:txBody>
      </p:sp>
      <p:sp>
        <p:nvSpPr>
          <p:cNvPr id="25" name="text">
            <a:extLst>
              <a:ext uri="{FF2B5EF4-FFF2-40B4-BE49-F238E27FC236}">
                <a16:creationId xmlns:a16="http://schemas.microsoft.com/office/drawing/2014/main" id="{5267B141-5C5F-4AD3-B3C6-1B9BC956E376}"/>
              </a:ext>
            </a:extLst>
          </p:cNvPr>
          <p:cNvSpPr>
            <a:spLocks noGrp="1"/>
          </p:cNvSpPr>
          <p:nvPr/>
        </p:nvSpPr>
        <p:spPr>
          <a:xfrm>
            <a:off x="3057525" y="106680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tree = {10: [5, 15], 5: [2, 7],</a:t>
            </a:r>
          </a:p>
        </p:txBody>
      </p:sp>
      <p:sp>
        <p:nvSpPr>
          <p:cNvPr id="26" name="text">
            <a:extLst>
              <a:ext uri="{FF2B5EF4-FFF2-40B4-BE49-F238E27FC236}">
                <a16:creationId xmlns:a16="http://schemas.microsoft.com/office/drawing/2014/main" id="{DA66199C-2F85-4E83-BA0C-801D0598606B}"/>
              </a:ext>
            </a:extLst>
          </p:cNvPr>
          <p:cNvSpPr>
            <a:spLocks noGrp="1"/>
          </p:cNvSpPr>
          <p:nvPr/>
        </p:nvSpPr>
        <p:spPr>
          <a:xfrm>
            <a:off x="3057525" y="119634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        2: [], 7: [], 15: []}</a:t>
            </a:r>
          </a:p>
        </p:txBody>
      </p:sp>
      <p:sp>
        <p:nvSpPr>
          <p:cNvPr id="27" name="text">
            <a:extLst>
              <a:ext uri="{FF2B5EF4-FFF2-40B4-BE49-F238E27FC236}">
                <a16:creationId xmlns:a16="http://schemas.microsoft.com/office/drawing/2014/main" id="{113CC4C0-E35E-4117-B035-999536C33111}"/>
              </a:ext>
            </a:extLst>
          </p:cNvPr>
          <p:cNvSpPr>
            <a:spLocks noGrp="1"/>
          </p:cNvSpPr>
          <p:nvPr/>
        </p:nvSpPr>
        <p:spPr>
          <a:xfrm>
            <a:off x="3057525" y="132588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print(tree[10][0])</a:t>
            </a:r>
          </a:p>
        </p:txBody>
      </p:sp>
      <p:sp>
        <p:nvSpPr>
          <p:cNvPr id="28" name="text">
            <a:extLst>
              <a:ext uri="{FF2B5EF4-FFF2-40B4-BE49-F238E27FC236}">
                <a16:creationId xmlns:a16="http://schemas.microsoft.com/office/drawing/2014/main" id="{B6BA36D2-C127-4391-BDD6-ADB978764B40}"/>
              </a:ext>
            </a:extLst>
          </p:cNvPr>
          <p:cNvSpPr>
            <a:spLocks noGrp="1"/>
          </p:cNvSpPr>
          <p:nvPr/>
        </p:nvSpPr>
        <p:spPr>
          <a:xfrm>
            <a:off x="228600" y="2600325"/>
            <a:ext cx="5314950" cy="228600"/>
          </a:xfrm>
          <a:prstGeom prst="rect">
            <a:avLst/>
          </a:prstGeom>
          <a:noFill/>
          <a:ln w="0">
            <a:noFill/>
          </a:ln>
        </p:spPr>
        <p:txBody>
          <a:bodyPr wrap="square" lIns="0" tIns="0" rIns="0" bIns="0" anchor="t">
            <a:noAutofit/>
          </a:bodyPr>
          <a:lstStyle/>
          <a:p>
            <a:pPr algn="l">
              <a:lnSpc>
                <a:spcPct val="110000"/>
              </a:lnSpc>
              <a:buNone/>
              <a:defRPr sz="885" b="0">
                <a:solidFill>
                  <a:srgbClr val="006ABA"/>
                </a:solidFill>
                <a:latin typeface="Arial"/>
                <a:ea typeface="Arial"/>
                <a:cs typeface="Arial"/>
              </a:defRPr>
            </a:pPr>
            <a:r>
              <a:rPr sz="885" b="0">
                <a:solidFill>
                  <a:srgbClr val="006ABA"/>
                </a:solidFill>
                <a:latin typeface="Arial"/>
                <a:ea typeface="Arial"/>
                <a:cs typeface="Arial"/>
              </a:rPr>
              <a:t>Output: 5, the root’s left child. Empty lists mark leaves.</a:t>
            </a:r>
          </a:p>
        </p:txBody>
      </p:sp>
      <p:sp>
        <p:nvSpPr>
          <p:cNvPr id="29" name="text">
            <a:extLst>
              <a:ext uri="{FF2B5EF4-FFF2-40B4-BE49-F238E27FC236}">
                <a16:creationId xmlns:a16="http://schemas.microsoft.com/office/drawing/2014/main" id="{021A9D16-4DD5-4398-8E43-8AAC0641FFF8}"/>
              </a:ext>
            </a:extLst>
          </p:cNvPr>
          <p:cNvSpPr>
            <a:spLocks noGrp="1"/>
          </p:cNvSpPr>
          <p:nvPr/>
        </p:nvSpPr>
        <p:spPr>
          <a:xfrm>
            <a:off x="228600" y="2867025"/>
            <a:ext cx="5334000" cy="95250"/>
          </a:xfrm>
          <a:prstGeom prst="rect">
            <a:avLst/>
          </a:prstGeom>
          <a:noFill/>
          <a:ln w="0">
            <a:noFill/>
          </a:ln>
        </p:spPr>
        <p:txBody>
          <a:bodyPr wrap="square" lIns="0" tIns="0" rIns="0" bIns="0" anchor="t">
            <a:noAutofit/>
          </a:bodyPr>
          <a:lstStyle/>
          <a:p>
            <a:pPr algn="l">
              <a:lnSpc>
                <a:spcPct val="110000"/>
              </a:lnSpc>
              <a:buNone/>
              <a:defRPr sz="510" b="0">
                <a:solidFill>
                  <a:srgbClr val="66717C"/>
                </a:solidFill>
                <a:latin typeface="Arial"/>
                <a:ea typeface="Arial"/>
                <a:cs typeface="Arial"/>
              </a:defRPr>
            </a:pPr>
            <a:r>
              <a:rPr sz="510" b="0">
                <a:solidFill>
                  <a:srgbClr val="66717C"/>
                </a:solidFill>
                <a:latin typeface="Arial"/>
                <a:ea typeface="Arial"/>
                <a:cs typeface="Arial"/>
              </a:rPr>
              <a:t>[I]  [A]  [C]  [PY]</a:t>
            </a:r>
          </a:p>
        </p:txBody>
      </p:sp>
    </p:spTree>
    <p:extLst>
      <p:ext uri="{BB962C8B-B14F-4D97-AF65-F5344CB8AC3E}">
        <p14:creationId xmlns:p14="http://schemas.microsoft.com/office/powerpoint/2010/main" val="364567217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19C03931-4A28-44C2-9238-650F85D8C2AD}"/>
              </a:ext>
            </a:extLst>
          </p:cNvPr>
          <p:cNvSpPr>
            <a:spLocks noGrp="1"/>
          </p:cNvSpPr>
          <p:nvPr>
            <p:ph type="title"/>
          </p:nvPr>
        </p:nvSpPr>
        <p:spPr>
          <a:xfrm>
            <a:off x="171450" y="95250"/>
            <a:ext cx="5429250" cy="304800"/>
          </a:xfrm>
          <a:prstGeom prst="rect">
            <a:avLst/>
          </a:prstGeom>
        </p:spPr>
        <p:txBody>
          <a:bodyPr vert="horz" wrap="square" lIns="0" tIns="0" rIns="0" bIns="0">
            <a:noAutofit/>
          </a:bodyPr>
          <a:lstStyle/>
          <a:p>
            <a:pPr marL="12700" algn="l">
              <a:lnSpc>
                <a:spcPct val="110000"/>
              </a:lnSpc>
              <a:spcBef>
                <a:spcPts val="135"/>
              </a:spcBef>
              <a:buNone/>
              <a:defRPr sz="1400">
                <a:solidFill>
                  <a:srgbClr val="006ABA"/>
                </a:solidFill>
                <a:latin typeface="Arial"/>
                <a:ea typeface="Arial"/>
                <a:cs typeface="Arial"/>
              </a:defRPr>
            </a:pPr>
            <a:r>
              <a:rPr sz="1400" b="0" spc="-10">
                <a:solidFill>
                  <a:srgbClr val="006ABA"/>
                </a:solidFill>
                <a:latin typeface="Arial"/>
                <a:ea typeface="Arial"/>
                <a:cs typeface="Arial"/>
              </a:rPr>
              <a:t>Graphs: general connections</a:t>
            </a:r>
            <a:endParaRPr sz="1400" b="0" spc="-10">
              <a:latin typeface="Arial"/>
              <a:ea typeface="Arial"/>
              <a:cs typeface="Arial"/>
            </a:endParaRPr>
          </a:p>
        </p:txBody>
      </p:sp>
      <p:pic>
        <p:nvPicPr>
          <p:cNvPr id="25" name="object 4"/>
          <p:cNvPicPr>
            <a:picLocks noChangeAspect="1"/>
          </p:cNvPicPr>
          <p:nvPr/>
        </p:nvPicPr>
        <p:blipFill>
          <a:blip r:embed="rId3"/>
          <a:stretch>
            <a:fillRect/>
          </a:stretch>
        </p:blipFill>
        <p:spPr>
          <a:xfrm>
            <a:off x="152565" y="2988507"/>
            <a:ext cx="900668" cy="161917"/>
          </a:xfrm>
          <a:prstGeom prst="rect">
            <a:avLst/>
          </a:prstGeom>
        </p:spPr>
      </p:pic>
      <p:pic>
        <p:nvPicPr>
          <p:cNvPr id="26" name="object 5"/>
          <p:cNvPicPr>
            <a:picLocks noChangeAspect="1"/>
          </p:cNvPicPr>
          <p:nvPr/>
        </p:nvPicPr>
        <p:blipFill>
          <a:blip r:embed="rId4"/>
          <a:stretch>
            <a:fillRect/>
          </a:stretch>
        </p:blipFill>
        <p:spPr>
          <a:xfrm>
            <a:off x="1286560" y="2988417"/>
            <a:ext cx="610912" cy="162008"/>
          </a:xfrm>
          <a:prstGeom prst="rect">
            <a:avLst/>
          </a:prstGeom>
        </p:spPr>
      </p:pic>
      <p:sp>
        <p:nvSpPr>
          <p:cNvPr id="10" name="Footer Placeholder 7">
            <a:extLst>
              <a:ext uri="{FF2B5EF4-FFF2-40B4-BE49-F238E27FC236}">
                <a16:creationId xmlns:a16="http://schemas.microsoft.com/office/drawing/2014/main" id="{197FE2C8-8EE2-4937-3F30-294DB47641D6}"/>
              </a:ext>
            </a:extLst>
          </p:cNvPr>
          <p:cNvSpPr>
            <a:spLocks noGrp="1"/>
          </p:cNvSpPr>
          <p:nvPr>
            <p:ph type="ftr" idx="5"/>
          </p:nvPr>
        </p:nvSpPr>
        <p:spPr>
          <a:xfrm>
            <a:off x="2590800" y="3105150"/>
            <a:ext cx="2743200" cy="95250"/>
          </a:xfrm>
        </p:spPr>
        <p:txBody>
          <a:bodyPr wrap="square" lIns="0" tIns="0" rIns="0" bIns="0">
            <a:noAutofit/>
          </a:bodyPr>
          <a:lstStyle/>
          <a:p>
            <a:pPr algn="r">
              <a:lnSpc>
                <a:spcPct val="110000"/>
              </a:lnSpc>
              <a:buNone/>
              <a:defRPr sz="500">
                <a:solidFill>
                  <a:srgbClr val="888888"/>
                </a:solidFill>
                <a:latin typeface="Arial"/>
                <a:ea typeface="Arial"/>
                <a:cs typeface="Arial"/>
              </a:defRPr>
            </a:pPr>
            <a:r>
              <a:rPr sz="500">
                <a:solidFill>
                  <a:srgbClr val="888888"/>
                </a:solidFill>
                <a:latin typeface="Arial"/>
                <a:ea typeface="Arial"/>
                <a:cs typeface="Arial"/>
              </a:rPr>
              <a:t>MAS Foundations - Kamendu Panchal</a:t>
            </a:r>
            <a:endParaRPr sz="500" b="1">
              <a:solidFill>
                <a:schemeClr val="tx1"/>
              </a:solidFill>
              <a:latin typeface="Arial"/>
              <a:ea typeface="Arial"/>
              <a:cs typeface="Arial"/>
            </a:endParaRPr>
          </a:p>
        </p:txBody>
      </p:sp>
      <p:sp>
        <p:nvSpPr>
          <p:cNvPr id="3" name="TextBox 2">
            <a:extLst>
              <a:ext uri="{FF2B5EF4-FFF2-40B4-BE49-F238E27FC236}">
                <a16:creationId xmlns:a16="http://schemas.microsoft.com/office/drawing/2014/main" id="{DCE8FEB4-DA15-74FB-D091-FA2B80C9B501}"/>
              </a:ext>
            </a:extLst>
          </p:cNvPr>
          <p:cNvSpPr>
            <a:spLocks noGrp="1"/>
          </p:cNvSpPr>
          <p:nvPr/>
        </p:nvSpPr>
        <p:spPr>
          <a:xfrm>
            <a:off x="5438775" y="3086100"/>
            <a:ext cx="209550" cy="175260"/>
          </a:xfrm>
          <a:prstGeom prst="rect">
            <a:avLst/>
          </a:prstGeom>
          <a:noFill/>
        </p:spPr>
        <p:txBody>
          <a:bodyPr wrap="square" lIns="0" tIns="0" rIns="0" bIns="0">
            <a:noAutofit/>
          </a:bodyPr>
          <a:lstStyle/>
          <a:p>
            <a:pPr algn="r">
              <a:lnSpc>
                <a:spcPct val="110000"/>
              </a:lnSpc>
              <a:buNone/>
              <a:defRPr sz="500">
                <a:solidFill>
                  <a:srgbClr val="202020"/>
                </a:solidFill>
                <a:latin typeface="Arial"/>
                <a:ea typeface="Arial"/>
                <a:cs typeface="Arial"/>
              </a:defRPr>
            </a:pPr>
            <a:r>
              <a:rPr sz="500">
                <a:solidFill>
                  <a:srgbClr val="202020"/>
                </a:solidFill>
                <a:latin typeface="Arial"/>
                <a:ea typeface="Arial"/>
                <a:cs typeface="Arial"/>
              </a:rPr>
              <a:t>31</a:t>
            </a:r>
          </a:p>
        </p:txBody>
      </p:sp>
      <p:sp>
        <p:nvSpPr>
          <p:cNvPr id="13" name="text">
            <a:extLst>
              <a:ext uri="{FF2B5EF4-FFF2-40B4-BE49-F238E27FC236}">
                <a16:creationId xmlns:a16="http://schemas.microsoft.com/office/drawing/2014/main" id="{72155F98-0656-492D-A1BC-0CB5A68107F7}"/>
              </a:ext>
            </a:extLst>
          </p:cNvPr>
          <p:cNvSpPr>
            <a:spLocks noGrp="1"/>
          </p:cNvSpPr>
          <p:nvPr/>
        </p:nvSpPr>
        <p:spPr>
          <a:xfrm>
            <a:off x="228600" y="504825"/>
            <a:ext cx="5314950" cy="381000"/>
          </a:xfrm>
          <a:prstGeom prst="rect">
            <a:avLst/>
          </a:prstGeom>
          <a:noFill/>
          <a:ln w="0">
            <a:noFill/>
          </a:ln>
        </p:spPr>
        <p:txBody>
          <a:bodyPr wrap="square" lIns="0" tIns="0" rIns="0" bIns="0" anchor="t">
            <a:noAutofit/>
          </a:bodyPr>
          <a:lstStyle/>
          <a:p>
            <a:pPr algn="l">
              <a:lnSpc>
                <a:spcPct val="110000"/>
              </a:lnSpc>
              <a:buNone/>
              <a:defRPr sz="998" b="0">
                <a:solidFill>
                  <a:srgbClr val="202020"/>
                </a:solidFill>
                <a:latin typeface="Arial"/>
                <a:ea typeface="Arial"/>
                <a:cs typeface="Arial"/>
              </a:defRPr>
            </a:pPr>
            <a:r>
              <a:rPr sz="998" b="0">
                <a:solidFill>
                  <a:srgbClr val="202020"/>
                </a:solidFill>
                <a:latin typeface="Arial"/>
                <a:ea typeface="Arial"/>
                <a:cs typeface="Arial"/>
              </a:rPr>
              <a:t>A graph contains vertices and edges connecting pairs of vertices.</a:t>
            </a:r>
          </a:p>
        </p:txBody>
      </p:sp>
      <p:sp>
        <p:nvSpPr>
          <p:cNvPr id="14" name="diagram-node">
            <a:extLst>
              <a:ext uri="{FF2B5EF4-FFF2-40B4-BE49-F238E27FC236}">
                <a16:creationId xmlns:a16="http://schemas.microsoft.com/office/drawing/2014/main" id="{CFD0BCF7-7E48-42A0-B334-B29E5FECB3FF}"/>
              </a:ext>
            </a:extLst>
          </p:cNvPr>
          <p:cNvSpPr>
            <a:spLocks noGrp="1"/>
          </p:cNvSpPr>
          <p:nvPr/>
        </p:nvSpPr>
        <p:spPr>
          <a:xfrm>
            <a:off x="1171575" y="1009650"/>
            <a:ext cx="619125" cy="381000"/>
          </a:xfrm>
          <a:prstGeom prst="ellipse">
            <a:avLst/>
          </a:prstGeom>
          <a:solidFill>
            <a:srgbClr val="EAF3FA"/>
          </a:solidFill>
          <a:ln w="11430">
            <a:solidFill>
              <a:srgbClr val="006ABA"/>
            </a:solidFill>
          </a:ln>
        </p:spPr>
        <p:txBody>
          <a:bodyPr wrap="square" lIns="47625" tIns="28575" rIns="47625" bIns="28575" anchor="ctr">
            <a:noAutofit/>
          </a:bodyPr>
          <a:lstStyle/>
          <a:p>
            <a:pPr algn="ctr">
              <a:lnSpc>
                <a:spcPct val="107000"/>
              </a:lnSpc>
              <a:buNone/>
              <a:defRPr sz="975">
                <a:solidFill>
                  <a:srgbClr val="202020"/>
                </a:solidFill>
                <a:latin typeface="Arial"/>
                <a:ea typeface="Arial"/>
                <a:cs typeface="Arial"/>
              </a:defRPr>
            </a:pPr>
            <a:r>
              <a:rPr sz="975">
                <a:solidFill>
                  <a:srgbClr val="202020"/>
                </a:solidFill>
                <a:latin typeface="Arial"/>
                <a:ea typeface="Arial"/>
                <a:cs typeface="Arial"/>
              </a:rPr>
              <a:t>A</a:t>
            </a:r>
          </a:p>
        </p:txBody>
      </p:sp>
      <p:sp>
        <p:nvSpPr>
          <p:cNvPr id="15" name="diagram-node">
            <a:extLst>
              <a:ext uri="{FF2B5EF4-FFF2-40B4-BE49-F238E27FC236}">
                <a16:creationId xmlns:a16="http://schemas.microsoft.com/office/drawing/2014/main" id="{66610CB4-FCBB-4533-B319-58C8DA249421}"/>
              </a:ext>
            </a:extLst>
          </p:cNvPr>
          <p:cNvSpPr>
            <a:spLocks noGrp="1"/>
          </p:cNvSpPr>
          <p:nvPr/>
        </p:nvSpPr>
        <p:spPr>
          <a:xfrm>
            <a:off x="3943350" y="1009650"/>
            <a:ext cx="619125" cy="381000"/>
          </a:xfrm>
          <a:prstGeom prst="ellipse">
            <a:avLst/>
          </a:prstGeom>
          <a:solidFill>
            <a:srgbClr val="FFFFFF"/>
          </a:solidFill>
          <a:ln w="11430">
            <a:solidFill>
              <a:srgbClr val="006ABA"/>
            </a:solidFill>
          </a:ln>
        </p:spPr>
        <p:txBody>
          <a:bodyPr wrap="square" lIns="47625" tIns="28575" rIns="47625" bIns="28575" anchor="ctr">
            <a:noAutofit/>
          </a:bodyPr>
          <a:lstStyle/>
          <a:p>
            <a:pPr algn="ctr">
              <a:lnSpc>
                <a:spcPct val="107000"/>
              </a:lnSpc>
              <a:buNone/>
              <a:defRPr sz="975">
                <a:solidFill>
                  <a:srgbClr val="202020"/>
                </a:solidFill>
                <a:latin typeface="Arial"/>
                <a:ea typeface="Arial"/>
                <a:cs typeface="Arial"/>
              </a:defRPr>
            </a:pPr>
            <a:r>
              <a:rPr sz="975">
                <a:solidFill>
                  <a:srgbClr val="202020"/>
                </a:solidFill>
                <a:latin typeface="Arial"/>
                <a:ea typeface="Arial"/>
                <a:cs typeface="Arial"/>
              </a:rPr>
              <a:t>B</a:t>
            </a:r>
          </a:p>
        </p:txBody>
      </p:sp>
      <p:sp>
        <p:nvSpPr>
          <p:cNvPr id="16" name="diagram-node">
            <a:extLst>
              <a:ext uri="{FF2B5EF4-FFF2-40B4-BE49-F238E27FC236}">
                <a16:creationId xmlns:a16="http://schemas.microsoft.com/office/drawing/2014/main" id="{A9CC90A2-59FD-46AA-9C32-0BFF4E254927}"/>
              </a:ext>
            </a:extLst>
          </p:cNvPr>
          <p:cNvSpPr>
            <a:spLocks noGrp="1"/>
          </p:cNvSpPr>
          <p:nvPr/>
        </p:nvSpPr>
        <p:spPr>
          <a:xfrm>
            <a:off x="1171575" y="2076450"/>
            <a:ext cx="619125" cy="381000"/>
          </a:xfrm>
          <a:prstGeom prst="ellipse">
            <a:avLst/>
          </a:prstGeom>
          <a:solidFill>
            <a:srgbClr val="FFFFFF"/>
          </a:solidFill>
          <a:ln w="11430">
            <a:solidFill>
              <a:srgbClr val="006ABA"/>
            </a:solidFill>
          </a:ln>
        </p:spPr>
        <p:txBody>
          <a:bodyPr wrap="square" lIns="47625" tIns="28575" rIns="47625" bIns="28575" anchor="ctr">
            <a:noAutofit/>
          </a:bodyPr>
          <a:lstStyle/>
          <a:p>
            <a:pPr algn="ctr">
              <a:lnSpc>
                <a:spcPct val="107000"/>
              </a:lnSpc>
              <a:buNone/>
              <a:defRPr sz="975">
                <a:solidFill>
                  <a:srgbClr val="202020"/>
                </a:solidFill>
                <a:latin typeface="Arial"/>
                <a:ea typeface="Arial"/>
                <a:cs typeface="Arial"/>
              </a:defRPr>
            </a:pPr>
            <a:r>
              <a:rPr sz="975">
                <a:solidFill>
                  <a:srgbClr val="202020"/>
                </a:solidFill>
                <a:latin typeface="Arial"/>
                <a:ea typeface="Arial"/>
                <a:cs typeface="Arial"/>
              </a:rPr>
              <a:t>C</a:t>
            </a:r>
          </a:p>
        </p:txBody>
      </p:sp>
      <p:sp>
        <p:nvSpPr>
          <p:cNvPr id="17" name="diagram-node">
            <a:extLst>
              <a:ext uri="{FF2B5EF4-FFF2-40B4-BE49-F238E27FC236}">
                <a16:creationId xmlns:a16="http://schemas.microsoft.com/office/drawing/2014/main" id="{B6309C3C-4C9B-49CA-8B22-5D24251CB037}"/>
              </a:ext>
            </a:extLst>
          </p:cNvPr>
          <p:cNvSpPr>
            <a:spLocks noGrp="1"/>
          </p:cNvSpPr>
          <p:nvPr/>
        </p:nvSpPr>
        <p:spPr>
          <a:xfrm>
            <a:off x="3943350" y="2076450"/>
            <a:ext cx="619125" cy="381000"/>
          </a:xfrm>
          <a:prstGeom prst="ellipse">
            <a:avLst/>
          </a:prstGeom>
          <a:solidFill>
            <a:srgbClr val="FFFFFF"/>
          </a:solidFill>
          <a:ln w="11430">
            <a:solidFill>
              <a:srgbClr val="006ABA"/>
            </a:solidFill>
          </a:ln>
        </p:spPr>
        <p:txBody>
          <a:bodyPr wrap="square" lIns="47625" tIns="28575" rIns="47625" bIns="28575" anchor="ctr">
            <a:noAutofit/>
          </a:bodyPr>
          <a:lstStyle/>
          <a:p>
            <a:pPr algn="ctr">
              <a:lnSpc>
                <a:spcPct val="107000"/>
              </a:lnSpc>
              <a:buNone/>
              <a:defRPr sz="975">
                <a:solidFill>
                  <a:srgbClr val="202020"/>
                </a:solidFill>
                <a:latin typeface="Arial"/>
                <a:ea typeface="Arial"/>
                <a:cs typeface="Arial"/>
              </a:defRPr>
            </a:pPr>
            <a:r>
              <a:rPr sz="975">
                <a:solidFill>
                  <a:srgbClr val="202020"/>
                </a:solidFill>
                <a:latin typeface="Arial"/>
                <a:ea typeface="Arial"/>
                <a:cs typeface="Arial"/>
              </a:rPr>
              <a:t>D</a:t>
            </a:r>
          </a:p>
        </p:txBody>
      </p:sp>
      <p:cxnSp>
        <p:nvCxnSpPr>
          <p:cNvPr id="34" name="Straight Arrow Connector 33"/>
          <p:cNvCxnSpPr>
            <a:stCxn id="14" idx="6"/>
            <a:endCxn id="15" idx="2"/>
          </p:cNvCxnSpPr>
          <p:nvPr/>
        </p:nvCxnSpPr>
        <p:spPr>
          <a:xfrm>
            <a:off x="1790700" y="1200150"/>
            <a:ext cx="2152650" cy="0"/>
          </a:xfrm>
          <a:prstGeom prst="straightConnector1">
            <a:avLst/>
          </a:prstGeom>
          <a:ln w="11430">
            <a:solidFill>
              <a:srgbClr val="66717C"/>
            </a:solidFill>
            <a:headEnd type="none" w="med" len="med"/>
            <a:tailEnd type="none" w="sm" len="sm"/>
          </a:ln>
        </p:spPr>
      </p:cxnSp>
      <p:cxnSp>
        <p:nvCxnSpPr>
          <p:cNvPr id="35" name="Straight Arrow Connector 34"/>
          <p:cNvCxnSpPr>
            <a:stCxn id="14" idx="4"/>
            <a:endCxn id="16" idx="0"/>
          </p:cNvCxnSpPr>
          <p:nvPr/>
        </p:nvCxnSpPr>
        <p:spPr>
          <a:xfrm>
            <a:off x="1481138" y="1390650"/>
            <a:ext cx="0" cy="685800"/>
          </a:xfrm>
          <a:prstGeom prst="straightConnector1">
            <a:avLst/>
          </a:prstGeom>
          <a:ln w="11430">
            <a:solidFill>
              <a:srgbClr val="66717C"/>
            </a:solidFill>
            <a:headEnd type="none" w="med" len="med"/>
            <a:tailEnd type="none" w="sm" len="sm"/>
          </a:ln>
        </p:spPr>
      </p:cxnSp>
      <p:cxnSp>
        <p:nvCxnSpPr>
          <p:cNvPr id="36" name="Straight Arrow Connector 35"/>
          <p:cNvCxnSpPr>
            <a:stCxn id="15" idx="4"/>
            <a:endCxn id="17" idx="0"/>
          </p:cNvCxnSpPr>
          <p:nvPr/>
        </p:nvCxnSpPr>
        <p:spPr>
          <a:xfrm>
            <a:off x="4252913" y="1390650"/>
            <a:ext cx="0" cy="685800"/>
          </a:xfrm>
          <a:prstGeom prst="straightConnector1">
            <a:avLst/>
          </a:prstGeom>
          <a:ln w="11430">
            <a:solidFill>
              <a:srgbClr val="66717C"/>
            </a:solidFill>
            <a:headEnd type="none" w="med" len="med"/>
            <a:tailEnd type="none" w="sm" len="sm"/>
          </a:ln>
        </p:spPr>
      </p:cxnSp>
      <p:cxnSp>
        <p:nvCxnSpPr>
          <p:cNvPr id="37" name="Straight Arrow Connector 36"/>
          <p:cNvCxnSpPr>
            <a:stCxn id="16" idx="6"/>
            <a:endCxn id="17" idx="2"/>
          </p:cNvCxnSpPr>
          <p:nvPr/>
        </p:nvCxnSpPr>
        <p:spPr>
          <a:xfrm>
            <a:off x="1790700" y="2266950"/>
            <a:ext cx="2152650" cy="0"/>
          </a:xfrm>
          <a:prstGeom prst="straightConnector1">
            <a:avLst/>
          </a:prstGeom>
          <a:ln w="11430">
            <a:solidFill>
              <a:srgbClr val="66717C"/>
            </a:solidFill>
            <a:headEnd type="none" w="med" len="med"/>
            <a:tailEnd type="none" w="sm" len="sm"/>
          </a:ln>
        </p:spPr>
      </p:cxnSp>
      <p:sp>
        <p:nvSpPr>
          <p:cNvPr id="22" name="text">
            <a:extLst>
              <a:ext uri="{FF2B5EF4-FFF2-40B4-BE49-F238E27FC236}">
                <a16:creationId xmlns:a16="http://schemas.microsoft.com/office/drawing/2014/main" id="{0363E78F-D67F-47D3-BE5A-CC71BADFF57A}"/>
              </a:ext>
            </a:extLst>
          </p:cNvPr>
          <p:cNvSpPr>
            <a:spLocks noGrp="1"/>
          </p:cNvSpPr>
          <p:nvPr/>
        </p:nvSpPr>
        <p:spPr>
          <a:xfrm>
            <a:off x="228600" y="2600325"/>
            <a:ext cx="5314950" cy="228600"/>
          </a:xfrm>
          <a:prstGeom prst="rect">
            <a:avLst/>
          </a:prstGeom>
          <a:noFill/>
          <a:ln w="0">
            <a:noFill/>
          </a:ln>
        </p:spPr>
        <p:txBody>
          <a:bodyPr wrap="square" lIns="0" tIns="0" rIns="0" bIns="0" anchor="t">
            <a:noAutofit/>
          </a:bodyPr>
          <a:lstStyle/>
          <a:p>
            <a:pPr algn="l">
              <a:lnSpc>
                <a:spcPct val="110000"/>
              </a:lnSpc>
              <a:buNone/>
              <a:defRPr sz="885" b="0">
                <a:solidFill>
                  <a:srgbClr val="006ABA"/>
                </a:solidFill>
                <a:latin typeface="Arial"/>
                <a:ea typeface="Arial"/>
                <a:cs typeface="Arial"/>
              </a:defRPr>
            </a:pPr>
            <a:r>
              <a:rPr sz="885" b="0">
                <a:solidFill>
                  <a:srgbClr val="006ABA"/>
                </a:solidFill>
                <a:latin typeface="Arial"/>
                <a:ea typeface="Arial"/>
                <a:cs typeface="Arial"/>
              </a:rPr>
              <a:t>Graphs can be directed, weighted, cyclic or disconnected.</a:t>
            </a:r>
          </a:p>
        </p:txBody>
      </p:sp>
      <p:sp>
        <p:nvSpPr>
          <p:cNvPr id="23" name="text">
            <a:extLst>
              <a:ext uri="{FF2B5EF4-FFF2-40B4-BE49-F238E27FC236}">
                <a16:creationId xmlns:a16="http://schemas.microsoft.com/office/drawing/2014/main" id="{FF686831-3EB4-4B1B-9FE8-EEF1F5B38511}"/>
              </a:ext>
            </a:extLst>
          </p:cNvPr>
          <p:cNvSpPr>
            <a:spLocks noGrp="1"/>
          </p:cNvSpPr>
          <p:nvPr/>
        </p:nvSpPr>
        <p:spPr>
          <a:xfrm>
            <a:off x="228600" y="2867025"/>
            <a:ext cx="5334000" cy="95250"/>
          </a:xfrm>
          <a:prstGeom prst="rect">
            <a:avLst/>
          </a:prstGeom>
          <a:noFill/>
          <a:ln w="0">
            <a:noFill/>
          </a:ln>
        </p:spPr>
        <p:txBody>
          <a:bodyPr wrap="square" lIns="0" tIns="0" rIns="0" bIns="0" anchor="t">
            <a:noAutofit/>
          </a:bodyPr>
          <a:lstStyle/>
          <a:p>
            <a:pPr algn="l">
              <a:lnSpc>
                <a:spcPct val="110000"/>
              </a:lnSpc>
              <a:buNone/>
              <a:defRPr sz="510" b="0">
                <a:solidFill>
                  <a:srgbClr val="66717C"/>
                </a:solidFill>
                <a:latin typeface="Arial"/>
                <a:ea typeface="Arial"/>
                <a:cs typeface="Arial"/>
              </a:defRPr>
            </a:pPr>
            <a:r>
              <a:rPr sz="510" b="0">
                <a:solidFill>
                  <a:srgbClr val="66717C"/>
                </a:solidFill>
                <a:latin typeface="Arial"/>
                <a:ea typeface="Arial"/>
                <a:cs typeface="Arial"/>
              </a:rPr>
              <a:t>[I]  [A]</a:t>
            </a:r>
          </a:p>
        </p:txBody>
      </p:sp>
    </p:spTree>
    <p:extLst>
      <p:ext uri="{BB962C8B-B14F-4D97-AF65-F5344CB8AC3E}">
        <p14:creationId xmlns:p14="http://schemas.microsoft.com/office/powerpoint/2010/main" val="364567217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19C03931-4A28-44C2-9238-650F85D8C2AD}"/>
              </a:ext>
            </a:extLst>
          </p:cNvPr>
          <p:cNvSpPr>
            <a:spLocks noGrp="1"/>
          </p:cNvSpPr>
          <p:nvPr>
            <p:ph type="title"/>
          </p:nvPr>
        </p:nvSpPr>
        <p:spPr>
          <a:xfrm>
            <a:off x="171450" y="95250"/>
            <a:ext cx="5429250" cy="304800"/>
          </a:xfrm>
          <a:prstGeom prst="rect">
            <a:avLst/>
          </a:prstGeom>
        </p:spPr>
        <p:txBody>
          <a:bodyPr vert="horz" wrap="square" lIns="0" tIns="0" rIns="0" bIns="0">
            <a:noAutofit/>
          </a:bodyPr>
          <a:lstStyle/>
          <a:p>
            <a:pPr marL="12700" algn="l">
              <a:lnSpc>
                <a:spcPct val="110000"/>
              </a:lnSpc>
              <a:spcBef>
                <a:spcPts val="135"/>
              </a:spcBef>
              <a:buNone/>
              <a:defRPr sz="1400">
                <a:solidFill>
                  <a:srgbClr val="006ABA"/>
                </a:solidFill>
                <a:latin typeface="Arial"/>
                <a:ea typeface="Arial"/>
                <a:cs typeface="Arial"/>
              </a:defRPr>
            </a:pPr>
            <a:r>
              <a:rPr sz="1400" b="0" spc="-10">
                <a:solidFill>
                  <a:srgbClr val="006ABA"/>
                </a:solidFill>
                <a:latin typeface="Arial"/>
                <a:ea typeface="Arial"/>
                <a:cs typeface="Arial"/>
              </a:rPr>
              <a:t>Graphs as adjacency lists</a:t>
            </a:r>
            <a:endParaRPr sz="1400" b="0" spc="-10">
              <a:latin typeface="Arial"/>
              <a:ea typeface="Arial"/>
              <a:cs typeface="Arial"/>
            </a:endParaRPr>
          </a:p>
        </p:txBody>
      </p:sp>
      <p:pic>
        <p:nvPicPr>
          <p:cNvPr id="35" name="object 4"/>
          <p:cNvPicPr>
            <a:picLocks noChangeAspect="1"/>
          </p:cNvPicPr>
          <p:nvPr/>
        </p:nvPicPr>
        <p:blipFill>
          <a:blip r:embed="rId3"/>
          <a:stretch>
            <a:fillRect/>
          </a:stretch>
        </p:blipFill>
        <p:spPr>
          <a:xfrm>
            <a:off x="152565" y="2988507"/>
            <a:ext cx="900668" cy="161917"/>
          </a:xfrm>
          <a:prstGeom prst="rect">
            <a:avLst/>
          </a:prstGeom>
        </p:spPr>
      </p:pic>
      <p:pic>
        <p:nvPicPr>
          <p:cNvPr id="36" name="object 5"/>
          <p:cNvPicPr>
            <a:picLocks noChangeAspect="1"/>
          </p:cNvPicPr>
          <p:nvPr/>
        </p:nvPicPr>
        <p:blipFill>
          <a:blip r:embed="rId4"/>
          <a:stretch>
            <a:fillRect/>
          </a:stretch>
        </p:blipFill>
        <p:spPr>
          <a:xfrm>
            <a:off x="1286560" y="2988417"/>
            <a:ext cx="610912" cy="162008"/>
          </a:xfrm>
          <a:prstGeom prst="rect">
            <a:avLst/>
          </a:prstGeom>
        </p:spPr>
      </p:pic>
      <p:sp>
        <p:nvSpPr>
          <p:cNvPr id="10" name="Footer Placeholder 7">
            <a:extLst>
              <a:ext uri="{FF2B5EF4-FFF2-40B4-BE49-F238E27FC236}">
                <a16:creationId xmlns:a16="http://schemas.microsoft.com/office/drawing/2014/main" id="{197FE2C8-8EE2-4937-3F30-294DB47641D6}"/>
              </a:ext>
            </a:extLst>
          </p:cNvPr>
          <p:cNvSpPr>
            <a:spLocks noGrp="1"/>
          </p:cNvSpPr>
          <p:nvPr>
            <p:ph type="ftr" idx="5"/>
          </p:nvPr>
        </p:nvSpPr>
        <p:spPr>
          <a:xfrm>
            <a:off x="2590800" y="3105150"/>
            <a:ext cx="2743200" cy="95250"/>
          </a:xfrm>
        </p:spPr>
        <p:txBody>
          <a:bodyPr wrap="square" lIns="0" tIns="0" rIns="0" bIns="0">
            <a:noAutofit/>
          </a:bodyPr>
          <a:lstStyle/>
          <a:p>
            <a:pPr algn="r">
              <a:lnSpc>
                <a:spcPct val="110000"/>
              </a:lnSpc>
              <a:buNone/>
              <a:defRPr sz="500">
                <a:solidFill>
                  <a:srgbClr val="888888"/>
                </a:solidFill>
                <a:latin typeface="Arial"/>
                <a:ea typeface="Arial"/>
                <a:cs typeface="Arial"/>
              </a:defRPr>
            </a:pPr>
            <a:r>
              <a:rPr sz="500">
                <a:solidFill>
                  <a:srgbClr val="888888"/>
                </a:solidFill>
                <a:latin typeface="Arial"/>
                <a:ea typeface="Arial"/>
                <a:cs typeface="Arial"/>
              </a:rPr>
              <a:t>MAS Foundations - Kamendu Panchal</a:t>
            </a:r>
            <a:endParaRPr sz="500" b="1">
              <a:solidFill>
                <a:schemeClr val="tx1"/>
              </a:solidFill>
              <a:latin typeface="Arial"/>
              <a:ea typeface="Arial"/>
              <a:cs typeface="Arial"/>
            </a:endParaRPr>
          </a:p>
        </p:txBody>
      </p:sp>
      <p:sp>
        <p:nvSpPr>
          <p:cNvPr id="3" name="TextBox 2">
            <a:extLst>
              <a:ext uri="{FF2B5EF4-FFF2-40B4-BE49-F238E27FC236}">
                <a16:creationId xmlns:a16="http://schemas.microsoft.com/office/drawing/2014/main" id="{DCE8FEB4-DA15-74FB-D091-FA2B80C9B501}"/>
              </a:ext>
            </a:extLst>
          </p:cNvPr>
          <p:cNvSpPr>
            <a:spLocks noGrp="1"/>
          </p:cNvSpPr>
          <p:nvPr/>
        </p:nvSpPr>
        <p:spPr>
          <a:xfrm>
            <a:off x="5438775" y="3086100"/>
            <a:ext cx="209550" cy="175260"/>
          </a:xfrm>
          <a:prstGeom prst="rect">
            <a:avLst/>
          </a:prstGeom>
          <a:noFill/>
        </p:spPr>
        <p:txBody>
          <a:bodyPr wrap="square" lIns="0" tIns="0" rIns="0" bIns="0">
            <a:noAutofit/>
          </a:bodyPr>
          <a:lstStyle/>
          <a:p>
            <a:pPr algn="r">
              <a:lnSpc>
                <a:spcPct val="110000"/>
              </a:lnSpc>
              <a:buNone/>
              <a:defRPr sz="500">
                <a:solidFill>
                  <a:srgbClr val="202020"/>
                </a:solidFill>
                <a:latin typeface="Arial"/>
                <a:ea typeface="Arial"/>
                <a:cs typeface="Arial"/>
              </a:defRPr>
            </a:pPr>
            <a:r>
              <a:rPr sz="500">
                <a:solidFill>
                  <a:srgbClr val="202020"/>
                </a:solidFill>
                <a:latin typeface="Arial"/>
                <a:ea typeface="Arial"/>
                <a:cs typeface="Arial"/>
              </a:rPr>
              <a:t>32</a:t>
            </a:r>
          </a:p>
        </p:txBody>
      </p:sp>
      <p:sp>
        <p:nvSpPr>
          <p:cNvPr id="13" name="text">
            <a:extLst>
              <a:ext uri="{FF2B5EF4-FFF2-40B4-BE49-F238E27FC236}">
                <a16:creationId xmlns:a16="http://schemas.microsoft.com/office/drawing/2014/main" id="{B419C5F4-56CA-46B0-BA80-FA6D053481CD}"/>
              </a:ext>
            </a:extLst>
          </p:cNvPr>
          <p:cNvSpPr>
            <a:spLocks noGrp="1"/>
          </p:cNvSpPr>
          <p:nvPr/>
        </p:nvSpPr>
        <p:spPr>
          <a:xfrm>
            <a:off x="228600" y="504825"/>
            <a:ext cx="5314950" cy="381000"/>
          </a:xfrm>
          <a:prstGeom prst="rect">
            <a:avLst/>
          </a:prstGeom>
          <a:noFill/>
          <a:ln w="0">
            <a:noFill/>
          </a:ln>
        </p:spPr>
        <p:txBody>
          <a:bodyPr wrap="square" lIns="0" tIns="0" rIns="0" bIns="0" anchor="t">
            <a:noAutofit/>
          </a:bodyPr>
          <a:lstStyle/>
          <a:p>
            <a:pPr algn="l">
              <a:lnSpc>
                <a:spcPct val="110000"/>
              </a:lnSpc>
              <a:buNone/>
              <a:defRPr sz="998" b="0">
                <a:solidFill>
                  <a:srgbClr val="202020"/>
                </a:solidFill>
                <a:latin typeface="Arial"/>
                <a:ea typeface="Arial"/>
                <a:cs typeface="Arial"/>
              </a:defRPr>
            </a:pPr>
            <a:r>
              <a:rPr sz="998" b="0">
                <a:solidFill>
                  <a:srgbClr val="202020"/>
                </a:solidFill>
                <a:latin typeface="Arial"/>
                <a:ea typeface="Arial"/>
                <a:cs typeface="Arial"/>
              </a:rPr>
              <a:t>An adjacency list stores each vertex’s neighbors.</a:t>
            </a:r>
          </a:p>
        </p:txBody>
      </p:sp>
      <p:sp>
        <p:nvSpPr>
          <p:cNvPr id="14" name="Rectangle 13">
            <a:extLst>
              <a:ext uri="{FF2B5EF4-FFF2-40B4-BE49-F238E27FC236}">
                <a16:creationId xmlns:a16="http://schemas.microsoft.com/office/drawing/2014/main" id="{23B2D341-A140-4522-ABC3-630A2444F2F1}"/>
              </a:ext>
            </a:extLst>
          </p:cNvPr>
          <p:cNvSpPr>
            <a:spLocks noGrp="1"/>
          </p:cNvSpPr>
          <p:nvPr/>
        </p:nvSpPr>
        <p:spPr>
          <a:xfrm>
            <a:off x="228600" y="981075"/>
            <a:ext cx="2600325" cy="1504950"/>
          </a:xfrm>
          <a:prstGeom prst="rect">
            <a:avLst/>
          </a:prstGeom>
          <a:solidFill>
            <a:srgbClr val="101827"/>
          </a:solidFill>
          <a:ln w="0">
            <a:noFill/>
          </a:ln>
        </p:spPr>
      </p:sp>
      <p:sp>
        <p:nvSpPr>
          <p:cNvPr id="15" name="Rectangle 14">
            <a:extLst>
              <a:ext uri="{FF2B5EF4-FFF2-40B4-BE49-F238E27FC236}">
                <a16:creationId xmlns:a16="http://schemas.microsoft.com/office/drawing/2014/main" id="{4E972F0E-241F-495B-988D-C4714FD1D093}"/>
              </a:ext>
            </a:extLst>
          </p:cNvPr>
          <p:cNvSpPr>
            <a:spLocks noGrp="1"/>
          </p:cNvSpPr>
          <p:nvPr/>
        </p:nvSpPr>
        <p:spPr>
          <a:xfrm>
            <a:off x="228600" y="800100"/>
            <a:ext cx="2600325" cy="180975"/>
          </a:xfrm>
          <a:prstGeom prst="rect">
            <a:avLst/>
          </a:prstGeom>
          <a:solidFill>
            <a:srgbClr val="006ABA"/>
          </a:solidFill>
          <a:ln w="0">
            <a:noFill/>
          </a:ln>
        </p:spPr>
      </p:sp>
      <p:sp>
        <p:nvSpPr>
          <p:cNvPr id="16" name="text">
            <a:extLst>
              <a:ext uri="{FF2B5EF4-FFF2-40B4-BE49-F238E27FC236}">
                <a16:creationId xmlns:a16="http://schemas.microsoft.com/office/drawing/2014/main" id="{EB69131B-8D03-4060-9133-CD19BB160307}"/>
              </a:ext>
            </a:extLst>
          </p:cNvPr>
          <p:cNvSpPr>
            <a:spLocks noGrp="1"/>
          </p:cNvSpPr>
          <p:nvPr/>
        </p:nvSpPr>
        <p:spPr>
          <a:xfrm>
            <a:off x="228600" y="819150"/>
            <a:ext cx="2600325" cy="161925"/>
          </a:xfrm>
          <a:prstGeom prst="rect">
            <a:avLst/>
          </a:prstGeom>
          <a:noFill/>
          <a:ln w="0">
            <a:noFill/>
          </a:ln>
        </p:spPr>
        <p:txBody>
          <a:bodyPr wrap="square" lIns="0" tIns="0" rIns="0" bIns="0" anchor="t">
            <a:noAutofit/>
          </a:bodyPr>
          <a:lstStyle/>
          <a:p>
            <a:pPr algn="ctr">
              <a:lnSpc>
                <a:spcPct val="110000"/>
              </a:lnSpc>
              <a:buNone/>
              <a:defRPr sz="825" b="1">
                <a:solidFill>
                  <a:srgbClr val="FFFFFF"/>
                </a:solidFill>
                <a:latin typeface="Arial"/>
                <a:ea typeface="Arial"/>
                <a:cs typeface="Arial"/>
              </a:defRPr>
            </a:pPr>
            <a:r>
              <a:rPr sz="825" b="1">
                <a:solidFill>
                  <a:srgbClr val="FFFFFF"/>
                </a:solidFill>
                <a:latin typeface="Arial"/>
                <a:ea typeface="Arial"/>
                <a:cs typeface="Arial"/>
              </a:rPr>
              <a:t>C++17</a:t>
            </a:r>
          </a:p>
        </p:txBody>
      </p:sp>
      <p:sp>
        <p:nvSpPr>
          <p:cNvPr id="17" name="text">
            <a:extLst>
              <a:ext uri="{FF2B5EF4-FFF2-40B4-BE49-F238E27FC236}">
                <a16:creationId xmlns:a16="http://schemas.microsoft.com/office/drawing/2014/main" id="{C67CFA9E-ED09-4FA4-9C95-5B130E1D725F}"/>
              </a:ext>
            </a:extLst>
          </p:cNvPr>
          <p:cNvSpPr>
            <a:spLocks noGrp="1"/>
          </p:cNvSpPr>
          <p:nvPr/>
        </p:nvSpPr>
        <p:spPr>
          <a:xfrm>
            <a:off x="295275" y="106680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std::map&lt;char, std::vector&lt;char&gt;&gt; g{</a:t>
            </a:r>
          </a:p>
        </p:txBody>
      </p:sp>
      <p:sp>
        <p:nvSpPr>
          <p:cNvPr id="18" name="text">
            <a:extLst>
              <a:ext uri="{FF2B5EF4-FFF2-40B4-BE49-F238E27FC236}">
                <a16:creationId xmlns:a16="http://schemas.microsoft.com/office/drawing/2014/main" id="{EF25C971-3333-4EBA-90B8-C1EFBE1F6C27}"/>
              </a:ext>
            </a:extLst>
          </p:cNvPr>
          <p:cNvSpPr>
            <a:spLocks noGrp="1"/>
          </p:cNvSpPr>
          <p:nvPr/>
        </p:nvSpPr>
        <p:spPr>
          <a:xfrm>
            <a:off x="295275" y="119634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  {'A', {'B', 'C'}},</a:t>
            </a:r>
          </a:p>
        </p:txBody>
      </p:sp>
      <p:sp>
        <p:nvSpPr>
          <p:cNvPr id="19" name="text">
            <a:extLst>
              <a:ext uri="{FF2B5EF4-FFF2-40B4-BE49-F238E27FC236}">
                <a16:creationId xmlns:a16="http://schemas.microsoft.com/office/drawing/2014/main" id="{2AAD4197-F605-44B3-B236-27F049B872F5}"/>
              </a:ext>
            </a:extLst>
          </p:cNvPr>
          <p:cNvSpPr>
            <a:spLocks noGrp="1"/>
          </p:cNvSpPr>
          <p:nvPr/>
        </p:nvSpPr>
        <p:spPr>
          <a:xfrm>
            <a:off x="295275" y="132588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  {'B', {'A', 'D'}},</a:t>
            </a:r>
          </a:p>
        </p:txBody>
      </p:sp>
      <p:sp>
        <p:nvSpPr>
          <p:cNvPr id="20" name="text">
            <a:extLst>
              <a:ext uri="{FF2B5EF4-FFF2-40B4-BE49-F238E27FC236}">
                <a16:creationId xmlns:a16="http://schemas.microsoft.com/office/drawing/2014/main" id="{4AD5719E-5228-4FAC-BCA5-6B81F2388124}"/>
              </a:ext>
            </a:extLst>
          </p:cNvPr>
          <p:cNvSpPr>
            <a:spLocks noGrp="1"/>
          </p:cNvSpPr>
          <p:nvPr/>
        </p:nvSpPr>
        <p:spPr>
          <a:xfrm>
            <a:off x="295275" y="145542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  {'C', {'A', 'D'}},</a:t>
            </a:r>
          </a:p>
        </p:txBody>
      </p:sp>
      <p:sp>
        <p:nvSpPr>
          <p:cNvPr id="21" name="text">
            <a:extLst>
              <a:ext uri="{FF2B5EF4-FFF2-40B4-BE49-F238E27FC236}">
                <a16:creationId xmlns:a16="http://schemas.microsoft.com/office/drawing/2014/main" id="{974E0A92-68BA-481C-A587-368912BD7FD6}"/>
              </a:ext>
            </a:extLst>
          </p:cNvPr>
          <p:cNvSpPr>
            <a:spLocks noGrp="1"/>
          </p:cNvSpPr>
          <p:nvPr/>
        </p:nvSpPr>
        <p:spPr>
          <a:xfrm>
            <a:off x="295275" y="158496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  {'D', {'B', 'C'}}</a:t>
            </a:r>
          </a:p>
        </p:txBody>
      </p:sp>
      <p:sp>
        <p:nvSpPr>
          <p:cNvPr id="22" name="text">
            <a:extLst>
              <a:ext uri="{FF2B5EF4-FFF2-40B4-BE49-F238E27FC236}">
                <a16:creationId xmlns:a16="http://schemas.microsoft.com/office/drawing/2014/main" id="{661D1491-9D1D-4921-BCCD-D96DD144C2D9}"/>
              </a:ext>
            </a:extLst>
          </p:cNvPr>
          <p:cNvSpPr>
            <a:spLocks noGrp="1"/>
          </p:cNvSpPr>
          <p:nvPr/>
        </p:nvSpPr>
        <p:spPr>
          <a:xfrm>
            <a:off x="295275" y="171450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a:t>
            </a:r>
          </a:p>
        </p:txBody>
      </p:sp>
      <p:sp>
        <p:nvSpPr>
          <p:cNvPr id="23" name="text">
            <a:extLst>
              <a:ext uri="{FF2B5EF4-FFF2-40B4-BE49-F238E27FC236}">
                <a16:creationId xmlns:a16="http://schemas.microsoft.com/office/drawing/2014/main" id="{C7399B39-9D42-43EF-B5E3-58303D91F897}"/>
              </a:ext>
            </a:extLst>
          </p:cNvPr>
          <p:cNvSpPr>
            <a:spLocks noGrp="1"/>
          </p:cNvSpPr>
          <p:nvPr/>
        </p:nvSpPr>
        <p:spPr>
          <a:xfrm>
            <a:off x="295275" y="184404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std::cout &lt;&lt; g.at('A').size() &lt;&lt; "\n";</a:t>
            </a:r>
          </a:p>
        </p:txBody>
      </p:sp>
      <p:sp>
        <p:nvSpPr>
          <p:cNvPr id="24" name="Rectangle 23">
            <a:extLst>
              <a:ext uri="{FF2B5EF4-FFF2-40B4-BE49-F238E27FC236}">
                <a16:creationId xmlns:a16="http://schemas.microsoft.com/office/drawing/2014/main" id="{403084CB-9EB5-46F3-994B-154479CACAAC}"/>
              </a:ext>
            </a:extLst>
          </p:cNvPr>
          <p:cNvSpPr>
            <a:spLocks noGrp="1"/>
          </p:cNvSpPr>
          <p:nvPr/>
        </p:nvSpPr>
        <p:spPr>
          <a:xfrm>
            <a:off x="2990850" y="981075"/>
            <a:ext cx="2600325" cy="1504950"/>
          </a:xfrm>
          <a:prstGeom prst="rect">
            <a:avLst/>
          </a:prstGeom>
          <a:solidFill>
            <a:srgbClr val="101827"/>
          </a:solidFill>
          <a:ln w="0">
            <a:noFill/>
          </a:ln>
        </p:spPr>
      </p:sp>
      <p:sp>
        <p:nvSpPr>
          <p:cNvPr id="25" name="Rectangle 24">
            <a:extLst>
              <a:ext uri="{FF2B5EF4-FFF2-40B4-BE49-F238E27FC236}">
                <a16:creationId xmlns:a16="http://schemas.microsoft.com/office/drawing/2014/main" id="{01C66FE9-775E-49DD-B9ED-D44A4E2E6888}"/>
              </a:ext>
            </a:extLst>
          </p:cNvPr>
          <p:cNvSpPr>
            <a:spLocks noGrp="1"/>
          </p:cNvSpPr>
          <p:nvPr/>
        </p:nvSpPr>
        <p:spPr>
          <a:xfrm>
            <a:off x="2990850" y="800100"/>
            <a:ext cx="2600325" cy="180975"/>
          </a:xfrm>
          <a:prstGeom prst="rect">
            <a:avLst/>
          </a:prstGeom>
          <a:solidFill>
            <a:srgbClr val="1AA260"/>
          </a:solidFill>
          <a:ln w="0">
            <a:noFill/>
          </a:ln>
        </p:spPr>
      </p:sp>
      <p:sp>
        <p:nvSpPr>
          <p:cNvPr id="26" name="text">
            <a:extLst>
              <a:ext uri="{FF2B5EF4-FFF2-40B4-BE49-F238E27FC236}">
                <a16:creationId xmlns:a16="http://schemas.microsoft.com/office/drawing/2014/main" id="{7B34F651-FA2A-4B66-AA1D-CB009492204B}"/>
              </a:ext>
            </a:extLst>
          </p:cNvPr>
          <p:cNvSpPr>
            <a:spLocks noGrp="1"/>
          </p:cNvSpPr>
          <p:nvPr/>
        </p:nvSpPr>
        <p:spPr>
          <a:xfrm>
            <a:off x="2990850" y="819150"/>
            <a:ext cx="2600325" cy="161925"/>
          </a:xfrm>
          <a:prstGeom prst="rect">
            <a:avLst/>
          </a:prstGeom>
          <a:noFill/>
          <a:ln w="0">
            <a:noFill/>
          </a:ln>
        </p:spPr>
        <p:txBody>
          <a:bodyPr wrap="square" lIns="0" tIns="0" rIns="0" bIns="0" anchor="t">
            <a:noAutofit/>
          </a:bodyPr>
          <a:lstStyle/>
          <a:p>
            <a:pPr algn="ctr">
              <a:lnSpc>
                <a:spcPct val="110000"/>
              </a:lnSpc>
              <a:buNone/>
              <a:defRPr sz="825" b="1">
                <a:solidFill>
                  <a:srgbClr val="FFFFFF"/>
                </a:solidFill>
                <a:latin typeface="Arial"/>
                <a:ea typeface="Arial"/>
                <a:cs typeface="Arial"/>
              </a:defRPr>
            </a:pPr>
            <a:r>
              <a:rPr sz="825" b="1">
                <a:solidFill>
                  <a:srgbClr val="FFFFFF"/>
                </a:solidFill>
                <a:latin typeface="Arial"/>
                <a:ea typeface="Arial"/>
                <a:cs typeface="Arial"/>
              </a:rPr>
              <a:t>Python 3</a:t>
            </a:r>
          </a:p>
        </p:txBody>
      </p:sp>
      <p:sp>
        <p:nvSpPr>
          <p:cNvPr id="27" name="text">
            <a:extLst>
              <a:ext uri="{FF2B5EF4-FFF2-40B4-BE49-F238E27FC236}">
                <a16:creationId xmlns:a16="http://schemas.microsoft.com/office/drawing/2014/main" id="{58774217-ACC2-494C-9267-0FFB2AEBD92E}"/>
              </a:ext>
            </a:extLst>
          </p:cNvPr>
          <p:cNvSpPr>
            <a:spLocks noGrp="1"/>
          </p:cNvSpPr>
          <p:nvPr/>
        </p:nvSpPr>
        <p:spPr>
          <a:xfrm>
            <a:off x="3057525" y="106680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g = {"A": ["B", "C"],</a:t>
            </a:r>
          </a:p>
        </p:txBody>
      </p:sp>
      <p:sp>
        <p:nvSpPr>
          <p:cNvPr id="28" name="text">
            <a:extLst>
              <a:ext uri="{FF2B5EF4-FFF2-40B4-BE49-F238E27FC236}">
                <a16:creationId xmlns:a16="http://schemas.microsoft.com/office/drawing/2014/main" id="{D347F96D-D3AD-4891-8C35-A9611E3E43C3}"/>
              </a:ext>
            </a:extLst>
          </p:cNvPr>
          <p:cNvSpPr>
            <a:spLocks noGrp="1"/>
          </p:cNvSpPr>
          <p:nvPr/>
        </p:nvSpPr>
        <p:spPr>
          <a:xfrm>
            <a:off x="3057525" y="119634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     "B": ["A", "D"],</a:t>
            </a:r>
          </a:p>
        </p:txBody>
      </p:sp>
      <p:sp>
        <p:nvSpPr>
          <p:cNvPr id="29" name="text">
            <a:extLst>
              <a:ext uri="{FF2B5EF4-FFF2-40B4-BE49-F238E27FC236}">
                <a16:creationId xmlns:a16="http://schemas.microsoft.com/office/drawing/2014/main" id="{07E19465-0C16-48AE-9818-8ED3C9272ADE}"/>
              </a:ext>
            </a:extLst>
          </p:cNvPr>
          <p:cNvSpPr>
            <a:spLocks noGrp="1"/>
          </p:cNvSpPr>
          <p:nvPr/>
        </p:nvSpPr>
        <p:spPr>
          <a:xfrm>
            <a:off x="3057525" y="132588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     "C": ["A", "D"],</a:t>
            </a:r>
          </a:p>
        </p:txBody>
      </p:sp>
      <p:sp>
        <p:nvSpPr>
          <p:cNvPr id="30" name="text">
            <a:extLst>
              <a:ext uri="{FF2B5EF4-FFF2-40B4-BE49-F238E27FC236}">
                <a16:creationId xmlns:a16="http://schemas.microsoft.com/office/drawing/2014/main" id="{2E9B2A40-EC36-44B7-A52B-59769B4ED9B7}"/>
              </a:ext>
            </a:extLst>
          </p:cNvPr>
          <p:cNvSpPr>
            <a:spLocks noGrp="1"/>
          </p:cNvSpPr>
          <p:nvPr/>
        </p:nvSpPr>
        <p:spPr>
          <a:xfrm>
            <a:off x="3057525" y="145542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     "D": ["B", "C"]}</a:t>
            </a:r>
          </a:p>
        </p:txBody>
      </p:sp>
      <p:sp>
        <p:nvSpPr>
          <p:cNvPr id="31" name="text">
            <a:extLst>
              <a:ext uri="{FF2B5EF4-FFF2-40B4-BE49-F238E27FC236}">
                <a16:creationId xmlns:a16="http://schemas.microsoft.com/office/drawing/2014/main" id="{69C4D30E-BC87-4247-9028-719DDB4CCC41}"/>
              </a:ext>
            </a:extLst>
          </p:cNvPr>
          <p:cNvSpPr>
            <a:spLocks noGrp="1"/>
          </p:cNvSpPr>
          <p:nvPr/>
        </p:nvSpPr>
        <p:spPr>
          <a:xfrm>
            <a:off x="3057525" y="158496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print(len(g["A"]))</a:t>
            </a:r>
          </a:p>
        </p:txBody>
      </p:sp>
      <p:sp>
        <p:nvSpPr>
          <p:cNvPr id="32" name="text">
            <a:extLst>
              <a:ext uri="{FF2B5EF4-FFF2-40B4-BE49-F238E27FC236}">
                <a16:creationId xmlns:a16="http://schemas.microsoft.com/office/drawing/2014/main" id="{232B09CF-7BD9-4E02-A93E-1759F128A4E0}"/>
              </a:ext>
            </a:extLst>
          </p:cNvPr>
          <p:cNvSpPr>
            <a:spLocks noGrp="1"/>
          </p:cNvSpPr>
          <p:nvPr/>
        </p:nvSpPr>
        <p:spPr>
          <a:xfrm>
            <a:off x="228600" y="2600325"/>
            <a:ext cx="5314950" cy="228600"/>
          </a:xfrm>
          <a:prstGeom prst="rect">
            <a:avLst/>
          </a:prstGeom>
          <a:noFill/>
          <a:ln w="0">
            <a:noFill/>
          </a:ln>
        </p:spPr>
        <p:txBody>
          <a:bodyPr wrap="square" lIns="0" tIns="0" rIns="0" bIns="0" anchor="t">
            <a:noAutofit/>
          </a:bodyPr>
          <a:lstStyle/>
          <a:p>
            <a:pPr algn="l">
              <a:lnSpc>
                <a:spcPct val="110000"/>
              </a:lnSpc>
              <a:buNone/>
              <a:defRPr sz="885" b="0">
                <a:solidFill>
                  <a:srgbClr val="006ABA"/>
                </a:solidFill>
                <a:latin typeface="Arial"/>
                <a:ea typeface="Arial"/>
                <a:cs typeface="Arial"/>
              </a:defRPr>
            </a:pPr>
            <a:r>
              <a:rPr sz="885" b="0">
                <a:solidFill>
                  <a:srgbClr val="006ABA"/>
                </a:solidFill>
                <a:latin typeface="Arial"/>
                <a:ea typeface="Arial"/>
                <a:cs typeface="Arial"/>
              </a:rPr>
              <a:t>Output: 2. A has neighbors B and C.</a:t>
            </a:r>
          </a:p>
        </p:txBody>
      </p:sp>
      <p:sp>
        <p:nvSpPr>
          <p:cNvPr id="33" name="text">
            <a:extLst>
              <a:ext uri="{FF2B5EF4-FFF2-40B4-BE49-F238E27FC236}">
                <a16:creationId xmlns:a16="http://schemas.microsoft.com/office/drawing/2014/main" id="{930AAD98-B375-448F-9F2E-9B0F31021C1C}"/>
              </a:ext>
            </a:extLst>
          </p:cNvPr>
          <p:cNvSpPr>
            <a:spLocks noGrp="1"/>
          </p:cNvSpPr>
          <p:nvPr/>
        </p:nvSpPr>
        <p:spPr>
          <a:xfrm>
            <a:off x="228600" y="2867025"/>
            <a:ext cx="5334000" cy="95250"/>
          </a:xfrm>
          <a:prstGeom prst="rect">
            <a:avLst/>
          </a:prstGeom>
          <a:noFill/>
          <a:ln w="0">
            <a:noFill/>
          </a:ln>
        </p:spPr>
        <p:txBody>
          <a:bodyPr wrap="square" lIns="0" tIns="0" rIns="0" bIns="0" anchor="t">
            <a:noAutofit/>
          </a:bodyPr>
          <a:lstStyle/>
          <a:p>
            <a:pPr algn="l">
              <a:lnSpc>
                <a:spcPct val="110000"/>
              </a:lnSpc>
              <a:buNone/>
              <a:defRPr sz="510" b="0">
                <a:solidFill>
                  <a:srgbClr val="66717C"/>
                </a:solidFill>
                <a:latin typeface="Arial"/>
                <a:ea typeface="Arial"/>
                <a:cs typeface="Arial"/>
              </a:defRPr>
            </a:pPr>
            <a:r>
              <a:rPr sz="510" b="0">
                <a:solidFill>
                  <a:srgbClr val="66717C"/>
                </a:solidFill>
                <a:latin typeface="Arial"/>
                <a:ea typeface="Arial"/>
                <a:cs typeface="Arial"/>
              </a:rPr>
              <a:t>[I]  [A]  [C]  [PY]</a:t>
            </a:r>
          </a:p>
        </p:txBody>
      </p:sp>
    </p:spTree>
    <p:extLst>
      <p:ext uri="{BB962C8B-B14F-4D97-AF65-F5344CB8AC3E}">
        <p14:creationId xmlns:p14="http://schemas.microsoft.com/office/powerpoint/2010/main" val="364567217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19C03931-4A28-44C2-9238-650F85D8C2AD}"/>
              </a:ext>
            </a:extLst>
          </p:cNvPr>
          <p:cNvSpPr>
            <a:spLocks noGrp="1"/>
          </p:cNvSpPr>
          <p:nvPr>
            <p:ph type="title"/>
          </p:nvPr>
        </p:nvSpPr>
        <p:spPr>
          <a:xfrm>
            <a:off x="171450" y="95250"/>
            <a:ext cx="5429250" cy="304800"/>
          </a:xfrm>
          <a:prstGeom prst="rect">
            <a:avLst/>
          </a:prstGeom>
        </p:spPr>
        <p:txBody>
          <a:bodyPr vert="horz" wrap="square" lIns="0" tIns="0" rIns="0" bIns="0">
            <a:noAutofit/>
          </a:bodyPr>
          <a:lstStyle/>
          <a:p>
            <a:pPr marL="12700" algn="l">
              <a:lnSpc>
                <a:spcPct val="110000"/>
              </a:lnSpc>
              <a:spcBef>
                <a:spcPts val="135"/>
              </a:spcBef>
              <a:buNone/>
              <a:defRPr sz="1400">
                <a:solidFill>
                  <a:srgbClr val="006ABA"/>
                </a:solidFill>
                <a:latin typeface="Arial"/>
                <a:ea typeface="Arial"/>
                <a:cs typeface="Arial"/>
              </a:defRPr>
            </a:pPr>
            <a:r>
              <a:rPr sz="1400" b="0" spc="-10">
                <a:solidFill>
                  <a:srgbClr val="006ABA"/>
                </a:solidFill>
                <a:latin typeface="Arial"/>
                <a:ea typeface="Arial"/>
                <a:cs typeface="Arial"/>
              </a:rPr>
              <a:t>Graphs as adjacency matrices</a:t>
            </a:r>
            <a:endParaRPr sz="1400" b="0" spc="-10">
              <a:latin typeface="Arial"/>
              <a:ea typeface="Arial"/>
              <a:cs typeface="Arial"/>
            </a:endParaRPr>
          </a:p>
        </p:txBody>
      </p:sp>
      <p:pic>
        <p:nvPicPr>
          <p:cNvPr id="21" name="object 4"/>
          <p:cNvPicPr>
            <a:picLocks noChangeAspect="1"/>
          </p:cNvPicPr>
          <p:nvPr/>
        </p:nvPicPr>
        <p:blipFill>
          <a:blip r:embed="rId3"/>
          <a:stretch>
            <a:fillRect/>
          </a:stretch>
        </p:blipFill>
        <p:spPr>
          <a:xfrm>
            <a:off x="152565" y="2988507"/>
            <a:ext cx="900668" cy="161917"/>
          </a:xfrm>
          <a:prstGeom prst="rect">
            <a:avLst/>
          </a:prstGeom>
        </p:spPr>
      </p:pic>
      <p:pic>
        <p:nvPicPr>
          <p:cNvPr id="22" name="object 5"/>
          <p:cNvPicPr>
            <a:picLocks noChangeAspect="1"/>
          </p:cNvPicPr>
          <p:nvPr/>
        </p:nvPicPr>
        <p:blipFill>
          <a:blip r:embed="rId4"/>
          <a:stretch>
            <a:fillRect/>
          </a:stretch>
        </p:blipFill>
        <p:spPr>
          <a:xfrm>
            <a:off x="1286560" y="2988417"/>
            <a:ext cx="610912" cy="162008"/>
          </a:xfrm>
          <a:prstGeom prst="rect">
            <a:avLst/>
          </a:prstGeom>
        </p:spPr>
      </p:pic>
      <p:sp>
        <p:nvSpPr>
          <p:cNvPr id="10" name="Footer Placeholder 7">
            <a:extLst>
              <a:ext uri="{FF2B5EF4-FFF2-40B4-BE49-F238E27FC236}">
                <a16:creationId xmlns:a16="http://schemas.microsoft.com/office/drawing/2014/main" id="{197FE2C8-8EE2-4937-3F30-294DB47641D6}"/>
              </a:ext>
            </a:extLst>
          </p:cNvPr>
          <p:cNvSpPr>
            <a:spLocks noGrp="1"/>
          </p:cNvSpPr>
          <p:nvPr>
            <p:ph type="ftr" idx="5"/>
          </p:nvPr>
        </p:nvSpPr>
        <p:spPr>
          <a:xfrm>
            <a:off x="2590800" y="3105150"/>
            <a:ext cx="2743200" cy="95250"/>
          </a:xfrm>
        </p:spPr>
        <p:txBody>
          <a:bodyPr wrap="square" lIns="0" tIns="0" rIns="0" bIns="0">
            <a:noAutofit/>
          </a:bodyPr>
          <a:lstStyle/>
          <a:p>
            <a:pPr algn="r">
              <a:lnSpc>
                <a:spcPct val="110000"/>
              </a:lnSpc>
              <a:buNone/>
              <a:defRPr sz="500">
                <a:solidFill>
                  <a:srgbClr val="888888"/>
                </a:solidFill>
                <a:latin typeface="Arial"/>
                <a:ea typeface="Arial"/>
                <a:cs typeface="Arial"/>
              </a:defRPr>
            </a:pPr>
            <a:r>
              <a:rPr sz="500">
                <a:solidFill>
                  <a:srgbClr val="888888"/>
                </a:solidFill>
                <a:latin typeface="Arial"/>
                <a:ea typeface="Arial"/>
                <a:cs typeface="Arial"/>
              </a:rPr>
              <a:t>MAS Foundations - Kamendu Panchal</a:t>
            </a:r>
            <a:endParaRPr sz="500" b="1">
              <a:solidFill>
                <a:schemeClr val="tx1"/>
              </a:solidFill>
              <a:latin typeface="Arial"/>
              <a:ea typeface="Arial"/>
              <a:cs typeface="Arial"/>
            </a:endParaRPr>
          </a:p>
        </p:txBody>
      </p:sp>
      <p:sp>
        <p:nvSpPr>
          <p:cNvPr id="3" name="TextBox 2">
            <a:extLst>
              <a:ext uri="{FF2B5EF4-FFF2-40B4-BE49-F238E27FC236}">
                <a16:creationId xmlns:a16="http://schemas.microsoft.com/office/drawing/2014/main" id="{DCE8FEB4-DA15-74FB-D091-FA2B80C9B501}"/>
              </a:ext>
            </a:extLst>
          </p:cNvPr>
          <p:cNvSpPr>
            <a:spLocks noGrp="1"/>
          </p:cNvSpPr>
          <p:nvPr/>
        </p:nvSpPr>
        <p:spPr>
          <a:xfrm>
            <a:off x="5438775" y="3086100"/>
            <a:ext cx="209550" cy="175260"/>
          </a:xfrm>
          <a:prstGeom prst="rect">
            <a:avLst/>
          </a:prstGeom>
          <a:noFill/>
        </p:spPr>
        <p:txBody>
          <a:bodyPr wrap="square" lIns="0" tIns="0" rIns="0" bIns="0">
            <a:noAutofit/>
          </a:bodyPr>
          <a:lstStyle/>
          <a:p>
            <a:pPr algn="r">
              <a:lnSpc>
                <a:spcPct val="110000"/>
              </a:lnSpc>
              <a:buNone/>
              <a:defRPr sz="500">
                <a:solidFill>
                  <a:srgbClr val="202020"/>
                </a:solidFill>
                <a:latin typeface="Arial"/>
                <a:ea typeface="Arial"/>
                <a:cs typeface="Arial"/>
              </a:defRPr>
            </a:pPr>
            <a:r>
              <a:rPr sz="500">
                <a:solidFill>
                  <a:srgbClr val="202020"/>
                </a:solidFill>
                <a:latin typeface="Arial"/>
                <a:ea typeface="Arial"/>
                <a:cs typeface="Arial"/>
              </a:rPr>
              <a:t>33</a:t>
            </a:r>
          </a:p>
        </p:txBody>
      </p:sp>
      <p:sp>
        <p:nvSpPr>
          <p:cNvPr id="13" name="text">
            <a:extLst>
              <a:ext uri="{FF2B5EF4-FFF2-40B4-BE49-F238E27FC236}">
                <a16:creationId xmlns:a16="http://schemas.microsoft.com/office/drawing/2014/main" id="{F3F3ECFA-1618-4908-801F-5D57DC7C48C8}"/>
              </a:ext>
            </a:extLst>
          </p:cNvPr>
          <p:cNvSpPr>
            <a:spLocks noGrp="1"/>
          </p:cNvSpPr>
          <p:nvPr/>
        </p:nvSpPr>
        <p:spPr>
          <a:xfrm>
            <a:off x="228600" y="504825"/>
            <a:ext cx="5314950" cy="381000"/>
          </a:xfrm>
          <a:prstGeom prst="rect">
            <a:avLst/>
          </a:prstGeom>
          <a:noFill/>
          <a:ln w="0">
            <a:noFill/>
          </a:ln>
        </p:spPr>
        <p:txBody>
          <a:bodyPr wrap="square" lIns="0" tIns="0" rIns="0" bIns="0" anchor="t">
            <a:noAutofit/>
          </a:bodyPr>
          <a:lstStyle/>
          <a:p>
            <a:pPr algn="l">
              <a:lnSpc>
                <a:spcPct val="110000"/>
              </a:lnSpc>
              <a:buNone/>
              <a:defRPr sz="998" b="0">
                <a:solidFill>
                  <a:srgbClr val="202020"/>
                </a:solidFill>
                <a:latin typeface="Arial"/>
                <a:ea typeface="Arial"/>
                <a:cs typeface="Arial"/>
              </a:defRPr>
            </a:pPr>
            <a:r>
              <a:rPr sz="998" b="0">
                <a:solidFill>
                  <a:srgbClr val="202020"/>
                </a:solidFill>
                <a:latin typeface="Arial"/>
                <a:ea typeface="Arial"/>
                <a:cs typeface="Arial"/>
              </a:rPr>
              <a:t>A 1 marks an edge. A 0 marks no edge in this unweighted graph.</a:t>
            </a:r>
          </a:p>
        </p:txBody>
      </p:sp>
      <p:graphicFrame>
        <p:nvGraphicFramePr>
          <p:cNvPr id="26" name="Table 25"/>
          <p:cNvGraphicFramePr/>
          <p:nvPr/>
        </p:nvGraphicFramePr>
        <p:xfrm>
          <a:off x="333375" y="933450"/>
          <a:ext cx="2667000" cy="1584960"/>
        </p:xfrm>
        <a:graphic>
          <a:graphicData uri="http://schemas.openxmlformats.org/drawingml/2006/table">
            <a:tbl>
              <a:tblPr/>
              <a:tblGrid>
                <a:gridCol w="533400">
                  <a:extLst>
                    <a:ext uri="{9D8B030D-6E8A-4147-A177-3AD203B41FA5}">
                      <a16:colId xmlns:a16="http://schemas.microsoft.com/office/drawing/2014/main" val="20000"/>
                    </a:ext>
                  </a:extLst>
                </a:gridCol>
                <a:gridCol w="533400">
                  <a:extLst>
                    <a:ext uri="{9D8B030D-6E8A-4147-A177-3AD203B41FA5}">
                      <a16:colId xmlns:a16="http://schemas.microsoft.com/office/drawing/2014/main" val="20001"/>
                    </a:ext>
                  </a:extLst>
                </a:gridCol>
                <a:gridCol w="533400">
                  <a:extLst>
                    <a:ext uri="{9D8B030D-6E8A-4147-A177-3AD203B41FA5}">
                      <a16:colId xmlns:a16="http://schemas.microsoft.com/office/drawing/2014/main" val="20002"/>
                    </a:ext>
                  </a:extLst>
                </a:gridCol>
                <a:gridCol w="533400">
                  <a:extLst>
                    <a:ext uri="{9D8B030D-6E8A-4147-A177-3AD203B41FA5}">
                      <a16:colId xmlns:a16="http://schemas.microsoft.com/office/drawing/2014/main" val="20003"/>
                    </a:ext>
                  </a:extLst>
                </a:gridCol>
                <a:gridCol w="533400">
                  <a:extLst>
                    <a:ext uri="{9D8B030D-6E8A-4147-A177-3AD203B41FA5}">
                      <a16:colId xmlns:a16="http://schemas.microsoft.com/office/drawing/2014/main" val="20004"/>
                    </a:ext>
                  </a:extLst>
                </a:gridCol>
              </a:tblGrid>
              <a:tr h="304800">
                <a:tc>
                  <a:txBody>
                    <a:bodyPr/>
                    <a:lstStyle/>
                    <a:p>
                      <a:endParaRPr/>
                    </a:p>
                  </a:txBody>
                  <a:tcPr anchor="ctr">
                    <a:solidFill>
                      <a:srgbClr val="EAF3FA"/>
                    </a:solidFill>
                  </a:tcPr>
                </a:tc>
                <a:tc>
                  <a:txBody>
                    <a:bodyPr/>
                    <a:lstStyle/>
                    <a:p>
                      <a:pPr algn="ctr"/>
                      <a:r>
                        <a:rPr sz="975">
                          <a:solidFill>
                            <a:srgbClr val="202020"/>
                          </a:solidFill>
                          <a:latin typeface="Arial"/>
                          <a:ea typeface="Arial"/>
                          <a:cs typeface="Arial"/>
                        </a:rPr>
                        <a:t>A</a:t>
                      </a:r>
                    </a:p>
                  </a:txBody>
                  <a:tcPr anchor="ctr">
                    <a:solidFill>
                      <a:srgbClr val="EAF3FA"/>
                    </a:solidFill>
                  </a:tcPr>
                </a:tc>
                <a:tc>
                  <a:txBody>
                    <a:bodyPr/>
                    <a:lstStyle/>
                    <a:p>
                      <a:pPr algn="ctr"/>
                      <a:r>
                        <a:rPr sz="975">
                          <a:solidFill>
                            <a:srgbClr val="202020"/>
                          </a:solidFill>
                          <a:latin typeface="Arial"/>
                          <a:ea typeface="Arial"/>
                          <a:cs typeface="Arial"/>
                        </a:rPr>
                        <a:t>B</a:t>
                      </a:r>
                    </a:p>
                  </a:txBody>
                  <a:tcPr anchor="ctr">
                    <a:solidFill>
                      <a:srgbClr val="EAF3FA"/>
                    </a:solidFill>
                  </a:tcPr>
                </a:tc>
                <a:tc>
                  <a:txBody>
                    <a:bodyPr/>
                    <a:lstStyle/>
                    <a:p>
                      <a:pPr algn="ctr"/>
                      <a:r>
                        <a:rPr sz="975">
                          <a:solidFill>
                            <a:srgbClr val="202020"/>
                          </a:solidFill>
                          <a:latin typeface="Arial"/>
                          <a:ea typeface="Arial"/>
                          <a:cs typeface="Arial"/>
                        </a:rPr>
                        <a:t>C</a:t>
                      </a:r>
                    </a:p>
                  </a:txBody>
                  <a:tcPr anchor="ctr">
                    <a:solidFill>
                      <a:srgbClr val="EAF3FA"/>
                    </a:solidFill>
                  </a:tcPr>
                </a:tc>
                <a:tc>
                  <a:txBody>
                    <a:bodyPr/>
                    <a:lstStyle/>
                    <a:p>
                      <a:pPr algn="ctr"/>
                      <a:r>
                        <a:rPr sz="975">
                          <a:solidFill>
                            <a:srgbClr val="202020"/>
                          </a:solidFill>
                          <a:latin typeface="Arial"/>
                          <a:ea typeface="Arial"/>
                          <a:cs typeface="Arial"/>
                        </a:rPr>
                        <a:t>D</a:t>
                      </a:r>
                    </a:p>
                  </a:txBody>
                  <a:tcPr anchor="ctr">
                    <a:solidFill>
                      <a:srgbClr val="EAF3FA"/>
                    </a:solidFill>
                  </a:tcPr>
                </a:tc>
                <a:extLst>
                  <a:ext uri="{0D108BD9-81ED-4DB2-BD59-A6C34878D82A}">
                    <a16:rowId xmlns:a16="http://schemas.microsoft.com/office/drawing/2014/main" val="10000"/>
                  </a:ext>
                </a:extLst>
              </a:tr>
              <a:tr h="304800">
                <a:tc>
                  <a:txBody>
                    <a:bodyPr/>
                    <a:lstStyle/>
                    <a:p>
                      <a:pPr algn="ctr"/>
                      <a:r>
                        <a:rPr sz="975">
                          <a:solidFill>
                            <a:srgbClr val="202020"/>
                          </a:solidFill>
                          <a:latin typeface="Arial"/>
                          <a:ea typeface="Arial"/>
                          <a:cs typeface="Arial"/>
                        </a:rPr>
                        <a:t>A</a:t>
                      </a:r>
                    </a:p>
                  </a:txBody>
                  <a:tcPr anchor="ctr">
                    <a:solidFill>
                      <a:srgbClr val="EAF3FA"/>
                    </a:solidFill>
                  </a:tcPr>
                </a:tc>
                <a:tc>
                  <a:txBody>
                    <a:bodyPr/>
                    <a:lstStyle/>
                    <a:p>
                      <a:pPr algn="ctr"/>
                      <a:r>
                        <a:rPr sz="975">
                          <a:solidFill>
                            <a:srgbClr val="202020"/>
                          </a:solidFill>
                          <a:latin typeface="Arial"/>
                          <a:ea typeface="Arial"/>
                          <a:cs typeface="Arial"/>
                        </a:rPr>
                        <a:t>0</a:t>
                      </a:r>
                    </a:p>
                  </a:txBody>
                  <a:tcPr anchor="ctr">
                    <a:solidFill>
                      <a:srgbClr val="FFFFFF"/>
                    </a:solidFill>
                  </a:tcPr>
                </a:tc>
                <a:tc>
                  <a:txBody>
                    <a:bodyPr/>
                    <a:lstStyle/>
                    <a:p>
                      <a:pPr algn="ctr"/>
                      <a:r>
                        <a:rPr sz="975">
                          <a:solidFill>
                            <a:srgbClr val="202020"/>
                          </a:solidFill>
                          <a:latin typeface="Arial"/>
                          <a:ea typeface="Arial"/>
                          <a:cs typeface="Arial"/>
                        </a:rPr>
                        <a:t>1</a:t>
                      </a:r>
                    </a:p>
                  </a:txBody>
                  <a:tcPr anchor="ctr">
                    <a:solidFill>
                      <a:srgbClr val="FFFFFF"/>
                    </a:solidFill>
                  </a:tcPr>
                </a:tc>
                <a:tc>
                  <a:txBody>
                    <a:bodyPr/>
                    <a:lstStyle/>
                    <a:p>
                      <a:pPr algn="ctr"/>
                      <a:r>
                        <a:rPr sz="975">
                          <a:solidFill>
                            <a:srgbClr val="202020"/>
                          </a:solidFill>
                          <a:latin typeface="Arial"/>
                          <a:ea typeface="Arial"/>
                          <a:cs typeface="Arial"/>
                        </a:rPr>
                        <a:t>1</a:t>
                      </a:r>
                    </a:p>
                  </a:txBody>
                  <a:tcPr anchor="ctr">
                    <a:solidFill>
                      <a:srgbClr val="FFFFFF"/>
                    </a:solidFill>
                  </a:tcPr>
                </a:tc>
                <a:tc>
                  <a:txBody>
                    <a:bodyPr/>
                    <a:lstStyle/>
                    <a:p>
                      <a:pPr algn="ctr"/>
                      <a:r>
                        <a:rPr sz="975">
                          <a:solidFill>
                            <a:srgbClr val="202020"/>
                          </a:solidFill>
                          <a:latin typeface="Arial"/>
                          <a:ea typeface="Arial"/>
                          <a:cs typeface="Arial"/>
                        </a:rPr>
                        <a:t>0</a:t>
                      </a:r>
                    </a:p>
                  </a:txBody>
                  <a:tcPr anchor="ctr">
                    <a:solidFill>
                      <a:srgbClr val="FFFFFF"/>
                    </a:solidFill>
                  </a:tcPr>
                </a:tc>
                <a:extLst>
                  <a:ext uri="{0D108BD9-81ED-4DB2-BD59-A6C34878D82A}">
                    <a16:rowId xmlns:a16="http://schemas.microsoft.com/office/drawing/2014/main" val="10001"/>
                  </a:ext>
                </a:extLst>
              </a:tr>
              <a:tr h="304800">
                <a:tc>
                  <a:txBody>
                    <a:bodyPr/>
                    <a:lstStyle/>
                    <a:p>
                      <a:pPr algn="ctr"/>
                      <a:r>
                        <a:rPr sz="975">
                          <a:solidFill>
                            <a:srgbClr val="202020"/>
                          </a:solidFill>
                          <a:latin typeface="Arial"/>
                          <a:ea typeface="Arial"/>
                          <a:cs typeface="Arial"/>
                        </a:rPr>
                        <a:t>B</a:t>
                      </a:r>
                    </a:p>
                  </a:txBody>
                  <a:tcPr anchor="ctr">
                    <a:solidFill>
                      <a:srgbClr val="EAF3FA"/>
                    </a:solidFill>
                  </a:tcPr>
                </a:tc>
                <a:tc>
                  <a:txBody>
                    <a:bodyPr/>
                    <a:lstStyle/>
                    <a:p>
                      <a:pPr algn="ctr"/>
                      <a:r>
                        <a:rPr sz="975">
                          <a:solidFill>
                            <a:srgbClr val="202020"/>
                          </a:solidFill>
                          <a:latin typeface="Arial"/>
                          <a:ea typeface="Arial"/>
                          <a:cs typeface="Arial"/>
                        </a:rPr>
                        <a:t>1</a:t>
                      </a:r>
                    </a:p>
                  </a:txBody>
                  <a:tcPr anchor="ctr">
                    <a:solidFill>
                      <a:srgbClr val="FFFFFF"/>
                    </a:solidFill>
                  </a:tcPr>
                </a:tc>
                <a:tc>
                  <a:txBody>
                    <a:bodyPr/>
                    <a:lstStyle/>
                    <a:p>
                      <a:pPr algn="ctr"/>
                      <a:r>
                        <a:rPr sz="975">
                          <a:solidFill>
                            <a:srgbClr val="202020"/>
                          </a:solidFill>
                          <a:latin typeface="Arial"/>
                          <a:ea typeface="Arial"/>
                          <a:cs typeface="Arial"/>
                        </a:rPr>
                        <a:t>0</a:t>
                      </a:r>
                    </a:p>
                  </a:txBody>
                  <a:tcPr anchor="ctr">
                    <a:solidFill>
                      <a:srgbClr val="FFFFFF"/>
                    </a:solidFill>
                  </a:tcPr>
                </a:tc>
                <a:tc>
                  <a:txBody>
                    <a:bodyPr/>
                    <a:lstStyle/>
                    <a:p>
                      <a:pPr algn="ctr"/>
                      <a:r>
                        <a:rPr sz="975">
                          <a:solidFill>
                            <a:srgbClr val="202020"/>
                          </a:solidFill>
                          <a:latin typeface="Arial"/>
                          <a:ea typeface="Arial"/>
                          <a:cs typeface="Arial"/>
                        </a:rPr>
                        <a:t>0</a:t>
                      </a:r>
                    </a:p>
                  </a:txBody>
                  <a:tcPr anchor="ctr">
                    <a:solidFill>
                      <a:srgbClr val="FFFFFF"/>
                    </a:solidFill>
                  </a:tcPr>
                </a:tc>
                <a:tc>
                  <a:txBody>
                    <a:bodyPr/>
                    <a:lstStyle/>
                    <a:p>
                      <a:pPr algn="ctr"/>
                      <a:r>
                        <a:rPr sz="975">
                          <a:solidFill>
                            <a:srgbClr val="202020"/>
                          </a:solidFill>
                          <a:latin typeface="Arial"/>
                          <a:ea typeface="Arial"/>
                          <a:cs typeface="Arial"/>
                        </a:rPr>
                        <a:t>1</a:t>
                      </a:r>
                    </a:p>
                  </a:txBody>
                  <a:tcPr anchor="ctr">
                    <a:solidFill>
                      <a:srgbClr val="FFFFFF"/>
                    </a:solidFill>
                  </a:tcPr>
                </a:tc>
                <a:extLst>
                  <a:ext uri="{0D108BD9-81ED-4DB2-BD59-A6C34878D82A}">
                    <a16:rowId xmlns:a16="http://schemas.microsoft.com/office/drawing/2014/main" val="10002"/>
                  </a:ext>
                </a:extLst>
              </a:tr>
              <a:tr h="304800">
                <a:tc>
                  <a:txBody>
                    <a:bodyPr/>
                    <a:lstStyle/>
                    <a:p>
                      <a:pPr algn="ctr"/>
                      <a:r>
                        <a:rPr sz="975">
                          <a:solidFill>
                            <a:srgbClr val="202020"/>
                          </a:solidFill>
                          <a:latin typeface="Arial"/>
                          <a:ea typeface="Arial"/>
                          <a:cs typeface="Arial"/>
                        </a:rPr>
                        <a:t>C</a:t>
                      </a:r>
                    </a:p>
                  </a:txBody>
                  <a:tcPr anchor="ctr">
                    <a:solidFill>
                      <a:srgbClr val="EAF3FA"/>
                    </a:solidFill>
                  </a:tcPr>
                </a:tc>
                <a:tc>
                  <a:txBody>
                    <a:bodyPr/>
                    <a:lstStyle/>
                    <a:p>
                      <a:pPr algn="ctr"/>
                      <a:r>
                        <a:rPr sz="975">
                          <a:solidFill>
                            <a:srgbClr val="202020"/>
                          </a:solidFill>
                          <a:latin typeface="Arial"/>
                          <a:ea typeface="Arial"/>
                          <a:cs typeface="Arial"/>
                        </a:rPr>
                        <a:t>1</a:t>
                      </a:r>
                    </a:p>
                  </a:txBody>
                  <a:tcPr anchor="ctr">
                    <a:solidFill>
                      <a:srgbClr val="FFFFFF"/>
                    </a:solidFill>
                  </a:tcPr>
                </a:tc>
                <a:tc>
                  <a:txBody>
                    <a:bodyPr/>
                    <a:lstStyle/>
                    <a:p>
                      <a:pPr algn="ctr"/>
                      <a:r>
                        <a:rPr sz="975">
                          <a:solidFill>
                            <a:srgbClr val="202020"/>
                          </a:solidFill>
                          <a:latin typeface="Arial"/>
                          <a:ea typeface="Arial"/>
                          <a:cs typeface="Arial"/>
                        </a:rPr>
                        <a:t>0</a:t>
                      </a:r>
                    </a:p>
                  </a:txBody>
                  <a:tcPr anchor="ctr">
                    <a:solidFill>
                      <a:srgbClr val="FFFFFF"/>
                    </a:solidFill>
                  </a:tcPr>
                </a:tc>
                <a:tc>
                  <a:txBody>
                    <a:bodyPr/>
                    <a:lstStyle/>
                    <a:p>
                      <a:pPr algn="ctr"/>
                      <a:r>
                        <a:rPr sz="975">
                          <a:solidFill>
                            <a:srgbClr val="202020"/>
                          </a:solidFill>
                          <a:latin typeface="Arial"/>
                          <a:ea typeface="Arial"/>
                          <a:cs typeface="Arial"/>
                        </a:rPr>
                        <a:t>0</a:t>
                      </a:r>
                    </a:p>
                  </a:txBody>
                  <a:tcPr anchor="ctr">
                    <a:solidFill>
                      <a:srgbClr val="FFFFFF"/>
                    </a:solidFill>
                  </a:tcPr>
                </a:tc>
                <a:tc>
                  <a:txBody>
                    <a:bodyPr/>
                    <a:lstStyle/>
                    <a:p>
                      <a:pPr algn="ctr"/>
                      <a:r>
                        <a:rPr sz="975">
                          <a:solidFill>
                            <a:srgbClr val="202020"/>
                          </a:solidFill>
                          <a:latin typeface="Arial"/>
                          <a:ea typeface="Arial"/>
                          <a:cs typeface="Arial"/>
                        </a:rPr>
                        <a:t>1</a:t>
                      </a:r>
                    </a:p>
                  </a:txBody>
                  <a:tcPr anchor="ctr">
                    <a:solidFill>
                      <a:srgbClr val="FFFFFF"/>
                    </a:solidFill>
                  </a:tcPr>
                </a:tc>
                <a:extLst>
                  <a:ext uri="{0D108BD9-81ED-4DB2-BD59-A6C34878D82A}">
                    <a16:rowId xmlns:a16="http://schemas.microsoft.com/office/drawing/2014/main" val="10003"/>
                  </a:ext>
                </a:extLst>
              </a:tr>
              <a:tr h="304800">
                <a:tc>
                  <a:txBody>
                    <a:bodyPr/>
                    <a:lstStyle/>
                    <a:p>
                      <a:pPr algn="ctr"/>
                      <a:r>
                        <a:rPr sz="975">
                          <a:solidFill>
                            <a:srgbClr val="202020"/>
                          </a:solidFill>
                          <a:latin typeface="Arial"/>
                          <a:ea typeface="Arial"/>
                          <a:cs typeface="Arial"/>
                        </a:rPr>
                        <a:t>D</a:t>
                      </a:r>
                    </a:p>
                  </a:txBody>
                  <a:tcPr anchor="ctr">
                    <a:solidFill>
                      <a:srgbClr val="EAF3FA"/>
                    </a:solidFill>
                  </a:tcPr>
                </a:tc>
                <a:tc>
                  <a:txBody>
                    <a:bodyPr/>
                    <a:lstStyle/>
                    <a:p>
                      <a:pPr algn="ctr"/>
                      <a:r>
                        <a:rPr sz="975">
                          <a:solidFill>
                            <a:srgbClr val="202020"/>
                          </a:solidFill>
                          <a:latin typeface="Arial"/>
                          <a:ea typeface="Arial"/>
                          <a:cs typeface="Arial"/>
                        </a:rPr>
                        <a:t>0</a:t>
                      </a:r>
                    </a:p>
                  </a:txBody>
                  <a:tcPr anchor="ctr">
                    <a:solidFill>
                      <a:srgbClr val="FFFFFF"/>
                    </a:solidFill>
                  </a:tcPr>
                </a:tc>
                <a:tc>
                  <a:txBody>
                    <a:bodyPr/>
                    <a:lstStyle/>
                    <a:p>
                      <a:pPr algn="ctr"/>
                      <a:r>
                        <a:rPr sz="975">
                          <a:solidFill>
                            <a:srgbClr val="202020"/>
                          </a:solidFill>
                          <a:latin typeface="Arial"/>
                          <a:ea typeface="Arial"/>
                          <a:cs typeface="Arial"/>
                        </a:rPr>
                        <a:t>1</a:t>
                      </a:r>
                    </a:p>
                  </a:txBody>
                  <a:tcPr anchor="ctr">
                    <a:solidFill>
                      <a:srgbClr val="FFFFFF"/>
                    </a:solidFill>
                  </a:tcPr>
                </a:tc>
                <a:tc>
                  <a:txBody>
                    <a:bodyPr/>
                    <a:lstStyle/>
                    <a:p>
                      <a:pPr algn="ctr"/>
                      <a:r>
                        <a:rPr sz="975">
                          <a:solidFill>
                            <a:srgbClr val="202020"/>
                          </a:solidFill>
                          <a:latin typeface="Arial"/>
                          <a:ea typeface="Arial"/>
                          <a:cs typeface="Arial"/>
                        </a:rPr>
                        <a:t>1</a:t>
                      </a:r>
                    </a:p>
                  </a:txBody>
                  <a:tcPr anchor="ctr">
                    <a:solidFill>
                      <a:srgbClr val="FFFFFF"/>
                    </a:solidFill>
                  </a:tcPr>
                </a:tc>
                <a:tc>
                  <a:txBody>
                    <a:bodyPr/>
                    <a:lstStyle/>
                    <a:p>
                      <a:pPr algn="ctr"/>
                      <a:r>
                        <a:rPr sz="975">
                          <a:solidFill>
                            <a:srgbClr val="202020"/>
                          </a:solidFill>
                          <a:latin typeface="Arial"/>
                          <a:ea typeface="Arial"/>
                          <a:cs typeface="Arial"/>
                        </a:rPr>
                        <a:t>0</a:t>
                      </a:r>
                    </a:p>
                  </a:txBody>
                  <a:tcPr anchor="ctr">
                    <a:solidFill>
                      <a:srgbClr val="FFFFFF"/>
                    </a:solidFill>
                  </a:tcPr>
                </a:tc>
                <a:extLst>
                  <a:ext uri="{0D108BD9-81ED-4DB2-BD59-A6C34878D82A}">
                    <a16:rowId xmlns:a16="http://schemas.microsoft.com/office/drawing/2014/main" val="10004"/>
                  </a:ext>
                </a:extLst>
              </a:tr>
            </a:tbl>
          </a:graphicData>
        </a:graphic>
      </p:graphicFrame>
      <p:sp>
        <p:nvSpPr>
          <p:cNvPr id="15" name="text">
            <a:extLst>
              <a:ext uri="{FF2B5EF4-FFF2-40B4-BE49-F238E27FC236}">
                <a16:creationId xmlns:a16="http://schemas.microsoft.com/office/drawing/2014/main" id="{DE827306-0EE0-4708-B653-E5D07ED7E78A}"/>
              </a:ext>
            </a:extLst>
          </p:cNvPr>
          <p:cNvSpPr>
            <a:spLocks noGrp="1"/>
          </p:cNvSpPr>
          <p:nvPr/>
        </p:nvSpPr>
        <p:spPr>
          <a:xfrm>
            <a:off x="3438525" y="1133475"/>
            <a:ext cx="1714500" cy="266700"/>
          </a:xfrm>
          <a:prstGeom prst="rect">
            <a:avLst/>
          </a:prstGeom>
          <a:noFill/>
          <a:ln w="0">
            <a:noFill/>
          </a:ln>
        </p:spPr>
        <p:txBody>
          <a:bodyPr wrap="square" lIns="0" tIns="0" rIns="0" bIns="0" anchor="t">
            <a:noAutofit/>
          </a:bodyPr>
          <a:lstStyle/>
          <a:p>
            <a:pPr algn="l">
              <a:lnSpc>
                <a:spcPct val="110000"/>
              </a:lnSpc>
              <a:buNone/>
              <a:defRPr sz="1350" b="1">
                <a:solidFill>
                  <a:srgbClr val="006ABA"/>
                </a:solidFill>
                <a:latin typeface="Arial"/>
                <a:ea typeface="Arial"/>
                <a:cs typeface="Arial"/>
              </a:defRPr>
            </a:pPr>
            <a:r>
              <a:rPr sz="1350" b="1">
                <a:solidFill>
                  <a:srgbClr val="006ABA"/>
                </a:solidFill>
                <a:latin typeface="Arial"/>
                <a:ea typeface="Arial"/>
                <a:cs typeface="Arial"/>
              </a:rPr>
              <a:t>Row A</a:t>
            </a:r>
          </a:p>
        </p:txBody>
      </p:sp>
      <p:sp>
        <p:nvSpPr>
          <p:cNvPr id="16" name="text">
            <a:extLst>
              <a:ext uri="{FF2B5EF4-FFF2-40B4-BE49-F238E27FC236}">
                <a16:creationId xmlns:a16="http://schemas.microsoft.com/office/drawing/2014/main" id="{61834731-6ECD-4F52-A926-FD8B79055223}"/>
              </a:ext>
            </a:extLst>
          </p:cNvPr>
          <p:cNvSpPr>
            <a:spLocks noGrp="1"/>
          </p:cNvSpPr>
          <p:nvPr/>
        </p:nvSpPr>
        <p:spPr>
          <a:xfrm>
            <a:off x="3438525" y="1524000"/>
            <a:ext cx="1971675" cy="285750"/>
          </a:xfrm>
          <a:prstGeom prst="rect">
            <a:avLst/>
          </a:prstGeom>
          <a:noFill/>
          <a:ln w="0">
            <a:noFill/>
          </a:ln>
        </p:spPr>
        <p:txBody>
          <a:bodyPr wrap="square" lIns="0" tIns="0" rIns="0" bIns="0" anchor="t">
            <a:noAutofit/>
          </a:bodyPr>
          <a:lstStyle/>
          <a:p>
            <a:pPr algn="l">
              <a:lnSpc>
                <a:spcPct val="110000"/>
              </a:lnSpc>
              <a:buNone/>
              <a:defRPr sz="1125" b="0">
                <a:solidFill>
                  <a:srgbClr val="202020"/>
                </a:solidFill>
                <a:latin typeface="Arial"/>
                <a:ea typeface="Arial"/>
                <a:cs typeface="Arial"/>
              </a:defRPr>
            </a:pPr>
            <a:r>
              <a:rPr sz="1125" b="0">
                <a:solidFill>
                  <a:srgbClr val="202020"/>
                </a:solidFill>
                <a:latin typeface="Arial"/>
                <a:ea typeface="Arial"/>
                <a:cs typeface="Arial"/>
              </a:rPr>
              <a:t>Edges to B and C</a:t>
            </a:r>
          </a:p>
        </p:txBody>
      </p:sp>
      <p:sp>
        <p:nvSpPr>
          <p:cNvPr id="17" name="text">
            <a:extLst>
              <a:ext uri="{FF2B5EF4-FFF2-40B4-BE49-F238E27FC236}">
                <a16:creationId xmlns:a16="http://schemas.microsoft.com/office/drawing/2014/main" id="{3154D02B-737C-4D85-A048-D8EC4EDA3C23}"/>
              </a:ext>
            </a:extLst>
          </p:cNvPr>
          <p:cNvSpPr>
            <a:spLocks noGrp="1"/>
          </p:cNvSpPr>
          <p:nvPr/>
        </p:nvSpPr>
        <p:spPr>
          <a:xfrm>
            <a:off x="3438525" y="2019300"/>
            <a:ext cx="1981200" cy="457200"/>
          </a:xfrm>
          <a:prstGeom prst="rect">
            <a:avLst/>
          </a:prstGeom>
          <a:noFill/>
          <a:ln w="0">
            <a:noFill/>
          </a:ln>
        </p:spPr>
        <p:txBody>
          <a:bodyPr wrap="square" lIns="0" tIns="0" rIns="0" bIns="0" anchor="t">
            <a:noAutofit/>
          </a:bodyPr>
          <a:lstStyle/>
          <a:p>
            <a:pPr algn="l">
              <a:lnSpc>
                <a:spcPct val="110000"/>
              </a:lnSpc>
              <a:buNone/>
              <a:defRPr sz="975" b="0">
                <a:solidFill>
                  <a:srgbClr val="202020"/>
                </a:solidFill>
                <a:latin typeface="Arial"/>
                <a:ea typeface="Arial"/>
                <a:cs typeface="Arial"/>
              </a:defRPr>
            </a:pPr>
            <a:r>
              <a:rPr sz="975" b="0">
                <a:solidFill>
                  <a:srgbClr val="202020"/>
                </a:solidFill>
                <a:latin typeface="Arial"/>
                <a:ea typeface="Arial"/>
                <a:cs typeface="Arial"/>
              </a:rPr>
              <a:t>Symmetric matrix</a:t>
            </a:r>
          </a:p>
          <a:p>
            <a:pPr algn="l">
              <a:lnSpc>
                <a:spcPct val="110000"/>
              </a:lnSpc>
              <a:buNone/>
              <a:defRPr sz="975" b="0">
                <a:solidFill>
                  <a:srgbClr val="202020"/>
                </a:solidFill>
                <a:latin typeface="Arial"/>
                <a:ea typeface="Arial"/>
                <a:cs typeface="Arial"/>
              </a:defRPr>
            </a:pPr>
            <a:r>
              <a:rPr sz="975" b="0">
                <a:solidFill>
                  <a:srgbClr val="202020"/>
                </a:solidFill>
                <a:latin typeface="Arial"/>
                <a:ea typeface="Arial"/>
                <a:cs typeface="Arial"/>
              </a:rPr>
              <a:t>for an undirected graph</a:t>
            </a:r>
          </a:p>
        </p:txBody>
      </p:sp>
      <p:sp>
        <p:nvSpPr>
          <p:cNvPr id="18" name="text">
            <a:extLst>
              <a:ext uri="{FF2B5EF4-FFF2-40B4-BE49-F238E27FC236}">
                <a16:creationId xmlns:a16="http://schemas.microsoft.com/office/drawing/2014/main" id="{325AC53D-3CFF-4F20-AC55-6C741ECFAE49}"/>
              </a:ext>
            </a:extLst>
          </p:cNvPr>
          <p:cNvSpPr>
            <a:spLocks noGrp="1"/>
          </p:cNvSpPr>
          <p:nvPr/>
        </p:nvSpPr>
        <p:spPr>
          <a:xfrm>
            <a:off x="228600" y="2600325"/>
            <a:ext cx="5314950" cy="228600"/>
          </a:xfrm>
          <a:prstGeom prst="rect">
            <a:avLst/>
          </a:prstGeom>
          <a:noFill/>
          <a:ln w="0">
            <a:noFill/>
          </a:ln>
        </p:spPr>
        <p:txBody>
          <a:bodyPr wrap="square" lIns="0" tIns="0" rIns="0" bIns="0" anchor="t">
            <a:noAutofit/>
          </a:bodyPr>
          <a:lstStyle/>
          <a:p>
            <a:pPr algn="l">
              <a:lnSpc>
                <a:spcPct val="110000"/>
              </a:lnSpc>
              <a:buNone/>
              <a:defRPr sz="885" b="0">
                <a:solidFill>
                  <a:srgbClr val="006ABA"/>
                </a:solidFill>
                <a:latin typeface="Arial"/>
                <a:ea typeface="Arial"/>
                <a:cs typeface="Arial"/>
              </a:defRPr>
            </a:pPr>
            <a:r>
              <a:rPr sz="885" b="0">
                <a:solidFill>
                  <a:srgbClr val="006ABA"/>
                </a:solidFill>
                <a:latin typeface="Arial"/>
                <a:ea typeface="Arial"/>
                <a:cs typeface="Arial"/>
              </a:rPr>
              <a:t>Matrix space: O(V²). A known pair can be checked directly.</a:t>
            </a:r>
          </a:p>
        </p:txBody>
      </p:sp>
      <p:sp>
        <p:nvSpPr>
          <p:cNvPr id="19" name="text">
            <a:extLst>
              <a:ext uri="{FF2B5EF4-FFF2-40B4-BE49-F238E27FC236}">
                <a16:creationId xmlns:a16="http://schemas.microsoft.com/office/drawing/2014/main" id="{20650458-7AA7-46A9-B0FA-AF09444AFBFF}"/>
              </a:ext>
            </a:extLst>
          </p:cNvPr>
          <p:cNvSpPr>
            <a:spLocks noGrp="1"/>
          </p:cNvSpPr>
          <p:nvPr/>
        </p:nvSpPr>
        <p:spPr>
          <a:xfrm>
            <a:off x="228600" y="2867025"/>
            <a:ext cx="5334000" cy="95250"/>
          </a:xfrm>
          <a:prstGeom prst="rect">
            <a:avLst/>
          </a:prstGeom>
          <a:noFill/>
          <a:ln w="0">
            <a:noFill/>
          </a:ln>
        </p:spPr>
        <p:txBody>
          <a:bodyPr wrap="square" lIns="0" tIns="0" rIns="0" bIns="0" anchor="t">
            <a:noAutofit/>
          </a:bodyPr>
          <a:lstStyle/>
          <a:p>
            <a:pPr algn="l">
              <a:lnSpc>
                <a:spcPct val="110000"/>
              </a:lnSpc>
              <a:buNone/>
              <a:defRPr sz="510" b="0">
                <a:solidFill>
                  <a:srgbClr val="66717C"/>
                </a:solidFill>
                <a:latin typeface="Arial"/>
                <a:ea typeface="Arial"/>
                <a:cs typeface="Arial"/>
              </a:defRPr>
            </a:pPr>
            <a:r>
              <a:rPr sz="510" b="0">
                <a:solidFill>
                  <a:srgbClr val="66717C"/>
                </a:solidFill>
                <a:latin typeface="Arial"/>
                <a:ea typeface="Arial"/>
                <a:cs typeface="Arial"/>
              </a:rPr>
              <a:t>[I]  [A]</a:t>
            </a:r>
          </a:p>
        </p:txBody>
      </p:sp>
    </p:spTree>
    <p:extLst>
      <p:ext uri="{BB962C8B-B14F-4D97-AF65-F5344CB8AC3E}">
        <p14:creationId xmlns:p14="http://schemas.microsoft.com/office/powerpoint/2010/main" val="364567217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19C03931-4A28-44C2-9238-650F85D8C2AD}"/>
              </a:ext>
            </a:extLst>
          </p:cNvPr>
          <p:cNvSpPr>
            <a:spLocks noGrp="1"/>
          </p:cNvSpPr>
          <p:nvPr>
            <p:ph type="title"/>
          </p:nvPr>
        </p:nvSpPr>
        <p:spPr>
          <a:xfrm>
            <a:off x="171450" y="95250"/>
            <a:ext cx="5429250" cy="304800"/>
          </a:xfrm>
          <a:prstGeom prst="rect">
            <a:avLst/>
          </a:prstGeom>
        </p:spPr>
        <p:txBody>
          <a:bodyPr vert="horz" wrap="square" lIns="0" tIns="0" rIns="0" bIns="0">
            <a:noAutofit/>
          </a:bodyPr>
          <a:lstStyle/>
          <a:p>
            <a:pPr marL="12700" algn="l">
              <a:lnSpc>
                <a:spcPct val="110000"/>
              </a:lnSpc>
              <a:spcBef>
                <a:spcPts val="135"/>
              </a:spcBef>
              <a:buNone/>
              <a:defRPr sz="1400">
                <a:solidFill>
                  <a:srgbClr val="006ABA"/>
                </a:solidFill>
                <a:latin typeface="Arial"/>
                <a:ea typeface="Arial"/>
                <a:cs typeface="Arial"/>
              </a:defRPr>
            </a:pPr>
            <a:r>
              <a:rPr sz="1400" b="0" spc="-10">
                <a:solidFill>
                  <a:srgbClr val="006ABA"/>
                </a:solidFill>
                <a:latin typeface="Arial"/>
                <a:ea typeface="Arial"/>
                <a:cs typeface="Arial"/>
              </a:rPr>
              <a:t>Heaps and priority queues</a:t>
            </a:r>
            <a:endParaRPr sz="1400" b="0" spc="-10">
              <a:latin typeface="Arial"/>
              <a:ea typeface="Arial"/>
              <a:cs typeface="Arial"/>
            </a:endParaRPr>
          </a:p>
        </p:txBody>
      </p:sp>
      <p:pic>
        <p:nvPicPr>
          <p:cNvPr id="27" name="object 4"/>
          <p:cNvPicPr>
            <a:picLocks noChangeAspect="1"/>
          </p:cNvPicPr>
          <p:nvPr/>
        </p:nvPicPr>
        <p:blipFill>
          <a:blip r:embed="rId3"/>
          <a:stretch>
            <a:fillRect/>
          </a:stretch>
        </p:blipFill>
        <p:spPr>
          <a:xfrm>
            <a:off x="152565" y="2988507"/>
            <a:ext cx="900668" cy="161917"/>
          </a:xfrm>
          <a:prstGeom prst="rect">
            <a:avLst/>
          </a:prstGeom>
        </p:spPr>
      </p:pic>
      <p:pic>
        <p:nvPicPr>
          <p:cNvPr id="28" name="object 5"/>
          <p:cNvPicPr>
            <a:picLocks noChangeAspect="1"/>
          </p:cNvPicPr>
          <p:nvPr/>
        </p:nvPicPr>
        <p:blipFill>
          <a:blip r:embed="rId4"/>
          <a:stretch>
            <a:fillRect/>
          </a:stretch>
        </p:blipFill>
        <p:spPr>
          <a:xfrm>
            <a:off x="1286560" y="2988417"/>
            <a:ext cx="610912" cy="162008"/>
          </a:xfrm>
          <a:prstGeom prst="rect">
            <a:avLst/>
          </a:prstGeom>
        </p:spPr>
      </p:pic>
      <p:sp>
        <p:nvSpPr>
          <p:cNvPr id="10" name="Footer Placeholder 7">
            <a:extLst>
              <a:ext uri="{FF2B5EF4-FFF2-40B4-BE49-F238E27FC236}">
                <a16:creationId xmlns:a16="http://schemas.microsoft.com/office/drawing/2014/main" id="{197FE2C8-8EE2-4937-3F30-294DB47641D6}"/>
              </a:ext>
            </a:extLst>
          </p:cNvPr>
          <p:cNvSpPr>
            <a:spLocks noGrp="1"/>
          </p:cNvSpPr>
          <p:nvPr>
            <p:ph type="ftr" idx="5"/>
          </p:nvPr>
        </p:nvSpPr>
        <p:spPr>
          <a:xfrm>
            <a:off x="2590800" y="3105150"/>
            <a:ext cx="2743200" cy="95250"/>
          </a:xfrm>
        </p:spPr>
        <p:txBody>
          <a:bodyPr wrap="square" lIns="0" tIns="0" rIns="0" bIns="0">
            <a:noAutofit/>
          </a:bodyPr>
          <a:lstStyle/>
          <a:p>
            <a:pPr algn="r">
              <a:lnSpc>
                <a:spcPct val="110000"/>
              </a:lnSpc>
              <a:buNone/>
              <a:defRPr sz="500">
                <a:solidFill>
                  <a:srgbClr val="888888"/>
                </a:solidFill>
                <a:latin typeface="Arial"/>
                <a:ea typeface="Arial"/>
                <a:cs typeface="Arial"/>
              </a:defRPr>
            </a:pPr>
            <a:r>
              <a:rPr sz="500">
                <a:solidFill>
                  <a:srgbClr val="888888"/>
                </a:solidFill>
                <a:latin typeface="Arial"/>
                <a:ea typeface="Arial"/>
                <a:cs typeface="Arial"/>
              </a:rPr>
              <a:t>MAS Foundations - Kamendu Panchal</a:t>
            </a:r>
            <a:endParaRPr sz="500" b="1">
              <a:solidFill>
                <a:schemeClr val="tx1"/>
              </a:solidFill>
              <a:latin typeface="Arial"/>
              <a:ea typeface="Arial"/>
              <a:cs typeface="Arial"/>
            </a:endParaRPr>
          </a:p>
        </p:txBody>
      </p:sp>
      <p:sp>
        <p:nvSpPr>
          <p:cNvPr id="3" name="TextBox 2">
            <a:extLst>
              <a:ext uri="{FF2B5EF4-FFF2-40B4-BE49-F238E27FC236}">
                <a16:creationId xmlns:a16="http://schemas.microsoft.com/office/drawing/2014/main" id="{DCE8FEB4-DA15-74FB-D091-FA2B80C9B501}"/>
              </a:ext>
            </a:extLst>
          </p:cNvPr>
          <p:cNvSpPr>
            <a:spLocks noGrp="1"/>
          </p:cNvSpPr>
          <p:nvPr/>
        </p:nvSpPr>
        <p:spPr>
          <a:xfrm>
            <a:off x="5438775" y="3086100"/>
            <a:ext cx="209550" cy="175260"/>
          </a:xfrm>
          <a:prstGeom prst="rect">
            <a:avLst/>
          </a:prstGeom>
          <a:noFill/>
        </p:spPr>
        <p:txBody>
          <a:bodyPr wrap="square" lIns="0" tIns="0" rIns="0" bIns="0">
            <a:noAutofit/>
          </a:bodyPr>
          <a:lstStyle/>
          <a:p>
            <a:pPr algn="r">
              <a:lnSpc>
                <a:spcPct val="110000"/>
              </a:lnSpc>
              <a:buNone/>
              <a:defRPr sz="500">
                <a:solidFill>
                  <a:srgbClr val="202020"/>
                </a:solidFill>
                <a:latin typeface="Arial"/>
                <a:ea typeface="Arial"/>
                <a:cs typeface="Arial"/>
              </a:defRPr>
            </a:pPr>
            <a:r>
              <a:rPr sz="500">
                <a:solidFill>
                  <a:srgbClr val="202020"/>
                </a:solidFill>
                <a:latin typeface="Arial"/>
                <a:ea typeface="Arial"/>
                <a:cs typeface="Arial"/>
              </a:rPr>
              <a:t>34</a:t>
            </a:r>
          </a:p>
        </p:txBody>
      </p:sp>
      <p:sp>
        <p:nvSpPr>
          <p:cNvPr id="13" name="text">
            <a:extLst>
              <a:ext uri="{FF2B5EF4-FFF2-40B4-BE49-F238E27FC236}">
                <a16:creationId xmlns:a16="http://schemas.microsoft.com/office/drawing/2014/main" id="{EE5157AE-06A4-4551-BF17-6D7B723771D1}"/>
              </a:ext>
            </a:extLst>
          </p:cNvPr>
          <p:cNvSpPr>
            <a:spLocks noGrp="1"/>
          </p:cNvSpPr>
          <p:nvPr/>
        </p:nvSpPr>
        <p:spPr>
          <a:xfrm>
            <a:off x="228600" y="504825"/>
            <a:ext cx="5314950" cy="381000"/>
          </a:xfrm>
          <a:prstGeom prst="rect">
            <a:avLst/>
          </a:prstGeom>
          <a:noFill/>
          <a:ln w="0">
            <a:noFill/>
          </a:ln>
        </p:spPr>
        <p:txBody>
          <a:bodyPr wrap="square" lIns="0" tIns="0" rIns="0" bIns="0" anchor="t">
            <a:noAutofit/>
          </a:bodyPr>
          <a:lstStyle/>
          <a:p>
            <a:pPr algn="l">
              <a:lnSpc>
                <a:spcPct val="110000"/>
              </a:lnSpc>
              <a:buNone/>
              <a:defRPr sz="998" b="0">
                <a:solidFill>
                  <a:srgbClr val="202020"/>
                </a:solidFill>
                <a:latin typeface="Arial"/>
                <a:ea typeface="Arial"/>
                <a:cs typeface="Arial"/>
              </a:defRPr>
            </a:pPr>
            <a:r>
              <a:rPr sz="998" b="0">
                <a:solidFill>
                  <a:srgbClr val="202020"/>
                </a:solidFill>
                <a:latin typeface="Arial"/>
                <a:ea typeface="Arial"/>
                <a:cs typeface="Arial"/>
              </a:rPr>
              <a:t>A binary min-heap keeps each parent no greater than its children.</a:t>
            </a:r>
          </a:p>
        </p:txBody>
      </p:sp>
      <p:sp>
        <p:nvSpPr>
          <p:cNvPr id="14" name="diagram-node">
            <a:extLst>
              <a:ext uri="{FF2B5EF4-FFF2-40B4-BE49-F238E27FC236}">
                <a16:creationId xmlns:a16="http://schemas.microsoft.com/office/drawing/2014/main" id="{BEB0DBA8-91E2-46CE-8A40-110A5D4760EC}"/>
              </a:ext>
            </a:extLst>
          </p:cNvPr>
          <p:cNvSpPr>
            <a:spLocks noGrp="1"/>
          </p:cNvSpPr>
          <p:nvPr/>
        </p:nvSpPr>
        <p:spPr>
          <a:xfrm>
            <a:off x="2524125" y="914400"/>
            <a:ext cx="666750" cy="323850"/>
          </a:xfrm>
          <a:prstGeom prst="ellipse">
            <a:avLst/>
          </a:prstGeom>
          <a:solidFill>
            <a:srgbClr val="EAF3FA"/>
          </a:solidFill>
          <a:ln w="11430">
            <a:solidFill>
              <a:srgbClr val="006ABA"/>
            </a:solidFill>
          </a:ln>
        </p:spPr>
        <p:txBody>
          <a:bodyPr wrap="square" lIns="47625" tIns="28575" rIns="47625" bIns="28575" anchor="ctr">
            <a:noAutofit/>
          </a:bodyPr>
          <a:lstStyle/>
          <a:p>
            <a:pPr algn="ctr">
              <a:lnSpc>
                <a:spcPct val="107000"/>
              </a:lnSpc>
              <a:buNone/>
              <a:defRPr sz="1125">
                <a:solidFill>
                  <a:srgbClr val="202020"/>
                </a:solidFill>
                <a:latin typeface="Arial"/>
                <a:ea typeface="Arial"/>
                <a:cs typeface="Arial"/>
              </a:defRPr>
            </a:pPr>
            <a:r>
              <a:rPr sz="1125">
                <a:solidFill>
                  <a:srgbClr val="202020"/>
                </a:solidFill>
                <a:latin typeface="Arial"/>
                <a:ea typeface="Arial"/>
                <a:cs typeface="Arial"/>
              </a:rPr>
              <a:t>5</a:t>
            </a:r>
          </a:p>
        </p:txBody>
      </p:sp>
      <p:sp>
        <p:nvSpPr>
          <p:cNvPr id="15" name="diagram-node">
            <a:extLst>
              <a:ext uri="{FF2B5EF4-FFF2-40B4-BE49-F238E27FC236}">
                <a16:creationId xmlns:a16="http://schemas.microsoft.com/office/drawing/2014/main" id="{9722C487-F196-4B06-B108-47546050893C}"/>
              </a:ext>
            </a:extLst>
          </p:cNvPr>
          <p:cNvSpPr>
            <a:spLocks noGrp="1"/>
          </p:cNvSpPr>
          <p:nvPr/>
        </p:nvSpPr>
        <p:spPr>
          <a:xfrm>
            <a:off x="1381125" y="1504950"/>
            <a:ext cx="666750" cy="323850"/>
          </a:xfrm>
          <a:prstGeom prst="ellipse">
            <a:avLst/>
          </a:prstGeom>
          <a:solidFill>
            <a:srgbClr val="FFFFFF"/>
          </a:solidFill>
          <a:ln w="11430">
            <a:solidFill>
              <a:srgbClr val="006ABA"/>
            </a:solidFill>
          </a:ln>
        </p:spPr>
        <p:txBody>
          <a:bodyPr wrap="square" lIns="47625" tIns="28575" rIns="47625" bIns="28575" anchor="ctr">
            <a:noAutofit/>
          </a:bodyPr>
          <a:lstStyle/>
          <a:p>
            <a:pPr algn="ctr">
              <a:lnSpc>
                <a:spcPct val="107000"/>
              </a:lnSpc>
              <a:buNone/>
              <a:defRPr sz="975">
                <a:solidFill>
                  <a:srgbClr val="202020"/>
                </a:solidFill>
                <a:latin typeface="Arial"/>
                <a:ea typeface="Arial"/>
                <a:cs typeface="Arial"/>
              </a:defRPr>
            </a:pPr>
            <a:r>
              <a:rPr sz="975">
                <a:solidFill>
                  <a:srgbClr val="202020"/>
                </a:solidFill>
                <a:latin typeface="Arial"/>
                <a:ea typeface="Arial"/>
                <a:cs typeface="Arial"/>
              </a:rPr>
              <a:t>10</a:t>
            </a:r>
          </a:p>
        </p:txBody>
      </p:sp>
      <p:sp>
        <p:nvSpPr>
          <p:cNvPr id="16" name="diagram-node">
            <a:extLst>
              <a:ext uri="{FF2B5EF4-FFF2-40B4-BE49-F238E27FC236}">
                <a16:creationId xmlns:a16="http://schemas.microsoft.com/office/drawing/2014/main" id="{C6C74381-DB9B-467F-A1E9-EBDE2F6EDFB9}"/>
              </a:ext>
            </a:extLst>
          </p:cNvPr>
          <p:cNvSpPr>
            <a:spLocks noGrp="1"/>
          </p:cNvSpPr>
          <p:nvPr/>
        </p:nvSpPr>
        <p:spPr>
          <a:xfrm>
            <a:off x="3667125" y="1504950"/>
            <a:ext cx="666750" cy="323850"/>
          </a:xfrm>
          <a:prstGeom prst="ellipse">
            <a:avLst/>
          </a:prstGeom>
          <a:solidFill>
            <a:srgbClr val="FFFFFF"/>
          </a:solidFill>
          <a:ln w="11430">
            <a:solidFill>
              <a:srgbClr val="006ABA"/>
            </a:solidFill>
          </a:ln>
        </p:spPr>
        <p:txBody>
          <a:bodyPr wrap="square" lIns="47625" tIns="28575" rIns="47625" bIns="28575" anchor="ctr">
            <a:noAutofit/>
          </a:bodyPr>
          <a:lstStyle/>
          <a:p>
            <a:pPr algn="ctr">
              <a:lnSpc>
                <a:spcPct val="107000"/>
              </a:lnSpc>
              <a:buNone/>
              <a:defRPr sz="975">
                <a:solidFill>
                  <a:srgbClr val="202020"/>
                </a:solidFill>
                <a:latin typeface="Arial"/>
                <a:ea typeface="Arial"/>
                <a:cs typeface="Arial"/>
              </a:defRPr>
            </a:pPr>
            <a:r>
              <a:rPr sz="975">
                <a:solidFill>
                  <a:srgbClr val="202020"/>
                </a:solidFill>
                <a:latin typeface="Arial"/>
                <a:ea typeface="Arial"/>
                <a:cs typeface="Arial"/>
              </a:rPr>
              <a:t>20</a:t>
            </a:r>
          </a:p>
        </p:txBody>
      </p:sp>
      <p:sp>
        <p:nvSpPr>
          <p:cNvPr id="17" name="diagram-node">
            <a:extLst>
              <a:ext uri="{FF2B5EF4-FFF2-40B4-BE49-F238E27FC236}">
                <a16:creationId xmlns:a16="http://schemas.microsoft.com/office/drawing/2014/main" id="{8CD2702D-BBB5-440A-A35F-55B969096E96}"/>
              </a:ext>
            </a:extLst>
          </p:cNvPr>
          <p:cNvSpPr>
            <a:spLocks noGrp="1"/>
          </p:cNvSpPr>
          <p:nvPr/>
        </p:nvSpPr>
        <p:spPr>
          <a:xfrm>
            <a:off x="714375" y="2095500"/>
            <a:ext cx="666750" cy="323850"/>
          </a:xfrm>
          <a:prstGeom prst="ellipse">
            <a:avLst/>
          </a:prstGeom>
          <a:solidFill>
            <a:srgbClr val="FFFFFF"/>
          </a:solidFill>
          <a:ln w="11430">
            <a:solidFill>
              <a:srgbClr val="006ABA"/>
            </a:solidFill>
          </a:ln>
        </p:spPr>
        <p:txBody>
          <a:bodyPr wrap="square" lIns="47625" tIns="28575" rIns="47625" bIns="28575" anchor="ctr">
            <a:noAutofit/>
          </a:bodyPr>
          <a:lstStyle/>
          <a:p>
            <a:pPr algn="ctr">
              <a:lnSpc>
                <a:spcPct val="107000"/>
              </a:lnSpc>
              <a:buNone/>
              <a:defRPr sz="975">
                <a:solidFill>
                  <a:srgbClr val="202020"/>
                </a:solidFill>
                <a:latin typeface="Arial"/>
                <a:ea typeface="Arial"/>
                <a:cs typeface="Arial"/>
              </a:defRPr>
            </a:pPr>
            <a:r>
              <a:rPr sz="975">
                <a:solidFill>
                  <a:srgbClr val="202020"/>
                </a:solidFill>
                <a:latin typeface="Arial"/>
                <a:ea typeface="Arial"/>
                <a:cs typeface="Arial"/>
              </a:rPr>
              <a:t>30</a:t>
            </a:r>
          </a:p>
        </p:txBody>
      </p:sp>
      <p:sp>
        <p:nvSpPr>
          <p:cNvPr id="18" name="diagram-node">
            <a:extLst>
              <a:ext uri="{FF2B5EF4-FFF2-40B4-BE49-F238E27FC236}">
                <a16:creationId xmlns:a16="http://schemas.microsoft.com/office/drawing/2014/main" id="{BAAD1B93-7D70-457B-8896-12ADB3906B60}"/>
              </a:ext>
            </a:extLst>
          </p:cNvPr>
          <p:cNvSpPr>
            <a:spLocks noGrp="1"/>
          </p:cNvSpPr>
          <p:nvPr/>
        </p:nvSpPr>
        <p:spPr>
          <a:xfrm>
            <a:off x="2047875" y="2095500"/>
            <a:ext cx="666750" cy="323850"/>
          </a:xfrm>
          <a:prstGeom prst="ellipse">
            <a:avLst/>
          </a:prstGeom>
          <a:solidFill>
            <a:srgbClr val="FFFFFF"/>
          </a:solidFill>
          <a:ln w="11430">
            <a:solidFill>
              <a:srgbClr val="006ABA"/>
            </a:solidFill>
          </a:ln>
        </p:spPr>
        <p:txBody>
          <a:bodyPr wrap="square" lIns="47625" tIns="28575" rIns="47625" bIns="28575" anchor="ctr">
            <a:noAutofit/>
          </a:bodyPr>
          <a:lstStyle/>
          <a:p>
            <a:pPr algn="ctr">
              <a:lnSpc>
                <a:spcPct val="107000"/>
              </a:lnSpc>
              <a:buNone/>
              <a:defRPr sz="975">
                <a:solidFill>
                  <a:srgbClr val="202020"/>
                </a:solidFill>
                <a:latin typeface="Arial"/>
                <a:ea typeface="Arial"/>
                <a:cs typeface="Arial"/>
              </a:defRPr>
            </a:pPr>
            <a:r>
              <a:rPr sz="975">
                <a:solidFill>
                  <a:srgbClr val="202020"/>
                </a:solidFill>
                <a:latin typeface="Arial"/>
                <a:ea typeface="Arial"/>
                <a:cs typeface="Arial"/>
              </a:rPr>
              <a:t>40</a:t>
            </a:r>
          </a:p>
        </p:txBody>
      </p:sp>
      <p:cxnSp>
        <p:nvCxnSpPr>
          <p:cNvPr id="37" name="Straight Arrow Connector 36"/>
          <p:cNvCxnSpPr>
            <a:stCxn id="14" idx="4"/>
            <a:endCxn id="15" idx="0"/>
          </p:cNvCxnSpPr>
          <p:nvPr/>
        </p:nvCxnSpPr>
        <p:spPr>
          <a:xfrm flipH="1">
            <a:off x="1714500" y="1238250"/>
            <a:ext cx="1143000" cy="266700"/>
          </a:xfrm>
          <a:prstGeom prst="straightConnector1">
            <a:avLst/>
          </a:prstGeom>
          <a:ln w="11430">
            <a:solidFill>
              <a:srgbClr val="66717C"/>
            </a:solidFill>
            <a:headEnd type="none" w="med" len="med"/>
            <a:tailEnd type="none" w="sm" len="sm"/>
          </a:ln>
        </p:spPr>
      </p:cxnSp>
      <p:cxnSp>
        <p:nvCxnSpPr>
          <p:cNvPr id="38" name="Straight Arrow Connector 37"/>
          <p:cNvCxnSpPr>
            <a:stCxn id="14" idx="4"/>
            <a:endCxn id="16" idx="0"/>
          </p:cNvCxnSpPr>
          <p:nvPr/>
        </p:nvCxnSpPr>
        <p:spPr>
          <a:xfrm>
            <a:off x="2857500" y="1238250"/>
            <a:ext cx="1143000" cy="266700"/>
          </a:xfrm>
          <a:prstGeom prst="straightConnector1">
            <a:avLst/>
          </a:prstGeom>
          <a:ln w="11430">
            <a:solidFill>
              <a:srgbClr val="66717C"/>
            </a:solidFill>
            <a:headEnd type="none" w="med" len="med"/>
            <a:tailEnd type="none" w="sm" len="sm"/>
          </a:ln>
        </p:spPr>
      </p:cxnSp>
      <p:cxnSp>
        <p:nvCxnSpPr>
          <p:cNvPr id="39" name="Straight Arrow Connector 38"/>
          <p:cNvCxnSpPr>
            <a:stCxn id="15" idx="4"/>
            <a:endCxn id="17" idx="0"/>
          </p:cNvCxnSpPr>
          <p:nvPr/>
        </p:nvCxnSpPr>
        <p:spPr>
          <a:xfrm flipH="1">
            <a:off x="1047750" y="1828800"/>
            <a:ext cx="666750" cy="266700"/>
          </a:xfrm>
          <a:prstGeom prst="straightConnector1">
            <a:avLst/>
          </a:prstGeom>
          <a:ln w="11430">
            <a:solidFill>
              <a:srgbClr val="66717C"/>
            </a:solidFill>
            <a:headEnd type="none" w="med" len="med"/>
            <a:tailEnd type="none" w="sm" len="sm"/>
          </a:ln>
        </p:spPr>
      </p:cxnSp>
      <p:cxnSp>
        <p:nvCxnSpPr>
          <p:cNvPr id="40" name="Straight Arrow Connector 39"/>
          <p:cNvCxnSpPr>
            <a:stCxn id="15" idx="4"/>
            <a:endCxn id="18" idx="0"/>
          </p:cNvCxnSpPr>
          <p:nvPr/>
        </p:nvCxnSpPr>
        <p:spPr>
          <a:xfrm>
            <a:off x="1714500" y="1828800"/>
            <a:ext cx="666750" cy="266700"/>
          </a:xfrm>
          <a:prstGeom prst="straightConnector1">
            <a:avLst/>
          </a:prstGeom>
          <a:ln w="11430">
            <a:solidFill>
              <a:srgbClr val="66717C"/>
            </a:solidFill>
            <a:headEnd type="none" w="med" len="med"/>
            <a:tailEnd type="none" w="sm" len="sm"/>
          </a:ln>
        </p:spPr>
      </p:cxnSp>
      <p:sp>
        <p:nvSpPr>
          <p:cNvPr id="23" name="text">
            <a:extLst>
              <a:ext uri="{FF2B5EF4-FFF2-40B4-BE49-F238E27FC236}">
                <a16:creationId xmlns:a16="http://schemas.microsoft.com/office/drawing/2014/main" id="{D5FA54A2-ACB7-42CF-9B1F-E6C0AF78CE91}"/>
              </a:ext>
            </a:extLst>
          </p:cNvPr>
          <p:cNvSpPr>
            <a:spLocks noGrp="1"/>
          </p:cNvSpPr>
          <p:nvPr/>
        </p:nvSpPr>
        <p:spPr>
          <a:xfrm>
            <a:off x="3657600" y="2095500"/>
            <a:ext cx="1781175" cy="257175"/>
          </a:xfrm>
          <a:prstGeom prst="rect">
            <a:avLst/>
          </a:prstGeom>
          <a:noFill/>
          <a:ln w="0">
            <a:noFill/>
          </a:ln>
        </p:spPr>
        <p:txBody>
          <a:bodyPr wrap="square" lIns="0" tIns="0" rIns="0" bIns="0" anchor="t">
            <a:noAutofit/>
          </a:bodyPr>
          <a:lstStyle/>
          <a:p>
            <a:pPr algn="l">
              <a:lnSpc>
                <a:spcPct val="110000"/>
              </a:lnSpc>
              <a:buNone/>
              <a:defRPr sz="1050" b="0">
                <a:solidFill>
                  <a:srgbClr val="006ABA"/>
                </a:solidFill>
                <a:latin typeface="Arial"/>
                <a:ea typeface="Arial"/>
                <a:cs typeface="Arial"/>
              </a:defRPr>
            </a:pPr>
            <a:r>
              <a:rPr sz="1050" b="0">
                <a:solidFill>
                  <a:srgbClr val="006ABA"/>
                </a:solidFill>
                <a:latin typeface="Arial"/>
                <a:ea typeface="Arial"/>
                <a:cs typeface="Arial"/>
              </a:rPr>
              <a:t>Parent ≤ children</a:t>
            </a:r>
          </a:p>
        </p:txBody>
      </p:sp>
      <p:sp>
        <p:nvSpPr>
          <p:cNvPr id="24" name="text">
            <a:extLst>
              <a:ext uri="{FF2B5EF4-FFF2-40B4-BE49-F238E27FC236}">
                <a16:creationId xmlns:a16="http://schemas.microsoft.com/office/drawing/2014/main" id="{259A9521-D07D-4675-A147-0584A10B2D06}"/>
              </a:ext>
            </a:extLst>
          </p:cNvPr>
          <p:cNvSpPr>
            <a:spLocks noGrp="1"/>
          </p:cNvSpPr>
          <p:nvPr/>
        </p:nvSpPr>
        <p:spPr>
          <a:xfrm>
            <a:off x="228600" y="2600325"/>
            <a:ext cx="5314950" cy="228600"/>
          </a:xfrm>
          <a:prstGeom prst="rect">
            <a:avLst/>
          </a:prstGeom>
          <a:noFill/>
          <a:ln w="0">
            <a:noFill/>
          </a:ln>
        </p:spPr>
        <p:txBody>
          <a:bodyPr wrap="square" lIns="0" tIns="0" rIns="0" bIns="0" anchor="t">
            <a:noAutofit/>
          </a:bodyPr>
          <a:lstStyle/>
          <a:p>
            <a:pPr algn="l">
              <a:lnSpc>
                <a:spcPct val="110000"/>
              </a:lnSpc>
              <a:buNone/>
              <a:defRPr sz="885" b="0">
                <a:solidFill>
                  <a:srgbClr val="006ABA"/>
                </a:solidFill>
                <a:latin typeface="Arial"/>
                <a:ea typeface="Arial"/>
                <a:cs typeface="Arial"/>
              </a:defRPr>
            </a:pPr>
            <a:r>
              <a:rPr sz="885" b="0">
                <a:solidFill>
                  <a:srgbClr val="006ABA"/>
                </a:solidFill>
                <a:latin typeface="Arial"/>
                <a:ea typeface="Arial"/>
                <a:cs typeface="Arial"/>
              </a:rPr>
              <a:t>Min-heap root: minimum. Max-heap root: maximum.</a:t>
            </a:r>
          </a:p>
        </p:txBody>
      </p:sp>
      <p:sp>
        <p:nvSpPr>
          <p:cNvPr id="25" name="text">
            <a:extLst>
              <a:ext uri="{FF2B5EF4-FFF2-40B4-BE49-F238E27FC236}">
                <a16:creationId xmlns:a16="http://schemas.microsoft.com/office/drawing/2014/main" id="{44BE984C-4936-48AB-93B6-12E3613AF1F4}"/>
              </a:ext>
            </a:extLst>
          </p:cNvPr>
          <p:cNvSpPr>
            <a:spLocks noGrp="1"/>
          </p:cNvSpPr>
          <p:nvPr/>
        </p:nvSpPr>
        <p:spPr>
          <a:xfrm>
            <a:off x="228600" y="2867025"/>
            <a:ext cx="5334000" cy="95250"/>
          </a:xfrm>
          <a:prstGeom prst="rect">
            <a:avLst/>
          </a:prstGeom>
          <a:noFill/>
          <a:ln w="0">
            <a:noFill/>
          </a:ln>
        </p:spPr>
        <p:txBody>
          <a:bodyPr wrap="square" lIns="0" tIns="0" rIns="0" bIns="0" anchor="t">
            <a:noAutofit/>
          </a:bodyPr>
          <a:lstStyle/>
          <a:p>
            <a:pPr algn="l">
              <a:lnSpc>
                <a:spcPct val="110000"/>
              </a:lnSpc>
              <a:buNone/>
              <a:defRPr sz="510" b="0">
                <a:solidFill>
                  <a:srgbClr val="66717C"/>
                </a:solidFill>
                <a:latin typeface="Arial"/>
                <a:ea typeface="Arial"/>
                <a:cs typeface="Arial"/>
              </a:defRPr>
            </a:pPr>
            <a:r>
              <a:rPr sz="510" b="0">
                <a:solidFill>
                  <a:srgbClr val="66717C"/>
                </a:solidFill>
                <a:latin typeface="Arial"/>
                <a:ea typeface="Arial"/>
                <a:cs typeface="Arial"/>
              </a:rPr>
              <a:t>[A]  [H]</a:t>
            </a:r>
          </a:p>
        </p:txBody>
      </p:sp>
    </p:spTree>
    <p:extLst>
      <p:ext uri="{BB962C8B-B14F-4D97-AF65-F5344CB8AC3E}">
        <p14:creationId xmlns:p14="http://schemas.microsoft.com/office/powerpoint/2010/main" val="364567217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19C03931-4A28-44C2-9238-650F85D8C2AD}"/>
              </a:ext>
            </a:extLst>
          </p:cNvPr>
          <p:cNvSpPr>
            <a:spLocks noGrp="1"/>
          </p:cNvSpPr>
          <p:nvPr>
            <p:ph type="title"/>
          </p:nvPr>
        </p:nvSpPr>
        <p:spPr>
          <a:xfrm>
            <a:off x="171450" y="95250"/>
            <a:ext cx="5429250" cy="304800"/>
          </a:xfrm>
          <a:prstGeom prst="rect">
            <a:avLst/>
          </a:prstGeom>
        </p:spPr>
        <p:txBody>
          <a:bodyPr vert="horz" wrap="square" lIns="0" tIns="0" rIns="0" bIns="0">
            <a:noAutofit/>
          </a:bodyPr>
          <a:lstStyle/>
          <a:p>
            <a:pPr marL="12700" algn="l">
              <a:lnSpc>
                <a:spcPct val="110000"/>
              </a:lnSpc>
              <a:spcBef>
                <a:spcPts val="135"/>
              </a:spcBef>
              <a:buNone/>
              <a:defRPr sz="1400">
                <a:solidFill>
                  <a:srgbClr val="006ABA"/>
                </a:solidFill>
                <a:latin typeface="Arial"/>
                <a:ea typeface="Arial"/>
                <a:cs typeface="Arial"/>
              </a:defRPr>
            </a:pPr>
            <a:r>
              <a:rPr sz="1400" b="0" spc="-10">
                <a:solidFill>
                  <a:srgbClr val="006ABA"/>
                </a:solidFill>
                <a:latin typeface="Arial"/>
                <a:ea typeface="Arial"/>
                <a:cs typeface="Arial"/>
              </a:rPr>
              <a:t>A min-heap in C++ and Python</a:t>
            </a:r>
            <a:endParaRPr sz="1400" b="0" spc="-10">
              <a:latin typeface="Arial"/>
              <a:ea typeface="Arial"/>
              <a:cs typeface="Arial"/>
            </a:endParaRPr>
          </a:p>
        </p:txBody>
      </p:sp>
      <p:pic>
        <p:nvPicPr>
          <p:cNvPr id="33" name="object 4"/>
          <p:cNvPicPr>
            <a:picLocks noChangeAspect="1"/>
          </p:cNvPicPr>
          <p:nvPr/>
        </p:nvPicPr>
        <p:blipFill>
          <a:blip r:embed="rId3"/>
          <a:stretch>
            <a:fillRect/>
          </a:stretch>
        </p:blipFill>
        <p:spPr>
          <a:xfrm>
            <a:off x="152565" y="2988507"/>
            <a:ext cx="900668" cy="161917"/>
          </a:xfrm>
          <a:prstGeom prst="rect">
            <a:avLst/>
          </a:prstGeom>
        </p:spPr>
      </p:pic>
      <p:pic>
        <p:nvPicPr>
          <p:cNvPr id="34" name="object 5"/>
          <p:cNvPicPr>
            <a:picLocks noChangeAspect="1"/>
          </p:cNvPicPr>
          <p:nvPr/>
        </p:nvPicPr>
        <p:blipFill>
          <a:blip r:embed="rId4"/>
          <a:stretch>
            <a:fillRect/>
          </a:stretch>
        </p:blipFill>
        <p:spPr>
          <a:xfrm>
            <a:off x="1286560" y="2988417"/>
            <a:ext cx="610912" cy="162008"/>
          </a:xfrm>
          <a:prstGeom prst="rect">
            <a:avLst/>
          </a:prstGeom>
        </p:spPr>
      </p:pic>
      <p:sp>
        <p:nvSpPr>
          <p:cNvPr id="10" name="Footer Placeholder 7">
            <a:extLst>
              <a:ext uri="{FF2B5EF4-FFF2-40B4-BE49-F238E27FC236}">
                <a16:creationId xmlns:a16="http://schemas.microsoft.com/office/drawing/2014/main" id="{197FE2C8-8EE2-4937-3F30-294DB47641D6}"/>
              </a:ext>
            </a:extLst>
          </p:cNvPr>
          <p:cNvSpPr>
            <a:spLocks noGrp="1"/>
          </p:cNvSpPr>
          <p:nvPr>
            <p:ph type="ftr" idx="5"/>
          </p:nvPr>
        </p:nvSpPr>
        <p:spPr>
          <a:xfrm>
            <a:off x="2590800" y="3105150"/>
            <a:ext cx="2743200" cy="95250"/>
          </a:xfrm>
        </p:spPr>
        <p:txBody>
          <a:bodyPr wrap="square" lIns="0" tIns="0" rIns="0" bIns="0">
            <a:noAutofit/>
          </a:bodyPr>
          <a:lstStyle/>
          <a:p>
            <a:pPr algn="r">
              <a:lnSpc>
                <a:spcPct val="110000"/>
              </a:lnSpc>
              <a:buNone/>
              <a:defRPr sz="500">
                <a:solidFill>
                  <a:srgbClr val="888888"/>
                </a:solidFill>
                <a:latin typeface="Arial"/>
                <a:ea typeface="Arial"/>
                <a:cs typeface="Arial"/>
              </a:defRPr>
            </a:pPr>
            <a:r>
              <a:rPr sz="500">
                <a:solidFill>
                  <a:srgbClr val="888888"/>
                </a:solidFill>
                <a:latin typeface="Arial"/>
                <a:ea typeface="Arial"/>
                <a:cs typeface="Arial"/>
              </a:rPr>
              <a:t>MAS Foundations - Kamendu Panchal</a:t>
            </a:r>
            <a:endParaRPr sz="500" b="1">
              <a:solidFill>
                <a:schemeClr val="tx1"/>
              </a:solidFill>
              <a:latin typeface="Arial"/>
              <a:ea typeface="Arial"/>
              <a:cs typeface="Arial"/>
            </a:endParaRPr>
          </a:p>
        </p:txBody>
      </p:sp>
      <p:sp>
        <p:nvSpPr>
          <p:cNvPr id="3" name="TextBox 2">
            <a:extLst>
              <a:ext uri="{FF2B5EF4-FFF2-40B4-BE49-F238E27FC236}">
                <a16:creationId xmlns:a16="http://schemas.microsoft.com/office/drawing/2014/main" id="{DCE8FEB4-DA15-74FB-D091-FA2B80C9B501}"/>
              </a:ext>
            </a:extLst>
          </p:cNvPr>
          <p:cNvSpPr>
            <a:spLocks noGrp="1"/>
          </p:cNvSpPr>
          <p:nvPr/>
        </p:nvSpPr>
        <p:spPr>
          <a:xfrm>
            <a:off x="5438775" y="3086100"/>
            <a:ext cx="209550" cy="175260"/>
          </a:xfrm>
          <a:prstGeom prst="rect">
            <a:avLst/>
          </a:prstGeom>
          <a:noFill/>
        </p:spPr>
        <p:txBody>
          <a:bodyPr wrap="square" lIns="0" tIns="0" rIns="0" bIns="0">
            <a:noAutofit/>
          </a:bodyPr>
          <a:lstStyle/>
          <a:p>
            <a:pPr algn="r">
              <a:lnSpc>
                <a:spcPct val="110000"/>
              </a:lnSpc>
              <a:buNone/>
              <a:defRPr sz="500">
                <a:solidFill>
                  <a:srgbClr val="202020"/>
                </a:solidFill>
                <a:latin typeface="Arial"/>
                <a:ea typeface="Arial"/>
                <a:cs typeface="Arial"/>
              </a:defRPr>
            </a:pPr>
            <a:r>
              <a:rPr sz="500">
                <a:solidFill>
                  <a:srgbClr val="202020"/>
                </a:solidFill>
                <a:latin typeface="Arial"/>
                <a:ea typeface="Arial"/>
                <a:cs typeface="Arial"/>
              </a:rPr>
              <a:t>35</a:t>
            </a:r>
          </a:p>
        </p:txBody>
      </p:sp>
      <p:sp>
        <p:nvSpPr>
          <p:cNvPr id="13" name="text">
            <a:extLst>
              <a:ext uri="{FF2B5EF4-FFF2-40B4-BE49-F238E27FC236}">
                <a16:creationId xmlns:a16="http://schemas.microsoft.com/office/drawing/2014/main" id="{581CEE65-8A70-48CA-AF86-24E1E602DECF}"/>
              </a:ext>
            </a:extLst>
          </p:cNvPr>
          <p:cNvSpPr>
            <a:spLocks noGrp="1"/>
          </p:cNvSpPr>
          <p:nvPr/>
        </p:nvSpPr>
        <p:spPr>
          <a:xfrm>
            <a:off x="228600" y="504825"/>
            <a:ext cx="5314950" cy="381000"/>
          </a:xfrm>
          <a:prstGeom prst="rect">
            <a:avLst/>
          </a:prstGeom>
          <a:noFill/>
          <a:ln w="0">
            <a:noFill/>
          </a:ln>
        </p:spPr>
        <p:txBody>
          <a:bodyPr wrap="square" lIns="0" tIns="0" rIns="0" bIns="0" anchor="t">
            <a:noAutofit/>
          </a:bodyPr>
          <a:lstStyle/>
          <a:p>
            <a:pPr algn="l">
              <a:lnSpc>
                <a:spcPct val="110000"/>
              </a:lnSpc>
              <a:buNone/>
              <a:defRPr sz="998" b="0">
                <a:solidFill>
                  <a:srgbClr val="202020"/>
                </a:solidFill>
                <a:latin typeface="Arial"/>
                <a:ea typeface="Arial"/>
                <a:cs typeface="Arial"/>
              </a:defRPr>
            </a:pPr>
            <a:r>
              <a:rPr sz="998" b="0">
                <a:solidFill>
                  <a:srgbClr val="202020"/>
                </a:solidFill>
                <a:latin typeface="Arial"/>
                <a:ea typeface="Arial"/>
                <a:cs typeface="Arial"/>
              </a:rPr>
              <a:t>Both examples remove the smallest value first.</a:t>
            </a:r>
          </a:p>
        </p:txBody>
      </p:sp>
      <p:sp>
        <p:nvSpPr>
          <p:cNvPr id="14" name="Rectangle 13">
            <a:extLst>
              <a:ext uri="{FF2B5EF4-FFF2-40B4-BE49-F238E27FC236}">
                <a16:creationId xmlns:a16="http://schemas.microsoft.com/office/drawing/2014/main" id="{916A3DFA-567C-44E6-98B1-5A92AD3351DC}"/>
              </a:ext>
            </a:extLst>
          </p:cNvPr>
          <p:cNvSpPr>
            <a:spLocks noGrp="1"/>
          </p:cNvSpPr>
          <p:nvPr/>
        </p:nvSpPr>
        <p:spPr>
          <a:xfrm>
            <a:off x="228600" y="981075"/>
            <a:ext cx="2600325" cy="1504950"/>
          </a:xfrm>
          <a:prstGeom prst="rect">
            <a:avLst/>
          </a:prstGeom>
          <a:solidFill>
            <a:srgbClr val="101827"/>
          </a:solidFill>
          <a:ln w="0">
            <a:noFill/>
          </a:ln>
        </p:spPr>
      </p:sp>
      <p:sp>
        <p:nvSpPr>
          <p:cNvPr id="15" name="Rectangle 14">
            <a:extLst>
              <a:ext uri="{FF2B5EF4-FFF2-40B4-BE49-F238E27FC236}">
                <a16:creationId xmlns:a16="http://schemas.microsoft.com/office/drawing/2014/main" id="{8A7EE5BF-A74C-4DC8-A48B-9BA21C4DDD87}"/>
              </a:ext>
            </a:extLst>
          </p:cNvPr>
          <p:cNvSpPr>
            <a:spLocks noGrp="1"/>
          </p:cNvSpPr>
          <p:nvPr/>
        </p:nvSpPr>
        <p:spPr>
          <a:xfrm>
            <a:off x="228600" y="800100"/>
            <a:ext cx="2600325" cy="180975"/>
          </a:xfrm>
          <a:prstGeom prst="rect">
            <a:avLst/>
          </a:prstGeom>
          <a:solidFill>
            <a:srgbClr val="006ABA"/>
          </a:solidFill>
          <a:ln w="0">
            <a:noFill/>
          </a:ln>
        </p:spPr>
      </p:sp>
      <p:sp>
        <p:nvSpPr>
          <p:cNvPr id="16" name="text">
            <a:extLst>
              <a:ext uri="{FF2B5EF4-FFF2-40B4-BE49-F238E27FC236}">
                <a16:creationId xmlns:a16="http://schemas.microsoft.com/office/drawing/2014/main" id="{1A7F9B11-067D-4F0F-BE2A-0D45721EFE60}"/>
              </a:ext>
            </a:extLst>
          </p:cNvPr>
          <p:cNvSpPr>
            <a:spLocks noGrp="1"/>
          </p:cNvSpPr>
          <p:nvPr/>
        </p:nvSpPr>
        <p:spPr>
          <a:xfrm>
            <a:off x="228600" y="819150"/>
            <a:ext cx="2600325" cy="161925"/>
          </a:xfrm>
          <a:prstGeom prst="rect">
            <a:avLst/>
          </a:prstGeom>
          <a:noFill/>
          <a:ln w="0">
            <a:noFill/>
          </a:ln>
        </p:spPr>
        <p:txBody>
          <a:bodyPr wrap="square" lIns="0" tIns="0" rIns="0" bIns="0" anchor="t">
            <a:noAutofit/>
          </a:bodyPr>
          <a:lstStyle/>
          <a:p>
            <a:pPr algn="ctr">
              <a:lnSpc>
                <a:spcPct val="110000"/>
              </a:lnSpc>
              <a:buNone/>
              <a:defRPr sz="825" b="1">
                <a:solidFill>
                  <a:srgbClr val="FFFFFF"/>
                </a:solidFill>
                <a:latin typeface="Arial"/>
                <a:ea typeface="Arial"/>
                <a:cs typeface="Arial"/>
              </a:defRPr>
            </a:pPr>
            <a:r>
              <a:rPr sz="825" b="1">
                <a:solidFill>
                  <a:srgbClr val="FFFFFF"/>
                </a:solidFill>
                <a:latin typeface="Arial"/>
                <a:ea typeface="Arial"/>
                <a:cs typeface="Arial"/>
              </a:rPr>
              <a:t>C++17</a:t>
            </a:r>
          </a:p>
        </p:txBody>
      </p:sp>
      <p:sp>
        <p:nvSpPr>
          <p:cNvPr id="17" name="text">
            <a:extLst>
              <a:ext uri="{FF2B5EF4-FFF2-40B4-BE49-F238E27FC236}">
                <a16:creationId xmlns:a16="http://schemas.microsoft.com/office/drawing/2014/main" id="{2A6513D2-3067-4361-A379-498962A466F7}"/>
              </a:ext>
            </a:extLst>
          </p:cNvPr>
          <p:cNvSpPr>
            <a:spLocks noGrp="1"/>
          </p:cNvSpPr>
          <p:nvPr/>
        </p:nvSpPr>
        <p:spPr>
          <a:xfrm>
            <a:off x="295275" y="106680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std::priority_queue&lt;int,</a:t>
            </a:r>
          </a:p>
        </p:txBody>
      </p:sp>
      <p:sp>
        <p:nvSpPr>
          <p:cNvPr id="18" name="text">
            <a:extLst>
              <a:ext uri="{FF2B5EF4-FFF2-40B4-BE49-F238E27FC236}">
                <a16:creationId xmlns:a16="http://schemas.microsoft.com/office/drawing/2014/main" id="{4447D740-8419-48BB-95F9-9636981FCF84}"/>
              </a:ext>
            </a:extLst>
          </p:cNvPr>
          <p:cNvSpPr>
            <a:spLocks noGrp="1"/>
          </p:cNvSpPr>
          <p:nvPr/>
        </p:nvSpPr>
        <p:spPr>
          <a:xfrm>
            <a:off x="295275" y="119634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  std::vector&lt;int&gt;,</a:t>
            </a:r>
          </a:p>
        </p:txBody>
      </p:sp>
      <p:sp>
        <p:nvSpPr>
          <p:cNvPr id="19" name="text">
            <a:extLst>
              <a:ext uri="{FF2B5EF4-FFF2-40B4-BE49-F238E27FC236}">
                <a16:creationId xmlns:a16="http://schemas.microsoft.com/office/drawing/2014/main" id="{87F2D4FD-124E-4F01-91BC-F113CF2B3158}"/>
              </a:ext>
            </a:extLst>
          </p:cNvPr>
          <p:cNvSpPr>
            <a:spLocks noGrp="1"/>
          </p:cNvSpPr>
          <p:nvPr/>
        </p:nvSpPr>
        <p:spPr>
          <a:xfrm>
            <a:off x="295275" y="132588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  std::greater&lt;int&gt;&gt; h;</a:t>
            </a:r>
          </a:p>
        </p:txBody>
      </p:sp>
      <p:sp>
        <p:nvSpPr>
          <p:cNvPr id="20" name="text">
            <a:extLst>
              <a:ext uri="{FF2B5EF4-FFF2-40B4-BE49-F238E27FC236}">
                <a16:creationId xmlns:a16="http://schemas.microsoft.com/office/drawing/2014/main" id="{00FD2FFD-E31B-405C-BD33-A86D3BAAD0C9}"/>
              </a:ext>
            </a:extLst>
          </p:cNvPr>
          <p:cNvSpPr>
            <a:spLocks noGrp="1"/>
          </p:cNvSpPr>
          <p:nvPr/>
        </p:nvSpPr>
        <p:spPr>
          <a:xfrm>
            <a:off x="295275" y="145542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for (int x : {10, 20, 5}) h.push(x);</a:t>
            </a:r>
          </a:p>
        </p:txBody>
      </p:sp>
      <p:sp>
        <p:nvSpPr>
          <p:cNvPr id="21" name="text">
            <a:extLst>
              <a:ext uri="{FF2B5EF4-FFF2-40B4-BE49-F238E27FC236}">
                <a16:creationId xmlns:a16="http://schemas.microsoft.com/office/drawing/2014/main" id="{7DF1BC5C-E271-4A54-AF1F-644BF2FA6086}"/>
              </a:ext>
            </a:extLst>
          </p:cNvPr>
          <p:cNvSpPr>
            <a:spLocks noGrp="1"/>
          </p:cNvSpPr>
          <p:nvPr/>
        </p:nvSpPr>
        <p:spPr>
          <a:xfrm>
            <a:off x="295275" y="158496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std::cout &lt;&lt; h.top() &lt;&lt; "\n";</a:t>
            </a:r>
          </a:p>
        </p:txBody>
      </p:sp>
      <p:sp>
        <p:nvSpPr>
          <p:cNvPr id="22" name="text">
            <a:extLst>
              <a:ext uri="{FF2B5EF4-FFF2-40B4-BE49-F238E27FC236}">
                <a16:creationId xmlns:a16="http://schemas.microsoft.com/office/drawing/2014/main" id="{EC8A3C61-682F-46A5-B4DE-DE6785BBAC10}"/>
              </a:ext>
            </a:extLst>
          </p:cNvPr>
          <p:cNvSpPr>
            <a:spLocks noGrp="1"/>
          </p:cNvSpPr>
          <p:nvPr/>
        </p:nvSpPr>
        <p:spPr>
          <a:xfrm>
            <a:off x="295275" y="171450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h.pop();</a:t>
            </a:r>
          </a:p>
        </p:txBody>
      </p:sp>
      <p:sp>
        <p:nvSpPr>
          <p:cNvPr id="23" name="Rectangle 22">
            <a:extLst>
              <a:ext uri="{FF2B5EF4-FFF2-40B4-BE49-F238E27FC236}">
                <a16:creationId xmlns:a16="http://schemas.microsoft.com/office/drawing/2014/main" id="{4753A6D5-ED71-48EF-A166-617CBC75AAC0}"/>
              </a:ext>
            </a:extLst>
          </p:cNvPr>
          <p:cNvSpPr>
            <a:spLocks noGrp="1"/>
          </p:cNvSpPr>
          <p:nvPr/>
        </p:nvSpPr>
        <p:spPr>
          <a:xfrm>
            <a:off x="2990850" y="981075"/>
            <a:ext cx="2600325" cy="1504950"/>
          </a:xfrm>
          <a:prstGeom prst="rect">
            <a:avLst/>
          </a:prstGeom>
          <a:solidFill>
            <a:srgbClr val="101827"/>
          </a:solidFill>
          <a:ln w="0">
            <a:noFill/>
          </a:ln>
        </p:spPr>
      </p:sp>
      <p:sp>
        <p:nvSpPr>
          <p:cNvPr id="24" name="Rectangle 23">
            <a:extLst>
              <a:ext uri="{FF2B5EF4-FFF2-40B4-BE49-F238E27FC236}">
                <a16:creationId xmlns:a16="http://schemas.microsoft.com/office/drawing/2014/main" id="{4BD8FA2C-4531-428A-82AB-5A004D042C2D}"/>
              </a:ext>
            </a:extLst>
          </p:cNvPr>
          <p:cNvSpPr>
            <a:spLocks noGrp="1"/>
          </p:cNvSpPr>
          <p:nvPr/>
        </p:nvSpPr>
        <p:spPr>
          <a:xfrm>
            <a:off x="2990850" y="800100"/>
            <a:ext cx="2600325" cy="180975"/>
          </a:xfrm>
          <a:prstGeom prst="rect">
            <a:avLst/>
          </a:prstGeom>
          <a:solidFill>
            <a:srgbClr val="1AA260"/>
          </a:solidFill>
          <a:ln w="0">
            <a:noFill/>
          </a:ln>
        </p:spPr>
      </p:sp>
      <p:sp>
        <p:nvSpPr>
          <p:cNvPr id="25" name="text">
            <a:extLst>
              <a:ext uri="{FF2B5EF4-FFF2-40B4-BE49-F238E27FC236}">
                <a16:creationId xmlns:a16="http://schemas.microsoft.com/office/drawing/2014/main" id="{5A35A8D7-910B-441B-ACEB-D8740DB19F9B}"/>
              </a:ext>
            </a:extLst>
          </p:cNvPr>
          <p:cNvSpPr>
            <a:spLocks noGrp="1"/>
          </p:cNvSpPr>
          <p:nvPr/>
        </p:nvSpPr>
        <p:spPr>
          <a:xfrm>
            <a:off x="2990850" y="819150"/>
            <a:ext cx="2600325" cy="161925"/>
          </a:xfrm>
          <a:prstGeom prst="rect">
            <a:avLst/>
          </a:prstGeom>
          <a:noFill/>
          <a:ln w="0">
            <a:noFill/>
          </a:ln>
        </p:spPr>
        <p:txBody>
          <a:bodyPr wrap="square" lIns="0" tIns="0" rIns="0" bIns="0" anchor="t">
            <a:noAutofit/>
          </a:bodyPr>
          <a:lstStyle/>
          <a:p>
            <a:pPr algn="ctr">
              <a:lnSpc>
                <a:spcPct val="110000"/>
              </a:lnSpc>
              <a:buNone/>
              <a:defRPr sz="825" b="1">
                <a:solidFill>
                  <a:srgbClr val="FFFFFF"/>
                </a:solidFill>
                <a:latin typeface="Arial"/>
                <a:ea typeface="Arial"/>
                <a:cs typeface="Arial"/>
              </a:defRPr>
            </a:pPr>
            <a:r>
              <a:rPr sz="825" b="1">
                <a:solidFill>
                  <a:srgbClr val="FFFFFF"/>
                </a:solidFill>
                <a:latin typeface="Arial"/>
                <a:ea typeface="Arial"/>
                <a:cs typeface="Arial"/>
              </a:rPr>
              <a:t>Python 3</a:t>
            </a:r>
          </a:p>
        </p:txBody>
      </p:sp>
      <p:sp>
        <p:nvSpPr>
          <p:cNvPr id="26" name="text">
            <a:extLst>
              <a:ext uri="{FF2B5EF4-FFF2-40B4-BE49-F238E27FC236}">
                <a16:creationId xmlns:a16="http://schemas.microsoft.com/office/drawing/2014/main" id="{5E414292-ED13-4981-821F-4D8B351ED705}"/>
              </a:ext>
            </a:extLst>
          </p:cNvPr>
          <p:cNvSpPr>
            <a:spLocks noGrp="1"/>
          </p:cNvSpPr>
          <p:nvPr/>
        </p:nvSpPr>
        <p:spPr>
          <a:xfrm>
            <a:off x="3057525" y="106680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import heapq</a:t>
            </a:r>
          </a:p>
        </p:txBody>
      </p:sp>
      <p:sp>
        <p:nvSpPr>
          <p:cNvPr id="27" name="text">
            <a:extLst>
              <a:ext uri="{FF2B5EF4-FFF2-40B4-BE49-F238E27FC236}">
                <a16:creationId xmlns:a16="http://schemas.microsoft.com/office/drawing/2014/main" id="{D5E8C51E-77AD-4578-A856-5FE6C247085D}"/>
              </a:ext>
            </a:extLst>
          </p:cNvPr>
          <p:cNvSpPr>
            <a:spLocks noGrp="1"/>
          </p:cNvSpPr>
          <p:nvPr/>
        </p:nvSpPr>
        <p:spPr>
          <a:xfrm>
            <a:off x="3057525" y="119634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h = [10, 20, 5]</a:t>
            </a:r>
          </a:p>
        </p:txBody>
      </p:sp>
      <p:sp>
        <p:nvSpPr>
          <p:cNvPr id="28" name="text">
            <a:extLst>
              <a:ext uri="{FF2B5EF4-FFF2-40B4-BE49-F238E27FC236}">
                <a16:creationId xmlns:a16="http://schemas.microsoft.com/office/drawing/2014/main" id="{BAB062D8-45E3-4F44-8266-8370CFB5B411}"/>
              </a:ext>
            </a:extLst>
          </p:cNvPr>
          <p:cNvSpPr>
            <a:spLocks noGrp="1"/>
          </p:cNvSpPr>
          <p:nvPr/>
        </p:nvSpPr>
        <p:spPr>
          <a:xfrm>
            <a:off x="3057525" y="132588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heapq.heapify(h)</a:t>
            </a:r>
          </a:p>
        </p:txBody>
      </p:sp>
      <p:sp>
        <p:nvSpPr>
          <p:cNvPr id="29" name="text">
            <a:extLst>
              <a:ext uri="{FF2B5EF4-FFF2-40B4-BE49-F238E27FC236}">
                <a16:creationId xmlns:a16="http://schemas.microsoft.com/office/drawing/2014/main" id="{F0F2DAB5-F0D5-41DD-980D-27DD33F192BB}"/>
              </a:ext>
            </a:extLst>
          </p:cNvPr>
          <p:cNvSpPr>
            <a:spLocks noGrp="1"/>
          </p:cNvSpPr>
          <p:nvPr/>
        </p:nvSpPr>
        <p:spPr>
          <a:xfrm>
            <a:off x="3057525" y="145542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print(heapq.heappop(h))</a:t>
            </a:r>
          </a:p>
        </p:txBody>
      </p:sp>
      <p:sp>
        <p:nvSpPr>
          <p:cNvPr id="30" name="text">
            <a:extLst>
              <a:ext uri="{FF2B5EF4-FFF2-40B4-BE49-F238E27FC236}">
                <a16:creationId xmlns:a16="http://schemas.microsoft.com/office/drawing/2014/main" id="{8D9D8AD3-F4DC-4E55-9E4F-BD798A904554}"/>
              </a:ext>
            </a:extLst>
          </p:cNvPr>
          <p:cNvSpPr>
            <a:spLocks noGrp="1"/>
          </p:cNvSpPr>
          <p:nvPr/>
        </p:nvSpPr>
        <p:spPr>
          <a:xfrm>
            <a:off x="228600" y="2600325"/>
            <a:ext cx="5314950" cy="228600"/>
          </a:xfrm>
          <a:prstGeom prst="rect">
            <a:avLst/>
          </a:prstGeom>
          <a:noFill/>
          <a:ln w="0">
            <a:noFill/>
          </a:ln>
        </p:spPr>
        <p:txBody>
          <a:bodyPr wrap="square" lIns="0" tIns="0" rIns="0" bIns="0" anchor="t">
            <a:noAutofit/>
          </a:bodyPr>
          <a:lstStyle/>
          <a:p>
            <a:pPr algn="l">
              <a:lnSpc>
                <a:spcPct val="110000"/>
              </a:lnSpc>
              <a:buNone/>
              <a:defRPr sz="885" b="0">
                <a:solidFill>
                  <a:srgbClr val="006ABA"/>
                </a:solidFill>
                <a:latin typeface="Arial"/>
                <a:ea typeface="Arial"/>
                <a:cs typeface="Arial"/>
              </a:defRPr>
            </a:pPr>
            <a:r>
              <a:rPr sz="885" b="0">
                <a:solidFill>
                  <a:srgbClr val="006ABA"/>
                </a:solidFill>
                <a:latin typeface="Arial"/>
                <a:ea typeface="Arial"/>
                <a:cs typeface="Arial"/>
              </a:rPr>
              <a:t>Output: 5. The next minimum is 10.</a:t>
            </a:r>
          </a:p>
        </p:txBody>
      </p:sp>
      <p:sp>
        <p:nvSpPr>
          <p:cNvPr id="31" name="text">
            <a:extLst>
              <a:ext uri="{FF2B5EF4-FFF2-40B4-BE49-F238E27FC236}">
                <a16:creationId xmlns:a16="http://schemas.microsoft.com/office/drawing/2014/main" id="{8D26B8BD-6C12-4B71-BF96-D0E7123885D3}"/>
              </a:ext>
            </a:extLst>
          </p:cNvPr>
          <p:cNvSpPr>
            <a:spLocks noGrp="1"/>
          </p:cNvSpPr>
          <p:nvPr/>
        </p:nvSpPr>
        <p:spPr>
          <a:xfrm>
            <a:off x="228600" y="2867025"/>
            <a:ext cx="5334000" cy="95250"/>
          </a:xfrm>
          <a:prstGeom prst="rect">
            <a:avLst/>
          </a:prstGeom>
          <a:noFill/>
          <a:ln w="0">
            <a:noFill/>
          </a:ln>
        </p:spPr>
        <p:txBody>
          <a:bodyPr wrap="square" lIns="0" tIns="0" rIns="0" bIns="0" anchor="t">
            <a:noAutofit/>
          </a:bodyPr>
          <a:lstStyle/>
          <a:p>
            <a:pPr algn="l">
              <a:lnSpc>
                <a:spcPct val="110000"/>
              </a:lnSpc>
              <a:buNone/>
              <a:defRPr sz="510" b="0">
                <a:solidFill>
                  <a:srgbClr val="66717C"/>
                </a:solidFill>
                <a:latin typeface="Arial"/>
                <a:ea typeface="Arial"/>
                <a:cs typeface="Arial"/>
              </a:defRPr>
            </a:pPr>
            <a:r>
              <a:rPr sz="510" b="0">
                <a:solidFill>
                  <a:srgbClr val="66717C"/>
                </a:solidFill>
                <a:latin typeface="Arial"/>
                <a:ea typeface="Arial"/>
                <a:cs typeface="Arial"/>
              </a:rPr>
              <a:t>[A]  [H]  [C]</a:t>
            </a:r>
          </a:p>
        </p:txBody>
      </p:sp>
    </p:spTree>
    <p:extLst>
      <p:ext uri="{BB962C8B-B14F-4D97-AF65-F5344CB8AC3E}">
        <p14:creationId xmlns:p14="http://schemas.microsoft.com/office/powerpoint/2010/main" val="364567217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19C03931-4A28-44C2-9238-650F85D8C2AD}"/>
              </a:ext>
            </a:extLst>
          </p:cNvPr>
          <p:cNvSpPr>
            <a:spLocks noGrp="1"/>
          </p:cNvSpPr>
          <p:nvPr>
            <p:ph type="title"/>
          </p:nvPr>
        </p:nvSpPr>
        <p:spPr>
          <a:xfrm>
            <a:off x="171450" y="95250"/>
            <a:ext cx="5429250" cy="304800"/>
          </a:xfrm>
          <a:prstGeom prst="rect">
            <a:avLst/>
          </a:prstGeom>
        </p:spPr>
        <p:txBody>
          <a:bodyPr vert="horz" wrap="square" lIns="0" tIns="0" rIns="0" bIns="0">
            <a:noAutofit/>
          </a:bodyPr>
          <a:lstStyle/>
          <a:p>
            <a:pPr marL="12700" algn="l">
              <a:lnSpc>
                <a:spcPct val="110000"/>
              </a:lnSpc>
              <a:spcBef>
                <a:spcPts val="135"/>
              </a:spcBef>
              <a:buNone/>
              <a:defRPr sz="1400">
                <a:solidFill>
                  <a:srgbClr val="006ABA"/>
                </a:solidFill>
                <a:latin typeface="Arial"/>
                <a:ea typeface="Arial"/>
                <a:cs typeface="Arial"/>
              </a:defRPr>
            </a:pPr>
            <a:r>
              <a:rPr sz="1400" b="0" spc="-10">
                <a:solidFill>
                  <a:srgbClr val="006ABA"/>
                </a:solidFill>
                <a:latin typeface="Arial"/>
                <a:ea typeface="Arial"/>
                <a:cs typeface="Arial"/>
              </a:rPr>
              <a:t>Searching and sorting</a:t>
            </a:r>
            <a:endParaRPr sz="1400" b="0" spc="-10">
              <a:latin typeface="Arial"/>
              <a:ea typeface="Arial"/>
              <a:cs typeface="Arial"/>
            </a:endParaRPr>
          </a:p>
        </p:txBody>
      </p:sp>
      <p:pic>
        <p:nvPicPr>
          <p:cNvPr id="34" name="object 4"/>
          <p:cNvPicPr>
            <a:picLocks noChangeAspect="1"/>
          </p:cNvPicPr>
          <p:nvPr/>
        </p:nvPicPr>
        <p:blipFill>
          <a:blip r:embed="rId3"/>
          <a:stretch>
            <a:fillRect/>
          </a:stretch>
        </p:blipFill>
        <p:spPr>
          <a:xfrm>
            <a:off x="152565" y="2988507"/>
            <a:ext cx="900668" cy="161917"/>
          </a:xfrm>
          <a:prstGeom prst="rect">
            <a:avLst/>
          </a:prstGeom>
        </p:spPr>
      </p:pic>
      <p:pic>
        <p:nvPicPr>
          <p:cNvPr id="35" name="object 5"/>
          <p:cNvPicPr>
            <a:picLocks noChangeAspect="1"/>
          </p:cNvPicPr>
          <p:nvPr/>
        </p:nvPicPr>
        <p:blipFill>
          <a:blip r:embed="rId4"/>
          <a:stretch>
            <a:fillRect/>
          </a:stretch>
        </p:blipFill>
        <p:spPr>
          <a:xfrm>
            <a:off x="1286560" y="2988417"/>
            <a:ext cx="610912" cy="162008"/>
          </a:xfrm>
          <a:prstGeom prst="rect">
            <a:avLst/>
          </a:prstGeom>
        </p:spPr>
      </p:pic>
      <p:sp>
        <p:nvSpPr>
          <p:cNvPr id="10" name="Footer Placeholder 7">
            <a:extLst>
              <a:ext uri="{FF2B5EF4-FFF2-40B4-BE49-F238E27FC236}">
                <a16:creationId xmlns:a16="http://schemas.microsoft.com/office/drawing/2014/main" id="{197FE2C8-8EE2-4937-3F30-294DB47641D6}"/>
              </a:ext>
            </a:extLst>
          </p:cNvPr>
          <p:cNvSpPr>
            <a:spLocks noGrp="1"/>
          </p:cNvSpPr>
          <p:nvPr>
            <p:ph type="ftr" idx="5"/>
          </p:nvPr>
        </p:nvSpPr>
        <p:spPr>
          <a:xfrm>
            <a:off x="2590800" y="3105150"/>
            <a:ext cx="2743200" cy="95250"/>
          </a:xfrm>
        </p:spPr>
        <p:txBody>
          <a:bodyPr wrap="square" lIns="0" tIns="0" rIns="0" bIns="0">
            <a:noAutofit/>
          </a:bodyPr>
          <a:lstStyle/>
          <a:p>
            <a:pPr algn="r">
              <a:lnSpc>
                <a:spcPct val="110000"/>
              </a:lnSpc>
              <a:buNone/>
              <a:defRPr sz="500">
                <a:solidFill>
                  <a:srgbClr val="888888"/>
                </a:solidFill>
                <a:latin typeface="Arial"/>
                <a:ea typeface="Arial"/>
                <a:cs typeface="Arial"/>
              </a:defRPr>
            </a:pPr>
            <a:r>
              <a:rPr sz="500">
                <a:solidFill>
                  <a:srgbClr val="888888"/>
                </a:solidFill>
                <a:latin typeface="Arial"/>
                <a:ea typeface="Arial"/>
                <a:cs typeface="Arial"/>
              </a:rPr>
              <a:t>MAS Foundations - Kamendu Panchal</a:t>
            </a:r>
            <a:endParaRPr sz="500" b="1">
              <a:solidFill>
                <a:schemeClr val="tx1"/>
              </a:solidFill>
              <a:latin typeface="Arial"/>
              <a:ea typeface="Arial"/>
              <a:cs typeface="Arial"/>
            </a:endParaRPr>
          </a:p>
        </p:txBody>
      </p:sp>
      <p:sp>
        <p:nvSpPr>
          <p:cNvPr id="3" name="TextBox 2">
            <a:extLst>
              <a:ext uri="{FF2B5EF4-FFF2-40B4-BE49-F238E27FC236}">
                <a16:creationId xmlns:a16="http://schemas.microsoft.com/office/drawing/2014/main" id="{DCE8FEB4-DA15-74FB-D091-FA2B80C9B501}"/>
              </a:ext>
            </a:extLst>
          </p:cNvPr>
          <p:cNvSpPr>
            <a:spLocks noGrp="1"/>
          </p:cNvSpPr>
          <p:nvPr/>
        </p:nvSpPr>
        <p:spPr>
          <a:xfrm>
            <a:off x="5438775" y="3086100"/>
            <a:ext cx="209550" cy="175260"/>
          </a:xfrm>
          <a:prstGeom prst="rect">
            <a:avLst/>
          </a:prstGeom>
          <a:noFill/>
        </p:spPr>
        <p:txBody>
          <a:bodyPr wrap="square" lIns="0" tIns="0" rIns="0" bIns="0">
            <a:noAutofit/>
          </a:bodyPr>
          <a:lstStyle/>
          <a:p>
            <a:pPr algn="r">
              <a:lnSpc>
                <a:spcPct val="110000"/>
              </a:lnSpc>
              <a:buNone/>
              <a:defRPr sz="500">
                <a:solidFill>
                  <a:srgbClr val="202020"/>
                </a:solidFill>
                <a:latin typeface="Arial"/>
                <a:ea typeface="Arial"/>
                <a:cs typeface="Arial"/>
              </a:defRPr>
            </a:pPr>
            <a:r>
              <a:rPr sz="500">
                <a:solidFill>
                  <a:srgbClr val="202020"/>
                </a:solidFill>
                <a:latin typeface="Arial"/>
                <a:ea typeface="Arial"/>
                <a:cs typeface="Arial"/>
              </a:rPr>
              <a:t>36</a:t>
            </a:r>
          </a:p>
        </p:txBody>
      </p:sp>
      <p:sp>
        <p:nvSpPr>
          <p:cNvPr id="13" name="text">
            <a:extLst>
              <a:ext uri="{FF2B5EF4-FFF2-40B4-BE49-F238E27FC236}">
                <a16:creationId xmlns:a16="http://schemas.microsoft.com/office/drawing/2014/main" id="{1A3FC98D-0130-4EDC-8DBC-7E171B9F28EF}"/>
              </a:ext>
            </a:extLst>
          </p:cNvPr>
          <p:cNvSpPr>
            <a:spLocks noGrp="1"/>
          </p:cNvSpPr>
          <p:nvPr/>
        </p:nvSpPr>
        <p:spPr>
          <a:xfrm>
            <a:off x="228600" y="504825"/>
            <a:ext cx="5314950" cy="381000"/>
          </a:xfrm>
          <a:prstGeom prst="rect">
            <a:avLst/>
          </a:prstGeom>
          <a:noFill/>
          <a:ln w="0">
            <a:noFill/>
          </a:ln>
        </p:spPr>
        <p:txBody>
          <a:bodyPr wrap="square" lIns="0" tIns="0" rIns="0" bIns="0" anchor="t">
            <a:noAutofit/>
          </a:bodyPr>
          <a:lstStyle/>
          <a:p>
            <a:pPr algn="l">
              <a:lnSpc>
                <a:spcPct val="110000"/>
              </a:lnSpc>
              <a:buNone/>
              <a:defRPr sz="998" b="0">
                <a:solidFill>
                  <a:srgbClr val="202020"/>
                </a:solidFill>
                <a:latin typeface="Arial"/>
                <a:ea typeface="Arial"/>
                <a:cs typeface="Arial"/>
              </a:defRPr>
            </a:pPr>
            <a:r>
              <a:rPr sz="998" b="0">
                <a:solidFill>
                  <a:srgbClr val="202020"/>
                </a:solidFill>
                <a:latin typeface="Arial"/>
                <a:ea typeface="Arial"/>
                <a:cs typeface="Arial"/>
              </a:rPr>
              <a:t>Searching locates a value. Sorting arranges values in order.</a:t>
            </a:r>
          </a:p>
        </p:txBody>
      </p:sp>
      <p:sp>
        <p:nvSpPr>
          <p:cNvPr id="14" name="Rectangle 13">
            <a:extLst>
              <a:ext uri="{FF2B5EF4-FFF2-40B4-BE49-F238E27FC236}">
                <a16:creationId xmlns:a16="http://schemas.microsoft.com/office/drawing/2014/main" id="{C4FED2D6-6F12-4862-8E04-B6E9BF5C3864}"/>
              </a:ext>
            </a:extLst>
          </p:cNvPr>
          <p:cNvSpPr>
            <a:spLocks noGrp="1"/>
          </p:cNvSpPr>
          <p:nvPr/>
        </p:nvSpPr>
        <p:spPr>
          <a:xfrm>
            <a:off x="228600" y="981075"/>
            <a:ext cx="2600325" cy="1504950"/>
          </a:xfrm>
          <a:prstGeom prst="rect">
            <a:avLst/>
          </a:prstGeom>
          <a:solidFill>
            <a:srgbClr val="101827"/>
          </a:solidFill>
          <a:ln w="0">
            <a:noFill/>
          </a:ln>
        </p:spPr>
      </p:sp>
      <p:sp>
        <p:nvSpPr>
          <p:cNvPr id="15" name="Rectangle 14">
            <a:extLst>
              <a:ext uri="{FF2B5EF4-FFF2-40B4-BE49-F238E27FC236}">
                <a16:creationId xmlns:a16="http://schemas.microsoft.com/office/drawing/2014/main" id="{BB54E384-E3CF-4777-BBD5-1FA6112AE8EC}"/>
              </a:ext>
            </a:extLst>
          </p:cNvPr>
          <p:cNvSpPr>
            <a:spLocks noGrp="1"/>
          </p:cNvSpPr>
          <p:nvPr/>
        </p:nvSpPr>
        <p:spPr>
          <a:xfrm>
            <a:off x="228600" y="800100"/>
            <a:ext cx="2600325" cy="180975"/>
          </a:xfrm>
          <a:prstGeom prst="rect">
            <a:avLst/>
          </a:prstGeom>
          <a:solidFill>
            <a:srgbClr val="006ABA"/>
          </a:solidFill>
          <a:ln w="0">
            <a:noFill/>
          </a:ln>
        </p:spPr>
      </p:sp>
      <p:sp>
        <p:nvSpPr>
          <p:cNvPr id="16" name="text">
            <a:extLst>
              <a:ext uri="{FF2B5EF4-FFF2-40B4-BE49-F238E27FC236}">
                <a16:creationId xmlns:a16="http://schemas.microsoft.com/office/drawing/2014/main" id="{14C2F028-114E-4DA4-A9A5-3D312E3C2DF1}"/>
              </a:ext>
            </a:extLst>
          </p:cNvPr>
          <p:cNvSpPr>
            <a:spLocks noGrp="1"/>
          </p:cNvSpPr>
          <p:nvPr/>
        </p:nvSpPr>
        <p:spPr>
          <a:xfrm>
            <a:off x="228600" y="819150"/>
            <a:ext cx="2600325" cy="161925"/>
          </a:xfrm>
          <a:prstGeom prst="rect">
            <a:avLst/>
          </a:prstGeom>
          <a:noFill/>
          <a:ln w="0">
            <a:noFill/>
          </a:ln>
        </p:spPr>
        <p:txBody>
          <a:bodyPr wrap="square" lIns="0" tIns="0" rIns="0" bIns="0" anchor="t">
            <a:noAutofit/>
          </a:bodyPr>
          <a:lstStyle/>
          <a:p>
            <a:pPr algn="ctr">
              <a:lnSpc>
                <a:spcPct val="110000"/>
              </a:lnSpc>
              <a:buNone/>
              <a:defRPr sz="825" b="1">
                <a:solidFill>
                  <a:srgbClr val="FFFFFF"/>
                </a:solidFill>
                <a:latin typeface="Arial"/>
                <a:ea typeface="Arial"/>
                <a:cs typeface="Arial"/>
              </a:defRPr>
            </a:pPr>
            <a:r>
              <a:rPr sz="825" b="1">
                <a:solidFill>
                  <a:srgbClr val="FFFFFF"/>
                </a:solidFill>
                <a:latin typeface="Arial"/>
                <a:ea typeface="Arial"/>
                <a:cs typeface="Arial"/>
              </a:rPr>
              <a:t>C++17</a:t>
            </a:r>
          </a:p>
        </p:txBody>
      </p:sp>
      <p:sp>
        <p:nvSpPr>
          <p:cNvPr id="17" name="text">
            <a:extLst>
              <a:ext uri="{FF2B5EF4-FFF2-40B4-BE49-F238E27FC236}">
                <a16:creationId xmlns:a16="http://schemas.microsoft.com/office/drawing/2014/main" id="{85F95DF0-B2B7-4D63-878F-4AC0C8222D15}"/>
              </a:ext>
            </a:extLst>
          </p:cNvPr>
          <p:cNvSpPr>
            <a:spLocks noGrp="1"/>
          </p:cNvSpPr>
          <p:nvPr/>
        </p:nvSpPr>
        <p:spPr>
          <a:xfrm>
            <a:off x="295275" y="106680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std::vector&lt;int&gt; a{6, 2, 4};</a:t>
            </a:r>
          </a:p>
        </p:txBody>
      </p:sp>
      <p:sp>
        <p:nvSpPr>
          <p:cNvPr id="18" name="text">
            <a:extLst>
              <a:ext uri="{FF2B5EF4-FFF2-40B4-BE49-F238E27FC236}">
                <a16:creationId xmlns:a16="http://schemas.microsoft.com/office/drawing/2014/main" id="{81CF77B0-6D7D-4D4A-B9AD-52F05F0FC451}"/>
              </a:ext>
            </a:extLst>
          </p:cNvPr>
          <p:cNvSpPr>
            <a:spLocks noGrp="1"/>
          </p:cNvSpPr>
          <p:nvPr/>
        </p:nvSpPr>
        <p:spPr>
          <a:xfrm>
            <a:off x="295275" y="119634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std::sort(a.begin(), a.end());</a:t>
            </a:r>
          </a:p>
        </p:txBody>
      </p:sp>
      <p:sp>
        <p:nvSpPr>
          <p:cNvPr id="19" name="text">
            <a:extLst>
              <a:ext uri="{FF2B5EF4-FFF2-40B4-BE49-F238E27FC236}">
                <a16:creationId xmlns:a16="http://schemas.microsoft.com/office/drawing/2014/main" id="{E4E4994B-3AEA-4B67-AD6E-C5ED9084BD8B}"/>
              </a:ext>
            </a:extLst>
          </p:cNvPr>
          <p:cNvSpPr>
            <a:spLocks noGrp="1"/>
          </p:cNvSpPr>
          <p:nvPr/>
        </p:nvSpPr>
        <p:spPr>
          <a:xfrm>
            <a:off x="295275" y="132588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bool found = std::binary_search(</a:t>
            </a:r>
          </a:p>
        </p:txBody>
      </p:sp>
      <p:sp>
        <p:nvSpPr>
          <p:cNvPr id="20" name="text">
            <a:extLst>
              <a:ext uri="{FF2B5EF4-FFF2-40B4-BE49-F238E27FC236}">
                <a16:creationId xmlns:a16="http://schemas.microsoft.com/office/drawing/2014/main" id="{87DD920A-2BA1-4C3E-8EB1-C621F6D70F51}"/>
              </a:ext>
            </a:extLst>
          </p:cNvPr>
          <p:cNvSpPr>
            <a:spLocks noGrp="1"/>
          </p:cNvSpPr>
          <p:nvPr/>
        </p:nvSpPr>
        <p:spPr>
          <a:xfrm>
            <a:off x="295275" y="145542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  a.begin(), a.end(), 4);</a:t>
            </a:r>
          </a:p>
        </p:txBody>
      </p:sp>
      <p:sp>
        <p:nvSpPr>
          <p:cNvPr id="21" name="text">
            <a:extLst>
              <a:ext uri="{FF2B5EF4-FFF2-40B4-BE49-F238E27FC236}">
                <a16:creationId xmlns:a16="http://schemas.microsoft.com/office/drawing/2014/main" id="{6C42698A-CC38-486E-B42F-965285A05292}"/>
              </a:ext>
            </a:extLst>
          </p:cNvPr>
          <p:cNvSpPr>
            <a:spLocks noGrp="1"/>
          </p:cNvSpPr>
          <p:nvPr/>
        </p:nvSpPr>
        <p:spPr>
          <a:xfrm>
            <a:off x="295275" y="158496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std::cout &lt;&lt; found &lt;&lt; "\n";</a:t>
            </a:r>
          </a:p>
        </p:txBody>
      </p:sp>
      <p:sp>
        <p:nvSpPr>
          <p:cNvPr id="22" name="Rectangle 21">
            <a:extLst>
              <a:ext uri="{FF2B5EF4-FFF2-40B4-BE49-F238E27FC236}">
                <a16:creationId xmlns:a16="http://schemas.microsoft.com/office/drawing/2014/main" id="{54A509C7-175C-465B-849C-EC5C3B96E791}"/>
              </a:ext>
            </a:extLst>
          </p:cNvPr>
          <p:cNvSpPr>
            <a:spLocks noGrp="1"/>
          </p:cNvSpPr>
          <p:nvPr/>
        </p:nvSpPr>
        <p:spPr>
          <a:xfrm>
            <a:off x="2990850" y="981075"/>
            <a:ext cx="2600325" cy="1504950"/>
          </a:xfrm>
          <a:prstGeom prst="rect">
            <a:avLst/>
          </a:prstGeom>
          <a:solidFill>
            <a:srgbClr val="101827"/>
          </a:solidFill>
          <a:ln w="0">
            <a:noFill/>
          </a:ln>
        </p:spPr>
      </p:sp>
      <p:sp>
        <p:nvSpPr>
          <p:cNvPr id="23" name="Rectangle 22">
            <a:extLst>
              <a:ext uri="{FF2B5EF4-FFF2-40B4-BE49-F238E27FC236}">
                <a16:creationId xmlns:a16="http://schemas.microsoft.com/office/drawing/2014/main" id="{62E434CF-7EB1-4E15-964F-D8842710548F}"/>
              </a:ext>
            </a:extLst>
          </p:cNvPr>
          <p:cNvSpPr>
            <a:spLocks noGrp="1"/>
          </p:cNvSpPr>
          <p:nvPr/>
        </p:nvSpPr>
        <p:spPr>
          <a:xfrm>
            <a:off x="2990850" y="800100"/>
            <a:ext cx="2600325" cy="180975"/>
          </a:xfrm>
          <a:prstGeom prst="rect">
            <a:avLst/>
          </a:prstGeom>
          <a:solidFill>
            <a:srgbClr val="1AA260"/>
          </a:solidFill>
          <a:ln w="0">
            <a:noFill/>
          </a:ln>
        </p:spPr>
      </p:sp>
      <p:sp>
        <p:nvSpPr>
          <p:cNvPr id="24" name="text">
            <a:extLst>
              <a:ext uri="{FF2B5EF4-FFF2-40B4-BE49-F238E27FC236}">
                <a16:creationId xmlns:a16="http://schemas.microsoft.com/office/drawing/2014/main" id="{2D846737-0FC1-43AD-A975-DF8800A50153}"/>
              </a:ext>
            </a:extLst>
          </p:cNvPr>
          <p:cNvSpPr>
            <a:spLocks noGrp="1"/>
          </p:cNvSpPr>
          <p:nvPr/>
        </p:nvSpPr>
        <p:spPr>
          <a:xfrm>
            <a:off x="2990850" y="819150"/>
            <a:ext cx="2600325" cy="161925"/>
          </a:xfrm>
          <a:prstGeom prst="rect">
            <a:avLst/>
          </a:prstGeom>
          <a:noFill/>
          <a:ln w="0">
            <a:noFill/>
          </a:ln>
        </p:spPr>
        <p:txBody>
          <a:bodyPr wrap="square" lIns="0" tIns="0" rIns="0" bIns="0" anchor="t">
            <a:noAutofit/>
          </a:bodyPr>
          <a:lstStyle/>
          <a:p>
            <a:pPr algn="ctr">
              <a:lnSpc>
                <a:spcPct val="110000"/>
              </a:lnSpc>
              <a:buNone/>
              <a:defRPr sz="825" b="1">
                <a:solidFill>
                  <a:srgbClr val="FFFFFF"/>
                </a:solidFill>
                <a:latin typeface="Arial"/>
                <a:ea typeface="Arial"/>
                <a:cs typeface="Arial"/>
              </a:defRPr>
            </a:pPr>
            <a:r>
              <a:rPr sz="825" b="1">
                <a:solidFill>
                  <a:srgbClr val="FFFFFF"/>
                </a:solidFill>
                <a:latin typeface="Arial"/>
                <a:ea typeface="Arial"/>
                <a:cs typeface="Arial"/>
              </a:rPr>
              <a:t>Python 3</a:t>
            </a:r>
          </a:p>
        </p:txBody>
      </p:sp>
      <p:sp>
        <p:nvSpPr>
          <p:cNvPr id="25" name="text">
            <a:extLst>
              <a:ext uri="{FF2B5EF4-FFF2-40B4-BE49-F238E27FC236}">
                <a16:creationId xmlns:a16="http://schemas.microsoft.com/office/drawing/2014/main" id="{19D3C59C-B5D6-460D-8D0F-E8201897E916}"/>
              </a:ext>
            </a:extLst>
          </p:cNvPr>
          <p:cNvSpPr>
            <a:spLocks noGrp="1"/>
          </p:cNvSpPr>
          <p:nvPr/>
        </p:nvSpPr>
        <p:spPr>
          <a:xfrm>
            <a:off x="3057525" y="106680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from bisect import bisect_left</a:t>
            </a:r>
          </a:p>
        </p:txBody>
      </p:sp>
      <p:sp>
        <p:nvSpPr>
          <p:cNvPr id="26" name="text">
            <a:extLst>
              <a:ext uri="{FF2B5EF4-FFF2-40B4-BE49-F238E27FC236}">
                <a16:creationId xmlns:a16="http://schemas.microsoft.com/office/drawing/2014/main" id="{0BC687D5-9716-4DA4-BDAC-8E80E410DED5}"/>
              </a:ext>
            </a:extLst>
          </p:cNvPr>
          <p:cNvSpPr>
            <a:spLocks noGrp="1"/>
          </p:cNvSpPr>
          <p:nvPr/>
        </p:nvSpPr>
        <p:spPr>
          <a:xfrm>
            <a:off x="3057525" y="119634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a = [6, 2, 4]</a:t>
            </a:r>
          </a:p>
        </p:txBody>
      </p:sp>
      <p:sp>
        <p:nvSpPr>
          <p:cNvPr id="27" name="text">
            <a:extLst>
              <a:ext uri="{FF2B5EF4-FFF2-40B4-BE49-F238E27FC236}">
                <a16:creationId xmlns:a16="http://schemas.microsoft.com/office/drawing/2014/main" id="{89E6976C-2E2D-4BAB-81DD-85E0E8E06F0F}"/>
              </a:ext>
            </a:extLst>
          </p:cNvPr>
          <p:cNvSpPr>
            <a:spLocks noGrp="1"/>
          </p:cNvSpPr>
          <p:nvPr/>
        </p:nvSpPr>
        <p:spPr>
          <a:xfrm>
            <a:off x="3057525" y="132588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a.sort()</a:t>
            </a:r>
          </a:p>
        </p:txBody>
      </p:sp>
      <p:sp>
        <p:nvSpPr>
          <p:cNvPr id="28" name="text">
            <a:extLst>
              <a:ext uri="{FF2B5EF4-FFF2-40B4-BE49-F238E27FC236}">
                <a16:creationId xmlns:a16="http://schemas.microsoft.com/office/drawing/2014/main" id="{14472803-65D9-46DD-94F3-02ED9AD18A66}"/>
              </a:ext>
            </a:extLst>
          </p:cNvPr>
          <p:cNvSpPr>
            <a:spLocks noGrp="1"/>
          </p:cNvSpPr>
          <p:nvPr/>
        </p:nvSpPr>
        <p:spPr>
          <a:xfrm>
            <a:off x="3057525" y="145542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i = bisect_left(a, 4)</a:t>
            </a:r>
          </a:p>
        </p:txBody>
      </p:sp>
      <p:sp>
        <p:nvSpPr>
          <p:cNvPr id="29" name="text">
            <a:extLst>
              <a:ext uri="{FF2B5EF4-FFF2-40B4-BE49-F238E27FC236}">
                <a16:creationId xmlns:a16="http://schemas.microsoft.com/office/drawing/2014/main" id="{1F5BFD46-DFFE-4F28-936D-D25AF9776DCE}"/>
              </a:ext>
            </a:extLst>
          </p:cNvPr>
          <p:cNvSpPr>
            <a:spLocks noGrp="1"/>
          </p:cNvSpPr>
          <p:nvPr/>
        </p:nvSpPr>
        <p:spPr>
          <a:xfrm>
            <a:off x="3057525" y="158496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found = i &lt; len(a) and a[i] == 4</a:t>
            </a:r>
          </a:p>
        </p:txBody>
      </p:sp>
      <p:sp>
        <p:nvSpPr>
          <p:cNvPr id="30" name="text">
            <a:extLst>
              <a:ext uri="{FF2B5EF4-FFF2-40B4-BE49-F238E27FC236}">
                <a16:creationId xmlns:a16="http://schemas.microsoft.com/office/drawing/2014/main" id="{B2E8B206-A609-41F2-86FC-BF599D61E62B}"/>
              </a:ext>
            </a:extLst>
          </p:cNvPr>
          <p:cNvSpPr>
            <a:spLocks noGrp="1"/>
          </p:cNvSpPr>
          <p:nvPr/>
        </p:nvSpPr>
        <p:spPr>
          <a:xfrm>
            <a:off x="3057525" y="171450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print(found)</a:t>
            </a:r>
          </a:p>
        </p:txBody>
      </p:sp>
      <p:sp>
        <p:nvSpPr>
          <p:cNvPr id="31" name="text">
            <a:extLst>
              <a:ext uri="{FF2B5EF4-FFF2-40B4-BE49-F238E27FC236}">
                <a16:creationId xmlns:a16="http://schemas.microsoft.com/office/drawing/2014/main" id="{124F5482-DABB-4E41-A47A-A9F1E46BAFE0}"/>
              </a:ext>
            </a:extLst>
          </p:cNvPr>
          <p:cNvSpPr>
            <a:spLocks noGrp="1"/>
          </p:cNvSpPr>
          <p:nvPr/>
        </p:nvSpPr>
        <p:spPr>
          <a:xfrm>
            <a:off x="228600" y="2600325"/>
            <a:ext cx="5314950" cy="228600"/>
          </a:xfrm>
          <a:prstGeom prst="rect">
            <a:avLst/>
          </a:prstGeom>
          <a:noFill/>
          <a:ln w="0">
            <a:noFill/>
          </a:ln>
        </p:spPr>
        <p:txBody>
          <a:bodyPr wrap="square" lIns="0" tIns="0" rIns="0" bIns="0" anchor="t">
            <a:noAutofit/>
          </a:bodyPr>
          <a:lstStyle/>
          <a:p>
            <a:pPr algn="l">
              <a:lnSpc>
                <a:spcPct val="110000"/>
              </a:lnSpc>
              <a:buNone/>
              <a:defRPr sz="885" b="0">
                <a:solidFill>
                  <a:srgbClr val="006ABA"/>
                </a:solidFill>
                <a:latin typeface="Arial"/>
                <a:ea typeface="Arial"/>
                <a:cs typeface="Arial"/>
              </a:defRPr>
            </a:pPr>
            <a:r>
              <a:rPr sz="885" b="0">
                <a:solidFill>
                  <a:srgbClr val="006ABA"/>
                </a:solidFill>
                <a:latin typeface="Arial"/>
                <a:ea typeface="Arial"/>
                <a:cs typeface="Arial"/>
              </a:rPr>
              <a:t>Sorted values: 2, 4, 6. The search succeeds.</a:t>
            </a:r>
          </a:p>
        </p:txBody>
      </p:sp>
      <p:sp>
        <p:nvSpPr>
          <p:cNvPr id="32" name="text">
            <a:extLst>
              <a:ext uri="{FF2B5EF4-FFF2-40B4-BE49-F238E27FC236}">
                <a16:creationId xmlns:a16="http://schemas.microsoft.com/office/drawing/2014/main" id="{DED15054-9C5E-4C20-86B3-CED02BAB6A7B}"/>
              </a:ext>
            </a:extLst>
          </p:cNvPr>
          <p:cNvSpPr>
            <a:spLocks noGrp="1"/>
          </p:cNvSpPr>
          <p:nvPr/>
        </p:nvSpPr>
        <p:spPr>
          <a:xfrm>
            <a:off x="228600" y="2867025"/>
            <a:ext cx="5334000" cy="95250"/>
          </a:xfrm>
          <a:prstGeom prst="rect">
            <a:avLst/>
          </a:prstGeom>
          <a:noFill/>
          <a:ln w="0">
            <a:noFill/>
          </a:ln>
        </p:spPr>
        <p:txBody>
          <a:bodyPr wrap="square" lIns="0" tIns="0" rIns="0" bIns="0" anchor="t">
            <a:noAutofit/>
          </a:bodyPr>
          <a:lstStyle/>
          <a:p>
            <a:pPr algn="l">
              <a:lnSpc>
                <a:spcPct val="110000"/>
              </a:lnSpc>
              <a:buNone/>
              <a:defRPr sz="510" b="0">
                <a:solidFill>
                  <a:srgbClr val="66717C"/>
                </a:solidFill>
                <a:latin typeface="Arial"/>
                <a:ea typeface="Arial"/>
                <a:cs typeface="Arial"/>
              </a:defRPr>
            </a:pPr>
            <a:r>
              <a:rPr sz="510" b="0">
                <a:solidFill>
                  <a:srgbClr val="66717C"/>
                </a:solidFill>
                <a:latin typeface="Arial"/>
                <a:ea typeface="Arial"/>
                <a:cs typeface="Arial"/>
              </a:rPr>
              <a:t>[M]  [I]  [T]  [PY]  [C]</a:t>
            </a:r>
          </a:p>
        </p:txBody>
      </p:sp>
    </p:spTree>
    <p:extLst>
      <p:ext uri="{BB962C8B-B14F-4D97-AF65-F5344CB8AC3E}">
        <p14:creationId xmlns:p14="http://schemas.microsoft.com/office/powerpoint/2010/main" val="364567217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19C03931-4A28-44C2-9238-650F85D8C2AD}"/>
              </a:ext>
            </a:extLst>
          </p:cNvPr>
          <p:cNvSpPr>
            <a:spLocks noGrp="1"/>
          </p:cNvSpPr>
          <p:nvPr>
            <p:ph type="title"/>
          </p:nvPr>
        </p:nvSpPr>
        <p:spPr>
          <a:xfrm>
            <a:off x="171450" y="95250"/>
            <a:ext cx="5429250" cy="304800"/>
          </a:xfrm>
          <a:prstGeom prst="rect">
            <a:avLst/>
          </a:prstGeom>
        </p:spPr>
        <p:txBody>
          <a:bodyPr vert="horz" wrap="square" lIns="0" tIns="0" rIns="0" bIns="0">
            <a:noAutofit/>
          </a:bodyPr>
          <a:lstStyle/>
          <a:p>
            <a:pPr marL="12700" algn="l">
              <a:lnSpc>
                <a:spcPct val="110000"/>
              </a:lnSpc>
              <a:spcBef>
                <a:spcPts val="135"/>
              </a:spcBef>
              <a:buNone/>
              <a:defRPr sz="1400">
                <a:solidFill>
                  <a:srgbClr val="006ABA"/>
                </a:solidFill>
                <a:latin typeface="Arial"/>
                <a:ea typeface="Arial"/>
                <a:cs typeface="Arial"/>
              </a:defRPr>
            </a:pPr>
            <a:r>
              <a:rPr sz="1400" b="0" spc="-10">
                <a:solidFill>
                  <a:srgbClr val="006ABA"/>
                </a:solidFill>
                <a:latin typeface="Arial"/>
                <a:ea typeface="Arial"/>
                <a:cs typeface="Arial"/>
              </a:rPr>
              <a:t>Choosing a structure</a:t>
            </a:r>
            <a:endParaRPr sz="1400" b="0" spc="-10">
              <a:latin typeface="Arial"/>
              <a:ea typeface="Arial"/>
              <a:cs typeface="Arial"/>
            </a:endParaRPr>
          </a:p>
        </p:txBody>
      </p:sp>
      <p:pic>
        <p:nvPicPr>
          <p:cNvPr id="24" name="object 4"/>
          <p:cNvPicPr>
            <a:picLocks noChangeAspect="1"/>
          </p:cNvPicPr>
          <p:nvPr/>
        </p:nvPicPr>
        <p:blipFill>
          <a:blip r:embed="rId3"/>
          <a:stretch>
            <a:fillRect/>
          </a:stretch>
        </p:blipFill>
        <p:spPr>
          <a:xfrm>
            <a:off x="152565" y="2988507"/>
            <a:ext cx="900668" cy="161917"/>
          </a:xfrm>
          <a:prstGeom prst="rect">
            <a:avLst/>
          </a:prstGeom>
        </p:spPr>
      </p:pic>
      <p:pic>
        <p:nvPicPr>
          <p:cNvPr id="25" name="object 5"/>
          <p:cNvPicPr>
            <a:picLocks noChangeAspect="1"/>
          </p:cNvPicPr>
          <p:nvPr/>
        </p:nvPicPr>
        <p:blipFill>
          <a:blip r:embed="rId4"/>
          <a:stretch>
            <a:fillRect/>
          </a:stretch>
        </p:blipFill>
        <p:spPr>
          <a:xfrm>
            <a:off x="1286560" y="2988417"/>
            <a:ext cx="610912" cy="162008"/>
          </a:xfrm>
          <a:prstGeom prst="rect">
            <a:avLst/>
          </a:prstGeom>
        </p:spPr>
      </p:pic>
      <p:sp>
        <p:nvSpPr>
          <p:cNvPr id="10" name="Footer Placeholder 7">
            <a:extLst>
              <a:ext uri="{FF2B5EF4-FFF2-40B4-BE49-F238E27FC236}">
                <a16:creationId xmlns:a16="http://schemas.microsoft.com/office/drawing/2014/main" id="{197FE2C8-8EE2-4937-3F30-294DB47641D6}"/>
              </a:ext>
            </a:extLst>
          </p:cNvPr>
          <p:cNvSpPr>
            <a:spLocks noGrp="1"/>
          </p:cNvSpPr>
          <p:nvPr>
            <p:ph type="ftr" idx="5"/>
          </p:nvPr>
        </p:nvSpPr>
        <p:spPr>
          <a:xfrm>
            <a:off x="2590800" y="3105150"/>
            <a:ext cx="2743200" cy="95250"/>
          </a:xfrm>
        </p:spPr>
        <p:txBody>
          <a:bodyPr wrap="square" lIns="0" tIns="0" rIns="0" bIns="0">
            <a:noAutofit/>
          </a:bodyPr>
          <a:lstStyle/>
          <a:p>
            <a:pPr algn="r">
              <a:lnSpc>
                <a:spcPct val="110000"/>
              </a:lnSpc>
              <a:buNone/>
              <a:defRPr sz="500">
                <a:solidFill>
                  <a:srgbClr val="888888"/>
                </a:solidFill>
                <a:latin typeface="Arial"/>
                <a:ea typeface="Arial"/>
                <a:cs typeface="Arial"/>
              </a:defRPr>
            </a:pPr>
            <a:r>
              <a:rPr sz="500">
                <a:solidFill>
                  <a:srgbClr val="888888"/>
                </a:solidFill>
                <a:latin typeface="Arial"/>
                <a:ea typeface="Arial"/>
                <a:cs typeface="Arial"/>
              </a:rPr>
              <a:t>MAS Foundations - Kamendu Panchal</a:t>
            </a:r>
            <a:endParaRPr sz="500" b="1">
              <a:solidFill>
                <a:schemeClr val="tx1"/>
              </a:solidFill>
              <a:latin typeface="Arial"/>
              <a:ea typeface="Arial"/>
              <a:cs typeface="Arial"/>
            </a:endParaRPr>
          </a:p>
        </p:txBody>
      </p:sp>
      <p:sp>
        <p:nvSpPr>
          <p:cNvPr id="3" name="TextBox 2">
            <a:extLst>
              <a:ext uri="{FF2B5EF4-FFF2-40B4-BE49-F238E27FC236}">
                <a16:creationId xmlns:a16="http://schemas.microsoft.com/office/drawing/2014/main" id="{DCE8FEB4-DA15-74FB-D091-FA2B80C9B501}"/>
              </a:ext>
            </a:extLst>
          </p:cNvPr>
          <p:cNvSpPr>
            <a:spLocks noGrp="1"/>
          </p:cNvSpPr>
          <p:nvPr/>
        </p:nvSpPr>
        <p:spPr>
          <a:xfrm>
            <a:off x="5438775" y="3086100"/>
            <a:ext cx="209550" cy="175260"/>
          </a:xfrm>
          <a:prstGeom prst="rect">
            <a:avLst/>
          </a:prstGeom>
          <a:noFill/>
        </p:spPr>
        <p:txBody>
          <a:bodyPr wrap="square" lIns="0" tIns="0" rIns="0" bIns="0">
            <a:noAutofit/>
          </a:bodyPr>
          <a:lstStyle/>
          <a:p>
            <a:pPr algn="r">
              <a:lnSpc>
                <a:spcPct val="110000"/>
              </a:lnSpc>
              <a:buNone/>
              <a:defRPr sz="500">
                <a:solidFill>
                  <a:srgbClr val="202020"/>
                </a:solidFill>
                <a:latin typeface="Arial"/>
                <a:ea typeface="Arial"/>
                <a:cs typeface="Arial"/>
              </a:defRPr>
            </a:pPr>
            <a:r>
              <a:rPr sz="500">
                <a:solidFill>
                  <a:srgbClr val="202020"/>
                </a:solidFill>
                <a:latin typeface="Arial"/>
                <a:ea typeface="Arial"/>
                <a:cs typeface="Arial"/>
              </a:rPr>
              <a:t>37</a:t>
            </a:r>
          </a:p>
        </p:txBody>
      </p:sp>
      <p:sp>
        <p:nvSpPr>
          <p:cNvPr id="13" name="text">
            <a:extLst>
              <a:ext uri="{FF2B5EF4-FFF2-40B4-BE49-F238E27FC236}">
                <a16:creationId xmlns:a16="http://schemas.microsoft.com/office/drawing/2014/main" id="{56896E05-4863-4FDC-8E9B-F2E9863202D5}"/>
              </a:ext>
            </a:extLst>
          </p:cNvPr>
          <p:cNvSpPr>
            <a:spLocks noGrp="1"/>
          </p:cNvSpPr>
          <p:nvPr/>
        </p:nvSpPr>
        <p:spPr>
          <a:xfrm>
            <a:off x="228600" y="504825"/>
            <a:ext cx="5314950" cy="381000"/>
          </a:xfrm>
          <a:prstGeom prst="rect">
            <a:avLst/>
          </a:prstGeom>
          <a:noFill/>
          <a:ln w="0">
            <a:noFill/>
          </a:ln>
        </p:spPr>
        <p:txBody>
          <a:bodyPr wrap="square" lIns="0" tIns="0" rIns="0" bIns="0" anchor="t">
            <a:noAutofit/>
          </a:bodyPr>
          <a:lstStyle/>
          <a:p>
            <a:pPr algn="l">
              <a:lnSpc>
                <a:spcPct val="110000"/>
              </a:lnSpc>
              <a:buNone/>
              <a:defRPr sz="998" b="0">
                <a:solidFill>
                  <a:srgbClr val="202020"/>
                </a:solidFill>
                <a:latin typeface="Arial"/>
                <a:ea typeface="Arial"/>
                <a:cs typeface="Arial"/>
              </a:defRPr>
            </a:pPr>
            <a:r>
              <a:rPr sz="998" b="0">
                <a:solidFill>
                  <a:srgbClr val="202020"/>
                </a:solidFill>
                <a:latin typeface="Arial"/>
                <a:ea typeface="Arial"/>
                <a:cs typeface="Arial"/>
              </a:rPr>
              <a:t>Choose the operations and ordering rule you need.</a:t>
            </a:r>
          </a:p>
        </p:txBody>
      </p:sp>
      <p:sp>
        <p:nvSpPr>
          <p:cNvPr id="14" name="text">
            <a:extLst>
              <a:ext uri="{FF2B5EF4-FFF2-40B4-BE49-F238E27FC236}">
                <a16:creationId xmlns:a16="http://schemas.microsoft.com/office/drawing/2014/main" id="{665A4AD7-47AE-45D5-AEE6-D816A4F66868}"/>
              </a:ext>
            </a:extLst>
          </p:cNvPr>
          <p:cNvSpPr>
            <a:spLocks noGrp="1"/>
          </p:cNvSpPr>
          <p:nvPr/>
        </p:nvSpPr>
        <p:spPr>
          <a:xfrm>
            <a:off x="285750" y="1000125"/>
            <a:ext cx="1952625" cy="285750"/>
          </a:xfrm>
          <a:prstGeom prst="rect">
            <a:avLst/>
          </a:prstGeom>
          <a:noFill/>
          <a:ln w="0">
            <a:noFill/>
          </a:ln>
        </p:spPr>
        <p:txBody>
          <a:bodyPr wrap="square" lIns="0" tIns="0" rIns="0" bIns="0" anchor="t">
            <a:noAutofit/>
          </a:bodyPr>
          <a:lstStyle/>
          <a:p>
            <a:pPr algn="l">
              <a:lnSpc>
                <a:spcPct val="110000"/>
              </a:lnSpc>
              <a:buNone/>
              <a:defRPr sz="1050" b="1">
                <a:solidFill>
                  <a:srgbClr val="006ABA"/>
                </a:solidFill>
                <a:latin typeface="Arial"/>
                <a:ea typeface="Arial"/>
                <a:cs typeface="Arial"/>
              </a:defRPr>
            </a:pPr>
            <a:r>
              <a:rPr sz="1050" b="1">
                <a:solidFill>
                  <a:srgbClr val="006ABA"/>
                </a:solidFill>
                <a:latin typeface="Arial"/>
                <a:ea typeface="Arial"/>
                <a:cs typeface="Arial"/>
              </a:rPr>
              <a:t>Indexed sequence</a:t>
            </a:r>
          </a:p>
        </p:txBody>
      </p:sp>
      <p:sp>
        <p:nvSpPr>
          <p:cNvPr id="15" name="text">
            <a:extLst>
              <a:ext uri="{FF2B5EF4-FFF2-40B4-BE49-F238E27FC236}">
                <a16:creationId xmlns:a16="http://schemas.microsoft.com/office/drawing/2014/main" id="{F6CFC66B-6F31-4E6C-B36B-6FA23D2A921E}"/>
              </a:ext>
            </a:extLst>
          </p:cNvPr>
          <p:cNvSpPr>
            <a:spLocks noGrp="1"/>
          </p:cNvSpPr>
          <p:nvPr/>
        </p:nvSpPr>
        <p:spPr>
          <a:xfrm>
            <a:off x="2409825" y="1000125"/>
            <a:ext cx="3067050" cy="304800"/>
          </a:xfrm>
          <a:prstGeom prst="rect">
            <a:avLst/>
          </a:prstGeom>
          <a:noFill/>
          <a:ln w="0">
            <a:noFill/>
          </a:ln>
        </p:spPr>
        <p:txBody>
          <a:bodyPr wrap="square" lIns="0" tIns="0" rIns="0" bIns="0" anchor="t">
            <a:noAutofit/>
          </a:bodyPr>
          <a:lstStyle/>
          <a:p>
            <a:pPr algn="l">
              <a:lnSpc>
                <a:spcPct val="110000"/>
              </a:lnSpc>
              <a:buNone/>
              <a:defRPr sz="1050" b="0">
                <a:solidFill>
                  <a:srgbClr val="202020"/>
                </a:solidFill>
                <a:latin typeface="Arial"/>
                <a:ea typeface="Arial"/>
                <a:cs typeface="Arial"/>
              </a:defRPr>
            </a:pPr>
            <a:r>
              <a:rPr sz="1050" b="0">
                <a:solidFill>
                  <a:srgbClr val="202020"/>
                </a:solidFill>
                <a:latin typeface="Arial"/>
                <a:ea typeface="Arial"/>
                <a:cs typeface="Arial"/>
              </a:rPr>
              <a:t>Vector or Python list</a:t>
            </a:r>
          </a:p>
        </p:txBody>
      </p:sp>
      <p:sp>
        <p:nvSpPr>
          <p:cNvPr id="16" name="text">
            <a:extLst>
              <a:ext uri="{FF2B5EF4-FFF2-40B4-BE49-F238E27FC236}">
                <a16:creationId xmlns:a16="http://schemas.microsoft.com/office/drawing/2014/main" id="{1D2469F9-B2BB-4AC7-A283-96645DD22086}"/>
              </a:ext>
            </a:extLst>
          </p:cNvPr>
          <p:cNvSpPr>
            <a:spLocks noGrp="1"/>
          </p:cNvSpPr>
          <p:nvPr/>
        </p:nvSpPr>
        <p:spPr>
          <a:xfrm>
            <a:off x="285750" y="1390650"/>
            <a:ext cx="1952625" cy="285750"/>
          </a:xfrm>
          <a:prstGeom prst="rect">
            <a:avLst/>
          </a:prstGeom>
          <a:noFill/>
          <a:ln w="0">
            <a:noFill/>
          </a:ln>
        </p:spPr>
        <p:txBody>
          <a:bodyPr wrap="square" lIns="0" tIns="0" rIns="0" bIns="0" anchor="t">
            <a:noAutofit/>
          </a:bodyPr>
          <a:lstStyle/>
          <a:p>
            <a:pPr algn="l">
              <a:lnSpc>
                <a:spcPct val="110000"/>
              </a:lnSpc>
              <a:buNone/>
              <a:defRPr sz="1050" b="1">
                <a:solidFill>
                  <a:srgbClr val="006ABA"/>
                </a:solidFill>
                <a:latin typeface="Arial"/>
                <a:ea typeface="Arial"/>
                <a:cs typeface="Arial"/>
              </a:defRPr>
            </a:pPr>
            <a:r>
              <a:rPr sz="1050" b="1">
                <a:solidFill>
                  <a:srgbClr val="006ABA"/>
                </a:solidFill>
                <a:latin typeface="Arial"/>
                <a:ea typeface="Arial"/>
                <a:cs typeface="Arial"/>
              </a:rPr>
              <a:t>Key lookup / uniqueness</a:t>
            </a:r>
          </a:p>
        </p:txBody>
      </p:sp>
      <p:sp>
        <p:nvSpPr>
          <p:cNvPr id="17" name="text">
            <a:extLst>
              <a:ext uri="{FF2B5EF4-FFF2-40B4-BE49-F238E27FC236}">
                <a16:creationId xmlns:a16="http://schemas.microsoft.com/office/drawing/2014/main" id="{01DEE9C4-CE98-4001-AFA9-C4CE173A850E}"/>
              </a:ext>
            </a:extLst>
          </p:cNvPr>
          <p:cNvSpPr>
            <a:spLocks noGrp="1"/>
          </p:cNvSpPr>
          <p:nvPr/>
        </p:nvSpPr>
        <p:spPr>
          <a:xfrm>
            <a:off x="2409825" y="1390650"/>
            <a:ext cx="3067050" cy="304800"/>
          </a:xfrm>
          <a:prstGeom prst="rect">
            <a:avLst/>
          </a:prstGeom>
          <a:noFill/>
          <a:ln w="0">
            <a:noFill/>
          </a:ln>
        </p:spPr>
        <p:txBody>
          <a:bodyPr wrap="square" lIns="0" tIns="0" rIns="0" bIns="0" anchor="t">
            <a:noAutofit/>
          </a:bodyPr>
          <a:lstStyle/>
          <a:p>
            <a:pPr algn="l">
              <a:lnSpc>
                <a:spcPct val="110000"/>
              </a:lnSpc>
              <a:buNone/>
              <a:defRPr sz="1050" b="0">
                <a:solidFill>
                  <a:srgbClr val="202020"/>
                </a:solidFill>
                <a:latin typeface="Arial"/>
                <a:ea typeface="Arial"/>
                <a:cs typeface="Arial"/>
              </a:defRPr>
            </a:pPr>
            <a:r>
              <a:rPr sz="1050" b="0">
                <a:solidFill>
                  <a:srgbClr val="202020"/>
                </a:solidFill>
                <a:latin typeface="Arial"/>
                <a:ea typeface="Arial"/>
                <a:cs typeface="Arial"/>
              </a:rPr>
              <a:t>Dictionary / set</a:t>
            </a:r>
          </a:p>
        </p:txBody>
      </p:sp>
      <p:sp>
        <p:nvSpPr>
          <p:cNvPr id="18" name="text">
            <a:extLst>
              <a:ext uri="{FF2B5EF4-FFF2-40B4-BE49-F238E27FC236}">
                <a16:creationId xmlns:a16="http://schemas.microsoft.com/office/drawing/2014/main" id="{6A184F07-8F9C-4A59-BFD6-5C1EBD339943}"/>
              </a:ext>
            </a:extLst>
          </p:cNvPr>
          <p:cNvSpPr>
            <a:spLocks noGrp="1"/>
          </p:cNvSpPr>
          <p:nvPr/>
        </p:nvSpPr>
        <p:spPr>
          <a:xfrm>
            <a:off x="285750" y="1781175"/>
            <a:ext cx="1952625" cy="285750"/>
          </a:xfrm>
          <a:prstGeom prst="rect">
            <a:avLst/>
          </a:prstGeom>
          <a:noFill/>
          <a:ln w="0">
            <a:noFill/>
          </a:ln>
        </p:spPr>
        <p:txBody>
          <a:bodyPr wrap="square" lIns="0" tIns="0" rIns="0" bIns="0" anchor="t">
            <a:noAutofit/>
          </a:bodyPr>
          <a:lstStyle/>
          <a:p>
            <a:pPr algn="l">
              <a:lnSpc>
                <a:spcPct val="110000"/>
              </a:lnSpc>
              <a:buNone/>
              <a:defRPr sz="1050" b="1">
                <a:solidFill>
                  <a:srgbClr val="006ABA"/>
                </a:solidFill>
                <a:latin typeface="Arial"/>
                <a:ea typeface="Arial"/>
                <a:cs typeface="Arial"/>
              </a:defRPr>
            </a:pPr>
            <a:r>
              <a:rPr sz="1050" b="1">
                <a:solidFill>
                  <a:srgbClr val="006ABA"/>
                </a:solidFill>
                <a:latin typeface="Arial"/>
                <a:ea typeface="Arial"/>
                <a:cs typeface="Arial"/>
              </a:rPr>
              <a:t>Removal order</a:t>
            </a:r>
          </a:p>
        </p:txBody>
      </p:sp>
      <p:sp>
        <p:nvSpPr>
          <p:cNvPr id="19" name="text">
            <a:extLst>
              <a:ext uri="{FF2B5EF4-FFF2-40B4-BE49-F238E27FC236}">
                <a16:creationId xmlns:a16="http://schemas.microsoft.com/office/drawing/2014/main" id="{A1E48E35-BBFE-4F45-89D4-BFD61F38428D}"/>
              </a:ext>
            </a:extLst>
          </p:cNvPr>
          <p:cNvSpPr>
            <a:spLocks noGrp="1"/>
          </p:cNvSpPr>
          <p:nvPr/>
        </p:nvSpPr>
        <p:spPr>
          <a:xfrm>
            <a:off x="2409825" y="1781175"/>
            <a:ext cx="3067050" cy="304800"/>
          </a:xfrm>
          <a:prstGeom prst="rect">
            <a:avLst/>
          </a:prstGeom>
          <a:noFill/>
          <a:ln w="0">
            <a:noFill/>
          </a:ln>
        </p:spPr>
        <p:txBody>
          <a:bodyPr wrap="square" lIns="0" tIns="0" rIns="0" bIns="0" anchor="t">
            <a:noAutofit/>
          </a:bodyPr>
          <a:lstStyle/>
          <a:p>
            <a:pPr algn="l">
              <a:lnSpc>
                <a:spcPct val="110000"/>
              </a:lnSpc>
              <a:buNone/>
              <a:defRPr sz="1050" b="0">
                <a:solidFill>
                  <a:srgbClr val="202020"/>
                </a:solidFill>
                <a:latin typeface="Arial"/>
                <a:ea typeface="Arial"/>
                <a:cs typeface="Arial"/>
              </a:defRPr>
            </a:pPr>
            <a:r>
              <a:rPr sz="1050" b="0">
                <a:solidFill>
                  <a:srgbClr val="202020"/>
                </a:solidFill>
                <a:latin typeface="Arial"/>
                <a:ea typeface="Arial"/>
                <a:cs typeface="Arial"/>
              </a:rPr>
              <a:t>Stack, queue, deque or priority queue</a:t>
            </a:r>
          </a:p>
        </p:txBody>
      </p:sp>
      <p:sp>
        <p:nvSpPr>
          <p:cNvPr id="20" name="text">
            <a:extLst>
              <a:ext uri="{FF2B5EF4-FFF2-40B4-BE49-F238E27FC236}">
                <a16:creationId xmlns:a16="http://schemas.microsoft.com/office/drawing/2014/main" id="{074AF568-202A-44E0-919B-EC47497C1E41}"/>
              </a:ext>
            </a:extLst>
          </p:cNvPr>
          <p:cNvSpPr>
            <a:spLocks noGrp="1"/>
          </p:cNvSpPr>
          <p:nvPr/>
        </p:nvSpPr>
        <p:spPr>
          <a:xfrm>
            <a:off x="285750" y="2171700"/>
            <a:ext cx="1952625" cy="285750"/>
          </a:xfrm>
          <a:prstGeom prst="rect">
            <a:avLst/>
          </a:prstGeom>
          <a:noFill/>
          <a:ln w="0">
            <a:noFill/>
          </a:ln>
        </p:spPr>
        <p:txBody>
          <a:bodyPr wrap="square" lIns="0" tIns="0" rIns="0" bIns="0" anchor="t">
            <a:noAutofit/>
          </a:bodyPr>
          <a:lstStyle/>
          <a:p>
            <a:pPr algn="l">
              <a:lnSpc>
                <a:spcPct val="110000"/>
              </a:lnSpc>
              <a:buNone/>
              <a:defRPr sz="1050" b="1">
                <a:solidFill>
                  <a:srgbClr val="006ABA"/>
                </a:solidFill>
                <a:latin typeface="Arial"/>
                <a:ea typeface="Arial"/>
                <a:cs typeface="Arial"/>
              </a:defRPr>
            </a:pPr>
            <a:r>
              <a:rPr sz="1050" b="1">
                <a:solidFill>
                  <a:srgbClr val="006ABA"/>
                </a:solidFill>
                <a:latin typeface="Arial"/>
                <a:ea typeface="Arial"/>
                <a:cs typeface="Arial"/>
              </a:rPr>
              <a:t>Relationships</a:t>
            </a:r>
          </a:p>
        </p:txBody>
      </p:sp>
      <p:sp>
        <p:nvSpPr>
          <p:cNvPr id="21" name="text">
            <a:extLst>
              <a:ext uri="{FF2B5EF4-FFF2-40B4-BE49-F238E27FC236}">
                <a16:creationId xmlns:a16="http://schemas.microsoft.com/office/drawing/2014/main" id="{683EAD3C-C1C3-4CED-8EC4-8F8E7393B879}"/>
              </a:ext>
            </a:extLst>
          </p:cNvPr>
          <p:cNvSpPr>
            <a:spLocks noGrp="1"/>
          </p:cNvSpPr>
          <p:nvPr/>
        </p:nvSpPr>
        <p:spPr>
          <a:xfrm>
            <a:off x="2409825" y="2171700"/>
            <a:ext cx="3067050" cy="304800"/>
          </a:xfrm>
          <a:prstGeom prst="rect">
            <a:avLst/>
          </a:prstGeom>
          <a:noFill/>
          <a:ln w="0">
            <a:noFill/>
          </a:ln>
        </p:spPr>
        <p:txBody>
          <a:bodyPr wrap="square" lIns="0" tIns="0" rIns="0" bIns="0" anchor="t">
            <a:noAutofit/>
          </a:bodyPr>
          <a:lstStyle/>
          <a:p>
            <a:pPr algn="l">
              <a:lnSpc>
                <a:spcPct val="110000"/>
              </a:lnSpc>
              <a:buNone/>
              <a:defRPr sz="1050" b="0">
                <a:solidFill>
                  <a:srgbClr val="202020"/>
                </a:solidFill>
                <a:latin typeface="Arial"/>
                <a:ea typeface="Arial"/>
                <a:cs typeface="Arial"/>
              </a:defRPr>
            </a:pPr>
            <a:r>
              <a:rPr sz="1050" b="0">
                <a:solidFill>
                  <a:srgbClr val="202020"/>
                </a:solidFill>
                <a:latin typeface="Arial"/>
                <a:ea typeface="Arial"/>
                <a:cs typeface="Arial"/>
              </a:rPr>
              <a:t>Tree for hierarchy, graph for connections</a:t>
            </a:r>
          </a:p>
        </p:txBody>
      </p:sp>
      <p:sp>
        <p:nvSpPr>
          <p:cNvPr id="22" name="text">
            <a:extLst>
              <a:ext uri="{FF2B5EF4-FFF2-40B4-BE49-F238E27FC236}">
                <a16:creationId xmlns:a16="http://schemas.microsoft.com/office/drawing/2014/main" id="{28412025-BFDF-49F2-B7C2-8BBEFA017A12}"/>
              </a:ext>
            </a:extLst>
          </p:cNvPr>
          <p:cNvSpPr>
            <a:spLocks noGrp="1"/>
          </p:cNvSpPr>
          <p:nvPr/>
        </p:nvSpPr>
        <p:spPr>
          <a:xfrm>
            <a:off x="228600" y="2867025"/>
            <a:ext cx="5334000" cy="95250"/>
          </a:xfrm>
          <a:prstGeom prst="rect">
            <a:avLst/>
          </a:prstGeom>
          <a:noFill/>
          <a:ln w="0">
            <a:noFill/>
          </a:ln>
        </p:spPr>
        <p:txBody>
          <a:bodyPr wrap="square" lIns="0" tIns="0" rIns="0" bIns="0" anchor="t">
            <a:noAutofit/>
          </a:bodyPr>
          <a:lstStyle/>
          <a:p>
            <a:pPr algn="l">
              <a:lnSpc>
                <a:spcPct val="110000"/>
              </a:lnSpc>
              <a:buNone/>
              <a:defRPr sz="510" b="0">
                <a:solidFill>
                  <a:srgbClr val="66717C"/>
                </a:solidFill>
                <a:latin typeface="Arial"/>
                <a:ea typeface="Arial"/>
                <a:cs typeface="Arial"/>
              </a:defRPr>
            </a:pPr>
            <a:r>
              <a:rPr sz="510" b="0">
                <a:solidFill>
                  <a:srgbClr val="66717C"/>
                </a:solidFill>
                <a:latin typeface="Arial"/>
                <a:ea typeface="Arial"/>
                <a:cs typeface="Arial"/>
              </a:rPr>
              <a:t>[I]  [A]  [M]</a:t>
            </a:r>
          </a:p>
        </p:txBody>
      </p:sp>
    </p:spTree>
    <p:extLst>
      <p:ext uri="{BB962C8B-B14F-4D97-AF65-F5344CB8AC3E}">
        <p14:creationId xmlns:p14="http://schemas.microsoft.com/office/powerpoint/2010/main" val="364567217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19C03931-4A28-44C2-9238-650F85D8C2AD}"/>
              </a:ext>
            </a:extLst>
          </p:cNvPr>
          <p:cNvSpPr>
            <a:spLocks noGrp="1"/>
          </p:cNvSpPr>
          <p:nvPr>
            <p:ph type="title"/>
          </p:nvPr>
        </p:nvSpPr>
        <p:spPr>
          <a:xfrm>
            <a:off x="171450" y="95250"/>
            <a:ext cx="5429250" cy="304800"/>
          </a:xfrm>
          <a:prstGeom prst="rect">
            <a:avLst/>
          </a:prstGeom>
        </p:spPr>
        <p:txBody>
          <a:bodyPr vert="horz" wrap="square" lIns="0" tIns="0" rIns="0" bIns="0">
            <a:noAutofit/>
          </a:bodyPr>
          <a:lstStyle/>
          <a:p>
            <a:pPr marL="12700" algn="l">
              <a:lnSpc>
                <a:spcPct val="110000"/>
              </a:lnSpc>
              <a:spcBef>
                <a:spcPts val="135"/>
              </a:spcBef>
              <a:buNone/>
              <a:defRPr sz="1400">
                <a:solidFill>
                  <a:srgbClr val="006ABA"/>
                </a:solidFill>
                <a:latin typeface="Arial"/>
                <a:ea typeface="Arial"/>
                <a:cs typeface="Arial"/>
              </a:defRPr>
            </a:pPr>
            <a:r>
              <a:rPr sz="1400" b="0" spc="-10">
                <a:solidFill>
                  <a:srgbClr val="006ABA"/>
                </a:solidFill>
                <a:latin typeface="Arial"/>
                <a:ea typeface="Arial"/>
                <a:cs typeface="Arial"/>
              </a:rPr>
              <a:t>Short practice</a:t>
            </a:r>
            <a:endParaRPr sz="1400" b="0" spc="-10">
              <a:latin typeface="Arial"/>
              <a:ea typeface="Arial"/>
              <a:cs typeface="Arial"/>
            </a:endParaRPr>
          </a:p>
        </p:txBody>
      </p:sp>
      <p:pic>
        <p:nvPicPr>
          <p:cNvPr id="26" name="object 4"/>
          <p:cNvPicPr>
            <a:picLocks noChangeAspect="1"/>
          </p:cNvPicPr>
          <p:nvPr/>
        </p:nvPicPr>
        <p:blipFill>
          <a:blip r:embed="rId3"/>
          <a:stretch>
            <a:fillRect/>
          </a:stretch>
        </p:blipFill>
        <p:spPr>
          <a:xfrm>
            <a:off x="152565" y="2988507"/>
            <a:ext cx="900668" cy="161917"/>
          </a:xfrm>
          <a:prstGeom prst="rect">
            <a:avLst/>
          </a:prstGeom>
        </p:spPr>
      </p:pic>
      <p:pic>
        <p:nvPicPr>
          <p:cNvPr id="27" name="object 5"/>
          <p:cNvPicPr>
            <a:picLocks noChangeAspect="1"/>
          </p:cNvPicPr>
          <p:nvPr/>
        </p:nvPicPr>
        <p:blipFill>
          <a:blip r:embed="rId4"/>
          <a:stretch>
            <a:fillRect/>
          </a:stretch>
        </p:blipFill>
        <p:spPr>
          <a:xfrm>
            <a:off x="1286560" y="2988417"/>
            <a:ext cx="610912" cy="162008"/>
          </a:xfrm>
          <a:prstGeom prst="rect">
            <a:avLst/>
          </a:prstGeom>
        </p:spPr>
      </p:pic>
      <p:sp>
        <p:nvSpPr>
          <p:cNvPr id="10" name="Footer Placeholder 7">
            <a:extLst>
              <a:ext uri="{FF2B5EF4-FFF2-40B4-BE49-F238E27FC236}">
                <a16:creationId xmlns:a16="http://schemas.microsoft.com/office/drawing/2014/main" id="{197FE2C8-8EE2-4937-3F30-294DB47641D6}"/>
              </a:ext>
            </a:extLst>
          </p:cNvPr>
          <p:cNvSpPr>
            <a:spLocks noGrp="1"/>
          </p:cNvSpPr>
          <p:nvPr>
            <p:ph type="ftr" idx="5"/>
          </p:nvPr>
        </p:nvSpPr>
        <p:spPr>
          <a:xfrm>
            <a:off x="2590800" y="3105150"/>
            <a:ext cx="2743200" cy="95250"/>
          </a:xfrm>
        </p:spPr>
        <p:txBody>
          <a:bodyPr wrap="square" lIns="0" tIns="0" rIns="0" bIns="0">
            <a:noAutofit/>
          </a:bodyPr>
          <a:lstStyle/>
          <a:p>
            <a:pPr algn="r">
              <a:lnSpc>
                <a:spcPct val="110000"/>
              </a:lnSpc>
              <a:buNone/>
              <a:defRPr sz="500">
                <a:solidFill>
                  <a:srgbClr val="888888"/>
                </a:solidFill>
                <a:latin typeface="Arial"/>
                <a:ea typeface="Arial"/>
                <a:cs typeface="Arial"/>
              </a:defRPr>
            </a:pPr>
            <a:r>
              <a:rPr sz="500">
                <a:solidFill>
                  <a:srgbClr val="888888"/>
                </a:solidFill>
                <a:latin typeface="Arial"/>
                <a:ea typeface="Arial"/>
                <a:cs typeface="Arial"/>
              </a:rPr>
              <a:t>MAS Foundations - Kamendu Panchal</a:t>
            </a:r>
            <a:endParaRPr sz="500" b="1">
              <a:solidFill>
                <a:schemeClr val="tx1"/>
              </a:solidFill>
              <a:latin typeface="Arial"/>
              <a:ea typeface="Arial"/>
              <a:cs typeface="Arial"/>
            </a:endParaRPr>
          </a:p>
        </p:txBody>
      </p:sp>
      <p:sp>
        <p:nvSpPr>
          <p:cNvPr id="3" name="TextBox 2">
            <a:extLst>
              <a:ext uri="{FF2B5EF4-FFF2-40B4-BE49-F238E27FC236}">
                <a16:creationId xmlns:a16="http://schemas.microsoft.com/office/drawing/2014/main" id="{DCE8FEB4-DA15-74FB-D091-FA2B80C9B501}"/>
              </a:ext>
            </a:extLst>
          </p:cNvPr>
          <p:cNvSpPr>
            <a:spLocks noGrp="1"/>
          </p:cNvSpPr>
          <p:nvPr/>
        </p:nvSpPr>
        <p:spPr>
          <a:xfrm>
            <a:off x="5438775" y="3086100"/>
            <a:ext cx="209550" cy="175260"/>
          </a:xfrm>
          <a:prstGeom prst="rect">
            <a:avLst/>
          </a:prstGeom>
          <a:noFill/>
        </p:spPr>
        <p:txBody>
          <a:bodyPr wrap="square" lIns="0" tIns="0" rIns="0" bIns="0">
            <a:noAutofit/>
          </a:bodyPr>
          <a:lstStyle/>
          <a:p>
            <a:pPr algn="r">
              <a:lnSpc>
                <a:spcPct val="110000"/>
              </a:lnSpc>
              <a:buNone/>
              <a:defRPr sz="500">
                <a:solidFill>
                  <a:srgbClr val="202020"/>
                </a:solidFill>
                <a:latin typeface="Arial"/>
                <a:ea typeface="Arial"/>
                <a:cs typeface="Arial"/>
              </a:defRPr>
            </a:pPr>
            <a:r>
              <a:rPr sz="500">
                <a:solidFill>
                  <a:srgbClr val="202020"/>
                </a:solidFill>
                <a:latin typeface="Arial"/>
                <a:ea typeface="Arial"/>
                <a:cs typeface="Arial"/>
              </a:rPr>
              <a:t>38</a:t>
            </a:r>
          </a:p>
        </p:txBody>
      </p:sp>
      <p:sp>
        <p:nvSpPr>
          <p:cNvPr id="13" name="text">
            <a:extLst>
              <a:ext uri="{FF2B5EF4-FFF2-40B4-BE49-F238E27FC236}">
                <a16:creationId xmlns:a16="http://schemas.microsoft.com/office/drawing/2014/main" id="{6F7745A5-54BF-4E70-B18C-978796EDFCB7}"/>
              </a:ext>
            </a:extLst>
          </p:cNvPr>
          <p:cNvSpPr>
            <a:spLocks noGrp="1"/>
          </p:cNvSpPr>
          <p:nvPr/>
        </p:nvSpPr>
        <p:spPr>
          <a:xfrm>
            <a:off x="228600" y="504825"/>
            <a:ext cx="5314950" cy="381000"/>
          </a:xfrm>
          <a:prstGeom prst="rect">
            <a:avLst/>
          </a:prstGeom>
          <a:noFill/>
          <a:ln w="0">
            <a:noFill/>
          </a:ln>
        </p:spPr>
        <p:txBody>
          <a:bodyPr wrap="square" lIns="0" tIns="0" rIns="0" bIns="0" anchor="t">
            <a:noAutofit/>
          </a:bodyPr>
          <a:lstStyle/>
          <a:p>
            <a:pPr algn="l">
              <a:lnSpc>
                <a:spcPct val="110000"/>
              </a:lnSpc>
              <a:buNone/>
              <a:defRPr sz="998" b="0">
                <a:solidFill>
                  <a:srgbClr val="202020"/>
                </a:solidFill>
                <a:latin typeface="Arial"/>
                <a:ea typeface="Arial"/>
                <a:cs typeface="Arial"/>
              </a:defRPr>
            </a:pPr>
            <a:r>
              <a:rPr sz="998" b="0">
                <a:solidFill>
                  <a:srgbClr val="202020"/>
                </a:solidFill>
                <a:latin typeface="Arial"/>
                <a:ea typeface="Arial"/>
                <a:cs typeface="Arial"/>
              </a:rPr>
              <a:t>Try each question before running the notebook cell.</a:t>
            </a:r>
          </a:p>
        </p:txBody>
      </p:sp>
      <p:sp>
        <p:nvSpPr>
          <p:cNvPr id="14" name="text">
            <a:extLst>
              <a:ext uri="{FF2B5EF4-FFF2-40B4-BE49-F238E27FC236}">
                <a16:creationId xmlns:a16="http://schemas.microsoft.com/office/drawing/2014/main" id="{045EA565-87B9-4F73-99A8-1C9F4B3E209A}"/>
              </a:ext>
            </a:extLst>
          </p:cNvPr>
          <p:cNvSpPr>
            <a:spLocks noGrp="1"/>
          </p:cNvSpPr>
          <p:nvPr/>
        </p:nvSpPr>
        <p:spPr>
          <a:xfrm>
            <a:off x="295275" y="981075"/>
            <a:ext cx="285750" cy="266700"/>
          </a:xfrm>
          <a:prstGeom prst="rect">
            <a:avLst/>
          </a:prstGeom>
          <a:noFill/>
          <a:ln w="0">
            <a:noFill/>
          </a:ln>
        </p:spPr>
        <p:txBody>
          <a:bodyPr wrap="square" lIns="0" tIns="0" rIns="0" bIns="0" anchor="t">
            <a:noAutofit/>
          </a:bodyPr>
          <a:lstStyle/>
          <a:p>
            <a:pPr algn="l">
              <a:lnSpc>
                <a:spcPct val="110000"/>
              </a:lnSpc>
              <a:buNone/>
              <a:defRPr sz="1200" b="1">
                <a:solidFill>
                  <a:srgbClr val="006ABA"/>
                </a:solidFill>
                <a:latin typeface="Arial"/>
                <a:ea typeface="Arial"/>
                <a:cs typeface="Arial"/>
              </a:defRPr>
            </a:pPr>
            <a:r>
              <a:rPr sz="1200" b="1">
                <a:solidFill>
                  <a:srgbClr val="006ABA"/>
                </a:solidFill>
                <a:latin typeface="Arial"/>
                <a:ea typeface="Arial"/>
                <a:cs typeface="Arial"/>
              </a:rPr>
              <a:t>1</a:t>
            </a:r>
          </a:p>
        </p:txBody>
      </p:sp>
      <p:sp>
        <p:nvSpPr>
          <p:cNvPr id="15" name="text">
            <a:extLst>
              <a:ext uri="{FF2B5EF4-FFF2-40B4-BE49-F238E27FC236}">
                <a16:creationId xmlns:a16="http://schemas.microsoft.com/office/drawing/2014/main" id="{C5D4A897-02B4-49F2-9193-F868E9586A73}"/>
              </a:ext>
            </a:extLst>
          </p:cNvPr>
          <p:cNvSpPr>
            <a:spLocks noGrp="1"/>
          </p:cNvSpPr>
          <p:nvPr/>
        </p:nvSpPr>
        <p:spPr>
          <a:xfrm>
            <a:off x="733425" y="981075"/>
            <a:ext cx="4676775" cy="276225"/>
          </a:xfrm>
          <a:prstGeom prst="rect">
            <a:avLst/>
          </a:prstGeom>
          <a:noFill/>
          <a:ln w="0">
            <a:noFill/>
          </a:ln>
        </p:spPr>
        <p:txBody>
          <a:bodyPr wrap="square" lIns="0" tIns="0" rIns="0" bIns="0" anchor="t">
            <a:noAutofit/>
          </a:bodyPr>
          <a:lstStyle/>
          <a:p>
            <a:pPr algn="l">
              <a:lnSpc>
                <a:spcPct val="110000"/>
              </a:lnSpc>
              <a:buNone/>
              <a:defRPr sz="1088" b="0">
                <a:solidFill>
                  <a:srgbClr val="202020"/>
                </a:solidFill>
                <a:latin typeface="Arial"/>
                <a:ea typeface="Arial"/>
                <a:cs typeface="Arial"/>
              </a:defRPr>
            </a:pPr>
            <a:r>
              <a:rPr sz="1088" b="0">
                <a:solidFill>
                  <a:srgbClr val="202020"/>
                </a:solidFill>
                <a:latin typeface="Arial"/>
                <a:ea typeface="Arial"/>
                <a:cs typeface="Arial"/>
              </a:rPr>
              <a:t>Stack: push 10, then 20. What leaves first?</a:t>
            </a:r>
          </a:p>
        </p:txBody>
      </p:sp>
      <p:sp>
        <p:nvSpPr>
          <p:cNvPr id="16" name="text">
            <a:extLst>
              <a:ext uri="{FF2B5EF4-FFF2-40B4-BE49-F238E27FC236}">
                <a16:creationId xmlns:a16="http://schemas.microsoft.com/office/drawing/2014/main" id="{BD717B0D-3A01-43EF-A7DB-2A50D87FBD9D}"/>
              </a:ext>
            </a:extLst>
          </p:cNvPr>
          <p:cNvSpPr>
            <a:spLocks noGrp="1"/>
          </p:cNvSpPr>
          <p:nvPr/>
        </p:nvSpPr>
        <p:spPr>
          <a:xfrm>
            <a:off x="295275" y="1323975"/>
            <a:ext cx="285750" cy="266700"/>
          </a:xfrm>
          <a:prstGeom prst="rect">
            <a:avLst/>
          </a:prstGeom>
          <a:noFill/>
          <a:ln w="0">
            <a:noFill/>
          </a:ln>
        </p:spPr>
        <p:txBody>
          <a:bodyPr wrap="square" lIns="0" tIns="0" rIns="0" bIns="0" anchor="t">
            <a:noAutofit/>
          </a:bodyPr>
          <a:lstStyle/>
          <a:p>
            <a:pPr algn="l">
              <a:lnSpc>
                <a:spcPct val="110000"/>
              </a:lnSpc>
              <a:buNone/>
              <a:defRPr sz="1200" b="1">
                <a:solidFill>
                  <a:srgbClr val="006ABA"/>
                </a:solidFill>
                <a:latin typeface="Arial"/>
                <a:ea typeface="Arial"/>
                <a:cs typeface="Arial"/>
              </a:defRPr>
            </a:pPr>
            <a:r>
              <a:rPr sz="1200" b="1">
                <a:solidFill>
                  <a:srgbClr val="006ABA"/>
                </a:solidFill>
                <a:latin typeface="Arial"/>
                <a:ea typeface="Arial"/>
                <a:cs typeface="Arial"/>
              </a:rPr>
              <a:t>2</a:t>
            </a:r>
          </a:p>
        </p:txBody>
      </p:sp>
      <p:sp>
        <p:nvSpPr>
          <p:cNvPr id="17" name="text">
            <a:extLst>
              <a:ext uri="{FF2B5EF4-FFF2-40B4-BE49-F238E27FC236}">
                <a16:creationId xmlns:a16="http://schemas.microsoft.com/office/drawing/2014/main" id="{05D10D2C-4C85-48DF-A71C-A0C29BA033F4}"/>
              </a:ext>
            </a:extLst>
          </p:cNvPr>
          <p:cNvSpPr>
            <a:spLocks noGrp="1"/>
          </p:cNvSpPr>
          <p:nvPr/>
        </p:nvSpPr>
        <p:spPr>
          <a:xfrm>
            <a:off x="733425" y="1323975"/>
            <a:ext cx="4676775" cy="276225"/>
          </a:xfrm>
          <a:prstGeom prst="rect">
            <a:avLst/>
          </a:prstGeom>
          <a:noFill/>
          <a:ln w="0">
            <a:noFill/>
          </a:ln>
        </p:spPr>
        <p:txBody>
          <a:bodyPr wrap="square" lIns="0" tIns="0" rIns="0" bIns="0" anchor="t">
            <a:noAutofit/>
          </a:bodyPr>
          <a:lstStyle/>
          <a:p>
            <a:pPr algn="l">
              <a:lnSpc>
                <a:spcPct val="110000"/>
              </a:lnSpc>
              <a:buNone/>
              <a:defRPr sz="1088" b="0">
                <a:solidFill>
                  <a:srgbClr val="202020"/>
                </a:solidFill>
                <a:latin typeface="Arial"/>
                <a:ea typeface="Arial"/>
                <a:cs typeface="Arial"/>
              </a:defRPr>
            </a:pPr>
            <a:r>
              <a:rPr sz="1088" b="0">
                <a:solidFill>
                  <a:srgbClr val="202020"/>
                </a:solidFill>
                <a:latin typeface="Arial"/>
                <a:ea typeface="Arial"/>
                <a:cs typeface="Arial"/>
              </a:rPr>
              <a:t>Queue: add 10, then 20. What leaves first?</a:t>
            </a:r>
          </a:p>
        </p:txBody>
      </p:sp>
      <p:sp>
        <p:nvSpPr>
          <p:cNvPr id="18" name="text">
            <a:extLst>
              <a:ext uri="{FF2B5EF4-FFF2-40B4-BE49-F238E27FC236}">
                <a16:creationId xmlns:a16="http://schemas.microsoft.com/office/drawing/2014/main" id="{8B40E55A-7089-4B56-AA0F-3CCD00A30147}"/>
              </a:ext>
            </a:extLst>
          </p:cNvPr>
          <p:cNvSpPr>
            <a:spLocks noGrp="1"/>
          </p:cNvSpPr>
          <p:nvPr/>
        </p:nvSpPr>
        <p:spPr>
          <a:xfrm>
            <a:off x="295275" y="1666875"/>
            <a:ext cx="285750" cy="266700"/>
          </a:xfrm>
          <a:prstGeom prst="rect">
            <a:avLst/>
          </a:prstGeom>
          <a:noFill/>
          <a:ln w="0">
            <a:noFill/>
          </a:ln>
        </p:spPr>
        <p:txBody>
          <a:bodyPr wrap="square" lIns="0" tIns="0" rIns="0" bIns="0" anchor="t">
            <a:noAutofit/>
          </a:bodyPr>
          <a:lstStyle/>
          <a:p>
            <a:pPr algn="l">
              <a:lnSpc>
                <a:spcPct val="110000"/>
              </a:lnSpc>
              <a:buNone/>
              <a:defRPr sz="1200" b="1">
                <a:solidFill>
                  <a:srgbClr val="006ABA"/>
                </a:solidFill>
                <a:latin typeface="Arial"/>
                <a:ea typeface="Arial"/>
                <a:cs typeface="Arial"/>
              </a:defRPr>
            </a:pPr>
            <a:r>
              <a:rPr sz="1200" b="1">
                <a:solidFill>
                  <a:srgbClr val="006ABA"/>
                </a:solidFill>
                <a:latin typeface="Arial"/>
                <a:ea typeface="Arial"/>
                <a:cs typeface="Arial"/>
              </a:rPr>
              <a:t>3</a:t>
            </a:r>
          </a:p>
        </p:txBody>
      </p:sp>
      <p:sp>
        <p:nvSpPr>
          <p:cNvPr id="19" name="text">
            <a:extLst>
              <a:ext uri="{FF2B5EF4-FFF2-40B4-BE49-F238E27FC236}">
                <a16:creationId xmlns:a16="http://schemas.microsoft.com/office/drawing/2014/main" id="{5646FE41-878F-4C91-AC39-277C3C4A37F3}"/>
              </a:ext>
            </a:extLst>
          </p:cNvPr>
          <p:cNvSpPr>
            <a:spLocks noGrp="1"/>
          </p:cNvSpPr>
          <p:nvPr/>
        </p:nvSpPr>
        <p:spPr>
          <a:xfrm>
            <a:off x="733425" y="1666875"/>
            <a:ext cx="4676775" cy="276225"/>
          </a:xfrm>
          <a:prstGeom prst="rect">
            <a:avLst/>
          </a:prstGeom>
          <a:noFill/>
          <a:ln w="0">
            <a:noFill/>
          </a:ln>
        </p:spPr>
        <p:txBody>
          <a:bodyPr wrap="square" lIns="0" tIns="0" rIns="0" bIns="0" anchor="t">
            <a:noAutofit/>
          </a:bodyPr>
          <a:lstStyle/>
          <a:p>
            <a:pPr algn="l">
              <a:lnSpc>
                <a:spcPct val="110000"/>
              </a:lnSpc>
              <a:buNone/>
              <a:defRPr sz="1088" b="0">
                <a:solidFill>
                  <a:srgbClr val="202020"/>
                </a:solidFill>
                <a:latin typeface="Arial"/>
                <a:ea typeface="Arial"/>
                <a:cs typeface="Arial"/>
              </a:defRPr>
            </a:pPr>
            <a:r>
              <a:rPr sz="1088" b="0">
                <a:solidFill>
                  <a:srgbClr val="202020"/>
                </a:solidFill>
                <a:latin typeface="Arial"/>
                <a:ea typeface="Arial"/>
                <a:cs typeface="Arial"/>
              </a:rPr>
              <a:t>One complete pass over n values: complexity?</a:t>
            </a:r>
          </a:p>
        </p:txBody>
      </p:sp>
      <p:sp>
        <p:nvSpPr>
          <p:cNvPr id="20" name="text">
            <a:extLst>
              <a:ext uri="{FF2B5EF4-FFF2-40B4-BE49-F238E27FC236}">
                <a16:creationId xmlns:a16="http://schemas.microsoft.com/office/drawing/2014/main" id="{1E186186-5E22-4783-AB70-67B657FCADF2}"/>
              </a:ext>
            </a:extLst>
          </p:cNvPr>
          <p:cNvSpPr>
            <a:spLocks noGrp="1"/>
          </p:cNvSpPr>
          <p:nvPr/>
        </p:nvSpPr>
        <p:spPr>
          <a:xfrm>
            <a:off x="295275" y="2009775"/>
            <a:ext cx="285750" cy="266700"/>
          </a:xfrm>
          <a:prstGeom prst="rect">
            <a:avLst/>
          </a:prstGeom>
          <a:noFill/>
          <a:ln w="0">
            <a:noFill/>
          </a:ln>
        </p:spPr>
        <p:txBody>
          <a:bodyPr wrap="square" lIns="0" tIns="0" rIns="0" bIns="0" anchor="t">
            <a:noAutofit/>
          </a:bodyPr>
          <a:lstStyle/>
          <a:p>
            <a:pPr algn="l">
              <a:lnSpc>
                <a:spcPct val="110000"/>
              </a:lnSpc>
              <a:buNone/>
              <a:defRPr sz="1200" b="1">
                <a:solidFill>
                  <a:srgbClr val="006ABA"/>
                </a:solidFill>
                <a:latin typeface="Arial"/>
                <a:ea typeface="Arial"/>
                <a:cs typeface="Arial"/>
              </a:defRPr>
            </a:pPr>
            <a:r>
              <a:rPr sz="1200" b="1">
                <a:solidFill>
                  <a:srgbClr val="006ABA"/>
                </a:solidFill>
                <a:latin typeface="Arial"/>
                <a:ea typeface="Arial"/>
                <a:cs typeface="Arial"/>
              </a:rPr>
              <a:t>4</a:t>
            </a:r>
          </a:p>
        </p:txBody>
      </p:sp>
      <p:sp>
        <p:nvSpPr>
          <p:cNvPr id="21" name="text">
            <a:extLst>
              <a:ext uri="{FF2B5EF4-FFF2-40B4-BE49-F238E27FC236}">
                <a16:creationId xmlns:a16="http://schemas.microsoft.com/office/drawing/2014/main" id="{AD181997-96D2-4CED-8DDD-A4817F29CA12}"/>
              </a:ext>
            </a:extLst>
          </p:cNvPr>
          <p:cNvSpPr>
            <a:spLocks noGrp="1"/>
          </p:cNvSpPr>
          <p:nvPr/>
        </p:nvSpPr>
        <p:spPr>
          <a:xfrm>
            <a:off x="733425" y="2009775"/>
            <a:ext cx="4676775" cy="276225"/>
          </a:xfrm>
          <a:prstGeom prst="rect">
            <a:avLst/>
          </a:prstGeom>
          <a:noFill/>
          <a:ln w="0">
            <a:noFill/>
          </a:ln>
        </p:spPr>
        <p:txBody>
          <a:bodyPr wrap="square" lIns="0" tIns="0" rIns="0" bIns="0" anchor="t">
            <a:noAutofit/>
          </a:bodyPr>
          <a:lstStyle/>
          <a:p>
            <a:pPr algn="l">
              <a:lnSpc>
                <a:spcPct val="110000"/>
              </a:lnSpc>
              <a:buNone/>
              <a:defRPr sz="1088" b="0">
                <a:solidFill>
                  <a:srgbClr val="202020"/>
                </a:solidFill>
                <a:latin typeface="Arial"/>
                <a:ea typeface="Arial"/>
                <a:cs typeface="Arial"/>
              </a:defRPr>
            </a:pPr>
            <a:r>
              <a:rPr sz="1088" b="0">
                <a:solidFill>
                  <a:srgbClr val="202020"/>
                </a:solidFill>
                <a:latin typeface="Arial"/>
                <a:ea typeface="Arial"/>
                <a:cs typeface="Arial"/>
              </a:rPr>
              <a:t>In-order traversal of the example search tree?</a:t>
            </a:r>
          </a:p>
        </p:txBody>
      </p:sp>
      <p:sp>
        <p:nvSpPr>
          <p:cNvPr id="22" name="text">
            <a:extLst>
              <a:ext uri="{FF2B5EF4-FFF2-40B4-BE49-F238E27FC236}">
                <a16:creationId xmlns:a16="http://schemas.microsoft.com/office/drawing/2014/main" id="{2CC3A2F8-90CF-4E6A-A35E-B67E936CED42}"/>
              </a:ext>
            </a:extLst>
          </p:cNvPr>
          <p:cNvSpPr>
            <a:spLocks noGrp="1"/>
          </p:cNvSpPr>
          <p:nvPr/>
        </p:nvSpPr>
        <p:spPr>
          <a:xfrm>
            <a:off x="295275" y="2352675"/>
            <a:ext cx="285750" cy="266700"/>
          </a:xfrm>
          <a:prstGeom prst="rect">
            <a:avLst/>
          </a:prstGeom>
          <a:noFill/>
          <a:ln w="0">
            <a:noFill/>
          </a:ln>
        </p:spPr>
        <p:txBody>
          <a:bodyPr wrap="square" lIns="0" tIns="0" rIns="0" bIns="0" anchor="t">
            <a:noAutofit/>
          </a:bodyPr>
          <a:lstStyle/>
          <a:p>
            <a:pPr algn="l">
              <a:lnSpc>
                <a:spcPct val="110000"/>
              </a:lnSpc>
              <a:buNone/>
              <a:defRPr sz="1200" b="1">
                <a:solidFill>
                  <a:srgbClr val="006ABA"/>
                </a:solidFill>
                <a:latin typeface="Arial"/>
                <a:ea typeface="Arial"/>
                <a:cs typeface="Arial"/>
              </a:defRPr>
            </a:pPr>
            <a:r>
              <a:rPr sz="1200" b="1">
                <a:solidFill>
                  <a:srgbClr val="006ABA"/>
                </a:solidFill>
                <a:latin typeface="Arial"/>
                <a:ea typeface="Arial"/>
                <a:cs typeface="Arial"/>
              </a:rPr>
              <a:t>5</a:t>
            </a:r>
          </a:p>
        </p:txBody>
      </p:sp>
      <p:sp>
        <p:nvSpPr>
          <p:cNvPr id="23" name="text">
            <a:extLst>
              <a:ext uri="{FF2B5EF4-FFF2-40B4-BE49-F238E27FC236}">
                <a16:creationId xmlns:a16="http://schemas.microsoft.com/office/drawing/2014/main" id="{6B678456-37CB-44EA-BAF6-31571072B258}"/>
              </a:ext>
            </a:extLst>
          </p:cNvPr>
          <p:cNvSpPr>
            <a:spLocks noGrp="1"/>
          </p:cNvSpPr>
          <p:nvPr/>
        </p:nvSpPr>
        <p:spPr>
          <a:xfrm>
            <a:off x="733425" y="2352675"/>
            <a:ext cx="4676775" cy="276225"/>
          </a:xfrm>
          <a:prstGeom prst="rect">
            <a:avLst/>
          </a:prstGeom>
          <a:noFill/>
          <a:ln w="0">
            <a:noFill/>
          </a:ln>
        </p:spPr>
        <p:txBody>
          <a:bodyPr wrap="square" lIns="0" tIns="0" rIns="0" bIns="0" anchor="t">
            <a:noAutofit/>
          </a:bodyPr>
          <a:lstStyle/>
          <a:p>
            <a:pPr algn="l">
              <a:lnSpc>
                <a:spcPct val="110000"/>
              </a:lnSpc>
              <a:buNone/>
              <a:defRPr sz="1088" b="0">
                <a:solidFill>
                  <a:srgbClr val="202020"/>
                </a:solidFill>
                <a:latin typeface="Arial"/>
                <a:ea typeface="Arial"/>
                <a:cs typeface="Arial"/>
              </a:defRPr>
            </a:pPr>
            <a:r>
              <a:rPr sz="1088" b="0">
                <a:solidFill>
                  <a:srgbClr val="202020"/>
                </a:solidFill>
                <a:latin typeface="Arial"/>
                <a:ea typeface="Arial"/>
                <a:cs typeface="Arial"/>
              </a:rPr>
              <a:t>Name-to-grade lookup: which structure?</a:t>
            </a:r>
          </a:p>
        </p:txBody>
      </p:sp>
      <p:sp>
        <p:nvSpPr>
          <p:cNvPr id="24" name="text">
            <a:extLst>
              <a:ext uri="{FF2B5EF4-FFF2-40B4-BE49-F238E27FC236}">
                <a16:creationId xmlns:a16="http://schemas.microsoft.com/office/drawing/2014/main" id="{DC53A333-F5B0-4DD2-9DB2-2E8CDEE3779C}"/>
              </a:ext>
            </a:extLst>
          </p:cNvPr>
          <p:cNvSpPr>
            <a:spLocks noGrp="1"/>
          </p:cNvSpPr>
          <p:nvPr/>
        </p:nvSpPr>
        <p:spPr>
          <a:xfrm>
            <a:off x="228600" y="2867025"/>
            <a:ext cx="5334000" cy="95250"/>
          </a:xfrm>
          <a:prstGeom prst="rect">
            <a:avLst/>
          </a:prstGeom>
          <a:noFill/>
          <a:ln w="0">
            <a:noFill/>
          </a:ln>
        </p:spPr>
        <p:txBody>
          <a:bodyPr wrap="square" lIns="0" tIns="0" rIns="0" bIns="0" anchor="t">
            <a:noAutofit/>
          </a:bodyPr>
          <a:lstStyle/>
          <a:p>
            <a:pPr algn="l">
              <a:lnSpc>
                <a:spcPct val="110000"/>
              </a:lnSpc>
              <a:buNone/>
              <a:defRPr sz="510" b="0">
                <a:solidFill>
                  <a:srgbClr val="66717C"/>
                </a:solidFill>
                <a:latin typeface="Arial"/>
                <a:ea typeface="Arial"/>
                <a:cs typeface="Arial"/>
              </a:defRPr>
            </a:pPr>
            <a:r>
              <a:rPr sz="510" b="0">
                <a:solidFill>
                  <a:srgbClr val="66717C"/>
                </a:solidFill>
                <a:latin typeface="Arial"/>
                <a:ea typeface="Arial"/>
                <a:cs typeface="Arial"/>
              </a:rPr>
              <a:t>[I]  [A]  [P]</a:t>
            </a:r>
          </a:p>
        </p:txBody>
      </p:sp>
    </p:spTree>
    <p:extLst>
      <p:ext uri="{BB962C8B-B14F-4D97-AF65-F5344CB8AC3E}">
        <p14:creationId xmlns:p14="http://schemas.microsoft.com/office/powerpoint/2010/main" val="364567217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19C03931-4A28-44C2-9238-650F85D8C2AD}"/>
              </a:ext>
            </a:extLst>
          </p:cNvPr>
          <p:cNvSpPr>
            <a:spLocks noGrp="1"/>
          </p:cNvSpPr>
          <p:nvPr>
            <p:ph type="title"/>
          </p:nvPr>
        </p:nvSpPr>
        <p:spPr>
          <a:xfrm>
            <a:off x="171450" y="95250"/>
            <a:ext cx="5429250" cy="304800"/>
          </a:xfrm>
          <a:prstGeom prst="rect">
            <a:avLst/>
          </a:prstGeom>
        </p:spPr>
        <p:txBody>
          <a:bodyPr vert="horz" wrap="square" lIns="0" tIns="0" rIns="0" bIns="0">
            <a:noAutofit/>
          </a:bodyPr>
          <a:lstStyle/>
          <a:p>
            <a:pPr marL="12700" algn="l">
              <a:lnSpc>
                <a:spcPct val="110000"/>
              </a:lnSpc>
              <a:spcBef>
                <a:spcPts val="135"/>
              </a:spcBef>
              <a:buNone/>
              <a:defRPr sz="1400">
                <a:solidFill>
                  <a:srgbClr val="006ABA"/>
                </a:solidFill>
                <a:latin typeface="Arial"/>
                <a:ea typeface="Arial"/>
                <a:cs typeface="Arial"/>
              </a:defRPr>
            </a:pPr>
            <a:r>
              <a:rPr sz="1400" b="0" spc="-10">
                <a:solidFill>
                  <a:srgbClr val="006ABA"/>
                </a:solidFill>
                <a:latin typeface="Arial"/>
                <a:ea typeface="Arial"/>
                <a:cs typeface="Arial"/>
              </a:rPr>
              <a:t>Practice answers</a:t>
            </a:r>
            <a:endParaRPr sz="1400" b="0" spc="-10">
              <a:latin typeface="Arial"/>
              <a:ea typeface="Arial"/>
              <a:cs typeface="Arial"/>
            </a:endParaRPr>
          </a:p>
        </p:txBody>
      </p:sp>
      <p:pic>
        <p:nvPicPr>
          <p:cNvPr id="24" name="object 4"/>
          <p:cNvPicPr>
            <a:picLocks noChangeAspect="1"/>
          </p:cNvPicPr>
          <p:nvPr/>
        </p:nvPicPr>
        <p:blipFill>
          <a:blip r:embed="rId3"/>
          <a:stretch>
            <a:fillRect/>
          </a:stretch>
        </p:blipFill>
        <p:spPr>
          <a:xfrm>
            <a:off x="152565" y="2988507"/>
            <a:ext cx="900668" cy="161917"/>
          </a:xfrm>
          <a:prstGeom prst="rect">
            <a:avLst/>
          </a:prstGeom>
        </p:spPr>
      </p:pic>
      <p:pic>
        <p:nvPicPr>
          <p:cNvPr id="25" name="object 5"/>
          <p:cNvPicPr>
            <a:picLocks noChangeAspect="1"/>
          </p:cNvPicPr>
          <p:nvPr/>
        </p:nvPicPr>
        <p:blipFill>
          <a:blip r:embed="rId4"/>
          <a:stretch>
            <a:fillRect/>
          </a:stretch>
        </p:blipFill>
        <p:spPr>
          <a:xfrm>
            <a:off x="1286560" y="2988417"/>
            <a:ext cx="610912" cy="162008"/>
          </a:xfrm>
          <a:prstGeom prst="rect">
            <a:avLst/>
          </a:prstGeom>
        </p:spPr>
      </p:pic>
      <p:sp>
        <p:nvSpPr>
          <p:cNvPr id="10" name="Footer Placeholder 7">
            <a:extLst>
              <a:ext uri="{FF2B5EF4-FFF2-40B4-BE49-F238E27FC236}">
                <a16:creationId xmlns:a16="http://schemas.microsoft.com/office/drawing/2014/main" id="{197FE2C8-8EE2-4937-3F30-294DB47641D6}"/>
              </a:ext>
            </a:extLst>
          </p:cNvPr>
          <p:cNvSpPr>
            <a:spLocks noGrp="1"/>
          </p:cNvSpPr>
          <p:nvPr>
            <p:ph type="ftr" idx="5"/>
          </p:nvPr>
        </p:nvSpPr>
        <p:spPr>
          <a:xfrm>
            <a:off x="2590800" y="3105150"/>
            <a:ext cx="2743200" cy="95250"/>
          </a:xfrm>
        </p:spPr>
        <p:txBody>
          <a:bodyPr wrap="square" lIns="0" tIns="0" rIns="0" bIns="0">
            <a:noAutofit/>
          </a:bodyPr>
          <a:lstStyle/>
          <a:p>
            <a:pPr algn="r">
              <a:lnSpc>
                <a:spcPct val="110000"/>
              </a:lnSpc>
              <a:buNone/>
              <a:defRPr sz="500">
                <a:solidFill>
                  <a:srgbClr val="888888"/>
                </a:solidFill>
                <a:latin typeface="Arial"/>
                <a:ea typeface="Arial"/>
                <a:cs typeface="Arial"/>
              </a:defRPr>
            </a:pPr>
            <a:r>
              <a:rPr sz="500">
                <a:solidFill>
                  <a:srgbClr val="888888"/>
                </a:solidFill>
                <a:latin typeface="Arial"/>
                <a:ea typeface="Arial"/>
                <a:cs typeface="Arial"/>
              </a:rPr>
              <a:t>MAS Foundations - Kamendu Panchal</a:t>
            </a:r>
            <a:endParaRPr sz="500" b="1">
              <a:solidFill>
                <a:schemeClr val="tx1"/>
              </a:solidFill>
              <a:latin typeface="Arial"/>
              <a:ea typeface="Arial"/>
              <a:cs typeface="Arial"/>
            </a:endParaRPr>
          </a:p>
        </p:txBody>
      </p:sp>
      <p:sp>
        <p:nvSpPr>
          <p:cNvPr id="3" name="TextBox 2">
            <a:extLst>
              <a:ext uri="{FF2B5EF4-FFF2-40B4-BE49-F238E27FC236}">
                <a16:creationId xmlns:a16="http://schemas.microsoft.com/office/drawing/2014/main" id="{DCE8FEB4-DA15-74FB-D091-FA2B80C9B501}"/>
              </a:ext>
            </a:extLst>
          </p:cNvPr>
          <p:cNvSpPr>
            <a:spLocks noGrp="1"/>
          </p:cNvSpPr>
          <p:nvPr/>
        </p:nvSpPr>
        <p:spPr>
          <a:xfrm>
            <a:off x="5438775" y="3086100"/>
            <a:ext cx="209550" cy="175260"/>
          </a:xfrm>
          <a:prstGeom prst="rect">
            <a:avLst/>
          </a:prstGeom>
          <a:noFill/>
        </p:spPr>
        <p:txBody>
          <a:bodyPr wrap="square" lIns="0" tIns="0" rIns="0" bIns="0">
            <a:noAutofit/>
          </a:bodyPr>
          <a:lstStyle/>
          <a:p>
            <a:pPr algn="r">
              <a:lnSpc>
                <a:spcPct val="110000"/>
              </a:lnSpc>
              <a:buNone/>
              <a:defRPr sz="500">
                <a:solidFill>
                  <a:srgbClr val="202020"/>
                </a:solidFill>
                <a:latin typeface="Arial"/>
                <a:ea typeface="Arial"/>
                <a:cs typeface="Arial"/>
              </a:defRPr>
            </a:pPr>
            <a:r>
              <a:rPr sz="500">
                <a:solidFill>
                  <a:srgbClr val="202020"/>
                </a:solidFill>
                <a:latin typeface="Arial"/>
                <a:ea typeface="Arial"/>
                <a:cs typeface="Arial"/>
              </a:rPr>
              <a:t>39</a:t>
            </a:r>
          </a:p>
        </p:txBody>
      </p:sp>
      <p:sp>
        <p:nvSpPr>
          <p:cNvPr id="13" name="text">
            <a:extLst>
              <a:ext uri="{FF2B5EF4-FFF2-40B4-BE49-F238E27FC236}">
                <a16:creationId xmlns:a16="http://schemas.microsoft.com/office/drawing/2014/main" id="{CC7909DF-77DD-41B9-8B78-8BBF3B2939E7}"/>
              </a:ext>
            </a:extLst>
          </p:cNvPr>
          <p:cNvSpPr>
            <a:spLocks noGrp="1"/>
          </p:cNvSpPr>
          <p:nvPr/>
        </p:nvSpPr>
        <p:spPr>
          <a:xfrm>
            <a:off x="228600" y="504825"/>
            <a:ext cx="5314950" cy="381000"/>
          </a:xfrm>
          <a:prstGeom prst="rect">
            <a:avLst/>
          </a:prstGeom>
          <a:noFill/>
          <a:ln w="0">
            <a:noFill/>
          </a:ln>
        </p:spPr>
        <p:txBody>
          <a:bodyPr wrap="square" lIns="0" tIns="0" rIns="0" bIns="0" anchor="t">
            <a:noAutofit/>
          </a:bodyPr>
          <a:lstStyle/>
          <a:p>
            <a:pPr algn="l">
              <a:lnSpc>
                <a:spcPct val="110000"/>
              </a:lnSpc>
              <a:buNone/>
              <a:defRPr sz="998" b="0">
                <a:solidFill>
                  <a:srgbClr val="202020"/>
                </a:solidFill>
                <a:latin typeface="Arial"/>
                <a:ea typeface="Arial"/>
                <a:cs typeface="Arial"/>
              </a:defRPr>
            </a:pPr>
            <a:r>
              <a:rPr sz="998" b="0">
                <a:solidFill>
                  <a:srgbClr val="202020"/>
                </a:solidFill>
                <a:latin typeface="Arial"/>
                <a:ea typeface="Arial"/>
                <a:cs typeface="Arial"/>
              </a:rPr>
              <a:t>Explain the rule as well as the result.</a:t>
            </a:r>
          </a:p>
        </p:txBody>
      </p:sp>
      <p:sp>
        <p:nvSpPr>
          <p:cNvPr id="14" name="text">
            <a:extLst>
              <a:ext uri="{FF2B5EF4-FFF2-40B4-BE49-F238E27FC236}">
                <a16:creationId xmlns:a16="http://schemas.microsoft.com/office/drawing/2014/main" id="{42541A19-16C2-40AF-AB2F-DFB8DFE3B144}"/>
              </a:ext>
            </a:extLst>
          </p:cNvPr>
          <p:cNvSpPr>
            <a:spLocks noGrp="1"/>
          </p:cNvSpPr>
          <p:nvPr/>
        </p:nvSpPr>
        <p:spPr>
          <a:xfrm>
            <a:off x="285750" y="1000125"/>
            <a:ext cx="1952625" cy="285750"/>
          </a:xfrm>
          <a:prstGeom prst="rect">
            <a:avLst/>
          </a:prstGeom>
          <a:noFill/>
          <a:ln w="0">
            <a:noFill/>
          </a:ln>
        </p:spPr>
        <p:txBody>
          <a:bodyPr wrap="square" lIns="0" tIns="0" rIns="0" bIns="0" anchor="t">
            <a:noAutofit/>
          </a:bodyPr>
          <a:lstStyle/>
          <a:p>
            <a:pPr algn="l">
              <a:lnSpc>
                <a:spcPct val="110000"/>
              </a:lnSpc>
              <a:buNone/>
              <a:defRPr sz="1050" b="1">
                <a:solidFill>
                  <a:srgbClr val="006ABA"/>
                </a:solidFill>
                <a:latin typeface="Arial"/>
                <a:ea typeface="Arial"/>
                <a:cs typeface="Arial"/>
              </a:defRPr>
            </a:pPr>
            <a:r>
              <a:rPr sz="1050" b="1">
                <a:solidFill>
                  <a:srgbClr val="006ABA"/>
                </a:solidFill>
                <a:latin typeface="Arial"/>
                <a:ea typeface="Arial"/>
                <a:cs typeface="Arial"/>
              </a:rPr>
              <a:t>Stack / queue</a:t>
            </a:r>
          </a:p>
        </p:txBody>
      </p:sp>
      <p:sp>
        <p:nvSpPr>
          <p:cNvPr id="15" name="text">
            <a:extLst>
              <a:ext uri="{FF2B5EF4-FFF2-40B4-BE49-F238E27FC236}">
                <a16:creationId xmlns:a16="http://schemas.microsoft.com/office/drawing/2014/main" id="{3936B85A-0B6F-4CA4-8866-F8EB2732461C}"/>
              </a:ext>
            </a:extLst>
          </p:cNvPr>
          <p:cNvSpPr>
            <a:spLocks noGrp="1"/>
          </p:cNvSpPr>
          <p:nvPr/>
        </p:nvSpPr>
        <p:spPr>
          <a:xfrm>
            <a:off x="2409825" y="1000125"/>
            <a:ext cx="3067050" cy="304800"/>
          </a:xfrm>
          <a:prstGeom prst="rect">
            <a:avLst/>
          </a:prstGeom>
          <a:noFill/>
          <a:ln w="0">
            <a:noFill/>
          </a:ln>
        </p:spPr>
        <p:txBody>
          <a:bodyPr wrap="square" lIns="0" tIns="0" rIns="0" bIns="0" anchor="t">
            <a:noAutofit/>
          </a:bodyPr>
          <a:lstStyle/>
          <a:p>
            <a:pPr algn="l">
              <a:lnSpc>
                <a:spcPct val="110000"/>
              </a:lnSpc>
              <a:buNone/>
              <a:defRPr sz="1050" b="0">
                <a:solidFill>
                  <a:srgbClr val="202020"/>
                </a:solidFill>
                <a:latin typeface="Arial"/>
                <a:ea typeface="Arial"/>
                <a:cs typeface="Arial"/>
              </a:defRPr>
            </a:pPr>
            <a:r>
              <a:rPr sz="1050" b="0">
                <a:solidFill>
                  <a:srgbClr val="202020"/>
                </a:solidFill>
                <a:latin typeface="Arial"/>
                <a:ea typeface="Arial"/>
                <a:cs typeface="Arial"/>
              </a:rPr>
              <a:t>20 / 10</a:t>
            </a:r>
          </a:p>
        </p:txBody>
      </p:sp>
      <p:sp>
        <p:nvSpPr>
          <p:cNvPr id="16" name="text">
            <a:extLst>
              <a:ext uri="{FF2B5EF4-FFF2-40B4-BE49-F238E27FC236}">
                <a16:creationId xmlns:a16="http://schemas.microsoft.com/office/drawing/2014/main" id="{F5058CA9-E58D-472F-972E-5B4E09D8EA45}"/>
              </a:ext>
            </a:extLst>
          </p:cNvPr>
          <p:cNvSpPr>
            <a:spLocks noGrp="1"/>
          </p:cNvSpPr>
          <p:nvPr/>
        </p:nvSpPr>
        <p:spPr>
          <a:xfrm>
            <a:off x="285750" y="1390650"/>
            <a:ext cx="1952625" cy="285750"/>
          </a:xfrm>
          <a:prstGeom prst="rect">
            <a:avLst/>
          </a:prstGeom>
          <a:noFill/>
          <a:ln w="0">
            <a:noFill/>
          </a:ln>
        </p:spPr>
        <p:txBody>
          <a:bodyPr wrap="square" lIns="0" tIns="0" rIns="0" bIns="0" anchor="t">
            <a:noAutofit/>
          </a:bodyPr>
          <a:lstStyle/>
          <a:p>
            <a:pPr algn="l">
              <a:lnSpc>
                <a:spcPct val="110000"/>
              </a:lnSpc>
              <a:buNone/>
              <a:defRPr sz="1050" b="1">
                <a:solidFill>
                  <a:srgbClr val="006ABA"/>
                </a:solidFill>
                <a:latin typeface="Arial"/>
                <a:ea typeface="Arial"/>
                <a:cs typeface="Arial"/>
              </a:defRPr>
            </a:pPr>
            <a:r>
              <a:rPr sz="1050" b="1">
                <a:solidFill>
                  <a:srgbClr val="006ABA"/>
                </a:solidFill>
                <a:latin typeface="Arial"/>
                <a:ea typeface="Arial"/>
                <a:cs typeface="Arial"/>
              </a:rPr>
              <a:t>One full pass</a:t>
            </a:r>
          </a:p>
        </p:txBody>
      </p:sp>
      <p:sp>
        <p:nvSpPr>
          <p:cNvPr id="17" name="text">
            <a:extLst>
              <a:ext uri="{FF2B5EF4-FFF2-40B4-BE49-F238E27FC236}">
                <a16:creationId xmlns:a16="http://schemas.microsoft.com/office/drawing/2014/main" id="{3975920F-1BFF-48DB-9975-70CC92503C7A}"/>
              </a:ext>
            </a:extLst>
          </p:cNvPr>
          <p:cNvSpPr>
            <a:spLocks noGrp="1"/>
          </p:cNvSpPr>
          <p:nvPr/>
        </p:nvSpPr>
        <p:spPr>
          <a:xfrm>
            <a:off x="2409825" y="1390650"/>
            <a:ext cx="3067050" cy="304800"/>
          </a:xfrm>
          <a:prstGeom prst="rect">
            <a:avLst/>
          </a:prstGeom>
          <a:noFill/>
          <a:ln w="0">
            <a:noFill/>
          </a:ln>
        </p:spPr>
        <p:txBody>
          <a:bodyPr wrap="square" lIns="0" tIns="0" rIns="0" bIns="0" anchor="t">
            <a:noAutofit/>
          </a:bodyPr>
          <a:lstStyle/>
          <a:p>
            <a:pPr algn="l">
              <a:lnSpc>
                <a:spcPct val="110000"/>
              </a:lnSpc>
              <a:buNone/>
              <a:defRPr sz="1050" b="0">
                <a:solidFill>
                  <a:srgbClr val="202020"/>
                </a:solidFill>
                <a:latin typeface="Arial"/>
                <a:ea typeface="Arial"/>
                <a:cs typeface="Arial"/>
              </a:defRPr>
            </a:pPr>
            <a:r>
              <a:rPr sz="1050" b="0">
                <a:solidFill>
                  <a:srgbClr val="202020"/>
                </a:solidFill>
                <a:latin typeface="Arial"/>
                <a:ea typeface="Arial"/>
                <a:cs typeface="Arial"/>
              </a:rPr>
              <a:t>O(n) time</a:t>
            </a:r>
          </a:p>
        </p:txBody>
      </p:sp>
      <p:sp>
        <p:nvSpPr>
          <p:cNvPr id="18" name="text">
            <a:extLst>
              <a:ext uri="{FF2B5EF4-FFF2-40B4-BE49-F238E27FC236}">
                <a16:creationId xmlns:a16="http://schemas.microsoft.com/office/drawing/2014/main" id="{75533A69-8C33-4925-A07C-CA8DB2C60052}"/>
              </a:ext>
            </a:extLst>
          </p:cNvPr>
          <p:cNvSpPr>
            <a:spLocks noGrp="1"/>
          </p:cNvSpPr>
          <p:nvPr/>
        </p:nvSpPr>
        <p:spPr>
          <a:xfrm>
            <a:off x="285750" y="1781175"/>
            <a:ext cx="1952625" cy="285750"/>
          </a:xfrm>
          <a:prstGeom prst="rect">
            <a:avLst/>
          </a:prstGeom>
          <a:noFill/>
          <a:ln w="0">
            <a:noFill/>
          </a:ln>
        </p:spPr>
        <p:txBody>
          <a:bodyPr wrap="square" lIns="0" tIns="0" rIns="0" bIns="0" anchor="t">
            <a:noAutofit/>
          </a:bodyPr>
          <a:lstStyle/>
          <a:p>
            <a:pPr algn="l">
              <a:lnSpc>
                <a:spcPct val="110000"/>
              </a:lnSpc>
              <a:buNone/>
              <a:defRPr sz="1050" b="1">
                <a:solidFill>
                  <a:srgbClr val="006ABA"/>
                </a:solidFill>
                <a:latin typeface="Arial"/>
                <a:ea typeface="Arial"/>
                <a:cs typeface="Arial"/>
              </a:defRPr>
            </a:pPr>
            <a:r>
              <a:rPr sz="1050" b="1">
                <a:solidFill>
                  <a:srgbClr val="006ABA"/>
                </a:solidFill>
                <a:latin typeface="Arial"/>
                <a:ea typeface="Arial"/>
                <a:cs typeface="Arial"/>
              </a:rPr>
              <a:t>In-order traversal</a:t>
            </a:r>
          </a:p>
        </p:txBody>
      </p:sp>
      <p:sp>
        <p:nvSpPr>
          <p:cNvPr id="19" name="text">
            <a:extLst>
              <a:ext uri="{FF2B5EF4-FFF2-40B4-BE49-F238E27FC236}">
                <a16:creationId xmlns:a16="http://schemas.microsoft.com/office/drawing/2014/main" id="{9713B38C-A05F-47EB-AA26-A28BF466E86A}"/>
              </a:ext>
            </a:extLst>
          </p:cNvPr>
          <p:cNvSpPr>
            <a:spLocks noGrp="1"/>
          </p:cNvSpPr>
          <p:nvPr/>
        </p:nvSpPr>
        <p:spPr>
          <a:xfrm>
            <a:off x="2409825" y="1781175"/>
            <a:ext cx="3067050" cy="304800"/>
          </a:xfrm>
          <a:prstGeom prst="rect">
            <a:avLst/>
          </a:prstGeom>
          <a:noFill/>
          <a:ln w="0">
            <a:noFill/>
          </a:ln>
        </p:spPr>
        <p:txBody>
          <a:bodyPr wrap="square" lIns="0" tIns="0" rIns="0" bIns="0" anchor="t">
            <a:noAutofit/>
          </a:bodyPr>
          <a:lstStyle/>
          <a:p>
            <a:pPr algn="l">
              <a:lnSpc>
                <a:spcPct val="110000"/>
              </a:lnSpc>
              <a:buNone/>
              <a:defRPr sz="1050" b="0">
                <a:solidFill>
                  <a:srgbClr val="202020"/>
                </a:solidFill>
                <a:latin typeface="Arial"/>
                <a:ea typeface="Arial"/>
                <a:cs typeface="Arial"/>
              </a:defRPr>
            </a:pPr>
            <a:r>
              <a:rPr sz="1050" b="0">
                <a:solidFill>
                  <a:srgbClr val="202020"/>
                </a:solidFill>
                <a:latin typeface="Arial"/>
                <a:ea typeface="Arial"/>
                <a:cs typeface="Arial"/>
              </a:rPr>
              <a:t>2, 5, 7, 10, 15</a:t>
            </a:r>
          </a:p>
        </p:txBody>
      </p:sp>
      <p:sp>
        <p:nvSpPr>
          <p:cNvPr id="20" name="text">
            <a:extLst>
              <a:ext uri="{FF2B5EF4-FFF2-40B4-BE49-F238E27FC236}">
                <a16:creationId xmlns:a16="http://schemas.microsoft.com/office/drawing/2014/main" id="{A855C9D6-2927-4222-897B-6901D90714FF}"/>
              </a:ext>
            </a:extLst>
          </p:cNvPr>
          <p:cNvSpPr>
            <a:spLocks noGrp="1"/>
          </p:cNvSpPr>
          <p:nvPr/>
        </p:nvSpPr>
        <p:spPr>
          <a:xfrm>
            <a:off x="285750" y="2171700"/>
            <a:ext cx="1952625" cy="285750"/>
          </a:xfrm>
          <a:prstGeom prst="rect">
            <a:avLst/>
          </a:prstGeom>
          <a:noFill/>
          <a:ln w="0">
            <a:noFill/>
          </a:ln>
        </p:spPr>
        <p:txBody>
          <a:bodyPr wrap="square" lIns="0" tIns="0" rIns="0" bIns="0" anchor="t">
            <a:noAutofit/>
          </a:bodyPr>
          <a:lstStyle/>
          <a:p>
            <a:pPr algn="l">
              <a:lnSpc>
                <a:spcPct val="110000"/>
              </a:lnSpc>
              <a:buNone/>
              <a:defRPr sz="1050" b="1">
                <a:solidFill>
                  <a:srgbClr val="006ABA"/>
                </a:solidFill>
                <a:latin typeface="Arial"/>
                <a:ea typeface="Arial"/>
                <a:cs typeface="Arial"/>
              </a:defRPr>
            </a:pPr>
            <a:r>
              <a:rPr sz="1050" b="1">
                <a:solidFill>
                  <a:srgbClr val="006ABA"/>
                </a:solidFill>
                <a:latin typeface="Arial"/>
                <a:ea typeface="Arial"/>
                <a:cs typeface="Arial"/>
              </a:rPr>
              <a:t>Name-to-grade lookup</a:t>
            </a:r>
          </a:p>
        </p:txBody>
      </p:sp>
      <p:sp>
        <p:nvSpPr>
          <p:cNvPr id="21" name="text">
            <a:extLst>
              <a:ext uri="{FF2B5EF4-FFF2-40B4-BE49-F238E27FC236}">
                <a16:creationId xmlns:a16="http://schemas.microsoft.com/office/drawing/2014/main" id="{436CF4EC-7114-470A-931F-9F1FE7B4F290}"/>
              </a:ext>
            </a:extLst>
          </p:cNvPr>
          <p:cNvSpPr>
            <a:spLocks noGrp="1"/>
          </p:cNvSpPr>
          <p:nvPr/>
        </p:nvSpPr>
        <p:spPr>
          <a:xfrm>
            <a:off x="2409825" y="2171700"/>
            <a:ext cx="3067050" cy="304800"/>
          </a:xfrm>
          <a:prstGeom prst="rect">
            <a:avLst/>
          </a:prstGeom>
          <a:noFill/>
          <a:ln w="0">
            <a:noFill/>
          </a:ln>
        </p:spPr>
        <p:txBody>
          <a:bodyPr wrap="square" lIns="0" tIns="0" rIns="0" bIns="0" anchor="t">
            <a:noAutofit/>
          </a:bodyPr>
          <a:lstStyle/>
          <a:p>
            <a:pPr algn="l">
              <a:lnSpc>
                <a:spcPct val="110000"/>
              </a:lnSpc>
              <a:buNone/>
              <a:defRPr sz="1050" b="0">
                <a:solidFill>
                  <a:srgbClr val="202020"/>
                </a:solidFill>
                <a:latin typeface="Arial"/>
                <a:ea typeface="Arial"/>
                <a:cs typeface="Arial"/>
              </a:defRPr>
            </a:pPr>
            <a:r>
              <a:rPr sz="1050" b="0">
                <a:solidFill>
                  <a:srgbClr val="202020"/>
                </a:solidFill>
                <a:latin typeface="Arial"/>
                <a:ea typeface="Arial"/>
                <a:cs typeface="Arial"/>
              </a:rPr>
              <a:t>Dictionary / hash map</a:t>
            </a:r>
          </a:p>
        </p:txBody>
      </p:sp>
      <p:sp>
        <p:nvSpPr>
          <p:cNvPr id="22" name="text">
            <a:extLst>
              <a:ext uri="{FF2B5EF4-FFF2-40B4-BE49-F238E27FC236}">
                <a16:creationId xmlns:a16="http://schemas.microsoft.com/office/drawing/2014/main" id="{A7E03635-1878-47C4-A229-98ECB8006651}"/>
              </a:ext>
            </a:extLst>
          </p:cNvPr>
          <p:cNvSpPr>
            <a:spLocks noGrp="1"/>
          </p:cNvSpPr>
          <p:nvPr/>
        </p:nvSpPr>
        <p:spPr>
          <a:xfrm>
            <a:off x="228600" y="2867025"/>
            <a:ext cx="5334000" cy="95250"/>
          </a:xfrm>
          <a:prstGeom prst="rect">
            <a:avLst/>
          </a:prstGeom>
          <a:noFill/>
          <a:ln w="0">
            <a:noFill/>
          </a:ln>
        </p:spPr>
        <p:txBody>
          <a:bodyPr wrap="square" lIns="0" tIns="0" rIns="0" bIns="0" anchor="t">
            <a:noAutofit/>
          </a:bodyPr>
          <a:lstStyle/>
          <a:p>
            <a:pPr algn="l">
              <a:lnSpc>
                <a:spcPct val="110000"/>
              </a:lnSpc>
              <a:buNone/>
              <a:defRPr sz="510" b="0">
                <a:solidFill>
                  <a:srgbClr val="66717C"/>
                </a:solidFill>
                <a:latin typeface="Arial"/>
                <a:ea typeface="Arial"/>
                <a:cs typeface="Arial"/>
              </a:defRPr>
            </a:pPr>
            <a:r>
              <a:rPr sz="510" b="0">
                <a:solidFill>
                  <a:srgbClr val="66717C"/>
                </a:solidFill>
                <a:latin typeface="Arial"/>
                <a:ea typeface="Arial"/>
                <a:cs typeface="Arial"/>
              </a:rPr>
              <a:t>[I]  [A]  [P]</a:t>
            </a:r>
          </a:p>
        </p:txBody>
      </p:sp>
    </p:spTree>
    <p:extLst>
      <p:ext uri="{BB962C8B-B14F-4D97-AF65-F5344CB8AC3E}">
        <p14:creationId xmlns:p14="http://schemas.microsoft.com/office/powerpoint/2010/main" val="364567217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19C03931-4A28-44C2-9238-650F85D8C2AD}"/>
              </a:ext>
            </a:extLst>
          </p:cNvPr>
          <p:cNvSpPr>
            <a:spLocks noGrp="1"/>
          </p:cNvSpPr>
          <p:nvPr>
            <p:ph type="title"/>
          </p:nvPr>
        </p:nvSpPr>
        <p:spPr>
          <a:xfrm>
            <a:off x="171450" y="95250"/>
            <a:ext cx="5429250" cy="304800"/>
          </a:xfrm>
          <a:prstGeom prst="rect">
            <a:avLst/>
          </a:prstGeom>
        </p:spPr>
        <p:txBody>
          <a:bodyPr vert="horz" wrap="square" lIns="0" tIns="0" rIns="0" bIns="0">
            <a:noAutofit/>
          </a:bodyPr>
          <a:lstStyle/>
          <a:p>
            <a:pPr marL="12700" algn="l">
              <a:lnSpc>
                <a:spcPct val="110000"/>
              </a:lnSpc>
              <a:spcBef>
                <a:spcPts val="135"/>
              </a:spcBef>
              <a:buNone/>
              <a:defRPr sz="1400">
                <a:solidFill>
                  <a:srgbClr val="006ABA"/>
                </a:solidFill>
                <a:latin typeface="Arial"/>
                <a:ea typeface="Arial"/>
                <a:cs typeface="Arial"/>
              </a:defRPr>
            </a:pPr>
            <a:r>
              <a:rPr sz="1400" b="0" spc="-10">
                <a:solidFill>
                  <a:srgbClr val="006ABA"/>
                </a:solidFill>
                <a:latin typeface="Arial"/>
                <a:ea typeface="Arial"/>
                <a:cs typeface="Arial"/>
              </a:rPr>
              <a:t>Sources and companion notebook</a:t>
            </a:r>
            <a:endParaRPr sz="1400" b="0" spc="-10">
              <a:latin typeface="Arial"/>
              <a:ea typeface="Arial"/>
              <a:cs typeface="Arial"/>
            </a:endParaRPr>
          </a:p>
        </p:txBody>
      </p:sp>
      <p:pic>
        <p:nvPicPr>
          <p:cNvPr id="20" name="object 4"/>
          <p:cNvPicPr>
            <a:picLocks noChangeAspect="1"/>
          </p:cNvPicPr>
          <p:nvPr/>
        </p:nvPicPr>
        <p:blipFill>
          <a:blip r:embed="rId3"/>
          <a:stretch>
            <a:fillRect/>
          </a:stretch>
        </p:blipFill>
        <p:spPr>
          <a:xfrm>
            <a:off x="152565" y="2988507"/>
            <a:ext cx="900668" cy="161917"/>
          </a:xfrm>
          <a:prstGeom prst="rect">
            <a:avLst/>
          </a:prstGeom>
        </p:spPr>
      </p:pic>
      <p:pic>
        <p:nvPicPr>
          <p:cNvPr id="21" name="object 5"/>
          <p:cNvPicPr>
            <a:picLocks noChangeAspect="1"/>
          </p:cNvPicPr>
          <p:nvPr/>
        </p:nvPicPr>
        <p:blipFill>
          <a:blip r:embed="rId4"/>
          <a:stretch>
            <a:fillRect/>
          </a:stretch>
        </p:blipFill>
        <p:spPr>
          <a:xfrm>
            <a:off x="1286560" y="2988417"/>
            <a:ext cx="610912" cy="162008"/>
          </a:xfrm>
          <a:prstGeom prst="rect">
            <a:avLst/>
          </a:prstGeom>
        </p:spPr>
      </p:pic>
      <p:sp>
        <p:nvSpPr>
          <p:cNvPr id="10" name="Footer Placeholder 7">
            <a:extLst>
              <a:ext uri="{FF2B5EF4-FFF2-40B4-BE49-F238E27FC236}">
                <a16:creationId xmlns:a16="http://schemas.microsoft.com/office/drawing/2014/main" id="{197FE2C8-8EE2-4937-3F30-294DB47641D6}"/>
              </a:ext>
            </a:extLst>
          </p:cNvPr>
          <p:cNvSpPr>
            <a:spLocks noGrp="1"/>
          </p:cNvSpPr>
          <p:nvPr>
            <p:ph type="ftr" idx="5"/>
          </p:nvPr>
        </p:nvSpPr>
        <p:spPr>
          <a:xfrm>
            <a:off x="2590800" y="3105150"/>
            <a:ext cx="2743200" cy="95250"/>
          </a:xfrm>
        </p:spPr>
        <p:txBody>
          <a:bodyPr wrap="square" lIns="0" tIns="0" rIns="0" bIns="0">
            <a:noAutofit/>
          </a:bodyPr>
          <a:lstStyle/>
          <a:p>
            <a:pPr algn="r">
              <a:lnSpc>
                <a:spcPct val="110000"/>
              </a:lnSpc>
              <a:buNone/>
              <a:defRPr sz="500">
                <a:solidFill>
                  <a:srgbClr val="888888"/>
                </a:solidFill>
                <a:latin typeface="Arial"/>
                <a:ea typeface="Arial"/>
                <a:cs typeface="Arial"/>
              </a:defRPr>
            </a:pPr>
            <a:r>
              <a:rPr sz="500">
                <a:solidFill>
                  <a:srgbClr val="888888"/>
                </a:solidFill>
                <a:latin typeface="Arial"/>
                <a:ea typeface="Arial"/>
                <a:cs typeface="Arial"/>
              </a:rPr>
              <a:t>MAS Foundations - Kamendu Panchal</a:t>
            </a:r>
            <a:endParaRPr sz="500" b="1">
              <a:solidFill>
                <a:schemeClr val="tx1"/>
              </a:solidFill>
              <a:latin typeface="Arial"/>
              <a:ea typeface="Arial"/>
              <a:cs typeface="Arial"/>
            </a:endParaRPr>
          </a:p>
        </p:txBody>
      </p:sp>
      <p:sp>
        <p:nvSpPr>
          <p:cNvPr id="3" name="TextBox 2">
            <a:extLst>
              <a:ext uri="{FF2B5EF4-FFF2-40B4-BE49-F238E27FC236}">
                <a16:creationId xmlns:a16="http://schemas.microsoft.com/office/drawing/2014/main" id="{DCE8FEB4-DA15-74FB-D091-FA2B80C9B501}"/>
              </a:ext>
            </a:extLst>
          </p:cNvPr>
          <p:cNvSpPr>
            <a:spLocks noGrp="1"/>
          </p:cNvSpPr>
          <p:nvPr/>
        </p:nvSpPr>
        <p:spPr>
          <a:xfrm>
            <a:off x="5438775" y="3086100"/>
            <a:ext cx="209550" cy="175260"/>
          </a:xfrm>
          <a:prstGeom prst="rect">
            <a:avLst/>
          </a:prstGeom>
          <a:noFill/>
        </p:spPr>
        <p:txBody>
          <a:bodyPr wrap="square" lIns="0" tIns="0" rIns="0" bIns="0">
            <a:noAutofit/>
          </a:bodyPr>
          <a:lstStyle/>
          <a:p>
            <a:pPr algn="r">
              <a:lnSpc>
                <a:spcPct val="110000"/>
              </a:lnSpc>
              <a:buNone/>
              <a:defRPr sz="500">
                <a:solidFill>
                  <a:srgbClr val="202020"/>
                </a:solidFill>
                <a:latin typeface="Arial"/>
                <a:ea typeface="Arial"/>
                <a:cs typeface="Arial"/>
              </a:defRPr>
            </a:pPr>
            <a:r>
              <a:rPr sz="500">
                <a:solidFill>
                  <a:srgbClr val="202020"/>
                </a:solidFill>
                <a:latin typeface="Arial"/>
                <a:ea typeface="Arial"/>
                <a:cs typeface="Arial"/>
              </a:rPr>
              <a:t>40</a:t>
            </a:r>
          </a:p>
        </p:txBody>
      </p:sp>
      <p:sp>
        <p:nvSpPr>
          <p:cNvPr id="13" name="text">
            <a:extLst>
              <a:ext uri="{FF2B5EF4-FFF2-40B4-BE49-F238E27FC236}">
                <a16:creationId xmlns:a16="http://schemas.microsoft.com/office/drawing/2014/main" id="{A4887D60-1FDB-405D-8357-31848954C7E1}"/>
              </a:ext>
            </a:extLst>
          </p:cNvPr>
          <p:cNvSpPr>
            <a:spLocks noGrp="1"/>
          </p:cNvSpPr>
          <p:nvPr/>
        </p:nvSpPr>
        <p:spPr>
          <a:xfrm>
            <a:off x="228600" y="504825"/>
            <a:ext cx="5314950" cy="381000"/>
          </a:xfrm>
          <a:prstGeom prst="rect">
            <a:avLst/>
          </a:prstGeom>
          <a:noFill/>
          <a:ln w="0">
            <a:noFill/>
          </a:ln>
        </p:spPr>
        <p:txBody>
          <a:bodyPr wrap="square" lIns="0" tIns="0" rIns="0" bIns="0" anchor="t">
            <a:noAutofit/>
          </a:bodyPr>
          <a:lstStyle/>
          <a:p>
            <a:pPr algn="l">
              <a:lnSpc>
                <a:spcPct val="110000"/>
              </a:lnSpc>
              <a:buNone/>
              <a:defRPr sz="998" b="0">
                <a:solidFill>
                  <a:srgbClr val="202020"/>
                </a:solidFill>
                <a:latin typeface="Arial"/>
                <a:ea typeface="Arial"/>
                <a:cs typeface="Arial"/>
              </a:defRPr>
            </a:pPr>
            <a:r>
              <a:rPr sz="998" b="0">
                <a:solidFill>
                  <a:srgbClr val="202020"/>
                </a:solidFill>
                <a:latin typeface="Arial"/>
                <a:ea typeface="Arial"/>
                <a:cs typeface="Arial"/>
              </a:rPr>
              <a:t>The three supplied notebooks and the course PDF define the core scope.</a:t>
            </a:r>
          </a:p>
        </p:txBody>
      </p:sp>
      <p:sp>
        <p:nvSpPr>
          <p:cNvPr id="14" name="text">
            <a:extLst>
              <a:ext uri="{FF2B5EF4-FFF2-40B4-BE49-F238E27FC236}">
                <a16:creationId xmlns:a16="http://schemas.microsoft.com/office/drawing/2014/main" id="{32226587-877B-4B67-888F-87D1020E2F0D}"/>
              </a:ext>
            </a:extLst>
          </p:cNvPr>
          <p:cNvSpPr>
            <a:spLocks noGrp="1"/>
          </p:cNvSpPr>
          <p:nvPr/>
        </p:nvSpPr>
        <p:spPr>
          <a:xfrm>
            <a:off x="257175" y="981075"/>
            <a:ext cx="5257800" cy="333375"/>
          </a:xfrm>
          <a:prstGeom prst="rect">
            <a:avLst/>
          </a:prstGeom>
          <a:noFill/>
          <a:ln w="0">
            <a:noFill/>
          </a:ln>
        </p:spPr>
        <p:txBody>
          <a:bodyPr wrap="square" lIns="0" tIns="0" rIns="0" bIns="0" anchor="t">
            <a:noAutofit/>
          </a:bodyPr>
          <a:lstStyle/>
          <a:p>
            <a:pPr algn="l">
              <a:lnSpc>
                <a:spcPct val="110000"/>
              </a:lnSpc>
              <a:buNone/>
              <a:defRPr sz="938" b="0">
                <a:solidFill>
                  <a:srgbClr val="006ABA"/>
                </a:solidFill>
                <a:latin typeface="Arial"/>
                <a:ea typeface="Arial"/>
                <a:cs typeface="Arial"/>
              </a:defRPr>
            </a:pPr>
            <a:r>
              <a:rPr sz="938" b="0" dirty="0">
                <a:solidFill>
                  <a:srgbClr val="006ABA"/>
                </a:solidFill>
                <a:latin typeface="Arial"/>
                <a:ea typeface="Arial"/>
                <a:cs typeface="Arial"/>
              </a:rPr>
              <a:t>[I] Intro-data-</a:t>
            </a:r>
            <a:r>
              <a:rPr sz="938" b="0" dirty="0" err="1">
                <a:solidFill>
                  <a:srgbClr val="006ABA"/>
                </a:solidFill>
                <a:latin typeface="Arial"/>
                <a:ea typeface="Arial"/>
                <a:cs typeface="Arial"/>
              </a:rPr>
              <a:t>structures.ipynb</a:t>
            </a:r>
            <a:endParaRPr sz="938" b="0" dirty="0">
              <a:solidFill>
                <a:srgbClr val="006ABA"/>
              </a:solidFill>
              <a:latin typeface="Arial"/>
              <a:ea typeface="Arial"/>
              <a:cs typeface="Arial"/>
            </a:endParaRPr>
          </a:p>
        </p:txBody>
      </p:sp>
      <p:sp>
        <p:nvSpPr>
          <p:cNvPr id="15" name="text">
            <a:extLst>
              <a:ext uri="{FF2B5EF4-FFF2-40B4-BE49-F238E27FC236}">
                <a16:creationId xmlns:a16="http://schemas.microsoft.com/office/drawing/2014/main" id="{45545A6E-8774-4FAF-87F9-7EB20391F5F0}"/>
              </a:ext>
            </a:extLst>
          </p:cNvPr>
          <p:cNvSpPr>
            <a:spLocks noGrp="1"/>
          </p:cNvSpPr>
          <p:nvPr/>
        </p:nvSpPr>
        <p:spPr>
          <a:xfrm>
            <a:off x="257175" y="1343025"/>
            <a:ext cx="5257800" cy="333375"/>
          </a:xfrm>
          <a:prstGeom prst="rect">
            <a:avLst/>
          </a:prstGeom>
          <a:noFill/>
          <a:ln w="0">
            <a:noFill/>
          </a:ln>
        </p:spPr>
        <p:txBody>
          <a:bodyPr wrap="square" lIns="0" tIns="0" rIns="0" bIns="0" anchor="t">
            <a:noAutofit/>
          </a:bodyPr>
          <a:lstStyle/>
          <a:p>
            <a:pPr algn="l">
              <a:lnSpc>
                <a:spcPct val="110000"/>
              </a:lnSpc>
              <a:buNone/>
              <a:defRPr sz="938" b="0">
                <a:solidFill>
                  <a:srgbClr val="006ABA"/>
                </a:solidFill>
                <a:latin typeface="Arial"/>
                <a:ea typeface="Arial"/>
                <a:cs typeface="Arial"/>
              </a:defRPr>
            </a:pPr>
            <a:r>
              <a:rPr sz="938" b="0" dirty="0">
                <a:solidFill>
                  <a:srgbClr val="006ABA"/>
                </a:solidFill>
                <a:latin typeface="Arial"/>
                <a:ea typeface="Arial"/>
                <a:cs typeface="Arial"/>
              </a:rPr>
              <a:t>[A] Advanced-data-</a:t>
            </a:r>
            <a:r>
              <a:rPr sz="938" b="0" dirty="0" err="1">
                <a:solidFill>
                  <a:srgbClr val="006ABA"/>
                </a:solidFill>
                <a:latin typeface="Arial"/>
                <a:ea typeface="Arial"/>
                <a:cs typeface="Arial"/>
              </a:rPr>
              <a:t>structures.ipynb</a:t>
            </a:r>
            <a:endParaRPr sz="938" b="0" dirty="0">
              <a:solidFill>
                <a:srgbClr val="006ABA"/>
              </a:solidFill>
              <a:latin typeface="Arial"/>
              <a:ea typeface="Arial"/>
              <a:cs typeface="Arial"/>
            </a:endParaRPr>
          </a:p>
        </p:txBody>
      </p:sp>
      <p:sp>
        <p:nvSpPr>
          <p:cNvPr id="16" name="text">
            <a:extLst>
              <a:ext uri="{FF2B5EF4-FFF2-40B4-BE49-F238E27FC236}">
                <a16:creationId xmlns:a16="http://schemas.microsoft.com/office/drawing/2014/main" id="{17AF8A9D-DC3F-425F-8DC8-3D5C0E13B979}"/>
              </a:ext>
            </a:extLst>
          </p:cNvPr>
          <p:cNvSpPr>
            <a:spLocks noGrp="1"/>
          </p:cNvSpPr>
          <p:nvPr/>
        </p:nvSpPr>
        <p:spPr>
          <a:xfrm>
            <a:off x="257175" y="1704975"/>
            <a:ext cx="5257800" cy="333375"/>
          </a:xfrm>
          <a:prstGeom prst="rect">
            <a:avLst/>
          </a:prstGeom>
          <a:noFill/>
          <a:ln w="0">
            <a:noFill/>
          </a:ln>
        </p:spPr>
        <p:txBody>
          <a:bodyPr wrap="square" lIns="0" tIns="0" rIns="0" bIns="0" anchor="t">
            <a:noAutofit/>
          </a:bodyPr>
          <a:lstStyle/>
          <a:p>
            <a:pPr algn="l">
              <a:lnSpc>
                <a:spcPct val="110000"/>
              </a:lnSpc>
              <a:buNone/>
              <a:defRPr sz="938" b="0">
                <a:solidFill>
                  <a:srgbClr val="006ABA"/>
                </a:solidFill>
                <a:latin typeface="Arial"/>
                <a:ea typeface="Arial"/>
                <a:cs typeface="Arial"/>
              </a:defRPr>
            </a:pPr>
            <a:r>
              <a:rPr sz="938" b="0" dirty="0">
                <a:solidFill>
                  <a:srgbClr val="006ABA"/>
                </a:solidFill>
                <a:latin typeface="Arial"/>
                <a:ea typeface="Arial"/>
                <a:cs typeface="Arial"/>
              </a:rPr>
              <a:t>[P] Properties of algorithms and </a:t>
            </a:r>
            <a:r>
              <a:rPr sz="938" b="0" dirty="0" err="1">
                <a:solidFill>
                  <a:srgbClr val="006ABA"/>
                </a:solidFill>
                <a:latin typeface="Arial"/>
                <a:ea typeface="Arial"/>
                <a:cs typeface="Arial"/>
              </a:rPr>
              <a:t>evaluations.ipynb</a:t>
            </a:r>
            <a:endParaRPr sz="938" b="0" dirty="0">
              <a:solidFill>
                <a:srgbClr val="006ABA"/>
              </a:solidFill>
              <a:latin typeface="Arial"/>
              <a:ea typeface="Arial"/>
              <a:cs typeface="Arial"/>
            </a:endParaRPr>
          </a:p>
        </p:txBody>
      </p:sp>
      <p:sp>
        <p:nvSpPr>
          <p:cNvPr id="17" name="text">
            <a:extLst>
              <a:ext uri="{FF2B5EF4-FFF2-40B4-BE49-F238E27FC236}">
                <a16:creationId xmlns:a16="http://schemas.microsoft.com/office/drawing/2014/main" id="{F4B4F38F-97D3-4DF9-A463-E780224F90E7}"/>
              </a:ext>
            </a:extLst>
          </p:cNvPr>
          <p:cNvSpPr>
            <a:spLocks noGrp="1"/>
          </p:cNvSpPr>
          <p:nvPr/>
        </p:nvSpPr>
        <p:spPr>
          <a:xfrm>
            <a:off x="257175" y="2066925"/>
            <a:ext cx="5257800" cy="333375"/>
          </a:xfrm>
          <a:prstGeom prst="rect">
            <a:avLst/>
          </a:prstGeom>
          <a:noFill/>
          <a:ln w="0">
            <a:noFill/>
          </a:ln>
        </p:spPr>
        <p:txBody>
          <a:bodyPr wrap="square" lIns="0" tIns="0" rIns="0" bIns="0" anchor="t">
            <a:noAutofit/>
          </a:bodyPr>
          <a:lstStyle/>
          <a:p>
            <a:pPr algn="l">
              <a:lnSpc>
                <a:spcPct val="110000"/>
              </a:lnSpc>
              <a:buNone/>
              <a:defRPr sz="938" b="0">
                <a:solidFill>
                  <a:srgbClr val="006ABA"/>
                </a:solidFill>
                <a:latin typeface="Arial"/>
                <a:ea typeface="Arial"/>
                <a:cs typeface="Arial"/>
              </a:defRPr>
            </a:pPr>
            <a:r>
              <a:rPr sz="938" b="0">
                <a:solidFill>
                  <a:srgbClr val="006ABA"/>
                </a:solidFill>
                <a:latin typeface="Arial"/>
                <a:ea typeface="Arial"/>
                <a:cs typeface="Arial"/>
              </a:rPr>
              <a:t>[M] Mihir Mehta, Algorithm Analysis &amp; Data Structures</a:t>
            </a:r>
          </a:p>
        </p:txBody>
      </p:sp>
      <p:sp>
        <p:nvSpPr>
          <p:cNvPr id="18" name="text">
            <a:extLst>
              <a:ext uri="{FF2B5EF4-FFF2-40B4-BE49-F238E27FC236}">
                <a16:creationId xmlns:a16="http://schemas.microsoft.com/office/drawing/2014/main" id="{C4370FBD-167C-4F3D-B188-CC0444B5F229}"/>
              </a:ext>
            </a:extLst>
          </p:cNvPr>
          <p:cNvSpPr>
            <a:spLocks noGrp="1"/>
          </p:cNvSpPr>
          <p:nvPr/>
        </p:nvSpPr>
        <p:spPr>
          <a:xfrm>
            <a:off x="257175" y="2543175"/>
            <a:ext cx="5248275" cy="304800"/>
          </a:xfrm>
          <a:prstGeom prst="rect">
            <a:avLst/>
          </a:prstGeom>
          <a:noFill/>
          <a:ln w="0">
            <a:noFill/>
          </a:ln>
        </p:spPr>
        <p:txBody>
          <a:bodyPr wrap="square" lIns="0" tIns="0" rIns="0" bIns="0" anchor="t">
            <a:noAutofit/>
          </a:bodyPr>
          <a:lstStyle/>
          <a:p>
            <a:pPr algn="l">
              <a:lnSpc>
                <a:spcPct val="110000"/>
              </a:lnSpc>
              <a:buNone/>
              <a:defRPr sz="810" b="0">
                <a:solidFill>
                  <a:srgbClr val="66717C"/>
                </a:solidFill>
                <a:latin typeface="Arial"/>
                <a:ea typeface="Arial"/>
                <a:cs typeface="Arial"/>
              </a:defRPr>
            </a:pPr>
            <a:r>
              <a:rPr sz="810" b="0">
                <a:solidFill>
                  <a:srgbClr val="66717C"/>
                </a:solidFill>
                <a:latin typeface="Arial"/>
                <a:ea typeface="Arial"/>
                <a:cs typeface="Arial"/>
              </a:rPr>
              <a:t>Language references and topic-specific source notes appear in each slide’s Notes.</a:t>
            </a:r>
          </a:p>
        </p:txBody>
      </p:sp>
    </p:spTree>
    <p:extLst>
      <p:ext uri="{BB962C8B-B14F-4D97-AF65-F5344CB8AC3E}">
        <p14:creationId xmlns:p14="http://schemas.microsoft.com/office/powerpoint/2010/main" val="36456721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8314</Words>
  <Application>Microsoft Office PowerPoint</Application>
  <DocSecurity>0</DocSecurity>
  <PresentationFormat>Custom</PresentationFormat>
  <Paragraphs>788</Paragraphs>
  <Slides>41</Slides>
  <Notes>41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41</vt:i4>
      </vt:variant>
    </vt:vector>
  </HeadingPairs>
  <TitlesOfParts>
    <vt:vector size="46" baseType="lpstr">
      <vt:lpstr>Arial</vt:lpstr>
      <vt:lpstr>Calibri</vt:lpstr>
      <vt:lpstr>DejaVu Sans Mono</vt:lpstr>
      <vt:lpstr>Times New Roman</vt:lpstr>
      <vt:lpstr>Office Theme</vt:lpstr>
      <vt:lpstr>Concepts of Theoretical Computer Science, Data Structures and Algorithms</vt:lpstr>
      <vt:lpstr>Topics in this refresher</vt:lpstr>
      <vt:lpstr>Theoretical computer science</vt:lpstr>
      <vt:lpstr>What is an algorithm?</vt:lpstr>
      <vt:lpstr>Properties of an algorithm</vt:lpstr>
      <vt:lpstr>Time complexity and Big O</vt:lpstr>
      <vt:lpstr>Comparing growth rates</vt:lpstr>
      <vt:lpstr>O(1): direct access</vt:lpstr>
      <vt:lpstr>O(n): one full pass</vt:lpstr>
      <vt:lpstr>O(n²): two full nested loops</vt:lpstr>
      <vt:lpstr>O(log n): repeated halving</vt:lpstr>
      <vt:lpstr>Input cases and asymptotic bounds</vt:lpstr>
      <vt:lpstr>Space complexity</vt:lpstr>
      <vt:lpstr>Space example: storing squares</vt:lpstr>
      <vt:lpstr>What is a data structure?</vt:lpstr>
      <vt:lpstr>Arrays and indexed sequences</vt:lpstr>
      <vt:lpstr>Vectors and Python lists</vt:lpstr>
      <vt:lpstr>Matrices: rows and columns</vt:lpstr>
      <vt:lpstr>Templates: one C++ function, several types</vt:lpstr>
      <vt:lpstr>Dictionaries and hash maps</vt:lpstr>
      <vt:lpstr>Tuples: a small record</vt:lpstr>
      <vt:lpstr>Sets: unique membership</vt:lpstr>
      <vt:lpstr>Objects, equality and mutability</vt:lpstr>
      <vt:lpstr>Linked lists</vt:lpstr>
      <vt:lpstr>Stacks: last in, first out</vt:lpstr>
      <vt:lpstr>Queues: first in, first out</vt:lpstr>
      <vt:lpstr>Deques: both ends are available</vt:lpstr>
      <vt:lpstr>Trees: hierarchical relationships</vt:lpstr>
      <vt:lpstr>Binary search trees</vt:lpstr>
      <vt:lpstr>Traversal in trees</vt:lpstr>
      <vt:lpstr>A tree represented by child links</vt:lpstr>
      <vt:lpstr>Graphs: general connections</vt:lpstr>
      <vt:lpstr>Graphs as adjacency lists</vt:lpstr>
      <vt:lpstr>Graphs as adjacency matrices</vt:lpstr>
      <vt:lpstr>Heaps and priority queues</vt:lpstr>
      <vt:lpstr>A min-heap in C++ and Python</vt:lpstr>
      <vt:lpstr>Searching and sorting</vt:lpstr>
      <vt:lpstr>Choosing a structure</vt:lpstr>
      <vt:lpstr>Short practice</vt:lpstr>
      <vt:lpstr>Practice answers</vt:lpstr>
      <vt:lpstr>Sources and companion notebook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Kamendu Panchal</cp:lastModifiedBy>
  <cp:revision>35</cp:revision>
  <dcterms:created xsi:type="dcterms:W3CDTF">2026-09-15T09:59:36Z</dcterms:created>
  <dcterms:modified xsi:type="dcterms:W3CDTF">2026-09-16T07:45:03Z</dcterms:modified>
</cp:coreProperties>
</file>