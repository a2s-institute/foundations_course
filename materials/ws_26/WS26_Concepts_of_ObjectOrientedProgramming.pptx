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5765800" cy="324485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86" dt="2026-09-15T13:55:51.380"/>
    <p1510:client id="{472D5E27-BE00-F4D6-41DC-40896BD8EB8F}" v="15" dt="2026-09-15T13:57:48.24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59" autoAdjust="0"/>
    <p:restoredTop sz="94660"/>
  </p:normalViewPr>
  <p:slideViewPr>
    <p:cSldViewPr snapToGrid="0">
      <p:cViewPr varScale="1">
        <p:scale>
          <a:sx n="187" d="100"/>
          <a:sy n="187" d="100"/>
        </p:scale>
        <p:origin x="6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nchal, Kamendu" userId="S::kamendu.panchal@smail.inf.h-brs.de::12c6d646-0c6b-46ab-84c2-73b0bdd0f748" providerId="AD" clId="Web-{00000000-0000-0000-0000-000000000000}"/>
    <pc:docChg chg="modSld">
      <pc:chgData name="Panchal, Kamendu" userId="S::kamendu.panchal@smail.inf.h-brs.de::12c6d646-0c6b-46ab-84c2-73b0bdd0f748" providerId="AD" clId="Web-{00000000-0000-0000-0000-000000000000}" dt="2026-09-15T13:55:51.380" v="154" actId="20577"/>
      <pc:docMkLst>
        <pc:docMk/>
      </pc:docMkLst>
      <pc:sldChg chg="modSp modNotes">
        <pc:chgData name="Panchal, Kamendu" userId="S::kamendu.panchal@smail.inf.h-brs.de::12c6d646-0c6b-46ab-84c2-73b0bdd0f748" providerId="AD" clId="Web-{00000000-0000-0000-0000-000000000000}" dt="2026-09-15T13:54:57.941" v="141"/>
        <pc:sldMkLst>
          <pc:docMk/>
          <pc:sldMk cId="2016312421" sldId="256"/>
        </pc:sldMkLst>
        <pc:spChg chg="mod">
          <ac:chgData name="Panchal, Kamendu" userId="S::kamendu.panchal@smail.inf.h-brs.de::12c6d646-0c6b-46ab-84c2-73b0bdd0f748" providerId="AD" clId="Web-{00000000-0000-0000-0000-000000000000}" dt="2026-09-15T13:34:20.824" v="11" actId="20577"/>
          <ac:spMkLst>
            <pc:docMk/>
            <pc:sldMk cId="2016312421" sldId="256"/>
            <ac:spMk id="4" creationId="{EB52794C-DB54-405E-99CC-6FC58259A01D}"/>
          </ac:spMkLst>
        </pc:spChg>
        <pc:spChg chg="mod">
          <ac:chgData name="Panchal, Kamendu" userId="S::kamendu.panchal@smail.inf.h-brs.de::12c6d646-0c6b-46ab-84c2-73b0bdd0f748" providerId="AD" clId="Web-{00000000-0000-0000-0000-000000000000}" dt="2026-09-15T13:36:14.593" v="24" actId="20577"/>
          <ac:spMkLst>
            <pc:docMk/>
            <pc:sldMk cId="2016312421" sldId="256"/>
            <ac:spMk id="5" creationId="{FC572BC0-50C6-41CB-AFD0-B5560ADF213F}"/>
          </ac:spMkLst>
        </pc:spChg>
      </pc:sldChg>
      <pc:sldChg chg="modNotes">
        <pc:chgData name="Panchal, Kamendu" userId="S::kamendu.panchal@smail.inf.h-brs.de::12c6d646-0c6b-46ab-84c2-73b0bdd0f748" providerId="AD" clId="Web-{00000000-0000-0000-0000-000000000000}" dt="2026-09-15T13:37:26.470" v="27"/>
        <pc:sldMkLst>
          <pc:docMk/>
          <pc:sldMk cId="3645672178" sldId="257"/>
        </pc:sldMkLst>
      </pc:sldChg>
      <pc:sldChg chg="addSp delSp modSp modNotes">
        <pc:chgData name="Panchal, Kamendu" userId="S::kamendu.panchal@smail.inf.h-brs.de::12c6d646-0c6b-46ab-84c2-73b0bdd0f748" providerId="AD" clId="Web-{00000000-0000-0000-0000-000000000000}" dt="2026-09-15T13:55:51.380" v="154" actId="20577"/>
        <pc:sldMkLst>
          <pc:docMk/>
          <pc:sldMk cId="3645672178" sldId="258"/>
        </pc:sldMkLst>
        <pc:spChg chg="mod">
          <ac:chgData name="Panchal, Kamendu" userId="S::kamendu.panchal@smail.inf.h-brs.de::12c6d646-0c6b-46ab-84c2-73b0bdd0f748" providerId="AD" clId="Web-{00000000-0000-0000-0000-000000000000}" dt="2026-09-15T13:54:42.411" v="135" actId="20577"/>
          <ac:spMkLst>
            <pc:docMk/>
            <pc:sldMk cId="3645672178" sldId="258"/>
            <ac:spMk id="2" creationId="{78732306-573C-495E-831D-98A5E119CD11}"/>
          </ac:spMkLst>
        </pc:spChg>
        <pc:spChg chg="add mod">
          <ac:chgData name="Panchal, Kamendu" userId="S::kamendu.panchal@smail.inf.h-brs.de::12c6d646-0c6b-46ab-84c2-73b0bdd0f748" providerId="AD" clId="Web-{00000000-0000-0000-0000-000000000000}" dt="2026-09-15T13:55:51.380" v="154" actId="20577"/>
          <ac:spMkLst>
            <pc:docMk/>
            <pc:sldMk cId="3645672178" sldId="258"/>
            <ac:spMk id="5" creationId="{2EF02EDB-4A89-1BBC-4AE9-F948A1BD031C}"/>
          </ac:spMkLst>
        </pc:spChg>
        <pc:spChg chg="mod">
          <ac:chgData name="Panchal, Kamendu" userId="S::kamendu.panchal@smail.inf.h-brs.de::12c6d646-0c6b-46ab-84c2-73b0bdd0f748" providerId="AD" clId="Web-{00000000-0000-0000-0000-000000000000}" dt="2026-09-15T13:54:44.784" v="136" actId="20577"/>
          <ac:spMkLst>
            <pc:docMk/>
            <pc:sldMk cId="3645672178" sldId="258"/>
            <ac:spMk id="13" creationId="{6852C7CF-391F-4FB4-94D4-04CEAC2150A5}"/>
          </ac:spMkLst>
        </pc:spChg>
        <pc:spChg chg="mod">
          <ac:chgData name="Panchal, Kamendu" userId="S::kamendu.panchal@smail.inf.h-brs.de::12c6d646-0c6b-46ab-84c2-73b0bdd0f748" providerId="AD" clId="Web-{00000000-0000-0000-0000-000000000000}" dt="2026-09-15T13:54:46.315" v="137" actId="20577"/>
          <ac:spMkLst>
            <pc:docMk/>
            <pc:sldMk cId="3645672178" sldId="258"/>
            <ac:spMk id="15" creationId="{B600CEAD-E085-49A5-8B7C-5D02C206CE27}"/>
          </ac:spMkLst>
        </pc:spChg>
        <pc:picChg chg="add mod">
          <ac:chgData name="Panchal, Kamendu" userId="S::kamendu.panchal@smail.inf.h-brs.de::12c6d646-0c6b-46ab-84c2-73b0bdd0f748" providerId="AD" clId="Web-{00000000-0000-0000-0000-000000000000}" dt="2026-09-15T13:40:26.539" v="46" actId="1076"/>
          <ac:picMkLst>
            <pc:docMk/>
            <pc:sldMk cId="3645672178" sldId="258"/>
            <ac:picMk id="4" creationId="{6A5DB47C-8BBE-33B2-F36D-0F0415C83164}"/>
          </ac:picMkLst>
        </pc:picChg>
        <pc:picChg chg="del">
          <ac:chgData name="Panchal, Kamendu" userId="S::kamendu.panchal@smail.inf.h-brs.de::12c6d646-0c6b-46ab-84c2-73b0bdd0f748" providerId="AD" clId="Web-{00000000-0000-0000-0000-000000000000}" dt="2026-09-15T13:40:18.023" v="43"/>
          <ac:picMkLst>
            <pc:docMk/>
            <pc:sldMk cId="3645672178" sldId="258"/>
            <ac:picMk id="25" creationId="{00000000-0000-0000-0000-000000000000}"/>
          </ac:picMkLst>
        </pc:picChg>
      </pc:sldChg>
      <pc:sldChg chg="modNotes">
        <pc:chgData name="Panchal, Kamendu" userId="S::kamendu.panchal@smail.inf.h-brs.de::12c6d646-0c6b-46ab-84c2-73b0bdd0f748" providerId="AD" clId="Web-{00000000-0000-0000-0000-000000000000}" dt="2026-09-15T13:41:23.837" v="55"/>
        <pc:sldMkLst>
          <pc:docMk/>
          <pc:sldMk cId="3645672178" sldId="259"/>
        </pc:sldMkLst>
      </pc:sldChg>
      <pc:sldChg chg="modSp modNotes">
        <pc:chgData name="Panchal, Kamendu" userId="S::kamendu.panchal@smail.inf.h-brs.de::12c6d646-0c6b-46ab-84c2-73b0bdd0f748" providerId="AD" clId="Web-{00000000-0000-0000-0000-000000000000}" dt="2026-09-15T13:54:53.128" v="139" actId="20577"/>
        <pc:sldMkLst>
          <pc:docMk/>
          <pc:sldMk cId="3645672178" sldId="260"/>
        </pc:sldMkLst>
        <pc:spChg chg="mod">
          <ac:chgData name="Panchal, Kamendu" userId="S::kamendu.panchal@smail.inf.h-brs.de::12c6d646-0c6b-46ab-84c2-73b0bdd0f748" providerId="AD" clId="Web-{00000000-0000-0000-0000-000000000000}" dt="2026-09-15T13:54:52.378" v="138" actId="20577"/>
          <ac:spMkLst>
            <pc:docMk/>
            <pc:sldMk cId="3645672178" sldId="260"/>
            <ac:spMk id="19" creationId="{8809EFF0-EBB6-4BF0-9DD1-36302E0BCDDD}"/>
          </ac:spMkLst>
        </pc:spChg>
        <pc:spChg chg="mod">
          <ac:chgData name="Panchal, Kamendu" userId="S::kamendu.panchal@smail.inf.h-brs.de::12c6d646-0c6b-46ab-84c2-73b0bdd0f748" providerId="AD" clId="Web-{00000000-0000-0000-0000-000000000000}" dt="2026-09-15T13:54:53.128" v="139" actId="20577"/>
          <ac:spMkLst>
            <pc:docMk/>
            <pc:sldMk cId="3645672178" sldId="260"/>
            <ac:spMk id="30" creationId="{4CE40A02-5945-4948-B943-B930252D7B1F}"/>
          </ac:spMkLst>
        </pc:spChg>
      </pc:sldChg>
      <pc:sldChg chg="modNotes">
        <pc:chgData name="Panchal, Kamendu" userId="S::kamendu.panchal@smail.inf.h-brs.de::12c6d646-0c6b-46ab-84c2-73b0bdd0f748" providerId="AD" clId="Web-{00000000-0000-0000-0000-000000000000}" dt="2026-09-15T13:42:19.511" v="62"/>
        <pc:sldMkLst>
          <pc:docMk/>
          <pc:sldMk cId="3645672178" sldId="261"/>
        </pc:sldMkLst>
      </pc:sldChg>
      <pc:sldChg chg="modSp modNotes">
        <pc:chgData name="Panchal, Kamendu" userId="S::kamendu.panchal@smail.inf.h-brs.de::12c6d646-0c6b-46ab-84c2-73b0bdd0f748" providerId="AD" clId="Web-{00000000-0000-0000-0000-000000000000}" dt="2026-09-15T13:54:57.941" v="141"/>
        <pc:sldMkLst>
          <pc:docMk/>
          <pc:sldMk cId="3645672178" sldId="262"/>
        </pc:sldMkLst>
        <pc:spChg chg="mod">
          <ac:chgData name="Panchal, Kamendu" userId="S::kamendu.panchal@smail.inf.h-brs.de::12c6d646-0c6b-46ab-84c2-73b0bdd0f748" providerId="AD" clId="Web-{00000000-0000-0000-0000-000000000000}" dt="2026-09-15T13:54:54.909" v="140" actId="20577"/>
          <ac:spMkLst>
            <pc:docMk/>
            <pc:sldMk cId="3645672178" sldId="262"/>
            <ac:spMk id="31" creationId="{388BB7B1-875B-4A24-BDE3-A7D59AB70E23}"/>
          </ac:spMkLst>
        </pc:spChg>
      </pc:sldChg>
      <pc:sldChg chg="modNotes">
        <pc:chgData name="Panchal, Kamendu" userId="S::kamendu.panchal@smail.inf.h-brs.de::12c6d646-0c6b-46ab-84c2-73b0bdd0f748" providerId="AD" clId="Web-{00000000-0000-0000-0000-000000000000}" dt="2026-09-15T13:43:01.012" v="71"/>
        <pc:sldMkLst>
          <pc:docMk/>
          <pc:sldMk cId="3645672178" sldId="263"/>
        </pc:sldMkLst>
      </pc:sldChg>
      <pc:sldChg chg="modNotes">
        <pc:chgData name="Panchal, Kamendu" userId="S::kamendu.panchal@smail.inf.h-brs.de::12c6d646-0c6b-46ab-84c2-73b0bdd0f748" providerId="AD" clId="Web-{00000000-0000-0000-0000-000000000000}" dt="2026-09-15T13:42:32.886" v="67"/>
        <pc:sldMkLst>
          <pc:docMk/>
          <pc:sldMk cId="3645672178" sldId="264"/>
        </pc:sldMkLst>
      </pc:sldChg>
      <pc:sldChg chg="modNotes">
        <pc:chgData name="Panchal, Kamendu" userId="S::kamendu.panchal@smail.inf.h-brs.de::12c6d646-0c6b-46ab-84c2-73b0bdd0f748" providerId="AD" clId="Web-{00000000-0000-0000-0000-000000000000}" dt="2026-09-15T13:54:57.941" v="141"/>
        <pc:sldMkLst>
          <pc:docMk/>
          <pc:sldMk cId="3645672178" sldId="265"/>
        </pc:sldMkLst>
      </pc:sldChg>
      <pc:sldChg chg="modNotes">
        <pc:chgData name="Panchal, Kamendu" userId="S::kamendu.panchal@smail.inf.h-brs.de::12c6d646-0c6b-46ab-84c2-73b0bdd0f748" providerId="AD" clId="Web-{00000000-0000-0000-0000-000000000000}" dt="2026-09-15T13:46:10.018" v="75"/>
        <pc:sldMkLst>
          <pc:docMk/>
          <pc:sldMk cId="3645672178" sldId="266"/>
        </pc:sldMkLst>
      </pc:sldChg>
      <pc:sldChg chg="modNotes">
        <pc:chgData name="Panchal, Kamendu" userId="S::kamendu.panchal@smail.inf.h-brs.de::12c6d646-0c6b-46ab-84c2-73b0bdd0f748" providerId="AD" clId="Web-{00000000-0000-0000-0000-000000000000}" dt="2026-09-15T13:48:57.883" v="77"/>
        <pc:sldMkLst>
          <pc:docMk/>
          <pc:sldMk cId="3645672178" sldId="267"/>
        </pc:sldMkLst>
      </pc:sldChg>
      <pc:sldChg chg="modNotes">
        <pc:chgData name="Panchal, Kamendu" userId="S::kamendu.panchal@smail.inf.h-brs.de::12c6d646-0c6b-46ab-84c2-73b0bdd0f748" providerId="AD" clId="Web-{00000000-0000-0000-0000-000000000000}" dt="2026-09-15T13:49:01.945" v="79"/>
        <pc:sldMkLst>
          <pc:docMk/>
          <pc:sldMk cId="3645672178" sldId="268"/>
        </pc:sldMkLst>
      </pc:sldChg>
      <pc:sldChg chg="modNotes">
        <pc:chgData name="Panchal, Kamendu" userId="S::kamendu.panchal@smail.inf.h-brs.de::12c6d646-0c6b-46ab-84c2-73b0bdd0f748" providerId="AD" clId="Web-{00000000-0000-0000-0000-000000000000}" dt="2026-09-15T13:49:03.883" v="80"/>
        <pc:sldMkLst>
          <pc:docMk/>
          <pc:sldMk cId="3645672178" sldId="269"/>
        </pc:sldMkLst>
      </pc:sldChg>
      <pc:sldChg chg="modSp modNotes">
        <pc:chgData name="Panchal, Kamendu" userId="S::kamendu.panchal@smail.inf.h-brs.de::12c6d646-0c6b-46ab-84c2-73b0bdd0f748" providerId="AD" clId="Web-{00000000-0000-0000-0000-000000000000}" dt="2026-09-15T13:54:57.941" v="141"/>
        <pc:sldMkLst>
          <pc:docMk/>
          <pc:sldMk cId="3645672178" sldId="270"/>
        </pc:sldMkLst>
        <pc:spChg chg="mod">
          <ac:chgData name="Panchal, Kamendu" userId="S::kamendu.panchal@smail.inf.h-brs.de::12c6d646-0c6b-46ab-84c2-73b0bdd0f748" providerId="AD" clId="Web-{00000000-0000-0000-0000-000000000000}" dt="2026-09-15T13:54:57.941" v="141"/>
          <ac:spMkLst>
            <pc:docMk/>
            <pc:sldMk cId="3645672178" sldId="270"/>
            <ac:spMk id="14" creationId="{74F2380B-F990-4E74-B0C5-9BCB76A8FF0D}"/>
          </ac:spMkLst>
        </pc:spChg>
      </pc:sldChg>
      <pc:sldChg chg="modNotes">
        <pc:chgData name="Panchal, Kamendu" userId="S::kamendu.panchal@smail.inf.h-brs.de::12c6d646-0c6b-46ab-84c2-73b0bdd0f748" providerId="AD" clId="Web-{00000000-0000-0000-0000-000000000000}" dt="2026-09-15T13:49:24.977" v="86"/>
        <pc:sldMkLst>
          <pc:docMk/>
          <pc:sldMk cId="3645672178" sldId="271"/>
        </pc:sldMkLst>
      </pc:sldChg>
      <pc:sldChg chg="modNotes">
        <pc:chgData name="Panchal, Kamendu" userId="S::kamendu.panchal@smail.inf.h-brs.de::12c6d646-0c6b-46ab-84c2-73b0bdd0f748" providerId="AD" clId="Web-{00000000-0000-0000-0000-000000000000}" dt="2026-09-15T13:49:30.462" v="88"/>
        <pc:sldMkLst>
          <pc:docMk/>
          <pc:sldMk cId="3645672178" sldId="272"/>
        </pc:sldMkLst>
      </pc:sldChg>
      <pc:sldChg chg="modNotes">
        <pc:chgData name="Panchal, Kamendu" userId="S::kamendu.panchal@smail.inf.h-brs.de::12c6d646-0c6b-46ab-84c2-73b0bdd0f748" providerId="AD" clId="Web-{00000000-0000-0000-0000-000000000000}" dt="2026-09-15T13:49:36.306" v="90"/>
        <pc:sldMkLst>
          <pc:docMk/>
          <pc:sldMk cId="3645672178" sldId="273"/>
        </pc:sldMkLst>
      </pc:sldChg>
      <pc:sldChg chg="modNotes">
        <pc:chgData name="Panchal, Kamendu" userId="S::kamendu.panchal@smail.inf.h-brs.de::12c6d646-0c6b-46ab-84c2-73b0bdd0f748" providerId="AD" clId="Web-{00000000-0000-0000-0000-000000000000}" dt="2026-09-15T13:49:39.525" v="92"/>
        <pc:sldMkLst>
          <pc:docMk/>
          <pc:sldMk cId="3645672178" sldId="274"/>
        </pc:sldMkLst>
      </pc:sldChg>
      <pc:sldChg chg="modNotes">
        <pc:chgData name="Panchal, Kamendu" userId="S::kamendu.panchal@smail.inf.h-brs.de::12c6d646-0c6b-46ab-84c2-73b0bdd0f748" providerId="AD" clId="Web-{00000000-0000-0000-0000-000000000000}" dt="2026-09-15T13:49:41.947" v="93"/>
        <pc:sldMkLst>
          <pc:docMk/>
          <pc:sldMk cId="3645672178" sldId="275"/>
        </pc:sldMkLst>
      </pc:sldChg>
      <pc:sldChg chg="modNotes">
        <pc:chgData name="Panchal, Kamendu" userId="S::kamendu.panchal@smail.inf.h-brs.de::12c6d646-0c6b-46ab-84c2-73b0bdd0f748" providerId="AD" clId="Web-{00000000-0000-0000-0000-000000000000}" dt="2026-09-15T13:54:57.941" v="141"/>
        <pc:sldMkLst>
          <pc:docMk/>
          <pc:sldMk cId="3645672178" sldId="276"/>
        </pc:sldMkLst>
      </pc:sldChg>
      <pc:sldChg chg="modNotes">
        <pc:chgData name="Panchal, Kamendu" userId="S::kamendu.panchal@smail.inf.h-brs.de::12c6d646-0c6b-46ab-84c2-73b0bdd0f748" providerId="AD" clId="Web-{00000000-0000-0000-0000-000000000000}" dt="2026-09-15T13:49:49.962" v="97"/>
        <pc:sldMkLst>
          <pc:docMk/>
          <pc:sldMk cId="3645672178" sldId="277"/>
        </pc:sldMkLst>
      </pc:sldChg>
      <pc:sldChg chg="modNotes">
        <pc:chgData name="Panchal, Kamendu" userId="S::kamendu.panchal@smail.inf.h-brs.de::12c6d646-0c6b-46ab-84c2-73b0bdd0f748" providerId="AD" clId="Web-{00000000-0000-0000-0000-000000000000}" dt="2026-09-15T13:49:56.416" v="99"/>
        <pc:sldMkLst>
          <pc:docMk/>
          <pc:sldMk cId="3645672178" sldId="278"/>
        </pc:sldMkLst>
      </pc:sldChg>
      <pc:sldChg chg="modNotes">
        <pc:chgData name="Panchal, Kamendu" userId="S::kamendu.panchal@smail.inf.h-brs.de::12c6d646-0c6b-46ab-84c2-73b0bdd0f748" providerId="AD" clId="Web-{00000000-0000-0000-0000-000000000000}" dt="2026-09-15T13:50:03.010" v="101"/>
        <pc:sldMkLst>
          <pc:docMk/>
          <pc:sldMk cId="3645672178" sldId="279"/>
        </pc:sldMkLst>
      </pc:sldChg>
      <pc:sldChg chg="modNotes">
        <pc:chgData name="Panchal, Kamendu" userId="S::kamendu.panchal@smail.inf.h-brs.de::12c6d646-0c6b-46ab-84c2-73b0bdd0f748" providerId="AD" clId="Web-{00000000-0000-0000-0000-000000000000}" dt="2026-09-15T13:50:12.932" v="104"/>
        <pc:sldMkLst>
          <pc:docMk/>
          <pc:sldMk cId="3645672178" sldId="280"/>
        </pc:sldMkLst>
      </pc:sldChg>
      <pc:sldChg chg="modNotes">
        <pc:chgData name="Panchal, Kamendu" userId="S::kamendu.panchal@smail.inf.h-brs.de::12c6d646-0c6b-46ab-84c2-73b0bdd0f748" providerId="AD" clId="Web-{00000000-0000-0000-0000-000000000000}" dt="2026-09-15T13:50:16.291" v="106"/>
        <pc:sldMkLst>
          <pc:docMk/>
          <pc:sldMk cId="3645672178" sldId="281"/>
        </pc:sldMkLst>
      </pc:sldChg>
      <pc:sldChg chg="modNotes">
        <pc:chgData name="Panchal, Kamendu" userId="S::kamendu.panchal@smail.inf.h-brs.de::12c6d646-0c6b-46ab-84c2-73b0bdd0f748" providerId="AD" clId="Web-{00000000-0000-0000-0000-000000000000}" dt="2026-09-15T13:50:19.526" v="108"/>
        <pc:sldMkLst>
          <pc:docMk/>
          <pc:sldMk cId="3645672178" sldId="282"/>
        </pc:sldMkLst>
      </pc:sldChg>
      <pc:sldChg chg="modNotes">
        <pc:chgData name="Panchal, Kamendu" userId="S::kamendu.panchal@smail.inf.h-brs.de::12c6d646-0c6b-46ab-84c2-73b0bdd0f748" providerId="AD" clId="Web-{00000000-0000-0000-0000-000000000000}" dt="2026-09-15T13:50:21.979" v="109"/>
        <pc:sldMkLst>
          <pc:docMk/>
          <pc:sldMk cId="3645672178" sldId="283"/>
        </pc:sldMkLst>
      </pc:sldChg>
      <pc:sldChg chg="modNotes">
        <pc:chgData name="Panchal, Kamendu" userId="S::kamendu.panchal@smail.inf.h-brs.de::12c6d646-0c6b-46ab-84c2-73b0bdd0f748" providerId="AD" clId="Web-{00000000-0000-0000-0000-000000000000}" dt="2026-09-15T13:50:26.260" v="111"/>
        <pc:sldMkLst>
          <pc:docMk/>
          <pc:sldMk cId="3645672178" sldId="284"/>
        </pc:sldMkLst>
      </pc:sldChg>
      <pc:sldChg chg="modSp modNotes">
        <pc:chgData name="Panchal, Kamendu" userId="S::kamendu.panchal@smail.inf.h-brs.de::12c6d646-0c6b-46ab-84c2-73b0bdd0f748" providerId="AD" clId="Web-{00000000-0000-0000-0000-000000000000}" dt="2026-09-15T13:54:57.941" v="141"/>
        <pc:sldMkLst>
          <pc:docMk/>
          <pc:sldMk cId="3645672178" sldId="285"/>
        </pc:sldMkLst>
        <pc:spChg chg="mod">
          <ac:chgData name="Panchal, Kamendu" userId="S::kamendu.panchal@smail.inf.h-brs.de::12c6d646-0c6b-46ab-84c2-73b0bdd0f748" providerId="AD" clId="Web-{00000000-0000-0000-0000-000000000000}" dt="2026-09-15T13:54:57.941" v="141"/>
          <ac:spMkLst>
            <pc:docMk/>
            <pc:sldMk cId="3645672178" sldId="285"/>
            <ac:spMk id="19" creationId="{4350FF2D-5302-430F-82B6-B5B9B9C8E288}"/>
          </ac:spMkLst>
        </pc:spChg>
        <pc:spChg chg="mod">
          <ac:chgData name="Panchal, Kamendu" userId="S::kamendu.panchal@smail.inf.h-brs.de::12c6d646-0c6b-46ab-84c2-73b0bdd0f748" providerId="AD" clId="Web-{00000000-0000-0000-0000-000000000000}" dt="2026-09-15T13:54:57.941" v="141"/>
          <ac:spMkLst>
            <pc:docMk/>
            <pc:sldMk cId="3645672178" sldId="285"/>
            <ac:spMk id="26" creationId="{6A965FC6-9208-41A3-9B66-13029A609200}"/>
          </ac:spMkLst>
        </pc:spChg>
      </pc:sldChg>
      <pc:sldChg chg="modNotes">
        <pc:chgData name="Panchal, Kamendu" userId="S::kamendu.panchal@smail.inf.h-brs.de::12c6d646-0c6b-46ab-84c2-73b0bdd0f748" providerId="AD" clId="Web-{00000000-0000-0000-0000-000000000000}" dt="2026-09-15T13:51:00.449" v="115"/>
        <pc:sldMkLst>
          <pc:docMk/>
          <pc:sldMk cId="3645672178" sldId="286"/>
        </pc:sldMkLst>
      </pc:sldChg>
      <pc:sldChg chg="modNotes">
        <pc:chgData name="Panchal, Kamendu" userId="S::kamendu.panchal@smail.inf.h-brs.de::12c6d646-0c6b-46ab-84c2-73b0bdd0f748" providerId="AD" clId="Web-{00000000-0000-0000-0000-000000000000}" dt="2026-09-15T13:51:04.371" v="117"/>
        <pc:sldMkLst>
          <pc:docMk/>
          <pc:sldMk cId="3645672178" sldId="287"/>
        </pc:sldMkLst>
      </pc:sldChg>
      <pc:sldChg chg="modNotes">
        <pc:chgData name="Panchal, Kamendu" userId="S::kamendu.panchal@smail.inf.h-brs.de::12c6d646-0c6b-46ab-84c2-73b0bdd0f748" providerId="AD" clId="Web-{00000000-0000-0000-0000-000000000000}" dt="2026-09-15T13:51:08.309" v="119"/>
        <pc:sldMkLst>
          <pc:docMk/>
          <pc:sldMk cId="3645672178" sldId="288"/>
        </pc:sldMkLst>
      </pc:sldChg>
      <pc:sldChg chg="modSp modNotes">
        <pc:chgData name="Panchal, Kamendu" userId="S::kamendu.panchal@smail.inf.h-brs.de::12c6d646-0c6b-46ab-84c2-73b0bdd0f748" providerId="AD" clId="Web-{00000000-0000-0000-0000-000000000000}" dt="2026-09-15T13:54:57.941" v="141"/>
        <pc:sldMkLst>
          <pc:docMk/>
          <pc:sldMk cId="3645672178" sldId="289"/>
        </pc:sldMkLst>
        <pc:spChg chg="mod">
          <ac:chgData name="Panchal, Kamendu" userId="S::kamendu.panchal@smail.inf.h-brs.de::12c6d646-0c6b-46ab-84c2-73b0bdd0f748" providerId="AD" clId="Web-{00000000-0000-0000-0000-000000000000}" dt="2026-09-15T13:54:57.941" v="141"/>
          <ac:spMkLst>
            <pc:docMk/>
            <pc:sldMk cId="3645672178" sldId="289"/>
            <ac:spMk id="2" creationId="{78732306-573C-495E-831D-98A5E119CD11}"/>
          </ac:spMkLst>
        </pc:spChg>
      </pc:sldChg>
      <pc:sldChg chg="delSp modSp modNotes">
        <pc:chgData name="Panchal, Kamendu" userId="S::kamendu.panchal@smail.inf.h-brs.de::12c6d646-0c6b-46ab-84c2-73b0bdd0f748" providerId="AD" clId="Web-{00000000-0000-0000-0000-000000000000}" dt="2026-09-15T13:54:57.941" v="141"/>
        <pc:sldMkLst>
          <pc:docMk/>
          <pc:sldMk cId="3645672178" sldId="290"/>
        </pc:sldMkLst>
        <pc:spChg chg="mod">
          <ac:chgData name="Panchal, Kamendu" userId="S::kamendu.panchal@smail.inf.h-brs.de::12c6d646-0c6b-46ab-84c2-73b0bdd0f748" providerId="AD" clId="Web-{00000000-0000-0000-0000-000000000000}" dt="2026-09-15T13:51:56.357" v="129" actId="20577"/>
          <ac:spMkLst>
            <pc:docMk/>
            <pc:sldMk cId="3645672178" sldId="290"/>
            <ac:spMk id="14" creationId="{9E3419D1-3075-42E4-8B24-08BCE14E387F}"/>
          </ac:spMkLst>
        </pc:spChg>
        <pc:spChg chg="mod">
          <ac:chgData name="Panchal, Kamendu" userId="S::kamendu.panchal@smail.inf.h-brs.de::12c6d646-0c6b-46ab-84c2-73b0bdd0f748" providerId="AD" clId="Web-{00000000-0000-0000-0000-000000000000}" dt="2026-09-15T13:52:04.701" v="130" actId="20577"/>
          <ac:spMkLst>
            <pc:docMk/>
            <pc:sldMk cId="3645672178" sldId="290"/>
            <ac:spMk id="16" creationId="{BD987418-54AB-4F50-BAD7-7412E3E06F7F}"/>
          </ac:spMkLst>
        </pc:spChg>
        <pc:spChg chg="mod">
          <ac:chgData name="Panchal, Kamendu" userId="S::kamendu.panchal@smail.inf.h-brs.de::12c6d646-0c6b-46ab-84c2-73b0bdd0f748" providerId="AD" clId="Web-{00000000-0000-0000-0000-000000000000}" dt="2026-09-15T13:51:48.685" v="127" actId="20577"/>
          <ac:spMkLst>
            <pc:docMk/>
            <pc:sldMk cId="3645672178" sldId="290"/>
            <ac:spMk id="17" creationId="{5B7572AF-1BD5-46B6-BB45-14FC884A08BF}"/>
          </ac:spMkLst>
        </pc:spChg>
        <pc:spChg chg="del">
          <ac:chgData name="Panchal, Kamendu" userId="S::kamendu.panchal@smail.inf.h-brs.de::12c6d646-0c6b-46ab-84c2-73b0bdd0f748" providerId="AD" clId="Web-{00000000-0000-0000-0000-000000000000}" dt="2026-09-15T13:52:09.514" v="131"/>
          <ac:spMkLst>
            <pc:docMk/>
            <pc:sldMk cId="3645672178" sldId="290"/>
            <ac:spMk id="18" creationId="{7A723CC7-42F2-49C5-93E7-9FECE972A17C}"/>
          </ac:spMkLst>
        </pc:spChg>
      </pc:sldChg>
      <pc:sldChg chg="delSp modNotes">
        <pc:chgData name="Panchal, Kamendu" userId="S::kamendu.panchal@smail.inf.h-brs.de::12c6d646-0c6b-46ab-84c2-73b0bdd0f748" providerId="AD" clId="Web-{00000000-0000-0000-0000-000000000000}" dt="2026-09-15T13:52:30.061" v="134"/>
        <pc:sldMkLst>
          <pc:docMk/>
          <pc:sldMk cId="3645672178" sldId="291"/>
        </pc:sldMkLst>
        <pc:spChg chg="del">
          <ac:chgData name="Panchal, Kamendu" userId="S::kamendu.panchal@smail.inf.h-brs.de::12c6d646-0c6b-46ab-84c2-73b0bdd0f748" providerId="AD" clId="Web-{00000000-0000-0000-0000-000000000000}" dt="2026-09-15T13:52:30.061" v="134"/>
          <ac:spMkLst>
            <pc:docMk/>
            <pc:sldMk cId="3645672178" sldId="291"/>
            <ac:spMk id="18" creationId="{E138926F-9CD0-4A87-9B86-38C52B3C5125}"/>
          </ac:spMkLst>
        </pc:spChg>
      </pc:sldChg>
    </pc:docChg>
  </pc:docChgLst>
  <pc:docChgLst>
    <pc:chgData name="Panchal, Kamendu" userId="S::kamendu.panchal@smail.inf.h-brs.de::12c6d646-0c6b-46ab-84c2-73b0bdd0f748" providerId="AD" clId="Web-{472D5E27-BE00-F4D6-41DC-40896BD8EB8F}"/>
    <pc:docChg chg="modSld">
      <pc:chgData name="Panchal, Kamendu" userId="S::kamendu.panchal@smail.inf.h-brs.de::12c6d646-0c6b-46ab-84c2-73b0bdd0f748" providerId="AD" clId="Web-{472D5E27-BE00-F4D6-41DC-40896BD8EB8F}" dt="2026-09-15T13:57:48.240" v="14" actId="20577"/>
      <pc:docMkLst>
        <pc:docMk/>
      </pc:docMkLst>
      <pc:sldChg chg="addSp modSp">
        <pc:chgData name="Panchal, Kamendu" userId="S::kamendu.panchal@smail.inf.h-brs.de::12c6d646-0c6b-46ab-84c2-73b0bdd0f748" providerId="AD" clId="Web-{472D5E27-BE00-F4D6-41DC-40896BD8EB8F}" dt="2026-09-15T13:57:48.240" v="14" actId="20577"/>
        <pc:sldMkLst>
          <pc:docMk/>
          <pc:sldMk cId="3645672178" sldId="258"/>
        </pc:sldMkLst>
        <pc:spChg chg="mod">
          <ac:chgData name="Panchal, Kamendu" userId="S::kamendu.panchal@smail.inf.h-brs.de::12c6d646-0c6b-46ab-84c2-73b0bdd0f748" providerId="AD" clId="Web-{472D5E27-BE00-F4D6-41DC-40896BD8EB8F}" dt="2026-09-15T13:57:26.864" v="11" actId="1076"/>
          <ac:spMkLst>
            <pc:docMk/>
            <pc:sldMk cId="3645672178" sldId="258"/>
            <ac:spMk id="5" creationId="{2EF02EDB-4A89-1BBC-4AE9-F948A1BD031C}"/>
          </ac:spMkLst>
        </pc:spChg>
        <pc:spChg chg="mod">
          <ac:chgData name="Panchal, Kamendu" userId="S::kamendu.panchal@smail.inf.h-brs.de::12c6d646-0c6b-46ab-84c2-73b0bdd0f748" providerId="AD" clId="Web-{472D5E27-BE00-F4D6-41DC-40896BD8EB8F}" dt="2026-09-15T13:57:48.240" v="14" actId="20577"/>
          <ac:spMkLst>
            <pc:docMk/>
            <pc:sldMk cId="3645672178" sldId="258"/>
            <ac:spMk id="13" creationId="{6852C7CF-391F-4FB4-94D4-04CEAC2150A5}"/>
          </ac:spMkLst>
        </pc:spChg>
        <pc:grpChg chg="add">
          <ac:chgData name="Panchal, Kamendu" userId="S::kamendu.panchal@smail.inf.h-brs.de::12c6d646-0c6b-46ab-84c2-73b0bdd0f748" providerId="AD" clId="Web-{472D5E27-BE00-F4D6-41DC-40896BD8EB8F}" dt="2026-09-15T13:57:36.083" v="12"/>
          <ac:grpSpMkLst>
            <pc:docMk/>
            <pc:sldMk cId="3645672178" sldId="258"/>
            <ac:grpSpMk id="6" creationId="{65BABA39-ADC1-E4F0-E19E-068AB23CDFB5}"/>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Welcome to this OOP refresher for the Master Autonomous Systems foundations course at Hochschule Bonn-Rhein-Sieg. We will use short definitions and a small fictional </a:t>
            </a:r>
            <a:r>
              <a:rPr lang="en-US" dirty="0" err="1"/>
              <a:t>Robile</a:t>
            </a:r>
            <a:r>
              <a:rPr lang="en-US" dirty="0"/>
              <a:t> software example. You only need familiarity with basic programming. We will compare C++ and Python, and run the Python examples in the companion notebook. Please ask whenever a new term or a line of code needs another explanation.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Welcome everyone. Today we will revisit object-oriented programming, or OOP. You already know variables, loops and functions. We will now group related data and functions into objects. First we will learn the vocabulary, then the four pillars, and finally a few practical design choices. The examples are deliberately small. You can read the C++ on the left and Python on the right. The notebook follows the same sequence so you can predict an output and then run it.</a:t>
            </a:r>
            <a:endParaRPr lang="en-US" b="1"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imagine </a:t>
            </a:r>
            <a:r>
              <a:rPr lang="en-US" dirty="0" err="1"/>
              <a:t>Robile</a:t>
            </a:r>
            <a:r>
              <a:rPr lang="en-US" dirty="0"/>
              <a:t>, a small delivery robot. For this lecture, it only needs a name, a battery level, and a few operations. We are building a software model, so moving will just print a message. There is no route planner or motor controller to understand. Later we will add a sensor that returns a fixed number. This lets us focus on the programming concept instead of the robotics. OOP is useful because it keeps related state and behavior together, but a simple standalone calculation can still be a function.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class describes what robot objects contain and what they can do. When we create bot A and bot B, we get two separate objects. They share the class definition, but each can have its own battery value. A class is often called a blueprint. The object is the particular instance we use while the program runs. If bot A uses energy, bot B should not lose energy simply because they belong to the same class. This is why instance state matters.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dirty="0"/>
              <a:t>Here is our first class. Name and battery are attributes, also called data members in C++. Move is a method, also called a member function. The C++ public label makes these members accessible from outside. Python uses indentation to group the class body. Its initializer assigns attributes to self, the current object. Our move method only prints Moving. Notice the parentheses on move: that tells us it is an operation. Public battery is useful for learning the syntax, but soon we will control changes through a method.</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create two objects from the class we just defined. In C++, Robot a declares an object. In Python, Robot parentheses creates an instance and a names it. We then change only a battery to fifty. What will b battery be? Pause for answers. It remains eighty because b is a different object. Finally a dot move calls the move method. The output is eighty and then Moving. Dot notation gives us access to an attribute or method on a particular object.</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A constructor initializes a new C++ object. It has the same name as the class and no return type. The colon introduces member initialization: name gets n and battery gets b. Python uses </a:t>
            </a:r>
            <a:r>
              <a:rPr lang="en-US" dirty="0" err="1"/>
              <a:t>init</a:t>
            </a:r>
            <a:r>
              <a:rPr lang="en-US" dirty="0"/>
              <a:t> to initialize an instance that has already been created. The double underscores are part of the method name. Eighty is a default argument, so callers can omit the battery value. We can create </a:t>
            </a:r>
            <a:r>
              <a:rPr lang="en-US" dirty="0" err="1"/>
              <a:t>Robile</a:t>
            </a:r>
            <a:r>
              <a:rPr lang="en-US" dirty="0"/>
              <a:t> with eighty, or explicitly request fifty. Constructors should establish valid state. We will add a controlled battery example shortly.</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When you call bot move, the method needs to know which object is bot. Python receives that object through the first parameter, conventionally named self. The name self is a convention, not a reserved keyword. C++ supplies a this pointer implicitly in an ordinary non-static member function. Writing battery inside such a method usually already refers to the current object, so this arrow battery is often optional. The main idea is the same: the method can read or change the state of the object on which it was called.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Here every robot has its own battery, while wheels is stored at class level. In C++ we mark a shared member static. Inline makes this definition sufficient in C++17. In Python wheels is assigned in the class body, outside </a:t>
            </a:r>
            <a:r>
              <a:rPr lang="en-US" dirty="0" err="1"/>
              <a:t>init.</a:t>
            </a:r>
            <a:r>
              <a:rPr lang="en-US" dirty="0"/>
              <a:t> We can read Robot wheels without creating an instance. Use instance attributes for data that should vary independently, such as battery or a task list. In Python, assigning wheels through an instance can create an instance attribute that shadows the class value. For this lesson, update shared settings through the class name.</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These are the four terms we want to remember. Encapsulation keeps state and related operations together and controls how state changes. Abstraction gives the caller a useful view without exposing every detail. Inheritance builds a specialized type from a base type. Polymorphism lets the same operation work with different implementations. These ideas overlap, but each answers a different design question. We will take them one at a time and connect each to a very small </a:t>
            </a:r>
            <a:r>
              <a:rPr lang="en-US" dirty="0" err="1"/>
              <a:t>Robile</a:t>
            </a:r>
            <a:r>
              <a:rPr lang="en-US" dirty="0"/>
              <a:t> example.</a:t>
            </a:r>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Imagine that any part of the program could set battery to minus forty. Other methods could no longer trust that value. We want the battery class to control changes. Its public method accepts a valid amount of energy use and updates the internal value. This is encapsulation. A rule that must remain true is called an invariant. Our rule is that battery stays between zero and one hundred. Encapsulation supports that rule, but it is not a security system or encryption. The implementation still has to validate its inputs.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The battery starts at eighty. In C++, level underscore appears before public, so it is private by default in a class. Python underscore level signals internal use by convention. The use method checks that the amount is at least zero and no greater than the remaining level. If valid, it subtracts the amount. Otherwise this teaching example leaves the level unchanged. The level method only returns the value. C++ const marks it as a query that cannot modify ordinary data members. These examples use integer amounts. Production code would define how invalid requests are reported.</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Let us test the rule by hand. The battery starts at eighty. Using twenty leaves sixty, so the first output is sixty. The next request asks for ninety, which is more than the available sixty. The method refuses the update, so the second output is also sixty. Notice that the caller uses methods instead of changing internal state. Ask the class what should happen with minus five. It should also leave the level unchanged. These are small tests we can run without a real robot.</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C++ has public, private and protected access. Public members form the outside interface. Private members are available to the class and its friends. Protected members are also accessible in appropriate derived-class contexts. Python does not enforce that same private boundary. A single underscore asks other programmers to treat a member as internal. Two leading underscores trigger name mangling, mainly to avoid accidental clashes in subclasses. A property can provide controlled attribute access. None of these mechanisms should be described as protection from a hostile user.</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err="1"/>
              <a:t>Robile</a:t>
            </a:r>
            <a:r>
              <a:rPr lang="en-US" dirty="0"/>
              <a:t> wants a distance reading. It should be able to ask the sensor to read without knowing whether a laser, ultrasound, or a test value produces that number. This is abstraction. The public operation should have a clear meaning, including units and expected results. An ordinary class can already provide abstraction. An abstract base class is an additional tool when we want related classes to implement a required operation. Compare this with encapsulation: abstraction concerns the useful view for the caller, while encapsulation concerns the boundary around state and implementation.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Here we explicitly define an abstract sensor interface. In C++, virtual allows dynamic dispatch and equals zero makes read pure virtual. We cannot create a Sensor object directly because a concrete read implementation is still missing. The virtual destructor makes destruction through the base interface appropriate for derived objects. Python uses ABC and the </a:t>
            </a:r>
            <a:r>
              <a:rPr lang="en-US" dirty="0" err="1"/>
              <a:t>abstractmethod</a:t>
            </a:r>
            <a:r>
              <a:rPr lang="en-US" dirty="0"/>
              <a:t> decorator. A subclass with an unimplemented abstract method cannot be instantiated. For our examples, read returns distance in whole centimeters. The language checks that an implementation exists, but it cannot check whether the sensor uses the right units.</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p>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Now </a:t>
            </a:r>
            <a:r>
              <a:rPr lang="en-US" dirty="0" err="1"/>
              <a:t>NearSensor</a:t>
            </a:r>
            <a:r>
              <a:rPr lang="en-US" dirty="0"/>
              <a:t> supplies the missing operation. It returns twenty centimeters. This is a fixed teaching value, not a measurement from hardware. In C++, override asks the compiler to check that this method really overrides a base virtual method. In Python, defining read in the subclass provides the implementation. There is no required override keyword in Python. After the class definition, we can instantiate </a:t>
            </a:r>
            <a:r>
              <a:rPr lang="en-US" dirty="0" err="1"/>
              <a:t>NearSensor</a:t>
            </a:r>
            <a:r>
              <a:rPr lang="en-US" dirty="0"/>
              <a:t> and call read. An interface makes it possible to replace this fixed sensor with a real implementation later.</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A </a:t>
            </a:r>
            <a:r>
              <a:rPr lang="en-US" dirty="0" err="1"/>
              <a:t>DeliveryRobot</a:t>
            </a:r>
            <a:r>
              <a:rPr lang="en-US" dirty="0"/>
              <a:t> is a specialized Robot. The base class can provide move, and the derived class can add deliver. We call the existing class the base or parent, and the new class the derived or child. We already saw this relationship when </a:t>
            </a:r>
            <a:r>
              <a:rPr lang="en-US" dirty="0" err="1"/>
              <a:t>NearSensor</a:t>
            </a:r>
            <a:r>
              <a:rPr lang="en-US" dirty="0"/>
              <a:t> inherited Sensor. Public inheritance in C++ is commonly used for an is-a relationship. It should make sense to use the derived object where the base interface is expected. Reusing a few lines alone is not enough reason to invent a hierarchy.</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For this focused example, Robot already has the move method that prints Moving. </a:t>
            </a:r>
            <a:r>
              <a:rPr lang="en-US" dirty="0" err="1"/>
              <a:t>DeliveryRobot</a:t>
            </a:r>
            <a:r>
              <a:rPr lang="en-US" dirty="0"/>
              <a:t> derives from it and adds deliver. The deliver method first calls the inherited move method and then prints Delivered. We do not copy the move implementation into the child. In C++, public Robot follows the colon. In Python, Robot appears in parentheses. When a derived Python class defines its own initializer, it can call super </a:t>
            </a:r>
            <a:r>
              <a:rPr lang="en-US" dirty="0" err="1"/>
              <a:t>init</a:t>
            </a:r>
            <a:r>
              <a:rPr lang="en-US" dirty="0"/>
              <a:t> to initialize its base part. We will </a:t>
            </a:r>
            <a:r>
              <a:rPr lang="en-US" dirty="0" err="1"/>
              <a:t>practise</a:t>
            </a:r>
            <a:r>
              <a:rPr lang="en-US" dirty="0"/>
              <a:t> that in the notebook without adding another layer to this diagram.</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The source material lists several forms of inheritance. Single inheritance means one direct base class. Multilevel means a chain, such as a robot, then a delivery robot, then a specialized delivery robot. Hierarchical means several children share a base. Multiple inheritance means one class has more than one base. Hybrid is a combination of these patterns. You do not need to build every form today. Multiple inheritance needs care around shared names and initialization order. Our main examples stay with a shallow hierarchy that we can explain easily.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Imagine </a:t>
            </a:r>
            <a:r>
              <a:rPr lang="en-US" dirty="0" err="1"/>
              <a:t>Robile</a:t>
            </a:r>
            <a:r>
              <a:rPr lang="en-US" dirty="0"/>
              <a:t> calling sensor read. A near sensor gives twenty centimeters, and a far sensor gives eighty. The caller uses the same operation in both cases. This is polymorphism: one interface supports more than one implementation. In C++, we will use a base-class reference and a virtual method. Python finds the method on the actual object at runtime. This is useful because the calling code can focus on what it needs, while each object supplies its own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err="1"/>
              <a:t>FarSensor</a:t>
            </a:r>
            <a:r>
              <a:rPr lang="en-US" dirty="0"/>
              <a:t> has the same read signature as the abstract sensor interface, but its result is eighty. </a:t>
            </a:r>
            <a:r>
              <a:rPr lang="en-US" dirty="0" err="1"/>
              <a:t>NearSensor</a:t>
            </a:r>
            <a:r>
              <a:rPr lang="en-US" dirty="0"/>
              <a:t> returns twenty. Both classes fulfill the same interface. C++ override helps catch mistakes, such as using the wrong parameter list or forgetting const. Python needs no special keyword to replace the inherited method. This is overriding. Do not confuse it with overloading, where functions share a name but have different parameter lists. We will compare those shortly.</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Focus on show. It does not ask which kind of sensor it received. It simply calls read. In C++, the parameter is a reference to Sensor. This preserves access to the derived object, and virtual dispatch selects the right implementation. Passing by value can slice a derived object when the base is concrete, so references matter. Python passes an object reference and finds its read method at runtime. The result is twenty and then eighty. This Python function also works with an unrelated object that supplies a suitable read method. That is called duck typing.</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p>
          <a:p>
            <a:endParaRPr lang="en-US"/>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We will briefly use addition to keep this distinction clear. C++ has two add functions, one with two parameters and one with three. The compiler selects the matching overload. Python instead has one function with a default third argument. Repeating the same function name with another def normally replaces the earlier definition rather than creating C++-style overloads. Both examples print five and nine, but the language mechanism differs. Operator overloading, such as defining addition for a custom type, is another related feature that we will leave as optional reading.</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Now we ask how to connect the pieces. A robot has a battery, so we can store a Battery object inside Robot. This is composition. Inheritance expresses a kind-of relationship, whereas composition expresses a whole with parts. We can make the battery responsible for energy and the robot responsible for using it. This keeps responsibilities smaller. In UML discussions, composition also expresses strong ownership, while aggregation describes parts with more independent lifetimes. The practical point today is to use components when one thing contains another.</a:t>
            </a:r>
          </a:p>
          <a:p>
            <a:endParaRPr lang="en-US"/>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We reuse the Battery class from the encapsulation example. Robot stores one battery component. Move asks it to use ten units, and level asks it for the current value. This is delegation: one object hands a particular job to another. We can test the battery by itself and then use it inside the robot. Starting at eighty, one move leaves seventy. This move method is only a small state-change example. A real movement command would also need to handle an unsuccessful energy request and control the hardware.</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Object-oriented programs also need clear sharing rules. In C++, declaring Robot b equal to a normally copies a copyable value object. A reference, written Robot ampersand, refers to the existing object. In Python, b equals a binds another name to the same object. It does not copy. We can request a shallow copy with copy </a:t>
            </a:r>
            <a:r>
              <a:rPr lang="en-US" dirty="0" err="1"/>
              <a:t>copy</a:t>
            </a:r>
            <a:r>
              <a:rPr lang="en-US" dirty="0"/>
              <a:t>. A shallow copy still shares nested mutable objects, so it is important to know what the object contains. Our next example only has an integer battery, which keeps the result simple.</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For this isolated example, Robot contains one public battery integer initialized to eighty. C++ copies the object into b. Python explicitly asks copy to create a shallow copy. Changing b battery to thirty does not change a battery. The output is eighty and thirty. Now predict what would happen in Python if we replaced copy a with just a. Both names would refer to one object, so both readings would be thirty. If Robot held a mutable list, shallow copying would still share that list. The notebook demonstrates this difference.</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Objects can hold resources such as files or network connections. In C++, an automatic local object is destroyed when its scope ends. RAII means Resource Acquisition Is Initialization: an object owns a resource and releases it in its destructor. Standard containers and file streams already manage their resources. Python manages object memory automatically, but prompt external cleanup should use a context manager such as with. Del does not necessarily destroy an object because other references may exist. For files, use scope or with instead of guessing when garbage collection will run.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Here we temporarily leave the robot class and look at a familiar resource: a file. The C++ output stream opens the file. When the braces end, the stream destructor closes it. Python uses a with block, which closes the file when the block exits, including ordinary exception paths. Both snippets write </a:t>
            </a:r>
            <a:r>
              <a:rPr lang="en-US" dirty="0" err="1"/>
              <a:t>Robile</a:t>
            </a:r>
            <a:r>
              <a:rPr lang="en-US" dirty="0"/>
              <a:t> ready and then print Done. The notebook uses a temporary directory so that this exercise does not overwrite a file in your working folder. The lesson is predictable cleanup, not manual memory management.</a:t>
            </a:r>
          </a:p>
          <a:p>
            <a:endParaRPr lang="en-US"/>
          </a:p>
          <a:p>
            <a:r>
              <a:rPr lang="en-US" dirty="0"/>
              <a:t>CODE SETUP (not spoken)</a:t>
            </a:r>
          </a:p>
          <a:p>
            <a:r>
              <a:rPr lang="en-US" dirty="0"/>
              <a:t>C++17 snippets omit standard-library #include headers and the surrounding int main() for readability. Class and free-function definitions belong outside main; object creation and example calls belong inside main. Any prerequisite classes are repeated in the companion notebook section. Python examples are runnable in the companion notebook.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Before adding another class, ask what responsibility it owns. Battery owns energy state. Sensor owns the meaning of a reading. Robot connects the pieces. Give methods clear names: a query should report information, and a command may change state. Keep inheritance shallow enough to explain. A fixed test sensor lets us test behavior without hardware. We do not need a framework or a large hierarchy to write good object-oriented code. A few small classes with clear rules are often enough.</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Let us pause for a short practice round. First, create a Robot with a name and battery. Second, use the Battery class to reject an invalid energy request. Third, add a </a:t>
            </a:r>
            <a:r>
              <a:rPr lang="en-US" dirty="0" err="1"/>
              <a:t>MediumSensor</a:t>
            </a:r>
            <a:r>
              <a:rPr lang="en-US" dirty="0"/>
              <a:t> that returns fifty centimeters and pass it to the same show function. Finally explain whether Robot and Battery should use inheritance or composition. Take a few minutes with a partner. The goal is to explain the idea and make a small change, not build a complete robot application. The notebook includes worked solutions after the questions.</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Two Robot instances hold separate battery values. An invalid negative request leaves Battery unchanged because the condition rejects it. </a:t>
            </a:r>
            <a:r>
              <a:rPr lang="en-US" dirty="0" err="1"/>
              <a:t>MediumSensor</a:t>
            </a:r>
            <a:r>
              <a:rPr lang="en-US" dirty="0"/>
              <a:t> inherits the interface and implements read by returning fifty. The existing show function can use it without modification, which demonstrates polymorphism. Robot and Battery use composition because a robot has a battery. If those answers are clear, you already have the vocabulary needed to read many object-oriented modules in a Master Autonomous Systems project.</a:t>
            </a:r>
          </a:p>
          <a:p>
            <a:endParaRPr b="1"/>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Let us finish by linking the four pillars to the examples. Encapsulation controls changes to the battery. Abstraction gives the caller a simple read operation with a clear meaning. Inheritance lets </a:t>
            </a:r>
            <a:r>
              <a:rPr lang="en-US" dirty="0" err="1"/>
              <a:t>NearSensor</a:t>
            </a:r>
            <a:r>
              <a:rPr lang="en-US" dirty="0"/>
              <a:t> and </a:t>
            </a:r>
            <a:r>
              <a:rPr lang="en-US" dirty="0" err="1"/>
              <a:t>FarSensor</a:t>
            </a:r>
            <a:r>
              <a:rPr lang="en-US" dirty="0"/>
              <a:t> implement the Sensor interface, and lets </a:t>
            </a:r>
            <a:r>
              <a:rPr lang="en-US" dirty="0" err="1"/>
              <a:t>DeliveryRobot</a:t>
            </a:r>
            <a:r>
              <a:rPr lang="en-US" dirty="0"/>
              <a:t> extend Robot. Polymorphism lets show use different sensor objects through the same operation. Composition then connects components into a robot. You do not need every feature in every class. Use the ideas that make your program easier to understand and change.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These are the course materials behind this refresher. The notebook provides the basic Python vocabulary and exercises, and the PDFs cover the object-oriented principles. The earlier introductory and beginner-plus slides provide the </a:t>
            </a:r>
            <a:r>
              <a:rPr lang="en-US" dirty="0" err="1"/>
              <a:t>Robile</a:t>
            </a:r>
            <a:r>
              <a:rPr lang="en-US" dirty="0"/>
              <a:t> teaching context and the short design extensions. We have used small original examples and current language syntax. Use the companion notebook to repeat the examples and then change one thing at a time.</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endParaRPr lang="en-US"/>
          </a:p>
          <a:p>
            <a:r>
              <a:rPr lang="en-US" dirty="0"/>
              <a:t>The two </a:t>
            </a:r>
            <a:r>
              <a:rPr lang="en-US" dirty="0" err="1"/>
              <a:t>GeeksforGeeks</a:t>
            </a:r>
            <a:r>
              <a:rPr lang="en-US" dirty="0"/>
              <a:t> links are useful introductory reading. For exact Python behavior, consult the classes tutorial and the abstract base class documentation. For C++, the class and virtual-function references explain the language rules. The URLs are clickable here and in the notebook. The most important next step is practice: create one small class, explain what its state means, and test one operation before adding more features.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CB2C2A01-7509-459D-87CF-02E6DC6855CB}"/>
              </a:ext>
            </a:extLst>
          </p:cNvPr>
          <p:cNvSpPr>
            <a:spLocks noGrp="1"/>
          </p:cNvSpPr>
          <p:nvPr>
            <p:ph type="ctrTitle"/>
          </p:nvPr>
        </p:nvSpPr>
        <p:spPr>
          <a:xfrm>
            <a:off x="432435" y="1005903"/>
            <a:ext cx="4900930" cy="681418"/>
          </a:xfrm>
          <a:prstGeom prst="rect">
            <a:avLst/>
          </a:prstGeom>
        </p:spPr>
        <p:txBody>
          <a:bodyPr wrap="square" lIns="0" tIns="0" rIns="0" bIns="0">
            <a:spAutoFit/>
          </a:bodyPr>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225DA87B-DA0A-4A07-9D9F-2F18897F700D}"/>
              </a:ext>
            </a:extLst>
          </p:cNvPr>
          <p:cNvSpPr>
            <a:spLocks noGrp="1"/>
          </p:cNvSpPr>
          <p:nvPr>
            <p:ph type="subTitle" idx="4"/>
          </p:nvPr>
        </p:nvSpPr>
        <p:spPr>
          <a:xfrm>
            <a:off x="864870" y="1817116"/>
            <a:ext cx="4036060" cy="811212"/>
          </a:xfrm>
          <a:prstGeom prst="rect">
            <a:avLst/>
          </a:prstGeom>
        </p:spPr>
        <p:txBody>
          <a:bodyPr wrap="square" lIns="0" tIns="0" rIns="0" bIns="0">
            <a:spAutoFit/>
          </a:bodyPr>
          <a:lstStyle>
            <a:lvl1pPr>
              <a:buNone/>
              <a:defRPr sz="1000" b="0" i="0">
                <a:solidFill>
                  <a:schemeClr val="tx1"/>
                </a:solidFill>
                <a:latin typeface="Arial"/>
                <a:ea typeface="Arial"/>
                <a:cs typeface="Arial"/>
              </a:defRPr>
            </a:lvl1pPr>
          </a:lstStyle>
          <a:p>
            <a:endParaRPr/>
          </a:p>
        </p:txBody>
      </p:sp>
      <p:sp>
        <p:nvSpPr>
          <p:cNvPr id="4" name="Holder 4">
            <a:extLst>
              <a:ext uri="{FF2B5EF4-FFF2-40B4-BE49-F238E27FC236}">
                <a16:creationId xmlns:a16="http://schemas.microsoft.com/office/drawing/2014/main" id="{36575E37-E140-4D4A-B2F4-B95781E5C809}"/>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D5D3FC65-D407-4A8D-B9B8-26C5F6D45C94}"/>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6" name="Holder 6">
            <a:extLst>
              <a:ext uri="{FF2B5EF4-FFF2-40B4-BE49-F238E27FC236}">
                <a16:creationId xmlns:a16="http://schemas.microsoft.com/office/drawing/2014/main" id="{9C339678-5C68-4855-9EB6-A65A5E186869}"/>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6296826D-2966-4EFD-B069-DD71A16BE04D}"/>
              </a:ext>
            </a:extLst>
          </p:cNvPr>
          <p:cNvSpPr>
            <a:spLocks noGrp="1"/>
          </p:cNvSpPr>
          <p:nvPr>
            <p:ph type="title"/>
          </p:nvPr>
        </p:nvSpPr>
        <p:spPr/>
        <p:txBody>
          <a:bodyPr lIns="0" tIns="0" rIns="0" bIns="0"/>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FACA0741-7FEA-4C33-8599-DC3E1D5D0FAF}"/>
              </a:ext>
            </a:extLst>
          </p:cNvPr>
          <p:cNvSpPr>
            <a:spLocks noGrp="1"/>
          </p:cNvSpPr>
          <p:nvPr>
            <p:ph type="body" idx="1"/>
          </p:nvPr>
        </p:nvSpPr>
        <p:spPr/>
        <p:txBody>
          <a:bodyPr lIns="0" tIns="0" rIns="0" bIns="0"/>
          <a:lstStyle>
            <a:lvl1pPr>
              <a:buNone/>
              <a:defRPr sz="1000" b="0" i="0">
                <a:solidFill>
                  <a:schemeClr val="tx1"/>
                </a:solidFill>
                <a:latin typeface="Arial"/>
                <a:ea typeface="Arial"/>
                <a:cs typeface="Arial"/>
              </a:defRPr>
            </a:lvl1pPr>
          </a:lstStyle>
          <a:p>
            <a:endParaRPr/>
          </a:p>
        </p:txBody>
      </p:sp>
      <p:sp>
        <p:nvSpPr>
          <p:cNvPr id="4" name="Holder 4">
            <a:extLst>
              <a:ext uri="{FF2B5EF4-FFF2-40B4-BE49-F238E27FC236}">
                <a16:creationId xmlns:a16="http://schemas.microsoft.com/office/drawing/2014/main" id="{E82E4A6C-4132-4288-BEB1-17C36B73767E}"/>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2694DA08-F165-42DF-9396-58188CF39DB9}"/>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6" name="Holder 6">
            <a:extLst>
              <a:ext uri="{FF2B5EF4-FFF2-40B4-BE49-F238E27FC236}">
                <a16:creationId xmlns:a16="http://schemas.microsoft.com/office/drawing/2014/main" id="{ABE04078-62B2-410A-8167-24369C4352B7}"/>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41C45068-D5C0-4D5E-B7C1-593BC76AE250}"/>
              </a:ext>
            </a:extLst>
          </p:cNvPr>
          <p:cNvSpPr>
            <a:spLocks noGrp="1"/>
          </p:cNvSpPr>
          <p:nvPr>
            <p:ph type="title"/>
          </p:nvPr>
        </p:nvSpPr>
        <p:spPr/>
        <p:txBody>
          <a:bodyPr lIns="0" tIns="0" rIns="0" bIns="0"/>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3F01D9E8-1D56-4833-B36A-6A604A96CB80}"/>
              </a:ext>
            </a:extLst>
          </p:cNvPr>
          <p:cNvSpPr>
            <a:spLocks noGrp="1"/>
          </p:cNvSpPr>
          <p:nvPr>
            <p:ph idx="2"/>
          </p:nvPr>
        </p:nvSpPr>
        <p:spPr>
          <a:xfrm>
            <a:off x="288290" y="746315"/>
            <a:ext cx="2508123" cy="2141601"/>
          </a:xfrm>
          <a:prstGeom prst="rect">
            <a:avLst/>
          </a:prstGeom>
        </p:spPr>
        <p:txBody>
          <a:bodyPr wrap="square" lIns="0" tIns="0" rIns="0" bIns="0">
            <a:spAutoFit/>
          </a:bodyPr>
          <a:lstStyle>
            <a:lvl1pPr>
              <a:buNone/>
              <a:defRPr/>
            </a:lvl1pPr>
          </a:lstStyle>
          <a:p>
            <a:endParaRPr/>
          </a:p>
        </p:txBody>
      </p:sp>
      <p:sp>
        <p:nvSpPr>
          <p:cNvPr id="4" name="Holder 4">
            <a:extLst>
              <a:ext uri="{FF2B5EF4-FFF2-40B4-BE49-F238E27FC236}">
                <a16:creationId xmlns:a16="http://schemas.microsoft.com/office/drawing/2014/main" id="{AD76721C-86DB-422C-8370-25B1E5BA9BAF}"/>
              </a:ext>
            </a:extLst>
          </p:cNvPr>
          <p:cNvSpPr>
            <a:spLocks noGrp="1"/>
          </p:cNvSpPr>
          <p:nvPr>
            <p:ph idx="3"/>
          </p:nvPr>
        </p:nvSpPr>
        <p:spPr>
          <a:xfrm>
            <a:off x="2969387" y="746315"/>
            <a:ext cx="2508123" cy="2141601"/>
          </a:xfrm>
          <a:prstGeom prst="rect">
            <a:avLst/>
          </a:prstGeom>
        </p:spPr>
        <p:txBody>
          <a:bodyPr wrap="square" lIns="0" tIns="0" rIns="0" bIns="0">
            <a:spAutoFit/>
          </a:bodyPr>
          <a:lstStyle>
            <a:lvl1pPr>
              <a:buNone/>
              <a:defRPr/>
            </a:lvl1pPr>
          </a:lstStyle>
          <a:p>
            <a:endParaRPr/>
          </a:p>
        </p:txBody>
      </p:sp>
      <p:sp>
        <p:nvSpPr>
          <p:cNvPr id="5" name="Holder 5">
            <a:extLst>
              <a:ext uri="{FF2B5EF4-FFF2-40B4-BE49-F238E27FC236}">
                <a16:creationId xmlns:a16="http://schemas.microsoft.com/office/drawing/2014/main" id="{E04B6EB8-C2E1-428E-A156-0A2BA0E02604}"/>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6" name="Holder 6">
            <a:extLst>
              <a:ext uri="{FF2B5EF4-FFF2-40B4-BE49-F238E27FC236}">
                <a16:creationId xmlns:a16="http://schemas.microsoft.com/office/drawing/2014/main" id="{7675BAFE-48BC-4F69-BF2D-4B77A4A411C9}"/>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7" name="Holder 7">
            <a:extLst>
              <a:ext uri="{FF2B5EF4-FFF2-40B4-BE49-F238E27FC236}">
                <a16:creationId xmlns:a16="http://schemas.microsoft.com/office/drawing/2014/main" id="{EBB66EC6-3DBD-466D-A12F-11524EE28524}"/>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8D453AD4-01F0-41C4-9E17-AD4CBF4467B1}"/>
              </a:ext>
            </a:extLst>
          </p:cNvPr>
          <p:cNvSpPr>
            <a:spLocks noGrp="1"/>
          </p:cNvSpPr>
          <p:nvPr>
            <p:ph type="title"/>
          </p:nvPr>
        </p:nvSpPr>
        <p:spPr/>
        <p:txBody>
          <a:bodyPr lIns="0" tIns="0" rIns="0" bIns="0"/>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C2E00AC2-CF16-40E9-81A3-EDF552AAF5B6}"/>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4" name="Holder 4">
            <a:extLst>
              <a:ext uri="{FF2B5EF4-FFF2-40B4-BE49-F238E27FC236}">
                <a16:creationId xmlns:a16="http://schemas.microsoft.com/office/drawing/2014/main" id="{2FB057C2-F262-4455-A392-84BCDBADBB38}"/>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5" name="Holder 5">
            <a:extLst>
              <a:ext uri="{FF2B5EF4-FFF2-40B4-BE49-F238E27FC236}">
                <a16:creationId xmlns:a16="http://schemas.microsoft.com/office/drawing/2014/main" id="{AD6B0711-4B13-4EF9-A851-BD4631677BBC}"/>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222ABAF6-8DFC-45CB-87A1-A4F0F183EF0F}"/>
              </a:ext>
            </a:extLst>
          </p:cNvPr>
          <p:cNvSpPr>
            <a:spLocks noGrp="1"/>
          </p:cNvSpPr>
          <p:nvPr>
            <p:ph type="ftr" idx="5"/>
          </p:nvPr>
        </p:nvSpPr>
        <p:spPr/>
        <p:txBody>
          <a:bodyPr lIns="0" tIns="0" rIns="0" bIns="0"/>
          <a:lstStyle>
            <a:lvl1pPr algn="ctr">
              <a:buNone/>
              <a:defRPr>
                <a:solidFill>
                  <a:schemeClr val="tx1">
                    <a:tint val="75000"/>
                  </a:schemeClr>
                </a:solidFill>
              </a:defRPr>
            </a:lvl1pPr>
          </a:lstStyle>
          <a:p>
            <a:endParaRPr/>
          </a:p>
        </p:txBody>
      </p:sp>
      <p:sp>
        <p:nvSpPr>
          <p:cNvPr id="3" name="Holder 3">
            <a:extLst>
              <a:ext uri="{FF2B5EF4-FFF2-40B4-BE49-F238E27FC236}">
                <a16:creationId xmlns:a16="http://schemas.microsoft.com/office/drawing/2014/main" id="{1BEACDF7-F51A-43B7-A128-EA4327365FD6}"/>
              </a:ext>
            </a:extLst>
          </p:cNvPr>
          <p:cNvSpPr>
            <a:spLocks noGrp="1"/>
          </p:cNvSpPr>
          <p:nvPr>
            <p:ph type="dt" idx="6"/>
          </p:nvPr>
        </p:nvSpPr>
        <p:spPr/>
        <p:txBody>
          <a:bodyPr lIns="0" tIns="0" rIns="0" bIns="0"/>
          <a:lstStyle>
            <a:lvl1pPr algn="l">
              <a:buNone/>
              <a:defRPr>
                <a:solidFill>
                  <a:schemeClr val="tx1">
                    <a:tint val="75000"/>
                  </a:schemeClr>
                </a:solidFill>
              </a:defRPr>
            </a:lvl1pPr>
          </a:lstStyle>
          <a:p>
            <a:fld id="{1D8BD707-D9CF-40AE-B4C6-C98DA3205C09}" type="datetimeFigureOut">
              <a:t>9/16/2026</a:t>
            </a:fld>
            <a:endParaRPr/>
          </a:p>
        </p:txBody>
      </p:sp>
      <p:sp>
        <p:nvSpPr>
          <p:cNvPr id="4" name="Holder 4">
            <a:extLst>
              <a:ext uri="{FF2B5EF4-FFF2-40B4-BE49-F238E27FC236}">
                <a16:creationId xmlns:a16="http://schemas.microsoft.com/office/drawing/2014/main" id="{F1455FB8-8E4E-45BC-8137-F25430C83E88}"/>
              </a:ext>
            </a:extLst>
          </p:cNvPr>
          <p:cNvSpPr>
            <a:spLocks noGrp="1"/>
          </p:cNvSpPr>
          <p:nvPr>
            <p:ph type="sldNum" idx="7"/>
          </p:nvPr>
        </p:nvSpPr>
        <p:spPr/>
        <p:txBody>
          <a:bodyPr lIns="0" tIns="0" rIns="0" bIns="0"/>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a:extLst>
              <a:ext uri="{FF2B5EF4-FFF2-40B4-BE49-F238E27FC236}">
                <a16:creationId xmlns:a16="http://schemas.microsoft.com/office/drawing/2014/main" id="{A7A0CC6D-03F2-446A-9544-D7FB94C896F6}"/>
              </a:ext>
            </a:extLst>
          </p:cNvPr>
          <p:cNvSpPr>
            <a:spLocks noGrp="1"/>
          </p:cNvSpPr>
          <p:nvPr>
            <p:ph type="title"/>
          </p:nvPr>
        </p:nvSpPr>
        <p:spPr>
          <a:xfrm>
            <a:off x="347294" y="102252"/>
            <a:ext cx="3441065" cy="274955"/>
          </a:xfrm>
          <a:prstGeom prst="rect">
            <a:avLst/>
          </a:prstGeom>
        </p:spPr>
        <p:txBody>
          <a:bodyPr wrap="square" lIns="0" tIns="0" rIns="0" bIns="0">
            <a:spAutoFit/>
          </a:bodyPr>
          <a:lstStyle>
            <a:lvl1pPr>
              <a:buNone/>
              <a:defRPr sz="1600" b="1" i="0">
                <a:solidFill>
                  <a:srgbClr val="006ABA"/>
                </a:solidFill>
                <a:latin typeface="Arial"/>
                <a:ea typeface="Arial"/>
                <a:cs typeface="Arial"/>
              </a:defRPr>
            </a:lvl1pPr>
          </a:lstStyle>
          <a:p>
            <a:endParaRPr/>
          </a:p>
        </p:txBody>
      </p:sp>
      <p:sp>
        <p:nvSpPr>
          <p:cNvPr id="3" name="Holder 3">
            <a:extLst>
              <a:ext uri="{FF2B5EF4-FFF2-40B4-BE49-F238E27FC236}">
                <a16:creationId xmlns:a16="http://schemas.microsoft.com/office/drawing/2014/main" id="{F6256062-525A-4AD6-A673-6C8FB4F1C1A9}"/>
              </a:ext>
            </a:extLst>
          </p:cNvPr>
          <p:cNvSpPr>
            <a:spLocks noGrp="1"/>
          </p:cNvSpPr>
          <p:nvPr>
            <p:ph type="body" idx="1"/>
          </p:nvPr>
        </p:nvSpPr>
        <p:spPr>
          <a:xfrm>
            <a:off x="445350" y="1468511"/>
            <a:ext cx="4864100" cy="1036319"/>
          </a:xfrm>
          <a:prstGeom prst="rect">
            <a:avLst/>
          </a:prstGeom>
        </p:spPr>
        <p:txBody>
          <a:bodyPr wrap="square" lIns="0" tIns="0" rIns="0" bIns="0">
            <a:spAutoFit/>
          </a:bodyPr>
          <a:lstStyle>
            <a:lvl1pPr>
              <a:buNone/>
              <a:defRPr sz="1000" b="0" i="0">
                <a:solidFill>
                  <a:schemeClr val="tx1"/>
                </a:solidFill>
                <a:latin typeface="Arial"/>
                <a:ea typeface="Arial"/>
                <a:cs typeface="Arial"/>
              </a:defRPr>
            </a:lvl1pPr>
          </a:lstStyle>
          <a:p>
            <a:endParaRPr/>
          </a:p>
        </p:txBody>
      </p:sp>
      <p:sp>
        <p:nvSpPr>
          <p:cNvPr id="4" name="Holder 4">
            <a:extLst>
              <a:ext uri="{FF2B5EF4-FFF2-40B4-BE49-F238E27FC236}">
                <a16:creationId xmlns:a16="http://schemas.microsoft.com/office/drawing/2014/main" id="{BFDFF60F-7C99-4033-81F5-0CE127EE8268}"/>
              </a:ext>
            </a:extLst>
          </p:cNvPr>
          <p:cNvSpPr>
            <a:spLocks noGrp="1"/>
          </p:cNvSpPr>
          <p:nvPr>
            <p:ph type="ftr" idx="5"/>
          </p:nvPr>
        </p:nvSpPr>
        <p:spPr>
          <a:xfrm>
            <a:off x="1960372" y="3017710"/>
            <a:ext cx="1845056" cy="162242"/>
          </a:xfrm>
          <a:prstGeom prst="rect">
            <a:avLst/>
          </a:prstGeom>
        </p:spPr>
        <p:txBody>
          <a:bodyPr wrap="square" lIns="0" tIns="0" rIns="0" bIns="0">
            <a:spAutoFit/>
          </a:bodyPr>
          <a:lstStyle>
            <a:lvl1pPr algn="ctr">
              <a:buNone/>
              <a:defRPr>
                <a:solidFill>
                  <a:schemeClr val="tx1">
                    <a:tint val="75000"/>
                  </a:schemeClr>
                </a:solidFill>
              </a:defRPr>
            </a:lvl1pPr>
          </a:lstStyle>
          <a:p>
            <a:endParaRPr/>
          </a:p>
        </p:txBody>
      </p:sp>
      <p:sp>
        <p:nvSpPr>
          <p:cNvPr id="5" name="Holder 5">
            <a:extLst>
              <a:ext uri="{FF2B5EF4-FFF2-40B4-BE49-F238E27FC236}">
                <a16:creationId xmlns:a16="http://schemas.microsoft.com/office/drawing/2014/main" id="{A77C4E9E-68BE-4047-A4FA-B2944747AEBB}"/>
              </a:ext>
            </a:extLst>
          </p:cNvPr>
          <p:cNvSpPr>
            <a:spLocks noGrp="1"/>
          </p:cNvSpPr>
          <p:nvPr>
            <p:ph type="dt" idx="6"/>
          </p:nvPr>
        </p:nvSpPr>
        <p:spPr>
          <a:xfrm>
            <a:off x="288290" y="3017710"/>
            <a:ext cx="1326134" cy="162242"/>
          </a:xfrm>
          <a:prstGeom prst="rect">
            <a:avLst/>
          </a:prstGeom>
        </p:spPr>
        <p:txBody>
          <a:bodyPr wrap="square" lIns="0" tIns="0" rIns="0" bIns="0">
            <a:spAutoFit/>
          </a:bodyPr>
          <a:lstStyle>
            <a:lvl1pPr algn="l">
              <a:buNone/>
              <a:defRPr>
                <a:solidFill>
                  <a:schemeClr val="tx1">
                    <a:tint val="75000"/>
                  </a:schemeClr>
                </a:solidFill>
              </a:defRPr>
            </a:lvl1pPr>
          </a:lstStyle>
          <a:p>
            <a:fld id="{1D8BD707-D9CF-40AE-B4C6-C98DA3205C09}" type="datetimeFigureOut">
              <a:t>9/16/2026</a:t>
            </a:fld>
            <a:endParaRPr/>
          </a:p>
        </p:txBody>
      </p:sp>
      <p:sp>
        <p:nvSpPr>
          <p:cNvPr id="6" name="Holder 6">
            <a:extLst>
              <a:ext uri="{FF2B5EF4-FFF2-40B4-BE49-F238E27FC236}">
                <a16:creationId xmlns:a16="http://schemas.microsoft.com/office/drawing/2014/main" id="{ED743824-7EEE-489C-8743-F62111B0815F}"/>
              </a:ext>
            </a:extLst>
          </p:cNvPr>
          <p:cNvSpPr>
            <a:spLocks noGrp="1"/>
          </p:cNvSpPr>
          <p:nvPr>
            <p:ph type="sldNum" idx="7"/>
          </p:nvPr>
        </p:nvSpPr>
        <p:spPr>
          <a:xfrm>
            <a:off x="5451893" y="3053819"/>
            <a:ext cx="231775" cy="114935"/>
          </a:xfrm>
          <a:prstGeom prst="rect">
            <a:avLst/>
          </a:prstGeom>
        </p:spPr>
        <p:txBody>
          <a:bodyPr wrap="square" lIns="0" tIns="0" rIns="0" bIns="0">
            <a:spAutoFit/>
          </a:bodyPr>
          <a:lstStyle>
            <a:lvl1pPr>
              <a:buNone/>
              <a:defRPr sz="550" b="0" i="0">
                <a:solidFill>
                  <a:schemeClr val="tx1"/>
                </a:solidFill>
                <a:latin typeface="Arial"/>
                <a:ea typeface="Arial"/>
                <a:cs typeface="Arial"/>
              </a:defRPr>
            </a:lvl1pPr>
          </a:lstStyle>
          <a:p>
            <a:pPr marL="38100">
              <a:lnSpc>
                <a:spcPct val="100000"/>
              </a:lnSpc>
              <a:spcBef>
                <a:spcPts val="90"/>
              </a:spcBef>
              <a:buNone/>
            </a:pPr>
            <a:fld id="{81D60167-4931-47E6-BA6A-407CBD079E47}" type="slidenum">
              <a:rPr spc="-10"/>
              <a:t>‹#›</a:t>
            </a:fld>
            <a:r>
              <a:rPr spc="-10"/>
              <a:t>/21</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buNone/>
        <a:defRPr>
          <a:latin typeface="+mj-lt"/>
          <a:ea typeface="+mj-lt"/>
          <a:cs typeface="+mj-lt"/>
        </a:defRPr>
      </a:lvl1pPr>
    </p:titleStyle>
    <p:body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bodyStyle>
    <p:otherStyle>
      <a:lvl1pPr marL="0">
        <a:buNone/>
        <a:defRPr>
          <a:latin typeface="+mn-lt"/>
          <a:ea typeface="+mn-lt"/>
          <a:cs typeface="+mn-lt"/>
        </a:defRPr>
      </a:lvl1pPr>
      <a:lvl2pPr marL="457200">
        <a:buNone/>
        <a:defRPr>
          <a:latin typeface="+mn-lt"/>
          <a:ea typeface="+mn-lt"/>
          <a:cs typeface="+mn-lt"/>
        </a:defRPr>
      </a:lvl2pPr>
      <a:lvl3pPr marL="914400">
        <a:buNone/>
        <a:defRPr>
          <a:latin typeface="+mn-lt"/>
          <a:ea typeface="+mn-lt"/>
          <a:cs typeface="+mn-lt"/>
        </a:defRPr>
      </a:lvl3pPr>
      <a:lvl4pPr marL="1371600">
        <a:buNone/>
        <a:defRPr>
          <a:latin typeface="+mn-lt"/>
          <a:ea typeface="+mn-lt"/>
          <a:cs typeface="+mn-lt"/>
        </a:defRPr>
      </a:lvl4pPr>
      <a:lvl5pPr marL="1828800">
        <a:buNone/>
        <a:defRPr>
          <a:latin typeface="+mn-lt"/>
          <a:ea typeface="+mn-lt"/>
          <a:cs typeface="+mn-lt"/>
        </a:defRPr>
      </a:lvl5pPr>
      <a:lvl6pPr marL="2286000">
        <a:buNone/>
        <a:defRPr>
          <a:latin typeface="+mn-lt"/>
          <a:ea typeface="+mn-lt"/>
          <a:cs typeface="+mn-lt"/>
        </a:defRPr>
      </a:lvl6pPr>
      <a:lvl7pPr marL="2743200">
        <a:buNone/>
        <a:defRPr>
          <a:latin typeface="+mn-lt"/>
          <a:ea typeface="+mn-lt"/>
          <a:cs typeface="+mn-lt"/>
        </a:defRPr>
      </a:lvl7pPr>
      <a:lvl8pPr marL="3200400">
        <a:buNone/>
        <a:defRPr>
          <a:latin typeface="+mn-lt"/>
          <a:ea typeface="+mn-lt"/>
          <a:cs typeface="+mn-lt"/>
        </a:defRPr>
      </a:lvl8pPr>
      <a:lvl9pPr marL="3657600">
        <a:buNone/>
        <a:defRPr>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8" Type="http://schemas.openxmlformats.org/officeDocument/2006/relationships/hyperlink" Target="https://eel.is/c++draft/class" TargetMode="External"/><Relationship Id="rId3" Type="http://schemas.openxmlformats.org/officeDocument/2006/relationships/image" Target="../media/image1.png"/><Relationship Id="rId7" Type="http://schemas.openxmlformats.org/officeDocument/2006/relationships/hyperlink" Target="https://docs.python.org/3/tutorial/classes.html"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https://www.geeksforgeeks.org/python/python-oops-concepts/" TargetMode="External"/><Relationship Id="rId5" Type="http://schemas.openxmlformats.org/officeDocument/2006/relationships/hyperlink" Target="https://www.geeksforgeeks.org/cpp/object-oriented-programming-in-cpp/"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 name="object 2"/>
          <p:cNvPicPr>
            <a:picLocks noChangeAspect="1"/>
          </p:cNvPicPr>
          <p:nvPr/>
        </p:nvPicPr>
        <p:blipFill>
          <a:blip r:embed="rId3"/>
          <a:stretch>
            <a:fillRect/>
          </a:stretch>
        </p:blipFill>
        <p:spPr>
          <a:xfrm>
            <a:off x="63500" y="259279"/>
            <a:ext cx="2002258" cy="359956"/>
          </a:xfrm>
          <a:prstGeom prst="rect">
            <a:avLst/>
          </a:prstGeom>
        </p:spPr>
      </p:pic>
      <p:sp>
        <p:nvSpPr>
          <p:cNvPr id="4" name="object 4">
            <a:extLst>
              <a:ext uri="{FF2B5EF4-FFF2-40B4-BE49-F238E27FC236}">
                <a16:creationId xmlns:a16="http://schemas.microsoft.com/office/drawing/2014/main" id="{EB52794C-DB54-405E-99CC-6FC58259A01D}"/>
              </a:ext>
            </a:extLst>
          </p:cNvPr>
          <p:cNvSpPr>
            <a:spLocks noGrp="1"/>
          </p:cNvSpPr>
          <p:nvPr>
            <p:ph type="title"/>
          </p:nvPr>
        </p:nvSpPr>
        <p:spPr>
          <a:xfrm>
            <a:off x="276225" y="1143000"/>
            <a:ext cx="5210175" cy="838200"/>
          </a:xfrm>
          <a:prstGeom prst="rect">
            <a:avLst/>
          </a:prstGeom>
        </p:spPr>
        <p:txBody>
          <a:bodyPr vert="horz" wrap="square" lIns="0" tIns="0" rIns="0" bIns="0" anchor="t">
            <a:noAutofit/>
          </a:bodyPr>
          <a:lstStyle/>
          <a:p>
            <a:pPr marL="12700" algn="ctr">
              <a:lnSpc>
                <a:spcPct val="110000"/>
              </a:lnSpc>
              <a:spcBef>
                <a:spcPts val="135"/>
              </a:spcBef>
              <a:buNone/>
              <a:defRPr sz="1400">
                <a:solidFill>
                  <a:srgbClr val="006ABA"/>
                </a:solidFill>
                <a:latin typeface="Arial"/>
                <a:ea typeface="Arial"/>
                <a:cs typeface="Arial"/>
              </a:defRPr>
            </a:pPr>
            <a:r>
              <a:rPr sz="1400" b="0" i="0" dirty="0">
                <a:solidFill>
                  <a:srgbClr val="006ABA"/>
                </a:solidFill>
                <a:latin typeface="Arial"/>
                <a:ea typeface="Arial"/>
                <a:cs typeface="Arial"/>
              </a:rPr>
              <a:t>Concepts of</a:t>
            </a:r>
            <a:endParaRPr sz="1400" spc="-10" dirty="0">
              <a:latin typeface="Times New Roman"/>
              <a:ea typeface="Times New Roman"/>
              <a:cs typeface="Times New Roman"/>
            </a:endParaRPr>
          </a:p>
          <a:p>
            <a:pPr marL="12700" algn="ctr">
              <a:lnSpc>
                <a:spcPct val="110000"/>
              </a:lnSpc>
              <a:spcBef>
                <a:spcPts val="135"/>
              </a:spcBef>
              <a:defRPr sz="1400">
                <a:solidFill>
                  <a:srgbClr val="006ABA"/>
                </a:solidFill>
                <a:latin typeface="Arial"/>
                <a:ea typeface="Arial"/>
                <a:cs typeface="Arial"/>
              </a:defRPr>
            </a:pPr>
            <a:r>
              <a:rPr sz="1400" b="0" i="0" dirty="0">
                <a:solidFill>
                  <a:srgbClr val="006ABA"/>
                </a:solidFill>
                <a:latin typeface="Arial"/>
                <a:ea typeface="Arial"/>
                <a:cs typeface="Arial"/>
              </a:rPr>
              <a:t>Object-Oriented Programming</a:t>
            </a:r>
            <a:r>
              <a:rPr lang="en-US" sz="1400" b="0" dirty="0"/>
              <a:t> </a:t>
            </a:r>
            <a:br>
              <a:rPr lang="en-US" sz="1400" b="0" dirty="0"/>
            </a:br>
            <a:r>
              <a:rPr lang="en-US" sz="1400" b="0" dirty="0"/>
              <a:t>(OOP)</a:t>
            </a:r>
            <a:endParaRPr lang="en-US" sz="1400" b="0" dirty="0">
              <a:ea typeface="Times New Roman"/>
            </a:endParaRPr>
          </a:p>
        </p:txBody>
      </p:sp>
      <p:sp>
        <p:nvSpPr>
          <p:cNvPr id="5" name="object 5">
            <a:extLst>
              <a:ext uri="{FF2B5EF4-FFF2-40B4-BE49-F238E27FC236}">
                <a16:creationId xmlns:a16="http://schemas.microsoft.com/office/drawing/2014/main" id="{FC572BC0-50C6-41CB-AFD0-B5560ADF213F}"/>
              </a:ext>
            </a:extLst>
          </p:cNvPr>
          <p:cNvSpPr>
            <a:spLocks noGrp="1"/>
          </p:cNvSpPr>
          <p:nvPr/>
        </p:nvSpPr>
        <p:spPr>
          <a:xfrm>
            <a:off x="619125" y="2124075"/>
            <a:ext cx="4524375" cy="647700"/>
          </a:xfrm>
          <a:prstGeom prst="rect">
            <a:avLst/>
          </a:prstGeom>
        </p:spPr>
        <p:txBody>
          <a:bodyPr vert="horz" wrap="square" lIns="0" tIns="0" rIns="0" bIns="0" anchor="t">
            <a:noAutofit/>
          </a:bodyPr>
          <a:lstStyle/>
          <a:p>
            <a:pPr marL="12700" algn="ctr">
              <a:lnSpc>
                <a:spcPct val="110000"/>
              </a:lnSpc>
              <a:defRPr sz="825">
                <a:solidFill>
                  <a:srgbClr val="202020"/>
                </a:solidFill>
                <a:latin typeface="Arial"/>
                <a:ea typeface="Arial"/>
                <a:cs typeface="Arial"/>
              </a:defRPr>
            </a:pPr>
            <a:r>
              <a:rPr lang="en-US" sz="800" dirty="0">
                <a:solidFill>
                  <a:srgbClr val="202020"/>
                </a:solidFill>
                <a:latin typeface="Arial"/>
                <a:cs typeface="Arial"/>
              </a:rPr>
              <a:t>Foundations Course – WS 2026</a:t>
            </a:r>
            <a:endParaRPr lang="en-US" dirty="0"/>
          </a:p>
          <a:p>
            <a:pPr marL="12700" algn="ctr">
              <a:lnSpc>
                <a:spcPct val="110000"/>
              </a:lnSpc>
              <a:buNone/>
              <a:defRPr sz="825">
                <a:solidFill>
                  <a:srgbClr val="202020"/>
                </a:solidFill>
                <a:latin typeface="Arial"/>
                <a:ea typeface="Arial"/>
                <a:cs typeface="Arial"/>
              </a:defRPr>
            </a:pPr>
            <a:r>
              <a:rPr sz="800" b="1" i="0" u="none" cap="none" spc="0" dirty="0" err="1">
                <a:ln>
                  <a:noFill/>
                </a:ln>
                <a:solidFill>
                  <a:srgbClr val="202020"/>
                </a:solidFill>
                <a:latin typeface="Arial"/>
                <a:ea typeface="Arial"/>
                <a:cs typeface="Arial"/>
              </a:rPr>
              <a:t>Kamendu</a:t>
            </a:r>
            <a:r>
              <a:rPr sz="800" b="1" i="0" u="none" cap="none" spc="0" dirty="0">
                <a:ln>
                  <a:noFill/>
                </a:ln>
                <a:solidFill>
                  <a:srgbClr val="202020"/>
                </a:solidFill>
                <a:latin typeface="Arial"/>
                <a:ea typeface="Arial"/>
                <a:cs typeface="Arial"/>
              </a:rPr>
              <a:t> Panchal</a:t>
            </a:r>
            <a:endParaRPr sz="800" dirty="0"/>
          </a:p>
          <a:p>
            <a:pPr marL="12700" algn="ctr">
              <a:lnSpc>
                <a:spcPct val="110000"/>
              </a:lnSpc>
              <a:buNone/>
              <a:defRPr sz="825">
                <a:solidFill>
                  <a:srgbClr val="202020"/>
                </a:solidFill>
                <a:latin typeface="Arial"/>
                <a:ea typeface="Arial"/>
                <a:cs typeface="Arial"/>
              </a:defRPr>
            </a:pPr>
            <a:r>
              <a:rPr sz="800" dirty="0">
                <a:solidFill>
                  <a:srgbClr val="202020"/>
                </a:solidFill>
                <a:latin typeface="Arial"/>
                <a:ea typeface="Arial"/>
                <a:cs typeface="Arial"/>
              </a:rPr>
              <a:t> Hochschule Bonn-Rhein-Sieg</a:t>
            </a:r>
          </a:p>
        </p:txBody>
      </p:sp>
      <p:pic>
        <p:nvPicPr>
          <p:cNvPr id="11" name="object 3"/>
          <p:cNvPicPr>
            <a:picLocks noChangeAspect="1"/>
          </p:cNvPicPr>
          <p:nvPr/>
        </p:nvPicPr>
        <p:blipFill>
          <a:blip r:embed="rId4"/>
          <a:stretch>
            <a:fillRect/>
          </a:stretch>
        </p:blipFill>
        <p:spPr>
          <a:xfrm>
            <a:off x="4127220" y="255611"/>
            <a:ext cx="1357473" cy="359989"/>
          </a:xfrm>
          <a:prstGeom prst="rect">
            <a:avLst/>
          </a:prstGeom>
        </p:spPr>
      </p:pic>
    </p:spTree>
    <p:extLst>
      <p:ext uri="{BB962C8B-B14F-4D97-AF65-F5344CB8AC3E}">
        <p14:creationId xmlns:p14="http://schemas.microsoft.com/office/powerpoint/2010/main" val="2016312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Topics in this refresher</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a:t>
            </a:r>
          </a:p>
        </p:txBody>
      </p:sp>
      <p:sp>
        <p:nvSpPr>
          <p:cNvPr id="13" name="text">
            <a:extLst>
              <a:ext uri="{FF2B5EF4-FFF2-40B4-BE49-F238E27FC236}">
                <a16:creationId xmlns:a16="http://schemas.microsoft.com/office/drawing/2014/main" id="{143984BA-71E1-4FC1-B42C-0D2575D8C31C}"/>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OOP organizes related data and operations into objects.</a:t>
            </a:r>
          </a:p>
        </p:txBody>
      </p:sp>
      <p:sp>
        <p:nvSpPr>
          <p:cNvPr id="14" name="text">
            <a:extLst>
              <a:ext uri="{FF2B5EF4-FFF2-40B4-BE49-F238E27FC236}">
                <a16:creationId xmlns:a16="http://schemas.microsoft.com/office/drawing/2014/main" id="{170B3E16-7F64-4735-AD9B-28789EB27245}"/>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Basic vocabulary</a:t>
            </a:r>
          </a:p>
        </p:txBody>
      </p:sp>
      <p:sp>
        <p:nvSpPr>
          <p:cNvPr id="15" name="text">
            <a:extLst>
              <a:ext uri="{FF2B5EF4-FFF2-40B4-BE49-F238E27FC236}">
                <a16:creationId xmlns:a16="http://schemas.microsoft.com/office/drawing/2014/main" id="{4FC4C7B4-506F-4A0C-BAA8-5B06E825676A}"/>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Classes, objects, attributes and methods</a:t>
            </a:r>
          </a:p>
        </p:txBody>
      </p:sp>
      <p:sp>
        <p:nvSpPr>
          <p:cNvPr id="16" name="text">
            <a:extLst>
              <a:ext uri="{FF2B5EF4-FFF2-40B4-BE49-F238E27FC236}">
                <a16:creationId xmlns:a16="http://schemas.microsoft.com/office/drawing/2014/main" id="{045BD650-7BD1-4883-AB80-A1FEC9B7EC07}"/>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Four pillars</a:t>
            </a:r>
          </a:p>
        </p:txBody>
      </p:sp>
      <p:sp>
        <p:nvSpPr>
          <p:cNvPr id="17" name="text">
            <a:extLst>
              <a:ext uri="{FF2B5EF4-FFF2-40B4-BE49-F238E27FC236}">
                <a16:creationId xmlns:a16="http://schemas.microsoft.com/office/drawing/2014/main" id="{8AFD9589-D7AE-430C-9C52-3283392E2D74}"/>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Encapsulation, abstraction, inheritance, polymorphism</a:t>
            </a:r>
          </a:p>
        </p:txBody>
      </p:sp>
      <p:sp>
        <p:nvSpPr>
          <p:cNvPr id="18" name="text">
            <a:extLst>
              <a:ext uri="{FF2B5EF4-FFF2-40B4-BE49-F238E27FC236}">
                <a16:creationId xmlns:a16="http://schemas.microsoft.com/office/drawing/2014/main" id="{2AB2EE3F-9BAF-408F-BFA6-6EC9FD624BE7}"/>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Useful next steps</a:t>
            </a:r>
          </a:p>
        </p:txBody>
      </p:sp>
      <p:sp>
        <p:nvSpPr>
          <p:cNvPr id="19" name="text">
            <a:extLst>
              <a:ext uri="{FF2B5EF4-FFF2-40B4-BE49-F238E27FC236}">
                <a16:creationId xmlns:a16="http://schemas.microsoft.com/office/drawing/2014/main" id="{1FAEB65A-DD28-4847-A5EB-BA723B113B4E}"/>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Composition, copying and object lifetime</a:t>
            </a:r>
          </a:p>
        </p:txBody>
      </p:sp>
      <p:sp>
        <p:nvSpPr>
          <p:cNvPr id="20" name="text">
            <a:extLst>
              <a:ext uri="{FF2B5EF4-FFF2-40B4-BE49-F238E27FC236}">
                <a16:creationId xmlns:a16="http://schemas.microsoft.com/office/drawing/2014/main" id="{AD282BD5-3BFC-4605-9A00-096664712685}"/>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Practice</a:t>
            </a:r>
          </a:p>
        </p:txBody>
      </p:sp>
      <p:sp>
        <p:nvSpPr>
          <p:cNvPr id="21" name="text">
            <a:extLst>
              <a:ext uri="{FF2B5EF4-FFF2-40B4-BE49-F238E27FC236}">
                <a16:creationId xmlns:a16="http://schemas.microsoft.com/office/drawing/2014/main" id="{D6EE0AB7-809A-4691-A246-471E4BAAE321}"/>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Small changes to a working example</a:t>
            </a:r>
          </a:p>
        </p:txBody>
      </p:sp>
      <p:sp>
        <p:nvSpPr>
          <p:cNvPr id="22" name="text">
            <a:extLst>
              <a:ext uri="{FF2B5EF4-FFF2-40B4-BE49-F238E27FC236}">
                <a16:creationId xmlns:a16="http://schemas.microsoft.com/office/drawing/2014/main" id="{F0E2BE0E-42A4-432D-81B7-99566294573D}"/>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a:t>
            </a:r>
          </a:p>
        </p:txBody>
      </p:sp>
    </p:spTree>
    <p:extLst>
      <p:ext uri="{BB962C8B-B14F-4D97-AF65-F5344CB8AC3E}">
        <p14:creationId xmlns:p14="http://schemas.microsoft.com/office/powerpoint/2010/main" val="3645672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chor="t">
            <a:noAutofit/>
          </a:bodyPr>
          <a:lstStyle/>
          <a:p>
            <a:pPr marL="12700" algn="l">
              <a:lnSpc>
                <a:spcPct val="110000"/>
              </a:lnSpc>
              <a:spcBef>
                <a:spcPts val="135"/>
              </a:spcBef>
              <a:buNone/>
              <a:defRPr sz="1400">
                <a:solidFill>
                  <a:srgbClr val="006ABA"/>
                </a:solidFill>
                <a:latin typeface="Arial"/>
                <a:ea typeface="Arial"/>
                <a:cs typeface="Arial"/>
              </a:defRPr>
            </a:pPr>
            <a:r>
              <a:rPr lang="en-US" sz="1400" b="0" spc="-10"/>
              <a:t>Robile</a:t>
            </a:r>
            <a:r>
              <a:rPr sz="1400" b="0" spc="-10" dirty="0">
                <a:solidFill>
                  <a:srgbClr val="006ABA"/>
                </a:solidFill>
                <a:latin typeface="Arial"/>
                <a:ea typeface="Arial"/>
                <a:cs typeface="Arial"/>
              </a:rPr>
              <a:t> as a software object</a:t>
            </a:r>
            <a:endParaRPr sz="1400" b="0" spc="-10" dirty="0">
              <a:latin typeface="Arial"/>
              <a:ea typeface="Arial"/>
              <a:cs typeface="Arial"/>
            </a:endParaRPr>
          </a:p>
        </p:txBody>
      </p:sp>
      <p:pic>
        <p:nvPicPr>
          <p:cNvPr id="20" name="object 4"/>
          <p:cNvPicPr>
            <a:picLocks noChangeAspect="1"/>
          </p:cNvPicPr>
          <p:nvPr/>
        </p:nvPicPr>
        <p:blipFill>
          <a:blip r:embed="rId3"/>
          <a:stretch>
            <a:fillRect/>
          </a:stretch>
        </p:blipFill>
        <p:spPr>
          <a:xfrm>
            <a:off x="152565" y="2988507"/>
            <a:ext cx="900668" cy="161917"/>
          </a:xfrm>
          <a:prstGeom prst="rect">
            <a:avLst/>
          </a:prstGeom>
        </p:spPr>
      </p:pic>
      <p:pic>
        <p:nvPicPr>
          <p:cNvPr id="2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a:t>
            </a:r>
          </a:p>
        </p:txBody>
      </p:sp>
      <p:sp>
        <p:nvSpPr>
          <p:cNvPr id="13" name="text">
            <a:extLst>
              <a:ext uri="{FF2B5EF4-FFF2-40B4-BE49-F238E27FC236}">
                <a16:creationId xmlns:a16="http://schemas.microsoft.com/office/drawing/2014/main" id="{6852C7CF-391F-4FB4-94D4-04CEAC2150A5}"/>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lang="en-US" sz="950" dirty="0" err="1">
                <a:solidFill>
                  <a:srgbClr val="202020"/>
                </a:solidFill>
                <a:latin typeface="Arial"/>
                <a:ea typeface="Arial"/>
                <a:cs typeface="Arial"/>
              </a:rPr>
              <a:t>Robile</a:t>
            </a:r>
            <a:r>
              <a:rPr sz="950" b="0" dirty="0">
                <a:solidFill>
                  <a:srgbClr val="202020"/>
                </a:solidFill>
                <a:latin typeface="Arial"/>
                <a:ea typeface="Arial"/>
                <a:cs typeface="Arial"/>
              </a:rPr>
              <a:t> is a robot that carries a parcel.</a:t>
            </a:r>
          </a:p>
        </p:txBody>
      </p:sp>
      <p:sp>
        <p:nvSpPr>
          <p:cNvPr id="15" name="text">
            <a:extLst>
              <a:ext uri="{FF2B5EF4-FFF2-40B4-BE49-F238E27FC236}">
                <a16:creationId xmlns:a16="http://schemas.microsoft.com/office/drawing/2014/main" id="{B600CEAD-E085-49A5-8B7C-5D02C206CE27}"/>
              </a:ext>
            </a:extLst>
          </p:cNvPr>
          <p:cNvSpPr>
            <a:spLocks noGrp="1"/>
          </p:cNvSpPr>
          <p:nvPr/>
        </p:nvSpPr>
        <p:spPr>
          <a:xfrm>
            <a:off x="285750" y="1133475"/>
            <a:ext cx="2733675" cy="342900"/>
          </a:xfrm>
          <a:prstGeom prst="rect">
            <a:avLst/>
          </a:prstGeom>
          <a:noFill/>
          <a:ln w="0">
            <a:noFill/>
          </a:ln>
        </p:spPr>
        <p:txBody>
          <a:bodyPr wrap="square" lIns="0" tIns="0" rIns="0" bIns="0" anchor="t">
            <a:noAutofit/>
          </a:bodyPr>
          <a:lstStyle/>
          <a:p>
            <a:pPr algn="l">
              <a:lnSpc>
                <a:spcPct val="110000"/>
              </a:lnSpc>
              <a:buNone/>
              <a:defRPr sz="1125" b="1">
                <a:solidFill>
                  <a:srgbClr val="006ABA"/>
                </a:solidFill>
                <a:latin typeface="Arial"/>
                <a:ea typeface="Arial"/>
                <a:cs typeface="Arial"/>
              </a:defRPr>
            </a:pPr>
            <a:r>
              <a:rPr sz="1100" b="1" dirty="0">
                <a:solidFill>
                  <a:srgbClr val="006ABA"/>
                </a:solidFill>
                <a:latin typeface="Arial"/>
                <a:ea typeface="Arial"/>
                <a:cs typeface="Arial"/>
              </a:rPr>
              <a:t>Name: </a:t>
            </a:r>
            <a:r>
              <a:rPr lang="en-US" sz="1100" b="1">
                <a:solidFill>
                  <a:srgbClr val="006ABA"/>
                </a:solidFill>
                <a:latin typeface="Arial"/>
                <a:ea typeface="Arial"/>
                <a:cs typeface="Arial"/>
              </a:rPr>
              <a:t>Robile</a:t>
            </a:r>
            <a:endParaRPr lang="en-US" sz="1100" b="1" dirty="0">
              <a:solidFill>
                <a:srgbClr val="006ABA"/>
              </a:solidFill>
              <a:latin typeface="Arial"/>
              <a:ea typeface="Arial"/>
              <a:cs typeface="Arial"/>
            </a:endParaRPr>
          </a:p>
        </p:txBody>
      </p:sp>
      <p:sp>
        <p:nvSpPr>
          <p:cNvPr id="16" name="text">
            <a:extLst>
              <a:ext uri="{FF2B5EF4-FFF2-40B4-BE49-F238E27FC236}">
                <a16:creationId xmlns:a16="http://schemas.microsoft.com/office/drawing/2014/main" id="{C3F80DF8-709F-4F9C-8E2E-0BD6CEC05F64}"/>
              </a:ext>
            </a:extLst>
          </p:cNvPr>
          <p:cNvSpPr>
            <a:spLocks noGrp="1"/>
          </p:cNvSpPr>
          <p:nvPr/>
        </p:nvSpPr>
        <p:spPr>
          <a:xfrm>
            <a:off x="285750" y="1562100"/>
            <a:ext cx="2733675" cy="342900"/>
          </a:xfrm>
          <a:prstGeom prst="rect">
            <a:avLst/>
          </a:prstGeom>
          <a:noFill/>
          <a:ln w="0">
            <a:noFill/>
          </a:ln>
        </p:spPr>
        <p:txBody>
          <a:bodyPr wrap="square" lIns="0" tIns="0" rIns="0" bIns="0" anchor="t">
            <a:noAutofit/>
          </a:bodyPr>
          <a:lstStyle/>
          <a:p>
            <a:pPr algn="l">
              <a:lnSpc>
                <a:spcPct val="110000"/>
              </a:lnSpc>
              <a:buNone/>
              <a:defRPr sz="1125" b="0">
                <a:solidFill>
                  <a:srgbClr val="006ABA"/>
                </a:solidFill>
                <a:latin typeface="Arial"/>
                <a:ea typeface="Arial"/>
                <a:cs typeface="Arial"/>
              </a:defRPr>
            </a:pPr>
            <a:r>
              <a:rPr sz="1125" b="0">
                <a:solidFill>
                  <a:srgbClr val="006ABA"/>
                </a:solidFill>
                <a:latin typeface="Arial"/>
                <a:ea typeface="Arial"/>
                <a:cs typeface="Arial"/>
              </a:rPr>
              <a:t>Battery: 80 percent</a:t>
            </a:r>
          </a:p>
        </p:txBody>
      </p:sp>
      <p:sp>
        <p:nvSpPr>
          <p:cNvPr id="17" name="text">
            <a:extLst>
              <a:ext uri="{FF2B5EF4-FFF2-40B4-BE49-F238E27FC236}">
                <a16:creationId xmlns:a16="http://schemas.microsoft.com/office/drawing/2014/main" id="{85B4A7A4-AB6A-4D18-9A9E-2693B3DA45AD}"/>
              </a:ext>
            </a:extLst>
          </p:cNvPr>
          <p:cNvSpPr>
            <a:spLocks noGrp="1"/>
          </p:cNvSpPr>
          <p:nvPr/>
        </p:nvSpPr>
        <p:spPr>
          <a:xfrm>
            <a:off x="285750" y="1990725"/>
            <a:ext cx="2733675" cy="342900"/>
          </a:xfrm>
          <a:prstGeom prst="rect">
            <a:avLst/>
          </a:prstGeom>
          <a:noFill/>
          <a:ln w="0">
            <a:noFill/>
          </a:ln>
        </p:spPr>
        <p:txBody>
          <a:bodyPr wrap="square" lIns="0" tIns="0" rIns="0" bIns="0" anchor="t">
            <a:noAutofit/>
          </a:bodyPr>
          <a:lstStyle/>
          <a:p>
            <a:pPr algn="l">
              <a:lnSpc>
                <a:spcPct val="110000"/>
              </a:lnSpc>
              <a:buNone/>
              <a:defRPr sz="1125" b="0">
                <a:solidFill>
                  <a:srgbClr val="006ABA"/>
                </a:solidFill>
                <a:latin typeface="Arial"/>
                <a:ea typeface="Arial"/>
                <a:cs typeface="Arial"/>
              </a:defRPr>
            </a:pPr>
            <a:r>
              <a:rPr sz="1125" b="0">
                <a:solidFill>
                  <a:srgbClr val="006ABA"/>
                </a:solidFill>
                <a:latin typeface="Arial"/>
                <a:ea typeface="Arial"/>
                <a:cs typeface="Arial"/>
              </a:rPr>
              <a:t>Operations: move(), charge()</a:t>
            </a:r>
          </a:p>
        </p:txBody>
      </p:sp>
      <p:sp>
        <p:nvSpPr>
          <p:cNvPr id="18" name="text">
            <a:extLst>
              <a:ext uri="{FF2B5EF4-FFF2-40B4-BE49-F238E27FC236}">
                <a16:creationId xmlns:a16="http://schemas.microsoft.com/office/drawing/2014/main" id="{9AC61A34-7979-4D3F-9192-80AF4ACB84B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[R]  [X]</a:t>
            </a:r>
          </a:p>
        </p:txBody>
      </p:sp>
      <p:grpSp>
        <p:nvGrpSpPr>
          <p:cNvPr id="6" name="Group 5">
            <a:extLst>
              <a:ext uri="{FF2B5EF4-FFF2-40B4-BE49-F238E27FC236}">
                <a16:creationId xmlns:a16="http://schemas.microsoft.com/office/drawing/2014/main" id="{65BABA39-ADC1-E4F0-E19E-068AB23CDFB5}"/>
              </a:ext>
            </a:extLst>
          </p:cNvPr>
          <p:cNvGrpSpPr/>
          <p:nvPr/>
        </p:nvGrpSpPr>
        <p:grpSpPr>
          <a:xfrm>
            <a:off x="3311865" y="742689"/>
            <a:ext cx="2021822" cy="1986915"/>
            <a:chOff x="3311865" y="742689"/>
            <a:chExt cx="2021822" cy="1986915"/>
          </a:xfrm>
        </p:grpSpPr>
        <p:pic>
          <p:nvPicPr>
            <p:cNvPr id="4" name="Picture 3">
              <a:extLst>
                <a:ext uri="{FF2B5EF4-FFF2-40B4-BE49-F238E27FC236}">
                  <a16:creationId xmlns:a16="http://schemas.microsoft.com/office/drawing/2014/main" id="{6A5DB47C-8BBE-33B2-F36D-0F0415C83164}"/>
                </a:ext>
              </a:extLst>
            </p:cNvPr>
            <p:cNvPicPr>
              <a:picLocks noChangeAspect="1"/>
            </p:cNvPicPr>
            <p:nvPr/>
          </p:nvPicPr>
          <p:blipFill>
            <a:blip r:embed="rId5"/>
            <a:stretch>
              <a:fillRect/>
            </a:stretch>
          </p:blipFill>
          <p:spPr>
            <a:xfrm>
              <a:off x="3311865" y="742689"/>
              <a:ext cx="2021822" cy="1986915"/>
            </a:xfrm>
            <a:prstGeom prst="rect">
              <a:avLst/>
            </a:prstGeom>
          </p:spPr>
        </p:pic>
        <p:sp>
          <p:nvSpPr>
            <p:cNvPr id="5" name="text">
              <a:extLst>
                <a:ext uri="{FF2B5EF4-FFF2-40B4-BE49-F238E27FC236}">
                  <a16:creationId xmlns:a16="http://schemas.microsoft.com/office/drawing/2014/main" id="{2EF02EDB-4A89-1BBC-4AE9-F948A1BD031C}"/>
                </a:ext>
              </a:extLst>
            </p:cNvPr>
            <p:cNvSpPr>
              <a:spLocks noGrp="1"/>
            </p:cNvSpPr>
            <p:nvPr/>
          </p:nvSpPr>
          <p:spPr>
            <a:xfrm>
              <a:off x="3760094" y="2574086"/>
              <a:ext cx="1269697" cy="148913"/>
            </a:xfrm>
            <a:prstGeom prst="rect">
              <a:avLst/>
            </a:prstGeom>
            <a:noFill/>
            <a:ln w="0">
              <a:noFill/>
            </a:ln>
          </p:spPr>
          <p:txBody>
            <a:bodyPr wrap="square" lIns="0" tIns="0" rIns="0" bIns="0" anchor="t">
              <a:noAutofit/>
            </a:bodyPr>
            <a:lstStyle/>
            <a:p>
              <a:pPr>
                <a:lnSpc>
                  <a:spcPct val="110000"/>
                </a:lnSpc>
                <a:defRPr sz="998" b="0">
                  <a:solidFill>
                    <a:srgbClr val="202020"/>
                  </a:solidFill>
                  <a:latin typeface="Arial"/>
                  <a:ea typeface="Arial"/>
                  <a:cs typeface="Arial"/>
                </a:defRPr>
              </a:pPr>
              <a:r>
                <a:rPr lang="en-US" sz="700" dirty="0">
                  <a:solidFill>
                    <a:srgbClr val="202020"/>
                  </a:solidFill>
                  <a:latin typeface="Arial"/>
                  <a:cs typeface="Arial"/>
                </a:rPr>
                <a:t>Fig.1 KELO Robotics - </a:t>
              </a:r>
              <a:r>
                <a:rPr lang="en-US" sz="700" err="1">
                  <a:solidFill>
                    <a:srgbClr val="202020"/>
                  </a:solidFill>
                  <a:latin typeface="Arial"/>
                  <a:cs typeface="Arial"/>
                </a:rPr>
                <a:t>Robile</a:t>
              </a:r>
              <a:endParaRPr lang="en-US" sz="700"/>
            </a:p>
          </p:txBody>
        </p:sp>
      </p:grpSp>
    </p:spTree>
    <p:extLst>
      <p:ext uri="{BB962C8B-B14F-4D97-AF65-F5344CB8AC3E}">
        <p14:creationId xmlns:p14="http://schemas.microsoft.com/office/powerpoint/2010/main" val="3645672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Classes and objects</a:t>
            </a:r>
            <a:endParaRPr sz="1400" b="0" spc="-10">
              <a:latin typeface="Arial"/>
              <a:ea typeface="Arial"/>
              <a:cs typeface="Arial"/>
            </a:endParaRPr>
          </a:p>
        </p:txBody>
      </p:sp>
      <p:pic>
        <p:nvPicPr>
          <p:cNvPr id="23" name="object 4"/>
          <p:cNvPicPr>
            <a:picLocks noChangeAspect="1"/>
          </p:cNvPicPr>
          <p:nvPr/>
        </p:nvPicPr>
        <p:blipFill>
          <a:blip r:embed="rId3"/>
          <a:stretch>
            <a:fillRect/>
          </a:stretch>
        </p:blipFill>
        <p:spPr>
          <a:xfrm>
            <a:off x="152565" y="2988507"/>
            <a:ext cx="900668" cy="161917"/>
          </a:xfrm>
          <a:prstGeom prst="rect">
            <a:avLst/>
          </a:prstGeom>
        </p:spPr>
      </p:pic>
      <p:pic>
        <p:nvPicPr>
          <p:cNvPr id="24"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a:t>
            </a:r>
          </a:p>
        </p:txBody>
      </p:sp>
      <p:sp>
        <p:nvSpPr>
          <p:cNvPr id="13" name="text">
            <a:extLst>
              <a:ext uri="{FF2B5EF4-FFF2-40B4-BE49-F238E27FC236}">
                <a16:creationId xmlns:a16="http://schemas.microsoft.com/office/drawing/2014/main" id="{BB618DE2-0BE2-426F-AB51-BA26F99CBF0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class defines a type. An object is an instance of that class.</a:t>
            </a:r>
          </a:p>
        </p:txBody>
      </p:sp>
      <p:sp>
        <p:nvSpPr>
          <p:cNvPr id="14" name="diagram-node">
            <a:extLst>
              <a:ext uri="{FF2B5EF4-FFF2-40B4-BE49-F238E27FC236}">
                <a16:creationId xmlns:a16="http://schemas.microsoft.com/office/drawing/2014/main" id="{0D839C51-CE47-4E0A-8F30-685986676236}"/>
              </a:ext>
            </a:extLst>
          </p:cNvPr>
          <p:cNvSpPr>
            <a:spLocks noGrp="1"/>
          </p:cNvSpPr>
          <p:nvPr/>
        </p:nvSpPr>
        <p:spPr>
          <a:xfrm>
            <a:off x="2095500" y="981075"/>
            <a:ext cx="1562100" cy="600075"/>
          </a:xfrm>
          <a:prstGeom prst="rect">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Robot class</a:t>
            </a:r>
          </a:p>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name, battery</a:t>
            </a:r>
          </a:p>
        </p:txBody>
      </p:sp>
      <p:sp>
        <p:nvSpPr>
          <p:cNvPr id="15" name="diagram-node">
            <a:extLst>
              <a:ext uri="{FF2B5EF4-FFF2-40B4-BE49-F238E27FC236}">
                <a16:creationId xmlns:a16="http://schemas.microsoft.com/office/drawing/2014/main" id="{9D280EBD-1A50-459F-B8DB-B7E47254E4C6}"/>
              </a:ext>
            </a:extLst>
          </p:cNvPr>
          <p:cNvSpPr>
            <a:spLocks noGrp="1"/>
          </p:cNvSpPr>
          <p:nvPr/>
        </p:nvSpPr>
        <p:spPr>
          <a:xfrm>
            <a:off x="733425" y="1990725"/>
            <a:ext cx="1657350" cy="504825"/>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Bot A</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battery = 80</a:t>
            </a:r>
          </a:p>
        </p:txBody>
      </p:sp>
      <p:sp>
        <p:nvSpPr>
          <p:cNvPr id="16" name="diagram-node">
            <a:extLst>
              <a:ext uri="{FF2B5EF4-FFF2-40B4-BE49-F238E27FC236}">
                <a16:creationId xmlns:a16="http://schemas.microsoft.com/office/drawing/2014/main" id="{7D690AF8-2E7A-4ACB-9AA2-40FA9B80CED9}"/>
              </a:ext>
            </a:extLst>
          </p:cNvPr>
          <p:cNvSpPr>
            <a:spLocks noGrp="1"/>
          </p:cNvSpPr>
          <p:nvPr/>
        </p:nvSpPr>
        <p:spPr>
          <a:xfrm>
            <a:off x="3381375" y="1990725"/>
            <a:ext cx="1657350" cy="504825"/>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Bot B</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battery = 30</a:t>
            </a:r>
          </a:p>
        </p:txBody>
      </p:sp>
      <p:cxnSp>
        <p:nvCxnSpPr>
          <p:cNvPr id="31" name="Straight Arrow Connector 30"/>
          <p:cNvCxnSpPr>
            <a:stCxn id="14" idx="2"/>
            <a:endCxn id="15" idx="0"/>
          </p:cNvCxnSpPr>
          <p:nvPr/>
        </p:nvCxnSpPr>
        <p:spPr>
          <a:xfrm flipH="1">
            <a:off x="1562100" y="1581150"/>
            <a:ext cx="1314450" cy="409575"/>
          </a:xfrm>
          <a:prstGeom prst="straightConnector1">
            <a:avLst/>
          </a:prstGeom>
          <a:ln w="11430">
            <a:solidFill>
              <a:srgbClr val="66717C"/>
            </a:solidFill>
            <a:headEnd type="none" w="med" len="med"/>
            <a:tailEnd type="triangle" w="sm" len="sm"/>
          </a:ln>
        </p:spPr>
      </p:cxnSp>
      <p:cxnSp>
        <p:nvCxnSpPr>
          <p:cNvPr id="32" name="Straight Arrow Connector 31"/>
          <p:cNvCxnSpPr>
            <a:stCxn id="14" idx="2"/>
            <a:endCxn id="16" idx="0"/>
          </p:cNvCxnSpPr>
          <p:nvPr/>
        </p:nvCxnSpPr>
        <p:spPr>
          <a:xfrm>
            <a:off x="2876550" y="1581150"/>
            <a:ext cx="1333500" cy="409575"/>
          </a:xfrm>
          <a:prstGeom prst="straightConnector1">
            <a:avLst/>
          </a:prstGeom>
          <a:ln w="11430">
            <a:solidFill>
              <a:srgbClr val="66717C"/>
            </a:solidFill>
            <a:headEnd type="none" w="med" len="med"/>
            <a:tailEnd type="triangle" w="sm" len="sm"/>
          </a:ln>
        </p:spPr>
      </p:cxnSp>
      <p:sp>
        <p:nvSpPr>
          <p:cNvPr id="19" name="text">
            <a:extLst>
              <a:ext uri="{FF2B5EF4-FFF2-40B4-BE49-F238E27FC236}">
                <a16:creationId xmlns:a16="http://schemas.microsoft.com/office/drawing/2014/main" id="{87DBC51B-B75C-40B3-808A-0A470F188507}"/>
              </a:ext>
            </a:extLst>
          </p:cNvPr>
          <p:cNvSpPr>
            <a:spLocks noGrp="1"/>
          </p:cNvSpPr>
          <p:nvPr/>
        </p:nvSpPr>
        <p:spPr>
          <a:xfrm>
            <a:off x="2381250" y="1724025"/>
            <a:ext cx="103822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instances</a:t>
            </a:r>
          </a:p>
        </p:txBody>
      </p:sp>
      <p:sp>
        <p:nvSpPr>
          <p:cNvPr id="20" name="text">
            <a:extLst>
              <a:ext uri="{FF2B5EF4-FFF2-40B4-BE49-F238E27FC236}">
                <a16:creationId xmlns:a16="http://schemas.microsoft.com/office/drawing/2014/main" id="{A68E9FD6-98A8-49E8-9DF6-4E55E88580A1}"/>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Class: the definition. Object: a particular instance.</a:t>
            </a:r>
          </a:p>
        </p:txBody>
      </p:sp>
      <p:sp>
        <p:nvSpPr>
          <p:cNvPr id="21" name="text">
            <a:extLst>
              <a:ext uri="{FF2B5EF4-FFF2-40B4-BE49-F238E27FC236}">
                <a16:creationId xmlns:a16="http://schemas.microsoft.com/office/drawing/2014/main" id="{B4BFEBE3-A9C6-47A5-A947-C068F7D2DE90}"/>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[S]  [P]</a:t>
            </a:r>
          </a:p>
        </p:txBody>
      </p:sp>
    </p:spTree>
    <p:extLst>
      <p:ext uri="{BB962C8B-B14F-4D97-AF65-F5344CB8AC3E}">
        <p14:creationId xmlns:p14="http://schemas.microsoft.com/office/powerpoint/2010/main" val="364567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Attributes and methods</a:t>
            </a:r>
            <a:endParaRPr sz="1400" b="0" spc="-10">
              <a:latin typeface="Arial"/>
              <a:ea typeface="Arial"/>
              <a:cs typeface="Arial"/>
            </a:endParaRPr>
          </a:p>
        </p:txBody>
      </p:sp>
      <p:pic>
        <p:nvPicPr>
          <p:cNvPr id="37" name="object 4"/>
          <p:cNvPicPr>
            <a:picLocks noChangeAspect="1"/>
          </p:cNvPicPr>
          <p:nvPr/>
        </p:nvPicPr>
        <p:blipFill>
          <a:blip r:embed="rId3"/>
          <a:stretch>
            <a:fillRect/>
          </a:stretch>
        </p:blipFill>
        <p:spPr>
          <a:xfrm>
            <a:off x="152565" y="2988507"/>
            <a:ext cx="900668" cy="161917"/>
          </a:xfrm>
          <a:prstGeom prst="rect">
            <a:avLst/>
          </a:prstGeom>
        </p:spPr>
      </p:pic>
      <p:pic>
        <p:nvPicPr>
          <p:cNvPr id="38"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4</a:t>
            </a:r>
          </a:p>
        </p:txBody>
      </p:sp>
      <p:sp>
        <p:nvSpPr>
          <p:cNvPr id="13" name="text">
            <a:extLst>
              <a:ext uri="{FF2B5EF4-FFF2-40B4-BE49-F238E27FC236}">
                <a16:creationId xmlns:a16="http://schemas.microsoft.com/office/drawing/2014/main" id="{1647D093-30AC-41C2-8736-1C02A6254276}"/>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Attributes store state. Methods define behavior.</a:t>
            </a:r>
          </a:p>
        </p:txBody>
      </p:sp>
      <p:sp>
        <p:nvSpPr>
          <p:cNvPr id="14" name="Rectangle 13">
            <a:extLst>
              <a:ext uri="{FF2B5EF4-FFF2-40B4-BE49-F238E27FC236}">
                <a16:creationId xmlns:a16="http://schemas.microsoft.com/office/drawing/2014/main" id="{3A492B3C-E488-4B3A-805A-EB60A3D993FC}"/>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C1B635C0-9637-45EC-B62E-5BC997100119}"/>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A87708A7-560C-4D9D-8583-B9BF083B851A}"/>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8ED7CEAE-59BD-435D-AA3C-F387C749ADCA}"/>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 {</a:t>
            </a:r>
          </a:p>
        </p:txBody>
      </p:sp>
      <p:sp>
        <p:nvSpPr>
          <p:cNvPr id="18" name="text">
            <a:extLst>
              <a:ext uri="{FF2B5EF4-FFF2-40B4-BE49-F238E27FC236}">
                <a16:creationId xmlns:a16="http://schemas.microsoft.com/office/drawing/2014/main" id="{B45F46EF-0C09-4F1D-BFC4-8F3AF93312C2}"/>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8809EFF0-EBB6-4BF0-9DD1-36302E0BCDDD}"/>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std::string name = "</a:t>
            </a:r>
            <a:r>
              <a:rPr lang="en-US" sz="750">
                <a:solidFill>
                  <a:srgbClr val="E7EDF8"/>
                </a:solidFill>
                <a:latin typeface="DejaVu Sans Mono"/>
                <a:ea typeface="DejaVu Sans Mono"/>
                <a:cs typeface="DejaVu Sans Mono"/>
              </a:rPr>
              <a:t>Robile</a:t>
            </a:r>
            <a:r>
              <a:rPr sz="750" b="0">
                <a:solidFill>
                  <a:srgbClr val="E7EDF8"/>
                </a:solidFill>
                <a:latin typeface="DejaVu Sans Mono"/>
                <a:ea typeface="DejaVu Sans Mono"/>
                <a:cs typeface="DejaVu Sans Mono"/>
              </a:rPr>
              <a:t>";</a:t>
            </a:r>
          </a:p>
        </p:txBody>
      </p:sp>
      <p:sp>
        <p:nvSpPr>
          <p:cNvPr id="20" name="text">
            <a:extLst>
              <a:ext uri="{FF2B5EF4-FFF2-40B4-BE49-F238E27FC236}">
                <a16:creationId xmlns:a16="http://schemas.microsoft.com/office/drawing/2014/main" id="{4572317C-6BE1-4EF1-8BD0-E9382EFE04DB}"/>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battery = 80;</a:t>
            </a:r>
          </a:p>
        </p:txBody>
      </p:sp>
      <p:sp>
        <p:nvSpPr>
          <p:cNvPr id="21" name="text">
            <a:extLst>
              <a:ext uri="{FF2B5EF4-FFF2-40B4-BE49-F238E27FC236}">
                <a16:creationId xmlns:a16="http://schemas.microsoft.com/office/drawing/2014/main" id="{1CED807F-4C03-4A54-965E-8031FE5F42B5}"/>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void move() const {</a:t>
            </a:r>
          </a:p>
        </p:txBody>
      </p:sp>
      <p:sp>
        <p:nvSpPr>
          <p:cNvPr id="22" name="text">
            <a:extLst>
              <a:ext uri="{FF2B5EF4-FFF2-40B4-BE49-F238E27FC236}">
                <a16:creationId xmlns:a16="http://schemas.microsoft.com/office/drawing/2014/main" id="{07DCC9FE-92F8-4767-87AA-342C1AE5DCDE}"/>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std::cout &lt;&lt; "Moving\n";</a:t>
            </a:r>
          </a:p>
        </p:txBody>
      </p:sp>
      <p:sp>
        <p:nvSpPr>
          <p:cNvPr id="23" name="text">
            <a:extLst>
              <a:ext uri="{FF2B5EF4-FFF2-40B4-BE49-F238E27FC236}">
                <a16:creationId xmlns:a16="http://schemas.microsoft.com/office/drawing/2014/main" id="{AC52B1E2-5388-4E36-99C6-A2FEEF6F8FFB}"/>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t>
            </a:r>
          </a:p>
        </p:txBody>
      </p:sp>
      <p:sp>
        <p:nvSpPr>
          <p:cNvPr id="24" name="text">
            <a:extLst>
              <a:ext uri="{FF2B5EF4-FFF2-40B4-BE49-F238E27FC236}">
                <a16:creationId xmlns:a16="http://schemas.microsoft.com/office/drawing/2014/main" id="{C7B8B26B-A640-4AED-869E-076F045F81A1}"/>
              </a:ext>
            </a:extLst>
          </p:cNvPr>
          <p:cNvSpPr>
            <a:spLocks noGrp="1"/>
          </p:cNvSpPr>
          <p:nvPr/>
        </p:nvSpPr>
        <p:spPr>
          <a:xfrm>
            <a:off x="29527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5" name="Rectangle 24">
            <a:extLst>
              <a:ext uri="{FF2B5EF4-FFF2-40B4-BE49-F238E27FC236}">
                <a16:creationId xmlns:a16="http://schemas.microsoft.com/office/drawing/2014/main" id="{DAF96477-5566-4D80-B3CF-DECC675C6350}"/>
              </a:ext>
            </a:extLst>
          </p:cNvPr>
          <p:cNvSpPr>
            <a:spLocks noGrp="1"/>
          </p:cNvSpPr>
          <p:nvPr/>
        </p:nvSpPr>
        <p:spPr>
          <a:xfrm>
            <a:off x="2990850" y="981075"/>
            <a:ext cx="2600325" cy="1504950"/>
          </a:xfrm>
          <a:prstGeom prst="rect">
            <a:avLst/>
          </a:prstGeom>
          <a:solidFill>
            <a:srgbClr val="101827"/>
          </a:solidFill>
          <a:ln w="0">
            <a:noFill/>
          </a:ln>
        </p:spPr>
      </p:sp>
      <p:sp>
        <p:nvSpPr>
          <p:cNvPr id="26" name="Rectangle 25">
            <a:extLst>
              <a:ext uri="{FF2B5EF4-FFF2-40B4-BE49-F238E27FC236}">
                <a16:creationId xmlns:a16="http://schemas.microsoft.com/office/drawing/2014/main" id="{CA043E6F-B029-43EA-AF58-84A936BB6E99}"/>
              </a:ext>
            </a:extLst>
          </p:cNvPr>
          <p:cNvSpPr>
            <a:spLocks noGrp="1"/>
          </p:cNvSpPr>
          <p:nvPr/>
        </p:nvSpPr>
        <p:spPr>
          <a:xfrm>
            <a:off x="2990850" y="800100"/>
            <a:ext cx="2600325" cy="180975"/>
          </a:xfrm>
          <a:prstGeom prst="rect">
            <a:avLst/>
          </a:prstGeom>
          <a:solidFill>
            <a:srgbClr val="1AA260"/>
          </a:solidFill>
          <a:ln w="0">
            <a:noFill/>
          </a:ln>
        </p:spPr>
      </p:sp>
      <p:sp>
        <p:nvSpPr>
          <p:cNvPr id="27" name="text">
            <a:extLst>
              <a:ext uri="{FF2B5EF4-FFF2-40B4-BE49-F238E27FC236}">
                <a16:creationId xmlns:a16="http://schemas.microsoft.com/office/drawing/2014/main" id="{7361D978-CAF3-4C16-A99C-50B472A9D2DB}"/>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8" name="text">
            <a:extLst>
              <a:ext uri="{FF2B5EF4-FFF2-40B4-BE49-F238E27FC236}">
                <a16:creationId xmlns:a16="http://schemas.microsoft.com/office/drawing/2014/main" id="{BCC7A349-7DE8-4087-BB3A-1CE59752778C}"/>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a:t>
            </a:r>
          </a:p>
        </p:txBody>
      </p:sp>
      <p:sp>
        <p:nvSpPr>
          <p:cNvPr id="29" name="text">
            <a:extLst>
              <a:ext uri="{FF2B5EF4-FFF2-40B4-BE49-F238E27FC236}">
                <a16:creationId xmlns:a16="http://schemas.microsoft.com/office/drawing/2014/main" id="{1BC413D5-AAB4-425C-AF65-E3B70857B74F}"/>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__init__(self):</a:t>
            </a:r>
          </a:p>
        </p:txBody>
      </p:sp>
      <p:sp>
        <p:nvSpPr>
          <p:cNvPr id="30" name="text">
            <a:extLst>
              <a:ext uri="{FF2B5EF4-FFF2-40B4-BE49-F238E27FC236}">
                <a16:creationId xmlns:a16="http://schemas.microsoft.com/office/drawing/2014/main" id="{4CE40A02-5945-4948-B943-B930252D7B1F}"/>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self.name = "</a:t>
            </a:r>
            <a:r>
              <a:rPr lang="en-US" sz="750">
                <a:solidFill>
                  <a:srgbClr val="E7EDF8"/>
                </a:solidFill>
                <a:latin typeface="DejaVu Sans Mono"/>
                <a:ea typeface="DejaVu Sans Mono"/>
                <a:cs typeface="DejaVu Sans Mono"/>
              </a:rPr>
              <a:t>Robile</a:t>
            </a:r>
            <a:r>
              <a:rPr sz="750" b="0">
                <a:solidFill>
                  <a:srgbClr val="E7EDF8"/>
                </a:solidFill>
                <a:latin typeface="DejaVu Sans Mono"/>
                <a:ea typeface="DejaVu Sans Mono"/>
                <a:cs typeface="DejaVu Sans Mono"/>
              </a:rPr>
              <a:t>"</a:t>
            </a:r>
          </a:p>
        </p:txBody>
      </p:sp>
      <p:sp>
        <p:nvSpPr>
          <p:cNvPr id="31" name="text">
            <a:extLst>
              <a:ext uri="{FF2B5EF4-FFF2-40B4-BE49-F238E27FC236}">
                <a16:creationId xmlns:a16="http://schemas.microsoft.com/office/drawing/2014/main" id="{FFBEB08B-D439-4B52-8486-54EEF00185AE}"/>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self.battery = 80</a:t>
            </a:r>
          </a:p>
        </p:txBody>
      </p:sp>
      <p:sp>
        <p:nvSpPr>
          <p:cNvPr id="32" name="text">
            <a:extLst>
              <a:ext uri="{FF2B5EF4-FFF2-40B4-BE49-F238E27FC236}">
                <a16:creationId xmlns:a16="http://schemas.microsoft.com/office/drawing/2014/main" id="{845876F8-A211-4387-A922-CAD3C4C37030}"/>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move(self):</a:t>
            </a:r>
          </a:p>
        </p:txBody>
      </p:sp>
      <p:sp>
        <p:nvSpPr>
          <p:cNvPr id="33" name="text">
            <a:extLst>
              <a:ext uri="{FF2B5EF4-FFF2-40B4-BE49-F238E27FC236}">
                <a16:creationId xmlns:a16="http://schemas.microsoft.com/office/drawing/2014/main" id="{CA11A75E-3CA0-40CD-AFDD-679AD8993BA1}"/>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print("Moving")</a:t>
            </a:r>
          </a:p>
        </p:txBody>
      </p:sp>
      <p:sp>
        <p:nvSpPr>
          <p:cNvPr id="34" name="text">
            <a:extLst>
              <a:ext uri="{FF2B5EF4-FFF2-40B4-BE49-F238E27FC236}">
                <a16:creationId xmlns:a16="http://schemas.microsoft.com/office/drawing/2014/main" id="{7DB19CE6-D2AE-4618-A44B-61913CD4AB7D}"/>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State: name and battery. Behavior: move().</a:t>
            </a:r>
          </a:p>
        </p:txBody>
      </p:sp>
      <p:sp>
        <p:nvSpPr>
          <p:cNvPr id="35" name="text">
            <a:extLst>
              <a:ext uri="{FF2B5EF4-FFF2-40B4-BE49-F238E27FC236}">
                <a16:creationId xmlns:a16="http://schemas.microsoft.com/office/drawing/2014/main" id="{376978E5-6EC6-47F6-8CF7-5889909C5D78}"/>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Creating and using objects</a:t>
            </a:r>
            <a:endParaRPr sz="1400" b="0" spc="-10">
              <a:latin typeface="Arial"/>
              <a:ea typeface="Arial"/>
              <a:cs typeface="Arial"/>
            </a:endParaRPr>
          </a:p>
        </p:txBody>
      </p:sp>
      <p:pic>
        <p:nvPicPr>
          <p:cNvPr id="33" name="object 4"/>
          <p:cNvPicPr>
            <a:picLocks noChangeAspect="1"/>
          </p:cNvPicPr>
          <p:nvPr/>
        </p:nvPicPr>
        <p:blipFill>
          <a:blip r:embed="rId3"/>
          <a:stretch>
            <a:fillRect/>
          </a:stretch>
        </p:blipFill>
        <p:spPr>
          <a:xfrm>
            <a:off x="152565" y="2988507"/>
            <a:ext cx="900668" cy="161917"/>
          </a:xfrm>
          <a:prstGeom prst="rect">
            <a:avLst/>
          </a:prstGeom>
        </p:spPr>
      </p:pic>
      <p:pic>
        <p:nvPicPr>
          <p:cNvPr id="34"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5</a:t>
            </a:r>
          </a:p>
        </p:txBody>
      </p:sp>
      <p:sp>
        <p:nvSpPr>
          <p:cNvPr id="13" name="text">
            <a:extLst>
              <a:ext uri="{FF2B5EF4-FFF2-40B4-BE49-F238E27FC236}">
                <a16:creationId xmlns:a16="http://schemas.microsoft.com/office/drawing/2014/main" id="{FF5283B4-FCF9-4562-B0C5-9427AAFF0BF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Calling a class creates an object with its own instance state.</a:t>
            </a:r>
          </a:p>
        </p:txBody>
      </p:sp>
      <p:sp>
        <p:nvSpPr>
          <p:cNvPr id="14" name="Rectangle 13">
            <a:extLst>
              <a:ext uri="{FF2B5EF4-FFF2-40B4-BE49-F238E27FC236}">
                <a16:creationId xmlns:a16="http://schemas.microsoft.com/office/drawing/2014/main" id="{8694FBEA-ACF3-4E38-BD6F-8C249772482D}"/>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C40D8C8E-A746-4558-8C61-94A6050E4CA6}"/>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15945ABD-8034-4B17-9427-4491209D5D46}"/>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2F82BC7F-8822-4370-AFA3-1ACFBD48D762}"/>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Robot a;</a:t>
            </a:r>
          </a:p>
        </p:txBody>
      </p:sp>
      <p:sp>
        <p:nvSpPr>
          <p:cNvPr id="18" name="text">
            <a:extLst>
              <a:ext uri="{FF2B5EF4-FFF2-40B4-BE49-F238E27FC236}">
                <a16:creationId xmlns:a16="http://schemas.microsoft.com/office/drawing/2014/main" id="{24016581-A35E-4407-8062-6D5D0046DD1A}"/>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Robot b;</a:t>
            </a:r>
          </a:p>
        </p:txBody>
      </p:sp>
      <p:sp>
        <p:nvSpPr>
          <p:cNvPr id="19" name="text">
            <a:extLst>
              <a:ext uri="{FF2B5EF4-FFF2-40B4-BE49-F238E27FC236}">
                <a16:creationId xmlns:a16="http://schemas.microsoft.com/office/drawing/2014/main" id="{EBA1446E-DA6C-4F78-B6A9-56B527BB09CE}"/>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a.battery = 50;</a:t>
            </a:r>
          </a:p>
        </p:txBody>
      </p:sp>
      <p:sp>
        <p:nvSpPr>
          <p:cNvPr id="20" name="text">
            <a:extLst>
              <a:ext uri="{FF2B5EF4-FFF2-40B4-BE49-F238E27FC236}">
                <a16:creationId xmlns:a16="http://schemas.microsoft.com/office/drawing/2014/main" id="{DC4F1EBA-79E6-446A-B8EB-B24E7AA49E42}"/>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b.battery &lt;&lt; "\n";</a:t>
            </a:r>
          </a:p>
        </p:txBody>
      </p:sp>
      <p:sp>
        <p:nvSpPr>
          <p:cNvPr id="21" name="text">
            <a:extLst>
              <a:ext uri="{FF2B5EF4-FFF2-40B4-BE49-F238E27FC236}">
                <a16:creationId xmlns:a16="http://schemas.microsoft.com/office/drawing/2014/main" id="{C2742894-8208-4CEF-A549-1D83839B6D88}"/>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a.move();</a:t>
            </a:r>
          </a:p>
        </p:txBody>
      </p:sp>
      <p:sp>
        <p:nvSpPr>
          <p:cNvPr id="22" name="Rectangle 21">
            <a:extLst>
              <a:ext uri="{FF2B5EF4-FFF2-40B4-BE49-F238E27FC236}">
                <a16:creationId xmlns:a16="http://schemas.microsoft.com/office/drawing/2014/main" id="{FA65A9D4-4A4E-44F4-AB0B-10D481574E58}"/>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643B2316-5110-4CF4-91BB-2CA1FA26E7CC}"/>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C61EF234-45E5-4A28-8748-B900C857DE97}"/>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E5A60680-2ACA-4E2A-B945-D84F0ECFF408}"/>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Robot()</a:t>
            </a:r>
          </a:p>
        </p:txBody>
      </p:sp>
      <p:sp>
        <p:nvSpPr>
          <p:cNvPr id="26" name="text">
            <a:extLst>
              <a:ext uri="{FF2B5EF4-FFF2-40B4-BE49-F238E27FC236}">
                <a16:creationId xmlns:a16="http://schemas.microsoft.com/office/drawing/2014/main" id="{7084F444-340D-41A6-B772-4EE46523F0E4}"/>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 = Robot()</a:t>
            </a:r>
          </a:p>
        </p:txBody>
      </p:sp>
      <p:sp>
        <p:nvSpPr>
          <p:cNvPr id="27" name="text">
            <a:extLst>
              <a:ext uri="{FF2B5EF4-FFF2-40B4-BE49-F238E27FC236}">
                <a16:creationId xmlns:a16="http://schemas.microsoft.com/office/drawing/2014/main" id="{347A15ED-8BE2-4F68-88DB-01D883CA89F7}"/>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a.battery = 50</a:t>
            </a:r>
          </a:p>
        </p:txBody>
      </p:sp>
      <p:sp>
        <p:nvSpPr>
          <p:cNvPr id="28" name="text">
            <a:extLst>
              <a:ext uri="{FF2B5EF4-FFF2-40B4-BE49-F238E27FC236}">
                <a16:creationId xmlns:a16="http://schemas.microsoft.com/office/drawing/2014/main" id="{7D6ABB70-20E1-4E8F-BCBC-A7D35D07C193}"/>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print(b.battery)</a:t>
            </a:r>
          </a:p>
        </p:txBody>
      </p:sp>
      <p:sp>
        <p:nvSpPr>
          <p:cNvPr id="29" name="text">
            <a:extLst>
              <a:ext uri="{FF2B5EF4-FFF2-40B4-BE49-F238E27FC236}">
                <a16:creationId xmlns:a16="http://schemas.microsoft.com/office/drawing/2014/main" id="{FFDF3FFE-492D-40BD-99C7-A0D694ABB0CA}"/>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a.move()</a:t>
            </a:r>
          </a:p>
        </p:txBody>
      </p:sp>
      <p:sp>
        <p:nvSpPr>
          <p:cNvPr id="30" name="text">
            <a:extLst>
              <a:ext uri="{FF2B5EF4-FFF2-40B4-BE49-F238E27FC236}">
                <a16:creationId xmlns:a16="http://schemas.microsoft.com/office/drawing/2014/main" id="{6163D42C-0112-4DFD-BE80-C665F24134A2}"/>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80, then Moving. The objects have independent battery values.</a:t>
            </a:r>
          </a:p>
        </p:txBody>
      </p:sp>
      <p:sp>
        <p:nvSpPr>
          <p:cNvPr id="31" name="text">
            <a:extLst>
              <a:ext uri="{FF2B5EF4-FFF2-40B4-BE49-F238E27FC236}">
                <a16:creationId xmlns:a16="http://schemas.microsoft.com/office/drawing/2014/main" id="{3AE9D56D-863B-4509-803D-7863A140B535}"/>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Constructors and initialization</a:t>
            </a:r>
            <a:endParaRPr sz="1400" b="0" spc="-10">
              <a:latin typeface="Arial"/>
              <a:ea typeface="Arial"/>
              <a:cs typeface="Arial"/>
            </a:endParaRPr>
          </a:p>
        </p:txBody>
      </p:sp>
      <p:pic>
        <p:nvPicPr>
          <p:cNvPr id="34" name="object 4"/>
          <p:cNvPicPr>
            <a:picLocks noChangeAspect="1"/>
          </p:cNvPicPr>
          <p:nvPr/>
        </p:nvPicPr>
        <p:blipFill>
          <a:blip r:embed="rId3"/>
          <a:stretch>
            <a:fillRect/>
          </a:stretch>
        </p:blipFill>
        <p:spPr>
          <a:xfrm>
            <a:off x="152565" y="2988507"/>
            <a:ext cx="900668" cy="161917"/>
          </a:xfrm>
          <a:prstGeom prst="rect">
            <a:avLst/>
          </a:prstGeom>
        </p:spPr>
      </p:pic>
      <p:pic>
        <p:nvPicPr>
          <p:cNvPr id="3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6</a:t>
            </a:r>
          </a:p>
        </p:txBody>
      </p:sp>
      <p:sp>
        <p:nvSpPr>
          <p:cNvPr id="13" name="text">
            <a:extLst>
              <a:ext uri="{FF2B5EF4-FFF2-40B4-BE49-F238E27FC236}">
                <a16:creationId xmlns:a16="http://schemas.microsoft.com/office/drawing/2014/main" id="{3778348B-BB4F-464E-B1DF-4526D9A5BAAF}"/>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Initialization gives each new object its starting state.</a:t>
            </a:r>
          </a:p>
        </p:txBody>
      </p:sp>
      <p:sp>
        <p:nvSpPr>
          <p:cNvPr id="14" name="Rectangle 13">
            <a:extLst>
              <a:ext uri="{FF2B5EF4-FFF2-40B4-BE49-F238E27FC236}">
                <a16:creationId xmlns:a16="http://schemas.microsoft.com/office/drawing/2014/main" id="{F0F57AF1-790A-4FE2-8DF8-B7E7B0AB407B}"/>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613AC01E-2BD0-48FD-8C89-9E05D73D9502}"/>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8D57FF12-85EB-46E9-A139-8565DE8F9C9B}"/>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0507C28A-2B6D-4EA5-B9F3-A2BCD3147B0B}"/>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 {</a:t>
            </a:r>
          </a:p>
        </p:txBody>
      </p:sp>
      <p:sp>
        <p:nvSpPr>
          <p:cNvPr id="18" name="text">
            <a:extLst>
              <a:ext uri="{FF2B5EF4-FFF2-40B4-BE49-F238E27FC236}">
                <a16:creationId xmlns:a16="http://schemas.microsoft.com/office/drawing/2014/main" id="{D015CCDA-FEEE-4E90-BAB5-D0231A8C9E97}"/>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238A1003-7515-4CE9-BB58-465C8917423F}"/>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std::string name;</a:t>
            </a:r>
          </a:p>
        </p:txBody>
      </p:sp>
      <p:sp>
        <p:nvSpPr>
          <p:cNvPr id="20" name="text">
            <a:extLst>
              <a:ext uri="{FF2B5EF4-FFF2-40B4-BE49-F238E27FC236}">
                <a16:creationId xmlns:a16="http://schemas.microsoft.com/office/drawing/2014/main" id="{47F8D764-13C1-4212-9738-AD99A67B77BE}"/>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battery;</a:t>
            </a:r>
          </a:p>
        </p:txBody>
      </p:sp>
      <p:sp>
        <p:nvSpPr>
          <p:cNvPr id="21" name="text">
            <a:extLst>
              <a:ext uri="{FF2B5EF4-FFF2-40B4-BE49-F238E27FC236}">
                <a16:creationId xmlns:a16="http://schemas.microsoft.com/office/drawing/2014/main" id="{3769AF63-6415-4B28-8ED0-0509C0C06858}"/>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Robot(std::string n, int b = 80)</a:t>
            </a:r>
          </a:p>
        </p:txBody>
      </p:sp>
      <p:sp>
        <p:nvSpPr>
          <p:cNvPr id="22" name="text">
            <a:extLst>
              <a:ext uri="{FF2B5EF4-FFF2-40B4-BE49-F238E27FC236}">
                <a16:creationId xmlns:a16="http://schemas.microsoft.com/office/drawing/2014/main" id="{F7038079-932D-49A4-84AB-C32DC91913D8}"/>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 name(n), battery(b) {}</a:t>
            </a:r>
          </a:p>
        </p:txBody>
      </p:sp>
      <p:sp>
        <p:nvSpPr>
          <p:cNvPr id="23" name="text">
            <a:extLst>
              <a:ext uri="{FF2B5EF4-FFF2-40B4-BE49-F238E27FC236}">
                <a16:creationId xmlns:a16="http://schemas.microsoft.com/office/drawing/2014/main" id="{843D66BA-26DF-4E25-9D70-DB9C2F1A82B3}"/>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4" name="Rectangle 23">
            <a:extLst>
              <a:ext uri="{FF2B5EF4-FFF2-40B4-BE49-F238E27FC236}">
                <a16:creationId xmlns:a16="http://schemas.microsoft.com/office/drawing/2014/main" id="{7B638FD8-2278-4E3C-B4F6-AF1EDE874014}"/>
              </a:ext>
            </a:extLst>
          </p:cNvPr>
          <p:cNvSpPr>
            <a:spLocks noGrp="1"/>
          </p:cNvSpPr>
          <p:nvPr/>
        </p:nvSpPr>
        <p:spPr>
          <a:xfrm>
            <a:off x="2990850" y="981075"/>
            <a:ext cx="2600325" cy="1504950"/>
          </a:xfrm>
          <a:prstGeom prst="rect">
            <a:avLst/>
          </a:prstGeom>
          <a:solidFill>
            <a:srgbClr val="101827"/>
          </a:solidFill>
          <a:ln w="0">
            <a:noFill/>
          </a:ln>
        </p:spPr>
      </p:sp>
      <p:sp>
        <p:nvSpPr>
          <p:cNvPr id="25" name="Rectangle 24">
            <a:extLst>
              <a:ext uri="{FF2B5EF4-FFF2-40B4-BE49-F238E27FC236}">
                <a16:creationId xmlns:a16="http://schemas.microsoft.com/office/drawing/2014/main" id="{5550DF9E-D255-4E19-AD3E-1F9DC2BE2D26}"/>
              </a:ext>
            </a:extLst>
          </p:cNvPr>
          <p:cNvSpPr>
            <a:spLocks noGrp="1"/>
          </p:cNvSpPr>
          <p:nvPr/>
        </p:nvSpPr>
        <p:spPr>
          <a:xfrm>
            <a:off x="2990850" y="800100"/>
            <a:ext cx="2600325" cy="180975"/>
          </a:xfrm>
          <a:prstGeom prst="rect">
            <a:avLst/>
          </a:prstGeom>
          <a:solidFill>
            <a:srgbClr val="1AA260"/>
          </a:solidFill>
          <a:ln w="0">
            <a:noFill/>
          </a:ln>
        </p:spPr>
      </p:sp>
      <p:sp>
        <p:nvSpPr>
          <p:cNvPr id="26" name="text">
            <a:extLst>
              <a:ext uri="{FF2B5EF4-FFF2-40B4-BE49-F238E27FC236}">
                <a16:creationId xmlns:a16="http://schemas.microsoft.com/office/drawing/2014/main" id="{246DC0F7-03CF-4F18-B89F-634311D35893}"/>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7" name="text">
            <a:extLst>
              <a:ext uri="{FF2B5EF4-FFF2-40B4-BE49-F238E27FC236}">
                <a16:creationId xmlns:a16="http://schemas.microsoft.com/office/drawing/2014/main" id="{E491CC50-592F-48FC-9C03-1B62E76D9247}"/>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a:t>
            </a:r>
          </a:p>
        </p:txBody>
      </p:sp>
      <p:sp>
        <p:nvSpPr>
          <p:cNvPr id="28" name="text">
            <a:extLst>
              <a:ext uri="{FF2B5EF4-FFF2-40B4-BE49-F238E27FC236}">
                <a16:creationId xmlns:a16="http://schemas.microsoft.com/office/drawing/2014/main" id="{1243DA9B-7317-4DE2-9D32-457C73BA90EC}"/>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__init__(self, name, battery=80):</a:t>
            </a:r>
          </a:p>
        </p:txBody>
      </p:sp>
      <p:sp>
        <p:nvSpPr>
          <p:cNvPr id="29" name="text">
            <a:extLst>
              <a:ext uri="{FF2B5EF4-FFF2-40B4-BE49-F238E27FC236}">
                <a16:creationId xmlns:a16="http://schemas.microsoft.com/office/drawing/2014/main" id="{AE1D63E7-157B-46C6-BF1A-6F22C5159D2F}"/>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self.name = name</a:t>
            </a:r>
          </a:p>
        </p:txBody>
      </p:sp>
      <p:sp>
        <p:nvSpPr>
          <p:cNvPr id="30" name="text">
            <a:extLst>
              <a:ext uri="{FF2B5EF4-FFF2-40B4-BE49-F238E27FC236}">
                <a16:creationId xmlns:a16="http://schemas.microsoft.com/office/drawing/2014/main" id="{2D8A92EC-76E3-4341-B9B9-F12D64142636}"/>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self.battery = battery</a:t>
            </a:r>
          </a:p>
        </p:txBody>
      </p:sp>
      <p:sp>
        <p:nvSpPr>
          <p:cNvPr id="31" name="text">
            <a:extLst>
              <a:ext uri="{FF2B5EF4-FFF2-40B4-BE49-F238E27FC236}">
                <a16:creationId xmlns:a16="http://schemas.microsoft.com/office/drawing/2014/main" id="{388BB7B1-875B-4A24-BDE3-A7D59AB70E23}"/>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50" b="0" dirty="0">
                <a:solidFill>
                  <a:srgbClr val="006ABA"/>
                </a:solidFill>
                <a:latin typeface="Arial"/>
                <a:ea typeface="Arial"/>
                <a:cs typeface="Arial"/>
              </a:rPr>
              <a:t>Robot("</a:t>
            </a:r>
            <a:r>
              <a:rPr lang="en-US" sz="850" dirty="0" err="1">
                <a:solidFill>
                  <a:srgbClr val="006ABA"/>
                </a:solidFill>
                <a:latin typeface="Arial"/>
                <a:ea typeface="Arial"/>
                <a:cs typeface="Arial"/>
              </a:rPr>
              <a:t>Robile</a:t>
            </a:r>
            <a:r>
              <a:rPr sz="850" b="0">
                <a:solidFill>
                  <a:srgbClr val="006ABA"/>
                </a:solidFill>
                <a:latin typeface="Arial"/>
                <a:ea typeface="Arial"/>
                <a:cs typeface="Arial"/>
              </a:rPr>
              <a:t>") uses 80. Robot("</a:t>
            </a:r>
            <a:r>
              <a:rPr lang="en-US" sz="850">
                <a:solidFill>
                  <a:srgbClr val="006ABA"/>
                </a:solidFill>
                <a:latin typeface="Arial"/>
                <a:ea typeface="Arial"/>
                <a:cs typeface="Arial"/>
              </a:rPr>
              <a:t>Robile</a:t>
            </a:r>
            <a:r>
              <a:rPr sz="850" b="0">
                <a:solidFill>
                  <a:srgbClr val="006ABA"/>
                </a:solidFill>
                <a:latin typeface="Arial"/>
                <a:ea typeface="Arial"/>
                <a:cs typeface="Arial"/>
              </a:rPr>
              <a:t>", 50) uses 50.</a:t>
            </a:r>
          </a:p>
        </p:txBody>
      </p:sp>
      <p:sp>
        <p:nvSpPr>
          <p:cNvPr id="32" name="text">
            <a:extLst>
              <a:ext uri="{FF2B5EF4-FFF2-40B4-BE49-F238E27FC236}">
                <a16:creationId xmlns:a16="http://schemas.microsoft.com/office/drawing/2014/main" id="{7D2D9A04-6516-4010-8D67-1F366A7990BD}"/>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self and this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7</a:t>
            </a:r>
          </a:p>
        </p:txBody>
      </p:sp>
      <p:sp>
        <p:nvSpPr>
          <p:cNvPr id="13" name="text">
            <a:extLst>
              <a:ext uri="{FF2B5EF4-FFF2-40B4-BE49-F238E27FC236}">
                <a16:creationId xmlns:a16="http://schemas.microsoft.com/office/drawing/2014/main" id="{1CAB0617-9C5D-4921-AEFB-CF65298EEAF4}"/>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An instance method operates on a particular object.</a:t>
            </a:r>
          </a:p>
        </p:txBody>
      </p:sp>
      <p:sp>
        <p:nvSpPr>
          <p:cNvPr id="14" name="text">
            <a:extLst>
              <a:ext uri="{FF2B5EF4-FFF2-40B4-BE49-F238E27FC236}">
                <a16:creationId xmlns:a16="http://schemas.microsoft.com/office/drawing/2014/main" id="{7C337684-7268-4749-BD0F-6CD557ABA972}"/>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self</a:t>
            </a:r>
          </a:p>
        </p:txBody>
      </p:sp>
      <p:sp>
        <p:nvSpPr>
          <p:cNvPr id="15" name="text">
            <a:extLst>
              <a:ext uri="{FF2B5EF4-FFF2-40B4-BE49-F238E27FC236}">
                <a16:creationId xmlns:a16="http://schemas.microsoft.com/office/drawing/2014/main" id="{E5B93490-B395-419F-9F30-260E0C3C2579}"/>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Explicit first parameter of instance methods</a:t>
            </a:r>
          </a:p>
        </p:txBody>
      </p:sp>
      <p:sp>
        <p:nvSpPr>
          <p:cNvPr id="16" name="text">
            <a:extLst>
              <a:ext uri="{FF2B5EF4-FFF2-40B4-BE49-F238E27FC236}">
                <a16:creationId xmlns:a16="http://schemas.microsoft.com/office/drawing/2014/main" id="{D7368E11-4C90-4406-ABAF-06C9A23DF753}"/>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self.battery</a:t>
            </a:r>
          </a:p>
        </p:txBody>
      </p:sp>
      <p:sp>
        <p:nvSpPr>
          <p:cNvPr id="17" name="text">
            <a:extLst>
              <a:ext uri="{FF2B5EF4-FFF2-40B4-BE49-F238E27FC236}">
                <a16:creationId xmlns:a16="http://schemas.microsoft.com/office/drawing/2014/main" id="{84D5AEB5-891E-4448-9686-15C00AECAF9F}"/>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Battery attribute of the current instance</a:t>
            </a:r>
          </a:p>
        </p:txBody>
      </p:sp>
      <p:sp>
        <p:nvSpPr>
          <p:cNvPr id="18" name="text">
            <a:extLst>
              <a:ext uri="{FF2B5EF4-FFF2-40B4-BE49-F238E27FC236}">
                <a16:creationId xmlns:a16="http://schemas.microsoft.com/office/drawing/2014/main" id="{0A74DC60-D45C-45CF-A942-23D3DAD05998}"/>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this</a:t>
            </a:r>
          </a:p>
        </p:txBody>
      </p:sp>
      <p:sp>
        <p:nvSpPr>
          <p:cNvPr id="19" name="text">
            <a:extLst>
              <a:ext uri="{FF2B5EF4-FFF2-40B4-BE49-F238E27FC236}">
                <a16:creationId xmlns:a16="http://schemas.microsoft.com/office/drawing/2014/main" id="{FA979450-8275-421C-975D-B178562ADADA}"/>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Implicit pointer in non-static member functions</a:t>
            </a:r>
          </a:p>
        </p:txBody>
      </p:sp>
      <p:sp>
        <p:nvSpPr>
          <p:cNvPr id="20" name="text">
            <a:extLst>
              <a:ext uri="{FF2B5EF4-FFF2-40B4-BE49-F238E27FC236}">
                <a16:creationId xmlns:a16="http://schemas.microsoft.com/office/drawing/2014/main" id="{8DA0B7B2-D47F-4B52-90A0-B1C4EE8CE72D}"/>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this-&gt;battery</a:t>
            </a:r>
          </a:p>
        </p:txBody>
      </p:sp>
      <p:sp>
        <p:nvSpPr>
          <p:cNvPr id="21" name="text">
            <a:extLst>
              <a:ext uri="{FF2B5EF4-FFF2-40B4-BE49-F238E27FC236}">
                <a16:creationId xmlns:a16="http://schemas.microsoft.com/office/drawing/2014/main" id="{EEFD951D-5402-498B-AE3A-EA2B75A4E25D}"/>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Battery member of the current object</a:t>
            </a:r>
          </a:p>
        </p:txBody>
      </p:sp>
      <p:sp>
        <p:nvSpPr>
          <p:cNvPr id="22" name="text">
            <a:extLst>
              <a:ext uri="{FF2B5EF4-FFF2-40B4-BE49-F238E27FC236}">
                <a16:creationId xmlns:a16="http://schemas.microsoft.com/office/drawing/2014/main" id="{5669F9BE-F6A9-4D51-87F4-C52182E67B4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[P]  [C]</a:t>
            </a:r>
          </a:p>
        </p:txBody>
      </p:sp>
    </p:spTree>
    <p:extLst>
      <p:ext uri="{BB962C8B-B14F-4D97-AF65-F5344CB8AC3E}">
        <p14:creationId xmlns:p14="http://schemas.microsoft.com/office/powerpoint/2010/main" val="3645672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Instance and class attributes</a:t>
            </a:r>
            <a:endParaRPr sz="1400" b="0" spc="-10">
              <a:latin typeface="Arial"/>
              <a:ea typeface="Arial"/>
              <a:cs typeface="Arial"/>
            </a:endParaRPr>
          </a:p>
        </p:txBody>
      </p:sp>
      <p:pic>
        <p:nvPicPr>
          <p:cNvPr id="32" name="object 4"/>
          <p:cNvPicPr>
            <a:picLocks noChangeAspect="1"/>
          </p:cNvPicPr>
          <p:nvPr/>
        </p:nvPicPr>
        <p:blipFill>
          <a:blip r:embed="rId3"/>
          <a:stretch>
            <a:fillRect/>
          </a:stretch>
        </p:blipFill>
        <p:spPr>
          <a:xfrm>
            <a:off x="152565" y="2988507"/>
            <a:ext cx="900668" cy="161917"/>
          </a:xfrm>
          <a:prstGeom prst="rect">
            <a:avLst/>
          </a:prstGeom>
        </p:spPr>
      </p:pic>
      <p:pic>
        <p:nvPicPr>
          <p:cNvPr id="3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8</a:t>
            </a:r>
          </a:p>
        </p:txBody>
      </p:sp>
      <p:sp>
        <p:nvSpPr>
          <p:cNvPr id="13" name="text">
            <a:extLst>
              <a:ext uri="{FF2B5EF4-FFF2-40B4-BE49-F238E27FC236}">
                <a16:creationId xmlns:a16="http://schemas.microsoft.com/office/drawing/2014/main" id="{F3D87350-E7B7-4951-B5C3-385397D0C28F}"/>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Instance data belongs to each object. Class data is shared.</a:t>
            </a:r>
          </a:p>
        </p:txBody>
      </p:sp>
      <p:sp>
        <p:nvSpPr>
          <p:cNvPr id="14" name="Rectangle 13">
            <a:extLst>
              <a:ext uri="{FF2B5EF4-FFF2-40B4-BE49-F238E27FC236}">
                <a16:creationId xmlns:a16="http://schemas.microsoft.com/office/drawing/2014/main" id="{48D07089-61F3-499F-AB9F-187AABBBE4F0}"/>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4E10992A-94B0-47AF-A519-0756459E3A7B}"/>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253455BD-683F-4B20-8948-110966BA07F9}"/>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FA6ED1C0-8625-46B6-8FC1-04D90AAF7325}"/>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 {</a:t>
            </a:r>
          </a:p>
        </p:txBody>
      </p:sp>
      <p:sp>
        <p:nvSpPr>
          <p:cNvPr id="18" name="text">
            <a:extLst>
              <a:ext uri="{FF2B5EF4-FFF2-40B4-BE49-F238E27FC236}">
                <a16:creationId xmlns:a16="http://schemas.microsoft.com/office/drawing/2014/main" id="{63F8CCD9-57B3-4581-AABA-28423870F136}"/>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13C52104-6FF7-4F80-A93D-9FE27E452436}"/>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inline static int wheels = 4;</a:t>
            </a:r>
          </a:p>
        </p:txBody>
      </p:sp>
      <p:sp>
        <p:nvSpPr>
          <p:cNvPr id="20" name="text">
            <a:extLst>
              <a:ext uri="{FF2B5EF4-FFF2-40B4-BE49-F238E27FC236}">
                <a16:creationId xmlns:a16="http://schemas.microsoft.com/office/drawing/2014/main" id="{5C94911F-F9D9-4C4C-9864-789CBD876CCF}"/>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battery = 80;</a:t>
            </a:r>
          </a:p>
        </p:txBody>
      </p:sp>
      <p:sp>
        <p:nvSpPr>
          <p:cNvPr id="21" name="text">
            <a:extLst>
              <a:ext uri="{FF2B5EF4-FFF2-40B4-BE49-F238E27FC236}">
                <a16:creationId xmlns:a16="http://schemas.microsoft.com/office/drawing/2014/main" id="{B77F8305-F284-4E45-8B28-4A12224727DF}"/>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2" name="Rectangle 21">
            <a:extLst>
              <a:ext uri="{FF2B5EF4-FFF2-40B4-BE49-F238E27FC236}">
                <a16:creationId xmlns:a16="http://schemas.microsoft.com/office/drawing/2014/main" id="{7D949FFF-9733-43EB-8078-327BF73B56C1}"/>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507D2BED-39C6-4074-877D-D87D2747D498}"/>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F9474ECC-1DA6-427F-BEC0-F8AEDBD8DDC7}"/>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53847ED3-EA50-4F2B-944C-0BE19265963C}"/>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a:t>
            </a:r>
          </a:p>
        </p:txBody>
      </p:sp>
      <p:sp>
        <p:nvSpPr>
          <p:cNvPr id="26" name="text">
            <a:extLst>
              <a:ext uri="{FF2B5EF4-FFF2-40B4-BE49-F238E27FC236}">
                <a16:creationId xmlns:a16="http://schemas.microsoft.com/office/drawing/2014/main" id="{D5AE00A9-94B6-404F-9CB5-28871E5EEF80}"/>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wheels = 4</a:t>
            </a:r>
          </a:p>
        </p:txBody>
      </p:sp>
      <p:sp>
        <p:nvSpPr>
          <p:cNvPr id="27" name="text">
            <a:extLst>
              <a:ext uri="{FF2B5EF4-FFF2-40B4-BE49-F238E27FC236}">
                <a16:creationId xmlns:a16="http://schemas.microsoft.com/office/drawing/2014/main" id="{FB802598-6038-49C3-A1A2-ECD83ACD58C1}"/>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__init__(self):</a:t>
            </a:r>
          </a:p>
        </p:txBody>
      </p:sp>
      <p:sp>
        <p:nvSpPr>
          <p:cNvPr id="28" name="text">
            <a:extLst>
              <a:ext uri="{FF2B5EF4-FFF2-40B4-BE49-F238E27FC236}">
                <a16:creationId xmlns:a16="http://schemas.microsoft.com/office/drawing/2014/main" id="{E76761D5-9BAF-4E04-9B6E-60583C7A659D}"/>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self.battery = 80</a:t>
            </a:r>
          </a:p>
        </p:txBody>
      </p:sp>
      <p:sp>
        <p:nvSpPr>
          <p:cNvPr id="29" name="text">
            <a:extLst>
              <a:ext uri="{FF2B5EF4-FFF2-40B4-BE49-F238E27FC236}">
                <a16:creationId xmlns:a16="http://schemas.microsoft.com/office/drawing/2014/main" id="{808BDF34-01B6-4DF1-BD2C-C1B8F302EFCE}"/>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Robot::wheels in C++ and Robot.wheels in Python both read 4.</a:t>
            </a:r>
          </a:p>
        </p:txBody>
      </p:sp>
      <p:sp>
        <p:nvSpPr>
          <p:cNvPr id="30" name="text">
            <a:extLst>
              <a:ext uri="{FF2B5EF4-FFF2-40B4-BE49-F238E27FC236}">
                <a16:creationId xmlns:a16="http://schemas.microsoft.com/office/drawing/2014/main" id="{4AB369A0-EAA3-4A0E-B2D7-819354D1EAA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The four pillars of OOP</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9</a:t>
            </a:r>
          </a:p>
        </p:txBody>
      </p:sp>
      <p:sp>
        <p:nvSpPr>
          <p:cNvPr id="13" name="text">
            <a:extLst>
              <a:ext uri="{FF2B5EF4-FFF2-40B4-BE49-F238E27FC236}">
                <a16:creationId xmlns:a16="http://schemas.microsoft.com/office/drawing/2014/main" id="{822E5022-899F-4895-B49B-79E81440D07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Four concepts help us organize behavior and manage dependencies.</a:t>
            </a:r>
          </a:p>
        </p:txBody>
      </p:sp>
      <p:sp>
        <p:nvSpPr>
          <p:cNvPr id="14" name="text">
            <a:extLst>
              <a:ext uri="{FF2B5EF4-FFF2-40B4-BE49-F238E27FC236}">
                <a16:creationId xmlns:a16="http://schemas.microsoft.com/office/drawing/2014/main" id="{E9CDCA5C-5C4D-4814-971D-C620F73DD845}"/>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Encapsulation</a:t>
            </a:r>
          </a:p>
        </p:txBody>
      </p:sp>
      <p:sp>
        <p:nvSpPr>
          <p:cNvPr id="15" name="text">
            <a:extLst>
              <a:ext uri="{FF2B5EF4-FFF2-40B4-BE49-F238E27FC236}">
                <a16:creationId xmlns:a16="http://schemas.microsoft.com/office/drawing/2014/main" id="{78E03C86-83C7-427F-A98A-329082ADED9B}"/>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How can state change?</a:t>
            </a:r>
          </a:p>
        </p:txBody>
      </p:sp>
      <p:sp>
        <p:nvSpPr>
          <p:cNvPr id="16" name="text">
            <a:extLst>
              <a:ext uri="{FF2B5EF4-FFF2-40B4-BE49-F238E27FC236}">
                <a16:creationId xmlns:a16="http://schemas.microsoft.com/office/drawing/2014/main" id="{848C4232-61C6-4AE0-8531-2D05B800E672}"/>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Abstraction</a:t>
            </a:r>
          </a:p>
        </p:txBody>
      </p:sp>
      <p:sp>
        <p:nvSpPr>
          <p:cNvPr id="17" name="text">
            <a:extLst>
              <a:ext uri="{FF2B5EF4-FFF2-40B4-BE49-F238E27FC236}">
                <a16:creationId xmlns:a16="http://schemas.microsoft.com/office/drawing/2014/main" id="{DBACA219-E25E-4AA8-82F4-49366E24C22E}"/>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What does the caller need to use?</a:t>
            </a:r>
          </a:p>
        </p:txBody>
      </p:sp>
      <p:sp>
        <p:nvSpPr>
          <p:cNvPr id="18" name="text">
            <a:extLst>
              <a:ext uri="{FF2B5EF4-FFF2-40B4-BE49-F238E27FC236}">
                <a16:creationId xmlns:a16="http://schemas.microsoft.com/office/drawing/2014/main" id="{03ADE210-55DD-42B8-852A-C496861EEF73}"/>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Inheritance</a:t>
            </a:r>
          </a:p>
        </p:txBody>
      </p:sp>
      <p:sp>
        <p:nvSpPr>
          <p:cNvPr id="19" name="text">
            <a:extLst>
              <a:ext uri="{FF2B5EF4-FFF2-40B4-BE49-F238E27FC236}">
                <a16:creationId xmlns:a16="http://schemas.microsoft.com/office/drawing/2014/main" id="{BEF045F0-D700-44BB-B5F7-52DB5E769EE1}"/>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What is a specialized kind of this type?</a:t>
            </a:r>
          </a:p>
        </p:txBody>
      </p:sp>
      <p:sp>
        <p:nvSpPr>
          <p:cNvPr id="20" name="text">
            <a:extLst>
              <a:ext uri="{FF2B5EF4-FFF2-40B4-BE49-F238E27FC236}">
                <a16:creationId xmlns:a16="http://schemas.microsoft.com/office/drawing/2014/main" id="{686C8ECD-844E-4C47-AD26-FE9049F9A2C9}"/>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Polymorphism</a:t>
            </a:r>
          </a:p>
        </p:txBody>
      </p:sp>
      <p:sp>
        <p:nvSpPr>
          <p:cNvPr id="21" name="text">
            <a:extLst>
              <a:ext uri="{FF2B5EF4-FFF2-40B4-BE49-F238E27FC236}">
                <a16:creationId xmlns:a16="http://schemas.microsoft.com/office/drawing/2014/main" id="{A9DE940E-00C2-4C5E-BA8C-070554791D4C}"/>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Which implementation handles this call?</a:t>
            </a:r>
          </a:p>
        </p:txBody>
      </p:sp>
      <p:sp>
        <p:nvSpPr>
          <p:cNvPr id="22" name="text">
            <a:extLst>
              <a:ext uri="{FF2B5EF4-FFF2-40B4-BE49-F238E27FC236}">
                <a16:creationId xmlns:a16="http://schemas.microsoft.com/office/drawing/2014/main" id="{CFFAB7A0-D139-4255-9C5D-0ADB7F352021}"/>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[S]  [G1]  [G2]</a:t>
            </a:r>
          </a:p>
        </p:txBody>
      </p:sp>
    </p:spTree>
    <p:extLst>
      <p:ext uri="{BB962C8B-B14F-4D97-AF65-F5344CB8AC3E}">
        <p14:creationId xmlns:p14="http://schemas.microsoft.com/office/powerpoint/2010/main" val="36456721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1. Encapsulation</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10</a:t>
            </a:r>
          </a:p>
        </p:txBody>
      </p:sp>
      <p:sp>
        <p:nvSpPr>
          <p:cNvPr id="13" name="text">
            <a:extLst>
              <a:ext uri="{FF2B5EF4-FFF2-40B4-BE49-F238E27FC236}">
                <a16:creationId xmlns:a16="http://schemas.microsoft.com/office/drawing/2014/main" id="{76C724E9-38BB-43D8-98B2-5E543505434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Encapsulation groups state with operations that control access to it.</a:t>
            </a:r>
          </a:p>
        </p:txBody>
      </p:sp>
      <p:sp>
        <p:nvSpPr>
          <p:cNvPr id="14" name="diagram-node">
            <a:extLst>
              <a:ext uri="{FF2B5EF4-FFF2-40B4-BE49-F238E27FC236}">
                <a16:creationId xmlns:a16="http://schemas.microsoft.com/office/drawing/2014/main" id="{7F741143-6CA4-4592-81B0-FAF80C135CF3}"/>
              </a:ext>
            </a:extLst>
          </p:cNvPr>
          <p:cNvSpPr>
            <a:spLocks noGrp="1"/>
          </p:cNvSpPr>
          <p:nvPr/>
        </p:nvSpPr>
        <p:spPr>
          <a:xfrm>
            <a:off x="266700" y="1390650"/>
            <a:ext cx="1257300" cy="5334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Outside code</a:t>
            </a:r>
          </a:p>
        </p:txBody>
      </p:sp>
      <p:sp>
        <p:nvSpPr>
          <p:cNvPr id="15" name="diagram-node">
            <a:extLst>
              <a:ext uri="{FF2B5EF4-FFF2-40B4-BE49-F238E27FC236}">
                <a16:creationId xmlns:a16="http://schemas.microsoft.com/office/drawing/2014/main" id="{D8EAABEA-5FE6-47D8-8804-4C2715022B0F}"/>
              </a:ext>
            </a:extLst>
          </p:cNvPr>
          <p:cNvSpPr>
            <a:spLocks noGrp="1"/>
          </p:cNvSpPr>
          <p:nvPr/>
        </p:nvSpPr>
        <p:spPr>
          <a:xfrm>
            <a:off x="2038350" y="1266825"/>
            <a:ext cx="1524000" cy="781050"/>
          </a:xfrm>
          <a:prstGeom prst="rect">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050">
                <a:solidFill>
                  <a:srgbClr val="202020"/>
                </a:solidFill>
                <a:latin typeface="Arial"/>
                <a:ea typeface="Arial"/>
                <a:cs typeface="Arial"/>
              </a:defRPr>
            </a:pPr>
            <a:r>
              <a:rPr sz="1050">
                <a:solidFill>
                  <a:srgbClr val="202020"/>
                </a:solidFill>
                <a:latin typeface="Arial"/>
                <a:ea typeface="Arial"/>
                <a:cs typeface="Arial"/>
              </a:rPr>
              <a:t>use(amount)</a:t>
            </a:r>
          </a:p>
          <a:p>
            <a:pPr algn="ctr">
              <a:lnSpc>
                <a:spcPct val="107000"/>
              </a:lnSpc>
              <a:buNone/>
              <a:defRPr sz="1050">
                <a:solidFill>
                  <a:srgbClr val="202020"/>
                </a:solidFill>
                <a:latin typeface="Arial"/>
                <a:ea typeface="Arial"/>
                <a:cs typeface="Arial"/>
              </a:defRPr>
            </a:pPr>
            <a:r>
              <a:rPr sz="1050">
                <a:solidFill>
                  <a:srgbClr val="202020"/>
                </a:solidFill>
                <a:latin typeface="Arial"/>
                <a:ea typeface="Arial"/>
                <a:cs typeface="Arial"/>
              </a:rPr>
              <a:t>Check request</a:t>
            </a:r>
          </a:p>
        </p:txBody>
      </p:sp>
      <p:sp>
        <p:nvSpPr>
          <p:cNvPr id="16" name="diagram-node">
            <a:extLst>
              <a:ext uri="{FF2B5EF4-FFF2-40B4-BE49-F238E27FC236}">
                <a16:creationId xmlns:a16="http://schemas.microsoft.com/office/drawing/2014/main" id="{4919AC49-33B9-40B6-8440-3107550C4599}"/>
              </a:ext>
            </a:extLst>
          </p:cNvPr>
          <p:cNvSpPr>
            <a:spLocks noGrp="1"/>
          </p:cNvSpPr>
          <p:nvPr/>
        </p:nvSpPr>
        <p:spPr>
          <a:xfrm>
            <a:off x="4095750" y="1390650"/>
            <a:ext cx="1409700" cy="5334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Battery state</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0 to 100</a:t>
            </a:r>
          </a:p>
        </p:txBody>
      </p:sp>
      <p:cxnSp>
        <p:nvCxnSpPr>
          <p:cNvPr id="32" name="Straight Arrow Connector 31"/>
          <p:cNvCxnSpPr>
            <a:stCxn id="14" idx="3"/>
            <a:endCxn id="15" idx="1"/>
          </p:cNvCxnSpPr>
          <p:nvPr/>
        </p:nvCxnSpPr>
        <p:spPr>
          <a:xfrm>
            <a:off x="1524000" y="1657350"/>
            <a:ext cx="514350" cy="0"/>
          </a:xfrm>
          <a:prstGeom prst="straightConnector1">
            <a:avLst/>
          </a:prstGeom>
          <a:ln w="11430">
            <a:solidFill>
              <a:srgbClr val="66717C"/>
            </a:solidFill>
            <a:headEnd type="none" w="med" len="med"/>
            <a:tailEnd type="triangle" w="sm" len="sm"/>
          </a:ln>
        </p:spPr>
      </p:cxnSp>
      <p:cxnSp>
        <p:nvCxnSpPr>
          <p:cNvPr id="33" name="Straight Arrow Connector 32"/>
          <p:cNvCxnSpPr>
            <a:stCxn id="15" idx="3"/>
            <a:endCxn id="16" idx="1"/>
          </p:cNvCxnSpPr>
          <p:nvPr/>
        </p:nvCxnSpPr>
        <p:spPr>
          <a:xfrm>
            <a:off x="3562350" y="1657350"/>
            <a:ext cx="533400" cy="0"/>
          </a:xfrm>
          <a:prstGeom prst="straightConnector1">
            <a:avLst/>
          </a:prstGeom>
          <a:ln w="11430">
            <a:solidFill>
              <a:srgbClr val="66717C"/>
            </a:solidFill>
            <a:headEnd type="none" w="med" len="med"/>
            <a:tailEnd type="triangle" w="sm" len="sm"/>
          </a:ln>
        </p:spPr>
      </p:cxnSp>
      <p:sp>
        <p:nvSpPr>
          <p:cNvPr id="19" name="text">
            <a:extLst>
              <a:ext uri="{FF2B5EF4-FFF2-40B4-BE49-F238E27FC236}">
                <a16:creationId xmlns:a16="http://schemas.microsoft.com/office/drawing/2014/main" id="{AC5D60C8-2C02-4EA6-A61A-05C265324FA6}"/>
              </a:ext>
            </a:extLst>
          </p:cNvPr>
          <p:cNvSpPr>
            <a:spLocks noGrp="1"/>
          </p:cNvSpPr>
          <p:nvPr/>
        </p:nvSpPr>
        <p:spPr>
          <a:xfrm>
            <a:off x="2038350" y="2181225"/>
            <a:ext cx="1619250" cy="238125"/>
          </a:xfrm>
          <a:prstGeom prst="rect">
            <a:avLst/>
          </a:prstGeom>
          <a:noFill/>
          <a:ln w="0">
            <a:noFill/>
          </a:ln>
        </p:spPr>
        <p:txBody>
          <a:bodyPr wrap="square" lIns="0" tIns="0" rIns="0" bIns="0" anchor="t">
            <a:noAutofit/>
          </a:bodyPr>
          <a:lstStyle/>
          <a:p>
            <a:pPr algn="l">
              <a:lnSpc>
                <a:spcPct val="110000"/>
              </a:lnSpc>
              <a:buNone/>
              <a:defRPr sz="975" b="0">
                <a:solidFill>
                  <a:srgbClr val="006ABA"/>
                </a:solidFill>
                <a:latin typeface="Arial"/>
                <a:ea typeface="Arial"/>
                <a:cs typeface="Arial"/>
              </a:defRPr>
            </a:pPr>
            <a:r>
              <a:rPr sz="975" b="0">
                <a:solidFill>
                  <a:srgbClr val="006ABA"/>
                </a:solidFill>
                <a:latin typeface="Arial"/>
                <a:ea typeface="Arial"/>
                <a:cs typeface="Arial"/>
              </a:rPr>
              <a:t>Public operation</a:t>
            </a:r>
          </a:p>
        </p:txBody>
      </p:sp>
      <p:sp>
        <p:nvSpPr>
          <p:cNvPr id="20" name="text">
            <a:extLst>
              <a:ext uri="{FF2B5EF4-FFF2-40B4-BE49-F238E27FC236}">
                <a16:creationId xmlns:a16="http://schemas.microsoft.com/office/drawing/2014/main" id="{DFCF9F3A-D575-4A19-8B7D-22C3C9F8FD19}"/>
              </a:ext>
            </a:extLst>
          </p:cNvPr>
          <p:cNvSpPr>
            <a:spLocks noGrp="1"/>
          </p:cNvSpPr>
          <p:nvPr/>
        </p:nvSpPr>
        <p:spPr>
          <a:xfrm>
            <a:off x="4095750" y="2181225"/>
            <a:ext cx="1428750" cy="238125"/>
          </a:xfrm>
          <a:prstGeom prst="rect">
            <a:avLst/>
          </a:prstGeom>
          <a:noFill/>
          <a:ln w="0">
            <a:noFill/>
          </a:ln>
        </p:spPr>
        <p:txBody>
          <a:bodyPr wrap="square" lIns="0" tIns="0" rIns="0" bIns="0" anchor="t">
            <a:noAutofit/>
          </a:bodyPr>
          <a:lstStyle/>
          <a:p>
            <a:pPr algn="l">
              <a:lnSpc>
                <a:spcPct val="110000"/>
              </a:lnSpc>
              <a:buNone/>
              <a:defRPr sz="975" b="0">
                <a:solidFill>
                  <a:srgbClr val="006ABA"/>
                </a:solidFill>
                <a:latin typeface="Arial"/>
                <a:ea typeface="Arial"/>
                <a:cs typeface="Arial"/>
              </a:defRPr>
            </a:pPr>
            <a:r>
              <a:rPr sz="975" b="0">
                <a:solidFill>
                  <a:srgbClr val="006ABA"/>
                </a:solidFill>
                <a:latin typeface="Arial"/>
                <a:ea typeface="Arial"/>
                <a:cs typeface="Arial"/>
              </a:rPr>
              <a:t>Internal value</a:t>
            </a:r>
          </a:p>
        </p:txBody>
      </p:sp>
      <p:sp>
        <p:nvSpPr>
          <p:cNvPr id="21" name="text">
            <a:extLst>
              <a:ext uri="{FF2B5EF4-FFF2-40B4-BE49-F238E27FC236}">
                <a16:creationId xmlns:a16="http://schemas.microsoft.com/office/drawing/2014/main" id="{FADEF6CE-9064-4286-9916-E6EBBA5ECB6C}"/>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Invariant: battery stays between 0 and 100.</a:t>
            </a:r>
          </a:p>
        </p:txBody>
      </p:sp>
      <p:sp>
        <p:nvSpPr>
          <p:cNvPr id="22" name="text">
            <a:extLst>
              <a:ext uri="{FF2B5EF4-FFF2-40B4-BE49-F238E27FC236}">
                <a16:creationId xmlns:a16="http://schemas.microsoft.com/office/drawing/2014/main" id="{C4D991AD-7129-4249-A64F-1CCD9BB15541}"/>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[S]  [B]</a:t>
            </a:r>
          </a:p>
        </p:txBody>
      </p:sp>
    </p:spTree>
    <p:extLst>
      <p:ext uri="{BB962C8B-B14F-4D97-AF65-F5344CB8AC3E}">
        <p14:creationId xmlns:p14="http://schemas.microsoft.com/office/powerpoint/2010/main" val="364567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Encapsulation: controlled battery use</a:t>
            </a:r>
            <a:endParaRPr sz="1400" b="0" spc="-10">
              <a:latin typeface="Arial"/>
              <a:ea typeface="Arial"/>
              <a:cs typeface="Arial"/>
            </a:endParaRPr>
          </a:p>
        </p:txBody>
      </p:sp>
      <p:pic>
        <p:nvPicPr>
          <p:cNvPr id="40" name="object 4"/>
          <p:cNvPicPr>
            <a:picLocks noChangeAspect="1"/>
          </p:cNvPicPr>
          <p:nvPr/>
        </p:nvPicPr>
        <p:blipFill>
          <a:blip r:embed="rId3"/>
          <a:stretch>
            <a:fillRect/>
          </a:stretch>
        </p:blipFill>
        <p:spPr>
          <a:xfrm>
            <a:off x="152565" y="2988507"/>
            <a:ext cx="900668" cy="161917"/>
          </a:xfrm>
          <a:prstGeom prst="rect">
            <a:avLst/>
          </a:prstGeom>
        </p:spPr>
      </p:pic>
      <p:pic>
        <p:nvPicPr>
          <p:cNvPr id="4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11</a:t>
            </a:r>
          </a:p>
        </p:txBody>
      </p:sp>
      <p:sp>
        <p:nvSpPr>
          <p:cNvPr id="13" name="text">
            <a:extLst>
              <a:ext uri="{FF2B5EF4-FFF2-40B4-BE49-F238E27FC236}">
                <a16:creationId xmlns:a16="http://schemas.microsoft.com/office/drawing/2014/main" id="{79771CA0-EF88-4F09-A594-98289CBACD5A}"/>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use(n) accepts a non-negative amount that fits the remaining level.</a:t>
            </a:r>
          </a:p>
        </p:txBody>
      </p:sp>
      <p:sp>
        <p:nvSpPr>
          <p:cNvPr id="14" name="Rectangle 13">
            <a:extLst>
              <a:ext uri="{FF2B5EF4-FFF2-40B4-BE49-F238E27FC236}">
                <a16:creationId xmlns:a16="http://schemas.microsoft.com/office/drawing/2014/main" id="{282DBB4E-4362-4A58-8A55-B9E6F204C1DA}"/>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AE4D4083-D96E-4D90-A55A-D5591D435449}"/>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A8C94004-F25B-4320-AC66-F30E14D73294}"/>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5A72C81C-AACA-4F6D-B7B2-8E0EAD8F98B1}"/>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Battery {</a:t>
            </a:r>
          </a:p>
        </p:txBody>
      </p:sp>
      <p:sp>
        <p:nvSpPr>
          <p:cNvPr id="18" name="text">
            <a:extLst>
              <a:ext uri="{FF2B5EF4-FFF2-40B4-BE49-F238E27FC236}">
                <a16:creationId xmlns:a16="http://schemas.microsoft.com/office/drawing/2014/main" id="{1F9E2446-A1B0-4912-8372-F2B910AC85E7}"/>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level_ = 80;</a:t>
            </a:r>
          </a:p>
        </p:txBody>
      </p:sp>
      <p:sp>
        <p:nvSpPr>
          <p:cNvPr id="19" name="text">
            <a:extLst>
              <a:ext uri="{FF2B5EF4-FFF2-40B4-BE49-F238E27FC236}">
                <a16:creationId xmlns:a16="http://schemas.microsoft.com/office/drawing/2014/main" id="{79A858C7-8536-4814-8894-1CF14911BC35}"/>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20" name="text">
            <a:extLst>
              <a:ext uri="{FF2B5EF4-FFF2-40B4-BE49-F238E27FC236}">
                <a16:creationId xmlns:a16="http://schemas.microsoft.com/office/drawing/2014/main" id="{28921269-DC0E-42B2-A0EE-FA07CE834A55}"/>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void use(int n) {</a:t>
            </a:r>
          </a:p>
        </p:txBody>
      </p:sp>
      <p:sp>
        <p:nvSpPr>
          <p:cNvPr id="21" name="text">
            <a:extLst>
              <a:ext uri="{FF2B5EF4-FFF2-40B4-BE49-F238E27FC236}">
                <a16:creationId xmlns:a16="http://schemas.microsoft.com/office/drawing/2014/main" id="{C1D831BB-CD4F-4B8D-8F5C-49F7DB6856D0}"/>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if (n &gt;= 0 &amp;&amp; n &lt;= level_)</a:t>
            </a:r>
          </a:p>
        </p:txBody>
      </p:sp>
      <p:sp>
        <p:nvSpPr>
          <p:cNvPr id="22" name="text">
            <a:extLst>
              <a:ext uri="{FF2B5EF4-FFF2-40B4-BE49-F238E27FC236}">
                <a16:creationId xmlns:a16="http://schemas.microsoft.com/office/drawing/2014/main" id="{00E3DF70-3874-4597-989F-BED88C29CB9F}"/>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level_ -= n;</a:t>
            </a:r>
          </a:p>
        </p:txBody>
      </p:sp>
      <p:sp>
        <p:nvSpPr>
          <p:cNvPr id="23" name="text">
            <a:extLst>
              <a:ext uri="{FF2B5EF4-FFF2-40B4-BE49-F238E27FC236}">
                <a16:creationId xmlns:a16="http://schemas.microsoft.com/office/drawing/2014/main" id="{3A21CE8A-821A-49D1-BB1E-B51D6A3C99FB}"/>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t>
            </a:r>
          </a:p>
        </p:txBody>
      </p:sp>
      <p:sp>
        <p:nvSpPr>
          <p:cNvPr id="24" name="text">
            <a:extLst>
              <a:ext uri="{FF2B5EF4-FFF2-40B4-BE49-F238E27FC236}">
                <a16:creationId xmlns:a16="http://schemas.microsoft.com/office/drawing/2014/main" id="{1F173D11-5F04-4DD9-8C4E-5C1DC25C3250}"/>
              </a:ext>
            </a:extLst>
          </p:cNvPr>
          <p:cNvSpPr>
            <a:spLocks noGrp="1"/>
          </p:cNvSpPr>
          <p:nvPr/>
        </p:nvSpPr>
        <p:spPr>
          <a:xfrm>
            <a:off x="29527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level() const { return level_; }</a:t>
            </a:r>
          </a:p>
        </p:txBody>
      </p:sp>
      <p:sp>
        <p:nvSpPr>
          <p:cNvPr id="25" name="text">
            <a:extLst>
              <a:ext uri="{FF2B5EF4-FFF2-40B4-BE49-F238E27FC236}">
                <a16:creationId xmlns:a16="http://schemas.microsoft.com/office/drawing/2014/main" id="{08A30D39-EA85-4F84-B12C-5A0FDEB88E55}"/>
              </a:ext>
            </a:extLst>
          </p:cNvPr>
          <p:cNvSpPr>
            <a:spLocks noGrp="1"/>
          </p:cNvSpPr>
          <p:nvPr/>
        </p:nvSpPr>
        <p:spPr>
          <a:xfrm>
            <a:off x="295275" y="21031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6" name="Rectangle 25">
            <a:extLst>
              <a:ext uri="{FF2B5EF4-FFF2-40B4-BE49-F238E27FC236}">
                <a16:creationId xmlns:a16="http://schemas.microsoft.com/office/drawing/2014/main" id="{3A53435D-33ED-4FE8-B197-8753583D1AB8}"/>
              </a:ext>
            </a:extLst>
          </p:cNvPr>
          <p:cNvSpPr>
            <a:spLocks noGrp="1"/>
          </p:cNvSpPr>
          <p:nvPr/>
        </p:nvSpPr>
        <p:spPr>
          <a:xfrm>
            <a:off x="2990850" y="981075"/>
            <a:ext cx="2600325" cy="1504950"/>
          </a:xfrm>
          <a:prstGeom prst="rect">
            <a:avLst/>
          </a:prstGeom>
          <a:solidFill>
            <a:srgbClr val="101827"/>
          </a:solidFill>
          <a:ln w="0">
            <a:noFill/>
          </a:ln>
        </p:spPr>
      </p:sp>
      <p:sp>
        <p:nvSpPr>
          <p:cNvPr id="27" name="Rectangle 26">
            <a:extLst>
              <a:ext uri="{FF2B5EF4-FFF2-40B4-BE49-F238E27FC236}">
                <a16:creationId xmlns:a16="http://schemas.microsoft.com/office/drawing/2014/main" id="{F8ECBD6B-761E-439B-8A59-18235FFFDD64}"/>
              </a:ext>
            </a:extLst>
          </p:cNvPr>
          <p:cNvSpPr>
            <a:spLocks noGrp="1"/>
          </p:cNvSpPr>
          <p:nvPr/>
        </p:nvSpPr>
        <p:spPr>
          <a:xfrm>
            <a:off x="2990850" y="800100"/>
            <a:ext cx="2600325" cy="180975"/>
          </a:xfrm>
          <a:prstGeom prst="rect">
            <a:avLst/>
          </a:prstGeom>
          <a:solidFill>
            <a:srgbClr val="1AA260"/>
          </a:solidFill>
          <a:ln w="0">
            <a:noFill/>
          </a:ln>
        </p:spPr>
      </p:sp>
      <p:sp>
        <p:nvSpPr>
          <p:cNvPr id="28" name="text">
            <a:extLst>
              <a:ext uri="{FF2B5EF4-FFF2-40B4-BE49-F238E27FC236}">
                <a16:creationId xmlns:a16="http://schemas.microsoft.com/office/drawing/2014/main" id="{22120C1D-E2AB-44BB-9E63-238BB5D95B4F}"/>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9" name="text">
            <a:extLst>
              <a:ext uri="{FF2B5EF4-FFF2-40B4-BE49-F238E27FC236}">
                <a16:creationId xmlns:a16="http://schemas.microsoft.com/office/drawing/2014/main" id="{DE9E7CE5-DA75-41CE-A06B-D1B9FC2FA338}"/>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Battery:</a:t>
            </a:r>
          </a:p>
        </p:txBody>
      </p:sp>
      <p:sp>
        <p:nvSpPr>
          <p:cNvPr id="30" name="text">
            <a:extLst>
              <a:ext uri="{FF2B5EF4-FFF2-40B4-BE49-F238E27FC236}">
                <a16:creationId xmlns:a16="http://schemas.microsoft.com/office/drawing/2014/main" id="{700526C4-0AA8-438F-8B58-CD818566C367}"/>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__init__(self):</a:t>
            </a:r>
          </a:p>
        </p:txBody>
      </p:sp>
      <p:sp>
        <p:nvSpPr>
          <p:cNvPr id="31" name="text">
            <a:extLst>
              <a:ext uri="{FF2B5EF4-FFF2-40B4-BE49-F238E27FC236}">
                <a16:creationId xmlns:a16="http://schemas.microsoft.com/office/drawing/2014/main" id="{169CD838-36AA-4F74-96ED-B05B9B936DB5}"/>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self._level = 80</a:t>
            </a:r>
          </a:p>
        </p:txBody>
      </p:sp>
      <p:sp>
        <p:nvSpPr>
          <p:cNvPr id="32" name="text">
            <a:extLst>
              <a:ext uri="{FF2B5EF4-FFF2-40B4-BE49-F238E27FC236}">
                <a16:creationId xmlns:a16="http://schemas.microsoft.com/office/drawing/2014/main" id="{F7722BB7-AC05-4CCD-8403-90584431C216}"/>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use(self, n):</a:t>
            </a:r>
          </a:p>
        </p:txBody>
      </p:sp>
      <p:sp>
        <p:nvSpPr>
          <p:cNvPr id="33" name="text">
            <a:extLst>
              <a:ext uri="{FF2B5EF4-FFF2-40B4-BE49-F238E27FC236}">
                <a16:creationId xmlns:a16="http://schemas.microsoft.com/office/drawing/2014/main" id="{3F6E1E4C-D509-47B9-81D3-93FFF1F0DC26}"/>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if 0 &lt;= n &lt;= self._level:</a:t>
            </a:r>
          </a:p>
        </p:txBody>
      </p:sp>
      <p:sp>
        <p:nvSpPr>
          <p:cNvPr id="34" name="text">
            <a:extLst>
              <a:ext uri="{FF2B5EF4-FFF2-40B4-BE49-F238E27FC236}">
                <a16:creationId xmlns:a16="http://schemas.microsoft.com/office/drawing/2014/main" id="{F65494A1-19AA-4FDD-90A7-DFBA3AA07327}"/>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self._level -= n</a:t>
            </a:r>
          </a:p>
        </p:txBody>
      </p:sp>
      <p:sp>
        <p:nvSpPr>
          <p:cNvPr id="35" name="text">
            <a:extLst>
              <a:ext uri="{FF2B5EF4-FFF2-40B4-BE49-F238E27FC236}">
                <a16:creationId xmlns:a16="http://schemas.microsoft.com/office/drawing/2014/main" id="{0D48D042-9AB6-45AF-98E9-01308452AF26}"/>
              </a:ext>
            </a:extLst>
          </p:cNvPr>
          <p:cNvSpPr>
            <a:spLocks noGrp="1"/>
          </p:cNvSpPr>
          <p:nvPr/>
        </p:nvSpPr>
        <p:spPr>
          <a:xfrm>
            <a:off x="305752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level(self):</a:t>
            </a:r>
          </a:p>
        </p:txBody>
      </p:sp>
      <p:sp>
        <p:nvSpPr>
          <p:cNvPr id="36" name="text">
            <a:extLst>
              <a:ext uri="{FF2B5EF4-FFF2-40B4-BE49-F238E27FC236}">
                <a16:creationId xmlns:a16="http://schemas.microsoft.com/office/drawing/2014/main" id="{CB0D7D48-69CF-4574-A10C-3C2DEDB90ACE}"/>
              </a:ext>
            </a:extLst>
          </p:cNvPr>
          <p:cNvSpPr>
            <a:spLocks noGrp="1"/>
          </p:cNvSpPr>
          <p:nvPr/>
        </p:nvSpPr>
        <p:spPr>
          <a:xfrm>
            <a:off x="305752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self._level</a:t>
            </a:r>
          </a:p>
        </p:txBody>
      </p:sp>
      <p:sp>
        <p:nvSpPr>
          <p:cNvPr id="37" name="text">
            <a:extLst>
              <a:ext uri="{FF2B5EF4-FFF2-40B4-BE49-F238E27FC236}">
                <a16:creationId xmlns:a16="http://schemas.microsoft.com/office/drawing/2014/main" id="{D702C1FC-9FDA-4599-9FC5-ECA983F0B86A}"/>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Valid request: update state. Invalid request: leave state unchanged.</a:t>
            </a:r>
          </a:p>
        </p:txBody>
      </p:sp>
      <p:sp>
        <p:nvSpPr>
          <p:cNvPr id="38" name="text">
            <a:extLst>
              <a:ext uri="{FF2B5EF4-FFF2-40B4-BE49-F238E27FC236}">
                <a16:creationId xmlns:a16="http://schemas.microsoft.com/office/drawing/2014/main" id="{DD189D50-5853-4EC0-BAA8-8B038ABCE664}"/>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[B]  [C]  [P]</a:t>
            </a:r>
          </a:p>
        </p:txBody>
      </p:sp>
    </p:spTree>
    <p:extLst>
      <p:ext uri="{BB962C8B-B14F-4D97-AF65-F5344CB8AC3E}">
        <p14:creationId xmlns:p14="http://schemas.microsoft.com/office/powerpoint/2010/main" val="3645672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Testing the battery rule</a:t>
            </a:r>
            <a:endParaRPr sz="1400" b="0" spc="-10">
              <a:latin typeface="Arial"/>
              <a:ea typeface="Arial"/>
              <a:cs typeface="Arial"/>
            </a:endParaRPr>
          </a:p>
        </p:txBody>
      </p:sp>
      <p:pic>
        <p:nvPicPr>
          <p:cNvPr id="33" name="object 4"/>
          <p:cNvPicPr>
            <a:picLocks noChangeAspect="1"/>
          </p:cNvPicPr>
          <p:nvPr/>
        </p:nvPicPr>
        <p:blipFill>
          <a:blip r:embed="rId3"/>
          <a:stretch>
            <a:fillRect/>
          </a:stretch>
        </p:blipFill>
        <p:spPr>
          <a:xfrm>
            <a:off x="152565" y="2988507"/>
            <a:ext cx="900668" cy="161917"/>
          </a:xfrm>
          <a:prstGeom prst="rect">
            <a:avLst/>
          </a:prstGeom>
        </p:spPr>
      </p:pic>
      <p:pic>
        <p:nvPicPr>
          <p:cNvPr id="34"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12</a:t>
            </a:r>
          </a:p>
        </p:txBody>
      </p:sp>
      <p:sp>
        <p:nvSpPr>
          <p:cNvPr id="13" name="text">
            <a:extLst>
              <a:ext uri="{FF2B5EF4-FFF2-40B4-BE49-F238E27FC236}">
                <a16:creationId xmlns:a16="http://schemas.microsoft.com/office/drawing/2014/main" id="{C84C1BA3-789D-47BC-A8FB-D23CF8381FA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public method preserves the battery range.</a:t>
            </a:r>
          </a:p>
        </p:txBody>
      </p:sp>
      <p:sp>
        <p:nvSpPr>
          <p:cNvPr id="14" name="Rectangle 13">
            <a:extLst>
              <a:ext uri="{FF2B5EF4-FFF2-40B4-BE49-F238E27FC236}">
                <a16:creationId xmlns:a16="http://schemas.microsoft.com/office/drawing/2014/main" id="{A0E79925-7A30-4206-8487-BE314C888FE6}"/>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C295BB56-2C09-4BBF-A86F-22C29BCDD8FB}"/>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83B14D80-0660-4787-9948-0750B48DE5CB}"/>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3BE34799-7D0B-4AD4-9F7A-E09CF15A27B6}"/>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Battery b;</a:t>
            </a:r>
          </a:p>
        </p:txBody>
      </p:sp>
      <p:sp>
        <p:nvSpPr>
          <p:cNvPr id="18" name="text">
            <a:extLst>
              <a:ext uri="{FF2B5EF4-FFF2-40B4-BE49-F238E27FC236}">
                <a16:creationId xmlns:a16="http://schemas.microsoft.com/office/drawing/2014/main" id="{4136432C-3123-4232-BE7C-D2C14E3C7108}"/>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b.use(20);</a:t>
            </a:r>
          </a:p>
        </p:txBody>
      </p:sp>
      <p:sp>
        <p:nvSpPr>
          <p:cNvPr id="19" name="text">
            <a:extLst>
              <a:ext uri="{FF2B5EF4-FFF2-40B4-BE49-F238E27FC236}">
                <a16:creationId xmlns:a16="http://schemas.microsoft.com/office/drawing/2014/main" id="{BF2C38F5-4EEF-46B4-910D-A399BCF73881}"/>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b.level() &lt;&lt; "\n";</a:t>
            </a:r>
          </a:p>
        </p:txBody>
      </p:sp>
      <p:sp>
        <p:nvSpPr>
          <p:cNvPr id="20" name="text">
            <a:extLst>
              <a:ext uri="{FF2B5EF4-FFF2-40B4-BE49-F238E27FC236}">
                <a16:creationId xmlns:a16="http://schemas.microsoft.com/office/drawing/2014/main" id="{C46890E0-FAB1-4090-A312-64A4596B5893}"/>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b.use(90);</a:t>
            </a:r>
          </a:p>
        </p:txBody>
      </p:sp>
      <p:sp>
        <p:nvSpPr>
          <p:cNvPr id="21" name="text">
            <a:extLst>
              <a:ext uri="{FF2B5EF4-FFF2-40B4-BE49-F238E27FC236}">
                <a16:creationId xmlns:a16="http://schemas.microsoft.com/office/drawing/2014/main" id="{1D20550F-858C-4B6B-A60A-5E6AB548889F}"/>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b.level() &lt;&lt; "\n";</a:t>
            </a:r>
          </a:p>
        </p:txBody>
      </p:sp>
      <p:sp>
        <p:nvSpPr>
          <p:cNvPr id="22" name="Rectangle 21">
            <a:extLst>
              <a:ext uri="{FF2B5EF4-FFF2-40B4-BE49-F238E27FC236}">
                <a16:creationId xmlns:a16="http://schemas.microsoft.com/office/drawing/2014/main" id="{D9514605-21B1-488C-A89A-97E5CB0065FC}"/>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0BF47BD4-1CCA-444A-BCDB-EC292E037CA0}"/>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A48B8FBB-571A-4C01-BD26-38B41D07459C}"/>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6460E19A-FA05-4F50-992E-35027AD4EC9A}"/>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 = Battery()</a:t>
            </a:r>
          </a:p>
        </p:txBody>
      </p:sp>
      <p:sp>
        <p:nvSpPr>
          <p:cNvPr id="26" name="text">
            <a:extLst>
              <a:ext uri="{FF2B5EF4-FFF2-40B4-BE49-F238E27FC236}">
                <a16:creationId xmlns:a16="http://schemas.microsoft.com/office/drawing/2014/main" id="{76899946-FB01-49F3-8A89-7F18FB324794}"/>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b.use(20)</a:t>
            </a:r>
          </a:p>
        </p:txBody>
      </p:sp>
      <p:sp>
        <p:nvSpPr>
          <p:cNvPr id="27" name="text">
            <a:extLst>
              <a:ext uri="{FF2B5EF4-FFF2-40B4-BE49-F238E27FC236}">
                <a16:creationId xmlns:a16="http://schemas.microsoft.com/office/drawing/2014/main" id="{AB815B7A-A8A5-4448-86F7-F0E20E4DBCAE}"/>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print(b.level())</a:t>
            </a:r>
          </a:p>
        </p:txBody>
      </p:sp>
      <p:sp>
        <p:nvSpPr>
          <p:cNvPr id="28" name="text">
            <a:extLst>
              <a:ext uri="{FF2B5EF4-FFF2-40B4-BE49-F238E27FC236}">
                <a16:creationId xmlns:a16="http://schemas.microsoft.com/office/drawing/2014/main" id="{C84CEEA2-8986-4661-9F42-A45E043A8B17}"/>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b.use(90)</a:t>
            </a:r>
          </a:p>
        </p:txBody>
      </p:sp>
      <p:sp>
        <p:nvSpPr>
          <p:cNvPr id="29" name="text">
            <a:extLst>
              <a:ext uri="{FF2B5EF4-FFF2-40B4-BE49-F238E27FC236}">
                <a16:creationId xmlns:a16="http://schemas.microsoft.com/office/drawing/2014/main" id="{1215341E-41D5-4C61-9091-AC76FF574A31}"/>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print(b.level())</a:t>
            </a:r>
          </a:p>
        </p:txBody>
      </p:sp>
      <p:sp>
        <p:nvSpPr>
          <p:cNvPr id="30" name="text">
            <a:extLst>
              <a:ext uri="{FF2B5EF4-FFF2-40B4-BE49-F238E27FC236}">
                <a16:creationId xmlns:a16="http://schemas.microsoft.com/office/drawing/2014/main" id="{EA3133F6-B53B-433C-98BA-0CE41368C1A7}"/>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60, then 60. A request for 90 is rejected.</a:t>
            </a:r>
          </a:p>
        </p:txBody>
      </p:sp>
      <p:sp>
        <p:nvSpPr>
          <p:cNvPr id="31" name="text">
            <a:extLst>
              <a:ext uri="{FF2B5EF4-FFF2-40B4-BE49-F238E27FC236}">
                <a16:creationId xmlns:a16="http://schemas.microsoft.com/office/drawing/2014/main" id="{97B67DFA-FD23-4182-84BF-0B6DDC38A4B5}"/>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Access control in C++ and Python</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13</a:t>
            </a:r>
          </a:p>
        </p:txBody>
      </p:sp>
      <p:sp>
        <p:nvSpPr>
          <p:cNvPr id="13" name="text">
            <a:extLst>
              <a:ext uri="{FF2B5EF4-FFF2-40B4-BE49-F238E27FC236}">
                <a16:creationId xmlns:a16="http://schemas.microsoft.com/office/drawing/2014/main" id="{58193FDF-9FB5-408E-A7F6-6325323CF66A}"/>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C++ enforces access rules. Python uses conventions and properties.</a:t>
            </a:r>
          </a:p>
        </p:txBody>
      </p:sp>
      <p:sp>
        <p:nvSpPr>
          <p:cNvPr id="14" name="text">
            <a:extLst>
              <a:ext uri="{FF2B5EF4-FFF2-40B4-BE49-F238E27FC236}">
                <a16:creationId xmlns:a16="http://schemas.microsoft.com/office/drawing/2014/main" id="{E2A869A1-C610-4A91-88D9-F00D746F9C09}"/>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public</a:t>
            </a:r>
          </a:p>
        </p:txBody>
      </p:sp>
      <p:sp>
        <p:nvSpPr>
          <p:cNvPr id="15" name="text">
            <a:extLst>
              <a:ext uri="{FF2B5EF4-FFF2-40B4-BE49-F238E27FC236}">
                <a16:creationId xmlns:a16="http://schemas.microsoft.com/office/drawing/2014/main" id="{EA3B067F-2B04-4882-BFBA-BFA12CBA634E}"/>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Interface for outside code</a:t>
            </a:r>
          </a:p>
        </p:txBody>
      </p:sp>
      <p:sp>
        <p:nvSpPr>
          <p:cNvPr id="16" name="text">
            <a:extLst>
              <a:ext uri="{FF2B5EF4-FFF2-40B4-BE49-F238E27FC236}">
                <a16:creationId xmlns:a16="http://schemas.microsoft.com/office/drawing/2014/main" id="{F3651490-98AB-4290-A6EF-41DF7978D7A9}"/>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private / protected</a:t>
            </a:r>
          </a:p>
        </p:txBody>
      </p:sp>
      <p:sp>
        <p:nvSpPr>
          <p:cNvPr id="17" name="text">
            <a:extLst>
              <a:ext uri="{FF2B5EF4-FFF2-40B4-BE49-F238E27FC236}">
                <a16:creationId xmlns:a16="http://schemas.microsoft.com/office/drawing/2014/main" id="{33E8C760-544C-4989-8D3C-84B9EFF2B12C}"/>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Class access / additional derived-class access</a:t>
            </a:r>
          </a:p>
        </p:txBody>
      </p:sp>
      <p:sp>
        <p:nvSpPr>
          <p:cNvPr id="18" name="text">
            <a:extLst>
              <a:ext uri="{FF2B5EF4-FFF2-40B4-BE49-F238E27FC236}">
                <a16:creationId xmlns:a16="http://schemas.microsoft.com/office/drawing/2014/main" id="{3066D8F3-1756-4B61-B6E7-0E0F296657FF}"/>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_name / __name</a:t>
            </a:r>
          </a:p>
        </p:txBody>
      </p:sp>
      <p:sp>
        <p:nvSpPr>
          <p:cNvPr id="19" name="text">
            <a:extLst>
              <a:ext uri="{FF2B5EF4-FFF2-40B4-BE49-F238E27FC236}">
                <a16:creationId xmlns:a16="http://schemas.microsoft.com/office/drawing/2014/main" id="{9FE2A998-9670-4492-A143-FB958C7EFD0C}"/>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Internal convention / name mangling</a:t>
            </a:r>
          </a:p>
        </p:txBody>
      </p:sp>
      <p:sp>
        <p:nvSpPr>
          <p:cNvPr id="20" name="text">
            <a:extLst>
              <a:ext uri="{FF2B5EF4-FFF2-40B4-BE49-F238E27FC236}">
                <a16:creationId xmlns:a16="http://schemas.microsoft.com/office/drawing/2014/main" id="{2594B55B-B078-4992-AEDA-D5F0AFA32E9E}"/>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@property</a:t>
            </a:r>
          </a:p>
        </p:txBody>
      </p:sp>
      <p:sp>
        <p:nvSpPr>
          <p:cNvPr id="21" name="text">
            <a:extLst>
              <a:ext uri="{FF2B5EF4-FFF2-40B4-BE49-F238E27FC236}">
                <a16:creationId xmlns:a16="http://schemas.microsoft.com/office/drawing/2014/main" id="{CE04EF3B-31B6-418D-9DE6-74EAA048008C}"/>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Method logic behind attribute-style access</a:t>
            </a:r>
          </a:p>
        </p:txBody>
      </p:sp>
      <p:sp>
        <p:nvSpPr>
          <p:cNvPr id="22" name="text">
            <a:extLst>
              <a:ext uri="{FF2B5EF4-FFF2-40B4-BE49-F238E27FC236}">
                <a16:creationId xmlns:a16="http://schemas.microsoft.com/office/drawing/2014/main" id="{CC93A11D-5C83-4374-B986-E59F2C1C6F5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2. Abstraction</a:t>
            </a:r>
            <a:endParaRPr sz="1400" b="0" spc="-10">
              <a:latin typeface="Arial"/>
              <a:ea typeface="Arial"/>
              <a:cs typeface="Arial"/>
            </a:endParaRPr>
          </a:p>
        </p:txBody>
      </p:sp>
      <p:pic>
        <p:nvPicPr>
          <p:cNvPr id="25" name="object 4"/>
          <p:cNvPicPr>
            <a:picLocks noChangeAspect="1"/>
          </p:cNvPicPr>
          <p:nvPr/>
        </p:nvPicPr>
        <p:blipFill>
          <a:blip r:embed="rId3"/>
          <a:stretch>
            <a:fillRect/>
          </a:stretch>
        </p:blipFill>
        <p:spPr>
          <a:xfrm>
            <a:off x="152565" y="2988507"/>
            <a:ext cx="900668" cy="161917"/>
          </a:xfrm>
          <a:prstGeom prst="rect">
            <a:avLst/>
          </a:prstGeom>
        </p:spPr>
      </p:pic>
      <p:pic>
        <p:nvPicPr>
          <p:cNvPr id="2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14</a:t>
            </a:r>
          </a:p>
        </p:txBody>
      </p:sp>
      <p:sp>
        <p:nvSpPr>
          <p:cNvPr id="13" name="text">
            <a:extLst>
              <a:ext uri="{FF2B5EF4-FFF2-40B4-BE49-F238E27FC236}">
                <a16:creationId xmlns:a16="http://schemas.microsoft.com/office/drawing/2014/main" id="{4ED66D06-FF4E-4797-9FF8-FFC20006ED55}"/>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Abstraction exposes a useful operation and hides unnecessary detail.</a:t>
            </a:r>
          </a:p>
        </p:txBody>
      </p:sp>
      <p:sp>
        <p:nvSpPr>
          <p:cNvPr id="14" name="diagram-node">
            <a:extLst>
              <a:ext uri="{FF2B5EF4-FFF2-40B4-BE49-F238E27FC236}">
                <a16:creationId xmlns:a16="http://schemas.microsoft.com/office/drawing/2014/main" id="{74F2380B-F990-4E74-B0C5-9BCB76A8FF0D}"/>
              </a:ext>
            </a:extLst>
          </p:cNvPr>
          <p:cNvSpPr>
            <a:spLocks noGrp="1"/>
          </p:cNvSpPr>
          <p:nvPr/>
        </p:nvSpPr>
        <p:spPr>
          <a:xfrm>
            <a:off x="266700" y="1352550"/>
            <a:ext cx="1514475" cy="600075"/>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lang="en-US" sz="975">
                <a:solidFill>
                  <a:srgbClr val="202020"/>
                </a:solidFill>
                <a:latin typeface="Arial"/>
                <a:ea typeface="Arial"/>
                <a:cs typeface="Arial"/>
              </a:rPr>
              <a:t>Robile</a:t>
            </a:r>
          </a:p>
          <a:p>
            <a:pPr algn="ctr">
              <a:lnSpc>
                <a:spcPct val="107000"/>
              </a:lnSpc>
              <a:buNone/>
              <a:defRPr sz="975">
                <a:solidFill>
                  <a:srgbClr val="202020"/>
                </a:solidFill>
                <a:latin typeface="Arial"/>
                <a:ea typeface="Arial"/>
                <a:cs typeface="Arial"/>
              </a:defRPr>
            </a:pPr>
            <a:r>
              <a:rPr lang="en-US" sz="975">
                <a:solidFill>
                  <a:srgbClr val="202020"/>
                </a:solidFill>
                <a:latin typeface="Arial"/>
                <a:ea typeface="Arial"/>
                <a:cs typeface="Arial"/>
              </a:rPr>
              <a:t>needs a distance</a:t>
            </a:r>
            <a:endParaRPr sz="975">
              <a:solidFill>
                <a:srgbClr val="202020"/>
              </a:solidFill>
              <a:latin typeface="Arial"/>
              <a:ea typeface="Arial"/>
              <a:cs typeface="Arial"/>
            </a:endParaRPr>
          </a:p>
        </p:txBody>
      </p:sp>
      <p:sp>
        <p:nvSpPr>
          <p:cNvPr id="15" name="diagram-node">
            <a:extLst>
              <a:ext uri="{FF2B5EF4-FFF2-40B4-BE49-F238E27FC236}">
                <a16:creationId xmlns:a16="http://schemas.microsoft.com/office/drawing/2014/main" id="{C5207997-01BD-4D48-B14D-8C4D5B2057E2}"/>
              </a:ext>
            </a:extLst>
          </p:cNvPr>
          <p:cNvSpPr>
            <a:spLocks noGrp="1"/>
          </p:cNvSpPr>
          <p:nvPr/>
        </p:nvSpPr>
        <p:spPr>
          <a:xfrm>
            <a:off x="2152650" y="1352550"/>
            <a:ext cx="1362075" cy="600075"/>
          </a:xfrm>
          <a:prstGeom prst="rect">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read()</a:t>
            </a:r>
          </a:p>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centimeters</a:t>
            </a:r>
          </a:p>
        </p:txBody>
      </p:sp>
      <p:sp>
        <p:nvSpPr>
          <p:cNvPr id="16" name="diagram-node">
            <a:extLst>
              <a:ext uri="{FF2B5EF4-FFF2-40B4-BE49-F238E27FC236}">
                <a16:creationId xmlns:a16="http://schemas.microsoft.com/office/drawing/2014/main" id="{8D425486-16E7-47BF-98E4-EB73FF4B53C0}"/>
              </a:ext>
            </a:extLst>
          </p:cNvPr>
          <p:cNvSpPr>
            <a:spLocks noGrp="1"/>
          </p:cNvSpPr>
          <p:nvPr/>
        </p:nvSpPr>
        <p:spPr>
          <a:xfrm>
            <a:off x="3933825" y="1352550"/>
            <a:ext cx="1571625" cy="600075"/>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Sensor details</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fixed test value</a:t>
            </a:r>
          </a:p>
        </p:txBody>
      </p:sp>
      <p:cxnSp>
        <p:nvCxnSpPr>
          <p:cNvPr id="33" name="Straight Arrow Connector 32"/>
          <p:cNvCxnSpPr>
            <a:stCxn id="14" idx="3"/>
            <a:endCxn id="15" idx="1"/>
          </p:cNvCxnSpPr>
          <p:nvPr/>
        </p:nvCxnSpPr>
        <p:spPr>
          <a:xfrm>
            <a:off x="1781175" y="1652588"/>
            <a:ext cx="371475" cy="0"/>
          </a:xfrm>
          <a:prstGeom prst="straightConnector1">
            <a:avLst/>
          </a:prstGeom>
          <a:ln w="11430">
            <a:solidFill>
              <a:srgbClr val="66717C"/>
            </a:solidFill>
            <a:headEnd type="none" w="med" len="med"/>
            <a:tailEnd type="triangle" w="sm" len="sm"/>
          </a:ln>
        </p:spPr>
      </p:cxnSp>
      <p:cxnSp>
        <p:nvCxnSpPr>
          <p:cNvPr id="34" name="Straight Arrow Connector 33"/>
          <p:cNvCxnSpPr>
            <a:stCxn id="15" idx="3"/>
            <a:endCxn id="16" idx="1"/>
          </p:cNvCxnSpPr>
          <p:nvPr/>
        </p:nvCxnSpPr>
        <p:spPr>
          <a:xfrm>
            <a:off x="3514725" y="1652588"/>
            <a:ext cx="419100" cy="0"/>
          </a:xfrm>
          <a:prstGeom prst="straightConnector1">
            <a:avLst/>
          </a:prstGeom>
          <a:ln w="11430">
            <a:solidFill>
              <a:srgbClr val="66717C"/>
            </a:solidFill>
            <a:headEnd type="none" w="med" len="med"/>
            <a:tailEnd type="triangle" w="sm" len="sm"/>
          </a:ln>
        </p:spPr>
      </p:cxnSp>
      <p:sp>
        <p:nvSpPr>
          <p:cNvPr id="19" name="text">
            <a:extLst>
              <a:ext uri="{FF2B5EF4-FFF2-40B4-BE49-F238E27FC236}">
                <a16:creationId xmlns:a16="http://schemas.microsoft.com/office/drawing/2014/main" id="{26CCFAA0-EF64-422C-857A-1B11171660AB}"/>
              </a:ext>
            </a:extLst>
          </p:cNvPr>
          <p:cNvSpPr>
            <a:spLocks noGrp="1"/>
          </p:cNvSpPr>
          <p:nvPr/>
        </p:nvSpPr>
        <p:spPr>
          <a:xfrm>
            <a:off x="514350" y="2152650"/>
            <a:ext cx="100012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caller</a:t>
            </a:r>
          </a:p>
        </p:txBody>
      </p:sp>
      <p:sp>
        <p:nvSpPr>
          <p:cNvPr id="20" name="text">
            <a:extLst>
              <a:ext uri="{FF2B5EF4-FFF2-40B4-BE49-F238E27FC236}">
                <a16:creationId xmlns:a16="http://schemas.microsoft.com/office/drawing/2014/main" id="{5D90650E-8C2F-43D6-879E-57A6DF07482C}"/>
              </a:ext>
            </a:extLst>
          </p:cNvPr>
          <p:cNvSpPr>
            <a:spLocks noGrp="1"/>
          </p:cNvSpPr>
          <p:nvPr/>
        </p:nvSpPr>
        <p:spPr>
          <a:xfrm>
            <a:off x="2295525" y="2152650"/>
            <a:ext cx="109537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interface</a:t>
            </a:r>
          </a:p>
        </p:txBody>
      </p:sp>
      <p:sp>
        <p:nvSpPr>
          <p:cNvPr id="21" name="text">
            <a:extLst>
              <a:ext uri="{FF2B5EF4-FFF2-40B4-BE49-F238E27FC236}">
                <a16:creationId xmlns:a16="http://schemas.microsoft.com/office/drawing/2014/main" id="{E9BBC3FE-A913-467A-809B-1755736015C3}"/>
              </a:ext>
            </a:extLst>
          </p:cNvPr>
          <p:cNvSpPr>
            <a:spLocks noGrp="1"/>
          </p:cNvSpPr>
          <p:nvPr/>
        </p:nvSpPr>
        <p:spPr>
          <a:xfrm>
            <a:off x="3962400" y="2152650"/>
            <a:ext cx="157162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implementation</a:t>
            </a:r>
          </a:p>
        </p:txBody>
      </p:sp>
      <p:sp>
        <p:nvSpPr>
          <p:cNvPr id="22" name="text">
            <a:extLst>
              <a:ext uri="{FF2B5EF4-FFF2-40B4-BE49-F238E27FC236}">
                <a16:creationId xmlns:a16="http://schemas.microsoft.com/office/drawing/2014/main" id="{30DBA8E7-6AD4-450E-B5EF-989562453935}"/>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A simple interface can hide a complex implementation.</a:t>
            </a:r>
          </a:p>
        </p:txBody>
      </p:sp>
      <p:sp>
        <p:nvSpPr>
          <p:cNvPr id="23" name="text">
            <a:extLst>
              <a:ext uri="{FF2B5EF4-FFF2-40B4-BE49-F238E27FC236}">
                <a16:creationId xmlns:a16="http://schemas.microsoft.com/office/drawing/2014/main" id="{A51581E3-B740-42DB-B5C6-F49CA05DB81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[B]</a:t>
            </a:r>
          </a:p>
        </p:txBody>
      </p:sp>
    </p:spTree>
    <p:extLst>
      <p:ext uri="{BB962C8B-B14F-4D97-AF65-F5344CB8AC3E}">
        <p14:creationId xmlns:p14="http://schemas.microsoft.com/office/powerpoint/2010/main" val="3645672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An abstract interface</a:t>
            </a:r>
            <a:endParaRPr sz="1400" b="0" spc="-10">
              <a:latin typeface="Arial"/>
              <a:ea typeface="Arial"/>
              <a:cs typeface="Arial"/>
            </a:endParaRPr>
          </a:p>
        </p:txBody>
      </p:sp>
      <p:pic>
        <p:nvPicPr>
          <p:cNvPr id="34" name="object 4"/>
          <p:cNvPicPr>
            <a:picLocks noChangeAspect="1"/>
          </p:cNvPicPr>
          <p:nvPr/>
        </p:nvPicPr>
        <p:blipFill>
          <a:blip r:embed="rId3"/>
          <a:stretch>
            <a:fillRect/>
          </a:stretch>
        </p:blipFill>
        <p:spPr>
          <a:xfrm>
            <a:off x="152565" y="2988507"/>
            <a:ext cx="900668" cy="161917"/>
          </a:xfrm>
          <a:prstGeom prst="rect">
            <a:avLst/>
          </a:prstGeom>
        </p:spPr>
      </p:pic>
      <p:pic>
        <p:nvPicPr>
          <p:cNvPr id="3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15</a:t>
            </a:r>
          </a:p>
        </p:txBody>
      </p:sp>
      <p:sp>
        <p:nvSpPr>
          <p:cNvPr id="13" name="text">
            <a:extLst>
              <a:ext uri="{FF2B5EF4-FFF2-40B4-BE49-F238E27FC236}">
                <a16:creationId xmlns:a16="http://schemas.microsoft.com/office/drawing/2014/main" id="{1F3D422A-0336-47EC-9F64-E57C445A6FB9}"/>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concrete Sensor must implement read().</a:t>
            </a:r>
          </a:p>
        </p:txBody>
      </p:sp>
      <p:sp>
        <p:nvSpPr>
          <p:cNvPr id="14" name="Rectangle 13">
            <a:extLst>
              <a:ext uri="{FF2B5EF4-FFF2-40B4-BE49-F238E27FC236}">
                <a16:creationId xmlns:a16="http://schemas.microsoft.com/office/drawing/2014/main" id="{3671B4F4-1CA1-43DE-9CEF-CDB69017A5BF}"/>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8C678E2B-6266-4C27-B552-78BF35C2193E}"/>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53B32B7E-E23E-4547-A23E-87E070162C5B}"/>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36976421-B8F5-408E-960F-6B72133EACB2}"/>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Sensor {</a:t>
            </a:r>
          </a:p>
        </p:txBody>
      </p:sp>
      <p:sp>
        <p:nvSpPr>
          <p:cNvPr id="18" name="text">
            <a:extLst>
              <a:ext uri="{FF2B5EF4-FFF2-40B4-BE49-F238E27FC236}">
                <a16:creationId xmlns:a16="http://schemas.microsoft.com/office/drawing/2014/main" id="{0C623FB3-9A9C-48D9-B060-BA73785209C6}"/>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9754E7EC-D7BC-4405-84AE-82AD692D1794}"/>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virtual ~Sensor() = default;</a:t>
            </a:r>
          </a:p>
        </p:txBody>
      </p:sp>
      <p:sp>
        <p:nvSpPr>
          <p:cNvPr id="20" name="text">
            <a:extLst>
              <a:ext uri="{FF2B5EF4-FFF2-40B4-BE49-F238E27FC236}">
                <a16:creationId xmlns:a16="http://schemas.microsoft.com/office/drawing/2014/main" id="{840D17AB-8170-4096-97B8-770A734988FD}"/>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virtual int read() const = 0;</a:t>
            </a:r>
          </a:p>
        </p:txBody>
      </p:sp>
      <p:sp>
        <p:nvSpPr>
          <p:cNvPr id="21" name="text">
            <a:extLst>
              <a:ext uri="{FF2B5EF4-FFF2-40B4-BE49-F238E27FC236}">
                <a16:creationId xmlns:a16="http://schemas.microsoft.com/office/drawing/2014/main" id="{D76F2697-5BD7-451F-90B3-AA8D5D79FBCD}"/>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2" name="Rectangle 21">
            <a:extLst>
              <a:ext uri="{FF2B5EF4-FFF2-40B4-BE49-F238E27FC236}">
                <a16:creationId xmlns:a16="http://schemas.microsoft.com/office/drawing/2014/main" id="{F948639F-FD8A-458E-801A-F436DFBC6276}"/>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344FC878-7D2D-43C2-A524-DD0726E809F3}"/>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07A6F0E4-29D0-4794-B135-FF2776A6EF59}"/>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9F4E440C-DF26-40A2-9942-015FD5976EC3}"/>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from abc import ABC, abstractmethod</a:t>
            </a:r>
          </a:p>
        </p:txBody>
      </p:sp>
      <p:sp>
        <p:nvSpPr>
          <p:cNvPr id="26" name="text">
            <a:extLst>
              <a:ext uri="{FF2B5EF4-FFF2-40B4-BE49-F238E27FC236}">
                <a16:creationId xmlns:a16="http://schemas.microsoft.com/office/drawing/2014/main" id="{9CC2A96C-A311-4DD0-B134-C869824F0A53}"/>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endParaRPr/>
          </a:p>
        </p:txBody>
      </p:sp>
      <p:sp>
        <p:nvSpPr>
          <p:cNvPr id="27" name="text">
            <a:extLst>
              <a:ext uri="{FF2B5EF4-FFF2-40B4-BE49-F238E27FC236}">
                <a16:creationId xmlns:a16="http://schemas.microsoft.com/office/drawing/2014/main" id="{283265C3-6A9C-4FEB-A2D3-CB320B8B310A}"/>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Sensor(ABC):</a:t>
            </a:r>
          </a:p>
        </p:txBody>
      </p:sp>
      <p:sp>
        <p:nvSpPr>
          <p:cNvPr id="28" name="text">
            <a:extLst>
              <a:ext uri="{FF2B5EF4-FFF2-40B4-BE49-F238E27FC236}">
                <a16:creationId xmlns:a16="http://schemas.microsoft.com/office/drawing/2014/main" id="{7980A99E-CE8B-49FF-8069-70D2EC89CA62}"/>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@abstractmethod</a:t>
            </a:r>
          </a:p>
        </p:txBody>
      </p:sp>
      <p:sp>
        <p:nvSpPr>
          <p:cNvPr id="29" name="text">
            <a:extLst>
              <a:ext uri="{FF2B5EF4-FFF2-40B4-BE49-F238E27FC236}">
                <a16:creationId xmlns:a16="http://schemas.microsoft.com/office/drawing/2014/main" id="{0F468B3E-1648-41E2-8231-E527F17A7781}"/>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read(self):</a:t>
            </a:r>
          </a:p>
        </p:txBody>
      </p:sp>
      <p:sp>
        <p:nvSpPr>
          <p:cNvPr id="30" name="text">
            <a:extLst>
              <a:ext uri="{FF2B5EF4-FFF2-40B4-BE49-F238E27FC236}">
                <a16:creationId xmlns:a16="http://schemas.microsoft.com/office/drawing/2014/main" id="{171EBC3A-2F55-4D88-831D-F1738659555E}"/>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pass</a:t>
            </a:r>
          </a:p>
        </p:txBody>
      </p:sp>
      <p:sp>
        <p:nvSpPr>
          <p:cNvPr id="31" name="text">
            <a:extLst>
              <a:ext uri="{FF2B5EF4-FFF2-40B4-BE49-F238E27FC236}">
                <a16:creationId xmlns:a16="http://schemas.microsoft.com/office/drawing/2014/main" id="{76D38A66-115F-49AF-8B51-8CFF0F75C11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Contract for this example: read() returns distance in centimeters.</a:t>
            </a:r>
          </a:p>
        </p:txBody>
      </p:sp>
      <p:sp>
        <p:nvSpPr>
          <p:cNvPr id="32" name="text">
            <a:extLst>
              <a:ext uri="{FF2B5EF4-FFF2-40B4-BE49-F238E27FC236}">
                <a16:creationId xmlns:a16="http://schemas.microsoft.com/office/drawing/2014/main" id="{F49558AC-1D42-44D6-89C9-44B52DD411F8}"/>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[A]  [V]  [B]</a:t>
            </a:r>
          </a:p>
        </p:txBody>
      </p:sp>
    </p:spTree>
    <p:extLst>
      <p:ext uri="{BB962C8B-B14F-4D97-AF65-F5344CB8AC3E}">
        <p14:creationId xmlns:p14="http://schemas.microsoft.com/office/powerpoint/2010/main" val="3645672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 concrete implementation</a:t>
            </a:r>
            <a:endParaRPr sz="1400" b="0" spc="-10">
              <a:latin typeface="Arial"/>
              <a:ea typeface="Arial"/>
              <a:cs typeface="Arial"/>
            </a:endParaRPr>
          </a:p>
        </p:txBody>
      </p:sp>
      <p:pic>
        <p:nvPicPr>
          <p:cNvPr id="30" name="object 4"/>
          <p:cNvPicPr>
            <a:picLocks noChangeAspect="1"/>
          </p:cNvPicPr>
          <p:nvPr/>
        </p:nvPicPr>
        <p:blipFill>
          <a:blip r:embed="rId3"/>
          <a:stretch>
            <a:fillRect/>
          </a:stretch>
        </p:blipFill>
        <p:spPr>
          <a:xfrm>
            <a:off x="152565" y="2988507"/>
            <a:ext cx="900668" cy="161917"/>
          </a:xfrm>
          <a:prstGeom prst="rect">
            <a:avLst/>
          </a:prstGeom>
        </p:spPr>
      </p:pic>
      <p:pic>
        <p:nvPicPr>
          <p:cNvPr id="3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16</a:t>
            </a:r>
          </a:p>
        </p:txBody>
      </p:sp>
      <p:sp>
        <p:nvSpPr>
          <p:cNvPr id="13" name="text">
            <a:extLst>
              <a:ext uri="{FF2B5EF4-FFF2-40B4-BE49-F238E27FC236}">
                <a16:creationId xmlns:a16="http://schemas.microsoft.com/office/drawing/2014/main" id="{30EFDFFF-AD47-43CA-87CC-65F3EFEF48CA}"/>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NearSensor supplies a fixed reading for a small software test.</a:t>
            </a:r>
          </a:p>
        </p:txBody>
      </p:sp>
      <p:sp>
        <p:nvSpPr>
          <p:cNvPr id="14" name="Rectangle 13">
            <a:extLst>
              <a:ext uri="{FF2B5EF4-FFF2-40B4-BE49-F238E27FC236}">
                <a16:creationId xmlns:a16="http://schemas.microsoft.com/office/drawing/2014/main" id="{BE5EBB91-9C82-4BDD-BF36-3AE99CA5BAD6}"/>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380E9FD8-3BCD-4DA8-ADC6-DA83F474D883}"/>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B71B16D2-7086-424F-9468-62FC401EC44A}"/>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C3354491-0F5A-4D4E-B681-1A6C2220FCC7}"/>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NearSensor : public Sensor {</a:t>
            </a:r>
          </a:p>
        </p:txBody>
      </p:sp>
      <p:sp>
        <p:nvSpPr>
          <p:cNvPr id="18" name="text">
            <a:extLst>
              <a:ext uri="{FF2B5EF4-FFF2-40B4-BE49-F238E27FC236}">
                <a16:creationId xmlns:a16="http://schemas.microsoft.com/office/drawing/2014/main" id="{E36101C1-A84B-48B9-97A0-6DF8AA978C09}"/>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8D994792-8B87-49DA-94F0-65C7AC9A3683}"/>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read() const override { return 20; }</a:t>
            </a:r>
          </a:p>
        </p:txBody>
      </p:sp>
      <p:sp>
        <p:nvSpPr>
          <p:cNvPr id="20" name="text">
            <a:extLst>
              <a:ext uri="{FF2B5EF4-FFF2-40B4-BE49-F238E27FC236}">
                <a16:creationId xmlns:a16="http://schemas.microsoft.com/office/drawing/2014/main" id="{0D7E5555-9A88-4E59-BD63-DD659B75B0D6}"/>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1" name="Rectangle 20">
            <a:extLst>
              <a:ext uri="{FF2B5EF4-FFF2-40B4-BE49-F238E27FC236}">
                <a16:creationId xmlns:a16="http://schemas.microsoft.com/office/drawing/2014/main" id="{FDE363D5-34A5-44E8-A50B-6CAE1BD802BE}"/>
              </a:ext>
            </a:extLst>
          </p:cNvPr>
          <p:cNvSpPr>
            <a:spLocks noGrp="1"/>
          </p:cNvSpPr>
          <p:nvPr/>
        </p:nvSpPr>
        <p:spPr>
          <a:xfrm>
            <a:off x="2990850" y="981075"/>
            <a:ext cx="2600325" cy="1504950"/>
          </a:xfrm>
          <a:prstGeom prst="rect">
            <a:avLst/>
          </a:prstGeom>
          <a:solidFill>
            <a:srgbClr val="101827"/>
          </a:solidFill>
          <a:ln w="0">
            <a:noFill/>
          </a:ln>
        </p:spPr>
      </p:sp>
      <p:sp>
        <p:nvSpPr>
          <p:cNvPr id="22" name="Rectangle 21">
            <a:extLst>
              <a:ext uri="{FF2B5EF4-FFF2-40B4-BE49-F238E27FC236}">
                <a16:creationId xmlns:a16="http://schemas.microsoft.com/office/drawing/2014/main" id="{59A145C3-87DE-4940-A49A-6AD1F6AC5B3C}"/>
              </a:ext>
            </a:extLst>
          </p:cNvPr>
          <p:cNvSpPr>
            <a:spLocks noGrp="1"/>
          </p:cNvSpPr>
          <p:nvPr/>
        </p:nvSpPr>
        <p:spPr>
          <a:xfrm>
            <a:off x="2990850" y="800100"/>
            <a:ext cx="2600325" cy="180975"/>
          </a:xfrm>
          <a:prstGeom prst="rect">
            <a:avLst/>
          </a:prstGeom>
          <a:solidFill>
            <a:srgbClr val="1AA260"/>
          </a:solidFill>
          <a:ln w="0">
            <a:noFill/>
          </a:ln>
        </p:spPr>
      </p:sp>
      <p:sp>
        <p:nvSpPr>
          <p:cNvPr id="23" name="text">
            <a:extLst>
              <a:ext uri="{FF2B5EF4-FFF2-40B4-BE49-F238E27FC236}">
                <a16:creationId xmlns:a16="http://schemas.microsoft.com/office/drawing/2014/main" id="{2C462F0A-A6A8-47DB-BB33-C07E2E4C1ED3}"/>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4" name="text">
            <a:extLst>
              <a:ext uri="{FF2B5EF4-FFF2-40B4-BE49-F238E27FC236}">
                <a16:creationId xmlns:a16="http://schemas.microsoft.com/office/drawing/2014/main" id="{7F73A163-72B8-4340-BD4E-8BB7E9D0532E}"/>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NearSensor(Sensor):</a:t>
            </a:r>
          </a:p>
        </p:txBody>
      </p:sp>
      <p:sp>
        <p:nvSpPr>
          <p:cNvPr id="25" name="text">
            <a:extLst>
              <a:ext uri="{FF2B5EF4-FFF2-40B4-BE49-F238E27FC236}">
                <a16:creationId xmlns:a16="http://schemas.microsoft.com/office/drawing/2014/main" id="{F63A097D-7627-4FB6-93B7-61DA4C41E062}"/>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read(self):</a:t>
            </a:r>
          </a:p>
        </p:txBody>
      </p:sp>
      <p:sp>
        <p:nvSpPr>
          <p:cNvPr id="26" name="text">
            <a:extLst>
              <a:ext uri="{FF2B5EF4-FFF2-40B4-BE49-F238E27FC236}">
                <a16:creationId xmlns:a16="http://schemas.microsoft.com/office/drawing/2014/main" id="{569549AA-9DC4-47C2-8D80-1BA27C652822}"/>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20</a:t>
            </a:r>
          </a:p>
        </p:txBody>
      </p:sp>
      <p:sp>
        <p:nvSpPr>
          <p:cNvPr id="27" name="text">
            <a:extLst>
              <a:ext uri="{FF2B5EF4-FFF2-40B4-BE49-F238E27FC236}">
                <a16:creationId xmlns:a16="http://schemas.microsoft.com/office/drawing/2014/main" id="{56E9BA12-C24F-4037-B14F-1706E635784B}"/>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NearSensor().read() gives 20 centimeters.</a:t>
            </a:r>
          </a:p>
        </p:txBody>
      </p:sp>
      <p:sp>
        <p:nvSpPr>
          <p:cNvPr id="28" name="text">
            <a:extLst>
              <a:ext uri="{FF2B5EF4-FFF2-40B4-BE49-F238E27FC236}">
                <a16:creationId xmlns:a16="http://schemas.microsoft.com/office/drawing/2014/main" id="{00443B64-8D78-4FFD-8AEC-7E335FDC4440}"/>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[A]  [V]  [B]</a:t>
            </a:r>
          </a:p>
        </p:txBody>
      </p:sp>
    </p:spTree>
    <p:extLst>
      <p:ext uri="{BB962C8B-B14F-4D97-AF65-F5344CB8AC3E}">
        <p14:creationId xmlns:p14="http://schemas.microsoft.com/office/powerpoint/2010/main" val="36456721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3. Inheritance</a:t>
            </a:r>
            <a:endParaRPr sz="1400" b="0" spc="-10">
              <a:latin typeface="Arial"/>
              <a:ea typeface="Arial"/>
              <a:cs typeface="Arial"/>
            </a:endParaRPr>
          </a:p>
        </p:txBody>
      </p:sp>
      <p:pic>
        <p:nvPicPr>
          <p:cNvPr id="22" name="object 4"/>
          <p:cNvPicPr>
            <a:picLocks noChangeAspect="1"/>
          </p:cNvPicPr>
          <p:nvPr/>
        </p:nvPicPr>
        <p:blipFill>
          <a:blip r:embed="rId3"/>
          <a:stretch>
            <a:fillRect/>
          </a:stretch>
        </p:blipFill>
        <p:spPr>
          <a:xfrm>
            <a:off x="152565" y="2988507"/>
            <a:ext cx="900668" cy="161917"/>
          </a:xfrm>
          <a:prstGeom prst="rect">
            <a:avLst/>
          </a:prstGeom>
        </p:spPr>
      </p:pic>
      <p:pic>
        <p:nvPicPr>
          <p:cNvPr id="2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17</a:t>
            </a:r>
          </a:p>
        </p:txBody>
      </p:sp>
      <p:sp>
        <p:nvSpPr>
          <p:cNvPr id="13" name="text">
            <a:extLst>
              <a:ext uri="{FF2B5EF4-FFF2-40B4-BE49-F238E27FC236}">
                <a16:creationId xmlns:a16="http://schemas.microsoft.com/office/drawing/2014/main" id="{03475B88-3B6D-44DC-A3D2-8B7FB40BBEDC}"/>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Inheritance defines a derived class using an existing base class.</a:t>
            </a:r>
          </a:p>
        </p:txBody>
      </p:sp>
      <p:sp>
        <p:nvSpPr>
          <p:cNvPr id="14" name="diagram-node">
            <a:extLst>
              <a:ext uri="{FF2B5EF4-FFF2-40B4-BE49-F238E27FC236}">
                <a16:creationId xmlns:a16="http://schemas.microsoft.com/office/drawing/2014/main" id="{0ED95573-5FB7-4AF3-A217-E16DCB65340A}"/>
              </a:ext>
            </a:extLst>
          </p:cNvPr>
          <p:cNvSpPr>
            <a:spLocks noGrp="1"/>
          </p:cNvSpPr>
          <p:nvPr/>
        </p:nvSpPr>
        <p:spPr>
          <a:xfrm>
            <a:off x="2076450" y="981075"/>
            <a:ext cx="1619250" cy="581025"/>
          </a:xfrm>
          <a:prstGeom prst="rect">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Robot</a:t>
            </a:r>
          </a:p>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move()</a:t>
            </a:r>
          </a:p>
        </p:txBody>
      </p:sp>
      <p:sp>
        <p:nvSpPr>
          <p:cNvPr id="15" name="diagram-node">
            <a:extLst>
              <a:ext uri="{FF2B5EF4-FFF2-40B4-BE49-F238E27FC236}">
                <a16:creationId xmlns:a16="http://schemas.microsoft.com/office/drawing/2014/main" id="{B86DDD41-F2AA-4AA5-887E-3B6E189AC743}"/>
              </a:ext>
            </a:extLst>
          </p:cNvPr>
          <p:cNvSpPr>
            <a:spLocks noGrp="1"/>
          </p:cNvSpPr>
          <p:nvPr/>
        </p:nvSpPr>
        <p:spPr>
          <a:xfrm>
            <a:off x="2076450" y="1924050"/>
            <a:ext cx="1619250" cy="581025"/>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DeliveryRobot</a:t>
            </a:r>
          </a:p>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deliver()</a:t>
            </a:r>
          </a:p>
        </p:txBody>
      </p:sp>
      <p:cxnSp>
        <p:nvCxnSpPr>
          <p:cNvPr id="29" name="Straight Arrow Connector 28"/>
          <p:cNvCxnSpPr>
            <a:stCxn id="15" idx="0"/>
            <a:endCxn id="14" idx="2"/>
          </p:cNvCxnSpPr>
          <p:nvPr/>
        </p:nvCxnSpPr>
        <p:spPr>
          <a:xfrm flipV="1">
            <a:off x="2886075" y="1562100"/>
            <a:ext cx="0" cy="361950"/>
          </a:xfrm>
          <a:prstGeom prst="straightConnector1">
            <a:avLst/>
          </a:prstGeom>
          <a:ln w="11430">
            <a:solidFill>
              <a:srgbClr val="66717C"/>
            </a:solidFill>
            <a:headEnd type="none" w="med" len="med"/>
            <a:tailEnd type="triangle" w="sm" len="sm"/>
          </a:ln>
        </p:spPr>
      </p:cxnSp>
      <p:sp>
        <p:nvSpPr>
          <p:cNvPr id="17" name="text">
            <a:extLst>
              <a:ext uri="{FF2B5EF4-FFF2-40B4-BE49-F238E27FC236}">
                <a16:creationId xmlns:a16="http://schemas.microsoft.com/office/drawing/2014/main" id="{6FB56A6E-18BA-4C1F-AB0F-7046EA0B5DE2}"/>
              </a:ext>
            </a:extLst>
          </p:cNvPr>
          <p:cNvSpPr>
            <a:spLocks noGrp="1"/>
          </p:cNvSpPr>
          <p:nvPr/>
        </p:nvSpPr>
        <p:spPr>
          <a:xfrm>
            <a:off x="3771900" y="1695450"/>
            <a:ext cx="895350" cy="257175"/>
          </a:xfrm>
          <a:prstGeom prst="rect">
            <a:avLst/>
          </a:prstGeom>
          <a:noFill/>
          <a:ln w="0">
            <a:noFill/>
          </a:ln>
        </p:spPr>
        <p:txBody>
          <a:bodyPr wrap="square" lIns="0" tIns="0" rIns="0" bIns="0" anchor="t">
            <a:noAutofit/>
          </a:bodyPr>
          <a:lstStyle/>
          <a:p>
            <a:pPr algn="l">
              <a:lnSpc>
                <a:spcPct val="110000"/>
              </a:lnSpc>
              <a:buNone/>
              <a:defRPr sz="1050" b="0">
                <a:solidFill>
                  <a:srgbClr val="006ABA"/>
                </a:solidFill>
                <a:latin typeface="Arial"/>
                <a:ea typeface="Arial"/>
                <a:cs typeface="Arial"/>
              </a:defRPr>
            </a:pPr>
            <a:r>
              <a:rPr sz="1050" b="0">
                <a:solidFill>
                  <a:srgbClr val="006ABA"/>
                </a:solidFill>
                <a:latin typeface="Arial"/>
                <a:ea typeface="Arial"/>
                <a:cs typeface="Arial"/>
              </a:rPr>
              <a:t>is a</a:t>
            </a:r>
          </a:p>
        </p:txBody>
      </p:sp>
      <p:sp>
        <p:nvSpPr>
          <p:cNvPr id="18" name="text">
            <a:extLst>
              <a:ext uri="{FF2B5EF4-FFF2-40B4-BE49-F238E27FC236}">
                <a16:creationId xmlns:a16="http://schemas.microsoft.com/office/drawing/2014/main" id="{A0C3C92C-B3BF-43EB-A2D8-297E0766CF9D}"/>
              </a:ext>
            </a:extLst>
          </p:cNvPr>
          <p:cNvSpPr>
            <a:spLocks noGrp="1"/>
          </p:cNvSpPr>
          <p:nvPr/>
        </p:nvSpPr>
        <p:spPr>
          <a:xfrm>
            <a:off x="257175" y="2190750"/>
            <a:ext cx="1638300" cy="28575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Inherits move()</a:t>
            </a:r>
          </a:p>
        </p:txBody>
      </p:sp>
      <p:sp>
        <p:nvSpPr>
          <p:cNvPr id="19" name="text">
            <a:extLst>
              <a:ext uri="{FF2B5EF4-FFF2-40B4-BE49-F238E27FC236}">
                <a16:creationId xmlns:a16="http://schemas.microsoft.com/office/drawing/2014/main" id="{998B49AC-49D6-4A47-980F-76911CC09FBF}"/>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DeliveryRobot is a Robot. A battery is a component instead.</a:t>
            </a:r>
          </a:p>
        </p:txBody>
      </p:sp>
      <p:sp>
        <p:nvSpPr>
          <p:cNvPr id="20" name="text">
            <a:extLst>
              <a:ext uri="{FF2B5EF4-FFF2-40B4-BE49-F238E27FC236}">
                <a16:creationId xmlns:a16="http://schemas.microsoft.com/office/drawing/2014/main" id="{8B2AF2CA-E13F-4D4A-8249-DD03C974CEBE}"/>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[S]</a:t>
            </a:r>
          </a:p>
        </p:txBody>
      </p:sp>
    </p:spTree>
    <p:extLst>
      <p:ext uri="{BB962C8B-B14F-4D97-AF65-F5344CB8AC3E}">
        <p14:creationId xmlns:p14="http://schemas.microsoft.com/office/powerpoint/2010/main" val="3645672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Inheritance: reuse and extend</a:t>
            </a:r>
            <a:endParaRPr sz="1400" b="0" spc="-10">
              <a:latin typeface="Arial"/>
              <a:ea typeface="Arial"/>
              <a:cs typeface="Arial"/>
            </a:endParaRPr>
          </a:p>
        </p:txBody>
      </p:sp>
      <p:pic>
        <p:nvPicPr>
          <p:cNvPr id="34" name="object 4"/>
          <p:cNvPicPr>
            <a:picLocks noChangeAspect="1"/>
          </p:cNvPicPr>
          <p:nvPr/>
        </p:nvPicPr>
        <p:blipFill>
          <a:blip r:embed="rId3"/>
          <a:stretch>
            <a:fillRect/>
          </a:stretch>
        </p:blipFill>
        <p:spPr>
          <a:xfrm>
            <a:off x="152565" y="2988507"/>
            <a:ext cx="900668" cy="161917"/>
          </a:xfrm>
          <a:prstGeom prst="rect">
            <a:avLst/>
          </a:prstGeom>
        </p:spPr>
      </p:pic>
      <p:pic>
        <p:nvPicPr>
          <p:cNvPr id="3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18</a:t>
            </a:r>
          </a:p>
        </p:txBody>
      </p:sp>
      <p:sp>
        <p:nvSpPr>
          <p:cNvPr id="13" name="text">
            <a:extLst>
              <a:ext uri="{FF2B5EF4-FFF2-40B4-BE49-F238E27FC236}">
                <a16:creationId xmlns:a16="http://schemas.microsoft.com/office/drawing/2014/main" id="{8B52E7B5-CAA2-493B-9B91-81723271D5C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DeliveryRobot inherits move() and adds deliver().</a:t>
            </a:r>
          </a:p>
        </p:txBody>
      </p:sp>
      <p:sp>
        <p:nvSpPr>
          <p:cNvPr id="14" name="Rectangle 13">
            <a:extLst>
              <a:ext uri="{FF2B5EF4-FFF2-40B4-BE49-F238E27FC236}">
                <a16:creationId xmlns:a16="http://schemas.microsoft.com/office/drawing/2014/main" id="{C8B14A80-9887-467A-BBFB-32D04E63575A}"/>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4784F1CA-C08F-4ACA-9C85-C9B648492C14}"/>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FE5A704F-64CB-4A44-B25E-1A29E406991C}"/>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665765FD-5B0C-4DCF-B908-B43232430EFB}"/>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DeliveryRobot : public Robot {</a:t>
            </a:r>
          </a:p>
        </p:txBody>
      </p:sp>
      <p:sp>
        <p:nvSpPr>
          <p:cNvPr id="18" name="text">
            <a:extLst>
              <a:ext uri="{FF2B5EF4-FFF2-40B4-BE49-F238E27FC236}">
                <a16:creationId xmlns:a16="http://schemas.microsoft.com/office/drawing/2014/main" id="{0F16C293-3ACF-4BFF-A2DB-04564F579B39}"/>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DA36533C-B376-45BD-8664-9481D1277654}"/>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void deliver() const {</a:t>
            </a:r>
          </a:p>
        </p:txBody>
      </p:sp>
      <p:sp>
        <p:nvSpPr>
          <p:cNvPr id="20" name="text">
            <a:extLst>
              <a:ext uri="{FF2B5EF4-FFF2-40B4-BE49-F238E27FC236}">
                <a16:creationId xmlns:a16="http://schemas.microsoft.com/office/drawing/2014/main" id="{9EB4EF91-251D-41A0-AA60-7DB388DBDB19}"/>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move();</a:t>
            </a:r>
          </a:p>
        </p:txBody>
      </p:sp>
      <p:sp>
        <p:nvSpPr>
          <p:cNvPr id="21" name="text">
            <a:extLst>
              <a:ext uri="{FF2B5EF4-FFF2-40B4-BE49-F238E27FC236}">
                <a16:creationId xmlns:a16="http://schemas.microsoft.com/office/drawing/2014/main" id="{B59060A7-81E4-4347-A8C0-65EE46C180CC}"/>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std::cout &lt;&lt; "Delivered\n";</a:t>
            </a:r>
          </a:p>
        </p:txBody>
      </p:sp>
      <p:sp>
        <p:nvSpPr>
          <p:cNvPr id="22" name="text">
            <a:extLst>
              <a:ext uri="{FF2B5EF4-FFF2-40B4-BE49-F238E27FC236}">
                <a16:creationId xmlns:a16="http://schemas.microsoft.com/office/drawing/2014/main" id="{22BC1EA4-570B-479E-AEDD-AB94454057F1}"/>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t>
            </a:r>
          </a:p>
        </p:txBody>
      </p:sp>
      <p:sp>
        <p:nvSpPr>
          <p:cNvPr id="23" name="text">
            <a:extLst>
              <a:ext uri="{FF2B5EF4-FFF2-40B4-BE49-F238E27FC236}">
                <a16:creationId xmlns:a16="http://schemas.microsoft.com/office/drawing/2014/main" id="{E163AB76-4F03-4D1E-859E-0C2D60F91F0B}"/>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4" name="Rectangle 23">
            <a:extLst>
              <a:ext uri="{FF2B5EF4-FFF2-40B4-BE49-F238E27FC236}">
                <a16:creationId xmlns:a16="http://schemas.microsoft.com/office/drawing/2014/main" id="{5B87D56B-FF73-46F0-9707-F916C8429EFE}"/>
              </a:ext>
            </a:extLst>
          </p:cNvPr>
          <p:cNvSpPr>
            <a:spLocks noGrp="1"/>
          </p:cNvSpPr>
          <p:nvPr/>
        </p:nvSpPr>
        <p:spPr>
          <a:xfrm>
            <a:off x="2990850" y="981075"/>
            <a:ext cx="2600325" cy="1504950"/>
          </a:xfrm>
          <a:prstGeom prst="rect">
            <a:avLst/>
          </a:prstGeom>
          <a:solidFill>
            <a:srgbClr val="101827"/>
          </a:solidFill>
          <a:ln w="0">
            <a:noFill/>
          </a:ln>
        </p:spPr>
      </p:sp>
      <p:sp>
        <p:nvSpPr>
          <p:cNvPr id="25" name="Rectangle 24">
            <a:extLst>
              <a:ext uri="{FF2B5EF4-FFF2-40B4-BE49-F238E27FC236}">
                <a16:creationId xmlns:a16="http://schemas.microsoft.com/office/drawing/2014/main" id="{8B941BC9-CEC9-4C9D-B93E-87D73E81683E}"/>
              </a:ext>
            </a:extLst>
          </p:cNvPr>
          <p:cNvSpPr>
            <a:spLocks noGrp="1"/>
          </p:cNvSpPr>
          <p:nvPr/>
        </p:nvSpPr>
        <p:spPr>
          <a:xfrm>
            <a:off x="2990850" y="800100"/>
            <a:ext cx="2600325" cy="180975"/>
          </a:xfrm>
          <a:prstGeom prst="rect">
            <a:avLst/>
          </a:prstGeom>
          <a:solidFill>
            <a:srgbClr val="1AA260"/>
          </a:solidFill>
          <a:ln w="0">
            <a:noFill/>
          </a:ln>
        </p:spPr>
      </p:sp>
      <p:sp>
        <p:nvSpPr>
          <p:cNvPr id="26" name="text">
            <a:extLst>
              <a:ext uri="{FF2B5EF4-FFF2-40B4-BE49-F238E27FC236}">
                <a16:creationId xmlns:a16="http://schemas.microsoft.com/office/drawing/2014/main" id="{CDC0A6C2-88BB-45F6-B81C-EF473C68EAFD}"/>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7" name="text">
            <a:extLst>
              <a:ext uri="{FF2B5EF4-FFF2-40B4-BE49-F238E27FC236}">
                <a16:creationId xmlns:a16="http://schemas.microsoft.com/office/drawing/2014/main" id="{75978B93-CBCC-4584-AC15-7CBB7CD7170D}"/>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DeliveryRobot(Robot):</a:t>
            </a:r>
          </a:p>
        </p:txBody>
      </p:sp>
      <p:sp>
        <p:nvSpPr>
          <p:cNvPr id="28" name="text">
            <a:extLst>
              <a:ext uri="{FF2B5EF4-FFF2-40B4-BE49-F238E27FC236}">
                <a16:creationId xmlns:a16="http://schemas.microsoft.com/office/drawing/2014/main" id="{80929DE9-6B4C-4103-979F-8EF7A55CC91D}"/>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deliver(self):</a:t>
            </a:r>
          </a:p>
        </p:txBody>
      </p:sp>
      <p:sp>
        <p:nvSpPr>
          <p:cNvPr id="29" name="text">
            <a:extLst>
              <a:ext uri="{FF2B5EF4-FFF2-40B4-BE49-F238E27FC236}">
                <a16:creationId xmlns:a16="http://schemas.microsoft.com/office/drawing/2014/main" id="{B98F5BF5-F8C6-44DC-976C-3101342AC487}"/>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self.move()</a:t>
            </a:r>
          </a:p>
        </p:txBody>
      </p:sp>
      <p:sp>
        <p:nvSpPr>
          <p:cNvPr id="30" name="text">
            <a:extLst>
              <a:ext uri="{FF2B5EF4-FFF2-40B4-BE49-F238E27FC236}">
                <a16:creationId xmlns:a16="http://schemas.microsoft.com/office/drawing/2014/main" id="{739AF462-5405-4EEC-8E95-A47D66EA9EEC}"/>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print("Delivered")</a:t>
            </a:r>
          </a:p>
        </p:txBody>
      </p:sp>
      <p:sp>
        <p:nvSpPr>
          <p:cNvPr id="31" name="text">
            <a:extLst>
              <a:ext uri="{FF2B5EF4-FFF2-40B4-BE49-F238E27FC236}">
                <a16:creationId xmlns:a16="http://schemas.microsoft.com/office/drawing/2014/main" id="{F4A308A8-15F7-467F-9837-2A7E4ACC6DE3}"/>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Calling deliver() prints Moving, then Delivered.</a:t>
            </a:r>
          </a:p>
        </p:txBody>
      </p:sp>
      <p:sp>
        <p:nvSpPr>
          <p:cNvPr id="32" name="text">
            <a:extLst>
              <a:ext uri="{FF2B5EF4-FFF2-40B4-BE49-F238E27FC236}">
                <a16:creationId xmlns:a16="http://schemas.microsoft.com/office/drawing/2014/main" id="{71647DB5-DCA9-4900-9881-B537B454713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[C]  [P]</a:t>
            </a:r>
          </a:p>
        </p:txBody>
      </p:sp>
    </p:spTree>
    <p:extLst>
      <p:ext uri="{BB962C8B-B14F-4D97-AF65-F5344CB8AC3E}">
        <p14:creationId xmlns:p14="http://schemas.microsoft.com/office/powerpoint/2010/main" val="3645672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Common inheritance structures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19</a:t>
            </a:r>
          </a:p>
        </p:txBody>
      </p:sp>
      <p:sp>
        <p:nvSpPr>
          <p:cNvPr id="13" name="text">
            <a:extLst>
              <a:ext uri="{FF2B5EF4-FFF2-40B4-BE49-F238E27FC236}">
                <a16:creationId xmlns:a16="http://schemas.microsoft.com/office/drawing/2014/main" id="{9D41945A-DAC0-4F36-8ADB-5416566D6BB3}"/>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names describe how base and derived classes connect.</a:t>
            </a:r>
          </a:p>
        </p:txBody>
      </p:sp>
      <p:sp>
        <p:nvSpPr>
          <p:cNvPr id="14" name="text">
            <a:extLst>
              <a:ext uri="{FF2B5EF4-FFF2-40B4-BE49-F238E27FC236}">
                <a16:creationId xmlns:a16="http://schemas.microsoft.com/office/drawing/2014/main" id="{4BA88A6C-0E08-4062-89CA-E20A88432729}"/>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Single</a:t>
            </a:r>
          </a:p>
        </p:txBody>
      </p:sp>
      <p:sp>
        <p:nvSpPr>
          <p:cNvPr id="15" name="text">
            <a:extLst>
              <a:ext uri="{FF2B5EF4-FFF2-40B4-BE49-F238E27FC236}">
                <a16:creationId xmlns:a16="http://schemas.microsoft.com/office/drawing/2014/main" id="{CC359061-90C9-47A7-AF9C-1EC09A69A0EA}"/>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One direct base class</a:t>
            </a:r>
          </a:p>
        </p:txBody>
      </p:sp>
      <p:sp>
        <p:nvSpPr>
          <p:cNvPr id="16" name="text">
            <a:extLst>
              <a:ext uri="{FF2B5EF4-FFF2-40B4-BE49-F238E27FC236}">
                <a16:creationId xmlns:a16="http://schemas.microsoft.com/office/drawing/2014/main" id="{7E1B7D7B-2B83-4C8F-9FCD-2F2CF8781764}"/>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Multilevel</a:t>
            </a:r>
          </a:p>
        </p:txBody>
      </p:sp>
      <p:sp>
        <p:nvSpPr>
          <p:cNvPr id="17" name="text">
            <a:extLst>
              <a:ext uri="{FF2B5EF4-FFF2-40B4-BE49-F238E27FC236}">
                <a16:creationId xmlns:a16="http://schemas.microsoft.com/office/drawing/2014/main" id="{A439AEAE-4333-4BC8-BC53-048796F20840}"/>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A chain of derived classes</a:t>
            </a:r>
          </a:p>
        </p:txBody>
      </p:sp>
      <p:sp>
        <p:nvSpPr>
          <p:cNvPr id="18" name="text">
            <a:extLst>
              <a:ext uri="{FF2B5EF4-FFF2-40B4-BE49-F238E27FC236}">
                <a16:creationId xmlns:a16="http://schemas.microsoft.com/office/drawing/2014/main" id="{BD536FEF-9BB4-4F37-B8AA-9F4864BC7DB3}"/>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Hierarchical</a:t>
            </a:r>
          </a:p>
        </p:txBody>
      </p:sp>
      <p:sp>
        <p:nvSpPr>
          <p:cNvPr id="19" name="text">
            <a:extLst>
              <a:ext uri="{FF2B5EF4-FFF2-40B4-BE49-F238E27FC236}">
                <a16:creationId xmlns:a16="http://schemas.microsoft.com/office/drawing/2014/main" id="{A2CD3F63-A226-4888-A1D0-40A26B6F8B8C}"/>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Several derived classes share a base</a:t>
            </a:r>
          </a:p>
        </p:txBody>
      </p:sp>
      <p:sp>
        <p:nvSpPr>
          <p:cNvPr id="20" name="text">
            <a:extLst>
              <a:ext uri="{FF2B5EF4-FFF2-40B4-BE49-F238E27FC236}">
                <a16:creationId xmlns:a16="http://schemas.microsoft.com/office/drawing/2014/main" id="{BCC81F37-1A40-420A-BC16-A8954E90C68A}"/>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Multiple / hybrid</a:t>
            </a:r>
          </a:p>
        </p:txBody>
      </p:sp>
      <p:sp>
        <p:nvSpPr>
          <p:cNvPr id="21" name="text">
            <a:extLst>
              <a:ext uri="{FF2B5EF4-FFF2-40B4-BE49-F238E27FC236}">
                <a16:creationId xmlns:a16="http://schemas.microsoft.com/office/drawing/2014/main" id="{DBAEBD81-C077-4D48-9FCA-1B0833CD36F8}"/>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Several bases / combined patterns</a:t>
            </a:r>
          </a:p>
        </p:txBody>
      </p:sp>
      <p:sp>
        <p:nvSpPr>
          <p:cNvPr id="22" name="text">
            <a:extLst>
              <a:ext uri="{FF2B5EF4-FFF2-40B4-BE49-F238E27FC236}">
                <a16:creationId xmlns:a16="http://schemas.microsoft.com/office/drawing/2014/main" id="{B3DDFE1B-8F20-47BF-9406-5A4E34F3964C}"/>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[G1]</a:t>
            </a:r>
          </a:p>
        </p:txBody>
      </p:sp>
    </p:spTree>
    <p:extLst>
      <p:ext uri="{BB962C8B-B14F-4D97-AF65-F5344CB8AC3E}">
        <p14:creationId xmlns:p14="http://schemas.microsoft.com/office/powerpoint/2010/main" val="36456721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4. Polymorphism</a:t>
            </a:r>
            <a:endParaRPr sz="1400" b="0" spc="-10">
              <a:latin typeface="Arial"/>
              <a:ea typeface="Arial"/>
              <a:cs typeface="Arial"/>
            </a:endParaRPr>
          </a:p>
        </p:txBody>
      </p:sp>
      <p:pic>
        <p:nvPicPr>
          <p:cNvPr id="23" name="object 4"/>
          <p:cNvPicPr>
            <a:picLocks noChangeAspect="1"/>
          </p:cNvPicPr>
          <p:nvPr/>
        </p:nvPicPr>
        <p:blipFill>
          <a:blip r:embed="rId3"/>
          <a:stretch>
            <a:fillRect/>
          </a:stretch>
        </p:blipFill>
        <p:spPr>
          <a:xfrm>
            <a:off x="152565" y="2988507"/>
            <a:ext cx="900668" cy="161917"/>
          </a:xfrm>
          <a:prstGeom prst="rect">
            <a:avLst/>
          </a:prstGeom>
        </p:spPr>
      </p:pic>
      <p:pic>
        <p:nvPicPr>
          <p:cNvPr id="24"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20</a:t>
            </a:r>
          </a:p>
        </p:txBody>
      </p:sp>
      <p:sp>
        <p:nvSpPr>
          <p:cNvPr id="13" name="text">
            <a:extLst>
              <a:ext uri="{FF2B5EF4-FFF2-40B4-BE49-F238E27FC236}">
                <a16:creationId xmlns:a16="http://schemas.microsoft.com/office/drawing/2014/main" id="{7BCE63CA-959D-45E2-BC1F-2C266C9544DF}"/>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same operation can select different implementations.</a:t>
            </a:r>
          </a:p>
        </p:txBody>
      </p:sp>
      <p:sp>
        <p:nvSpPr>
          <p:cNvPr id="14" name="diagram-node">
            <a:extLst>
              <a:ext uri="{FF2B5EF4-FFF2-40B4-BE49-F238E27FC236}">
                <a16:creationId xmlns:a16="http://schemas.microsoft.com/office/drawing/2014/main" id="{5AEC63C0-79E4-4B79-BA94-1F0C32457055}"/>
              </a:ext>
            </a:extLst>
          </p:cNvPr>
          <p:cNvSpPr>
            <a:spLocks noGrp="1"/>
          </p:cNvSpPr>
          <p:nvPr/>
        </p:nvSpPr>
        <p:spPr>
          <a:xfrm>
            <a:off x="2028825" y="981075"/>
            <a:ext cx="1743075" cy="571500"/>
          </a:xfrm>
          <a:prstGeom prst="rect">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show(sensor)</a:t>
            </a:r>
          </a:p>
          <a:p>
            <a:pPr algn="ctr">
              <a:lnSpc>
                <a:spcPct val="107000"/>
              </a:lnSpc>
              <a:buNone/>
              <a:defRPr sz="1125">
                <a:solidFill>
                  <a:srgbClr val="202020"/>
                </a:solidFill>
                <a:latin typeface="Arial"/>
                <a:ea typeface="Arial"/>
                <a:cs typeface="Arial"/>
              </a:defRPr>
            </a:pPr>
            <a:r>
              <a:rPr sz="1125">
                <a:solidFill>
                  <a:srgbClr val="202020"/>
                </a:solidFill>
                <a:latin typeface="Arial"/>
                <a:ea typeface="Arial"/>
                <a:cs typeface="Arial"/>
              </a:rPr>
              <a:t>calls read()</a:t>
            </a:r>
          </a:p>
        </p:txBody>
      </p:sp>
      <p:sp>
        <p:nvSpPr>
          <p:cNvPr id="15" name="diagram-node">
            <a:extLst>
              <a:ext uri="{FF2B5EF4-FFF2-40B4-BE49-F238E27FC236}">
                <a16:creationId xmlns:a16="http://schemas.microsoft.com/office/drawing/2014/main" id="{264E9BD7-7264-4625-B0CE-94699D39BE99}"/>
              </a:ext>
            </a:extLst>
          </p:cNvPr>
          <p:cNvSpPr>
            <a:spLocks noGrp="1"/>
          </p:cNvSpPr>
          <p:nvPr/>
        </p:nvSpPr>
        <p:spPr>
          <a:xfrm>
            <a:off x="438150" y="2057400"/>
            <a:ext cx="2114550" cy="4953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NearSensor</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20 centimeters</a:t>
            </a:r>
          </a:p>
        </p:txBody>
      </p:sp>
      <p:sp>
        <p:nvSpPr>
          <p:cNvPr id="16" name="diagram-node">
            <a:extLst>
              <a:ext uri="{FF2B5EF4-FFF2-40B4-BE49-F238E27FC236}">
                <a16:creationId xmlns:a16="http://schemas.microsoft.com/office/drawing/2014/main" id="{C81E1557-1AE5-48EC-9912-91E415EFCC95}"/>
              </a:ext>
            </a:extLst>
          </p:cNvPr>
          <p:cNvSpPr>
            <a:spLocks noGrp="1"/>
          </p:cNvSpPr>
          <p:nvPr/>
        </p:nvSpPr>
        <p:spPr>
          <a:xfrm>
            <a:off x="3209925" y="2057400"/>
            <a:ext cx="2114550" cy="495300"/>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FarSensor</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80 centimeters</a:t>
            </a:r>
          </a:p>
        </p:txBody>
      </p:sp>
      <p:cxnSp>
        <p:nvCxnSpPr>
          <p:cNvPr id="31" name="Straight Arrow Connector 30"/>
          <p:cNvCxnSpPr>
            <a:stCxn id="14" idx="2"/>
            <a:endCxn id="15" idx="0"/>
          </p:cNvCxnSpPr>
          <p:nvPr/>
        </p:nvCxnSpPr>
        <p:spPr>
          <a:xfrm flipH="1">
            <a:off x="1495425" y="1552575"/>
            <a:ext cx="1404938" cy="504825"/>
          </a:xfrm>
          <a:prstGeom prst="straightConnector1">
            <a:avLst/>
          </a:prstGeom>
          <a:ln w="11430">
            <a:solidFill>
              <a:srgbClr val="66717C"/>
            </a:solidFill>
            <a:headEnd type="none" w="med" len="med"/>
            <a:tailEnd type="triangle" w="sm" len="sm"/>
          </a:ln>
        </p:spPr>
      </p:cxnSp>
      <p:cxnSp>
        <p:nvCxnSpPr>
          <p:cNvPr id="32" name="Straight Arrow Connector 31"/>
          <p:cNvCxnSpPr>
            <a:stCxn id="14" idx="2"/>
            <a:endCxn id="16" idx="0"/>
          </p:cNvCxnSpPr>
          <p:nvPr/>
        </p:nvCxnSpPr>
        <p:spPr>
          <a:xfrm>
            <a:off x="2900363" y="1552575"/>
            <a:ext cx="1366838" cy="504825"/>
          </a:xfrm>
          <a:prstGeom prst="straightConnector1">
            <a:avLst/>
          </a:prstGeom>
          <a:ln w="11430">
            <a:solidFill>
              <a:srgbClr val="66717C"/>
            </a:solidFill>
            <a:headEnd type="none" w="med" len="med"/>
            <a:tailEnd type="triangle" w="sm" len="sm"/>
          </a:ln>
        </p:spPr>
      </p:cxnSp>
      <p:sp>
        <p:nvSpPr>
          <p:cNvPr id="19" name="text">
            <a:extLst>
              <a:ext uri="{FF2B5EF4-FFF2-40B4-BE49-F238E27FC236}">
                <a16:creationId xmlns:a16="http://schemas.microsoft.com/office/drawing/2014/main" id="{2668FDC0-4597-4052-BDBE-5B30386F2098}"/>
              </a:ext>
            </a:extLst>
          </p:cNvPr>
          <p:cNvSpPr>
            <a:spLocks noGrp="1"/>
          </p:cNvSpPr>
          <p:nvPr/>
        </p:nvSpPr>
        <p:spPr>
          <a:xfrm>
            <a:off x="2047875" y="1676400"/>
            <a:ext cx="1685925"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same operation</a:t>
            </a:r>
          </a:p>
        </p:txBody>
      </p:sp>
      <p:sp>
        <p:nvSpPr>
          <p:cNvPr id="20" name="text">
            <a:extLst>
              <a:ext uri="{FF2B5EF4-FFF2-40B4-BE49-F238E27FC236}">
                <a16:creationId xmlns:a16="http://schemas.microsoft.com/office/drawing/2014/main" id="{470798FB-74F5-4D54-A669-5A88F2700E81}"/>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Same call: read(). Different results: 20 or 80.</a:t>
            </a:r>
          </a:p>
        </p:txBody>
      </p:sp>
      <p:sp>
        <p:nvSpPr>
          <p:cNvPr id="21" name="text">
            <a:extLst>
              <a:ext uri="{FF2B5EF4-FFF2-40B4-BE49-F238E27FC236}">
                <a16:creationId xmlns:a16="http://schemas.microsoft.com/office/drawing/2014/main" id="{6C76A547-D2A3-4B2C-B9E2-1FE1D514C2E6}"/>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[S]  [V]</a:t>
            </a:r>
          </a:p>
        </p:txBody>
      </p:sp>
    </p:spTree>
    <p:extLst>
      <p:ext uri="{BB962C8B-B14F-4D97-AF65-F5344CB8AC3E}">
        <p14:creationId xmlns:p14="http://schemas.microsoft.com/office/powerpoint/2010/main" val="3645672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Overriding a method</a:t>
            </a:r>
            <a:endParaRPr sz="1400" b="0" spc="-10">
              <a:latin typeface="Arial"/>
              <a:ea typeface="Arial"/>
              <a:cs typeface="Arial"/>
            </a:endParaRPr>
          </a:p>
        </p:txBody>
      </p:sp>
      <p:pic>
        <p:nvPicPr>
          <p:cNvPr id="30" name="object 4"/>
          <p:cNvPicPr>
            <a:picLocks noChangeAspect="1"/>
          </p:cNvPicPr>
          <p:nvPr/>
        </p:nvPicPr>
        <p:blipFill>
          <a:blip r:embed="rId3"/>
          <a:stretch>
            <a:fillRect/>
          </a:stretch>
        </p:blipFill>
        <p:spPr>
          <a:xfrm>
            <a:off x="152565" y="2988507"/>
            <a:ext cx="900668" cy="161917"/>
          </a:xfrm>
          <a:prstGeom prst="rect">
            <a:avLst/>
          </a:prstGeom>
        </p:spPr>
      </p:pic>
      <p:pic>
        <p:nvPicPr>
          <p:cNvPr id="3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21</a:t>
            </a:r>
          </a:p>
        </p:txBody>
      </p:sp>
      <p:sp>
        <p:nvSpPr>
          <p:cNvPr id="13" name="text">
            <a:extLst>
              <a:ext uri="{FF2B5EF4-FFF2-40B4-BE49-F238E27FC236}">
                <a16:creationId xmlns:a16="http://schemas.microsoft.com/office/drawing/2014/main" id="{2ECE326C-F314-4938-BD1F-C3898E8AC185}"/>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derived class provides its own implementation of a base operation.</a:t>
            </a:r>
          </a:p>
        </p:txBody>
      </p:sp>
      <p:sp>
        <p:nvSpPr>
          <p:cNvPr id="14" name="Rectangle 13">
            <a:extLst>
              <a:ext uri="{FF2B5EF4-FFF2-40B4-BE49-F238E27FC236}">
                <a16:creationId xmlns:a16="http://schemas.microsoft.com/office/drawing/2014/main" id="{7514C773-E232-4195-8F2A-9865C2292307}"/>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9D6762E3-2B53-46FD-BEBE-5A68E16A00AE}"/>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B03EE133-EE52-491C-B473-CD6CEBA45C6B}"/>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C9D99FB3-DF77-4903-B859-AC4DC465E463}"/>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FarSensor : public Sensor {</a:t>
            </a:r>
          </a:p>
        </p:txBody>
      </p:sp>
      <p:sp>
        <p:nvSpPr>
          <p:cNvPr id="18" name="text">
            <a:extLst>
              <a:ext uri="{FF2B5EF4-FFF2-40B4-BE49-F238E27FC236}">
                <a16:creationId xmlns:a16="http://schemas.microsoft.com/office/drawing/2014/main" id="{DEC3A836-5682-4BC3-A7A2-0C03DBC79A38}"/>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19" name="text">
            <a:extLst>
              <a:ext uri="{FF2B5EF4-FFF2-40B4-BE49-F238E27FC236}">
                <a16:creationId xmlns:a16="http://schemas.microsoft.com/office/drawing/2014/main" id="{FF296CCF-47C9-4B4C-B628-D8F30556B71D}"/>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read() const override { return 80; }</a:t>
            </a:r>
          </a:p>
        </p:txBody>
      </p:sp>
      <p:sp>
        <p:nvSpPr>
          <p:cNvPr id="20" name="text">
            <a:extLst>
              <a:ext uri="{FF2B5EF4-FFF2-40B4-BE49-F238E27FC236}">
                <a16:creationId xmlns:a16="http://schemas.microsoft.com/office/drawing/2014/main" id="{4A590872-BB4B-4E00-8BB2-3C3D01102889}"/>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1" name="Rectangle 20">
            <a:extLst>
              <a:ext uri="{FF2B5EF4-FFF2-40B4-BE49-F238E27FC236}">
                <a16:creationId xmlns:a16="http://schemas.microsoft.com/office/drawing/2014/main" id="{662BA569-19E4-4A3E-BAC7-76779DDA3D82}"/>
              </a:ext>
            </a:extLst>
          </p:cNvPr>
          <p:cNvSpPr>
            <a:spLocks noGrp="1"/>
          </p:cNvSpPr>
          <p:nvPr/>
        </p:nvSpPr>
        <p:spPr>
          <a:xfrm>
            <a:off x="2990850" y="981075"/>
            <a:ext cx="2600325" cy="1504950"/>
          </a:xfrm>
          <a:prstGeom prst="rect">
            <a:avLst/>
          </a:prstGeom>
          <a:solidFill>
            <a:srgbClr val="101827"/>
          </a:solidFill>
          <a:ln w="0">
            <a:noFill/>
          </a:ln>
        </p:spPr>
      </p:sp>
      <p:sp>
        <p:nvSpPr>
          <p:cNvPr id="22" name="Rectangle 21">
            <a:extLst>
              <a:ext uri="{FF2B5EF4-FFF2-40B4-BE49-F238E27FC236}">
                <a16:creationId xmlns:a16="http://schemas.microsoft.com/office/drawing/2014/main" id="{0D14DF33-737C-49E1-8EDC-0A247D89BA1F}"/>
              </a:ext>
            </a:extLst>
          </p:cNvPr>
          <p:cNvSpPr>
            <a:spLocks noGrp="1"/>
          </p:cNvSpPr>
          <p:nvPr/>
        </p:nvSpPr>
        <p:spPr>
          <a:xfrm>
            <a:off x="2990850" y="800100"/>
            <a:ext cx="2600325" cy="180975"/>
          </a:xfrm>
          <a:prstGeom prst="rect">
            <a:avLst/>
          </a:prstGeom>
          <a:solidFill>
            <a:srgbClr val="1AA260"/>
          </a:solidFill>
          <a:ln w="0">
            <a:noFill/>
          </a:ln>
        </p:spPr>
      </p:sp>
      <p:sp>
        <p:nvSpPr>
          <p:cNvPr id="23" name="text">
            <a:extLst>
              <a:ext uri="{FF2B5EF4-FFF2-40B4-BE49-F238E27FC236}">
                <a16:creationId xmlns:a16="http://schemas.microsoft.com/office/drawing/2014/main" id="{71FB8A15-BA2F-4F46-8138-DE506197CCAA}"/>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4" name="text">
            <a:extLst>
              <a:ext uri="{FF2B5EF4-FFF2-40B4-BE49-F238E27FC236}">
                <a16:creationId xmlns:a16="http://schemas.microsoft.com/office/drawing/2014/main" id="{AF527B06-5108-4D3A-B05E-4E399B135988}"/>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FarSensor(Sensor):</a:t>
            </a:r>
          </a:p>
        </p:txBody>
      </p:sp>
      <p:sp>
        <p:nvSpPr>
          <p:cNvPr id="25" name="text">
            <a:extLst>
              <a:ext uri="{FF2B5EF4-FFF2-40B4-BE49-F238E27FC236}">
                <a16:creationId xmlns:a16="http://schemas.microsoft.com/office/drawing/2014/main" id="{27A66D00-8B51-4FEB-AA9B-E619E842AB9D}"/>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read(self):</a:t>
            </a:r>
          </a:p>
        </p:txBody>
      </p:sp>
      <p:sp>
        <p:nvSpPr>
          <p:cNvPr id="26" name="text">
            <a:extLst>
              <a:ext uri="{FF2B5EF4-FFF2-40B4-BE49-F238E27FC236}">
                <a16:creationId xmlns:a16="http://schemas.microsoft.com/office/drawing/2014/main" id="{BD317F2A-BE0C-4FCE-9F66-3EA9E9426EFE}"/>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80</a:t>
            </a:r>
          </a:p>
        </p:txBody>
      </p:sp>
      <p:sp>
        <p:nvSpPr>
          <p:cNvPr id="27" name="text">
            <a:extLst>
              <a:ext uri="{FF2B5EF4-FFF2-40B4-BE49-F238E27FC236}">
                <a16:creationId xmlns:a16="http://schemas.microsoft.com/office/drawing/2014/main" id="{3D79217A-4519-4CB1-8E23-1F51A7E0D3F1}"/>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NearSensor returns 20. FarSensor returns 80.</a:t>
            </a:r>
          </a:p>
        </p:txBody>
      </p:sp>
      <p:sp>
        <p:nvSpPr>
          <p:cNvPr id="28" name="text">
            <a:extLst>
              <a:ext uri="{FF2B5EF4-FFF2-40B4-BE49-F238E27FC236}">
                <a16:creationId xmlns:a16="http://schemas.microsoft.com/office/drawing/2014/main" id="{2EBBA40F-8720-4574-9C9D-990605C75BA9}"/>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[V]  [A]</a:t>
            </a:r>
          </a:p>
        </p:txBody>
      </p:sp>
    </p:spTree>
    <p:extLst>
      <p:ext uri="{BB962C8B-B14F-4D97-AF65-F5344CB8AC3E}">
        <p14:creationId xmlns:p14="http://schemas.microsoft.com/office/powerpoint/2010/main" val="36456721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One caller, different objects</a:t>
            </a:r>
            <a:endParaRPr sz="1400" b="0" spc="-10">
              <a:latin typeface="Arial"/>
              <a:ea typeface="Arial"/>
              <a:cs typeface="Arial"/>
            </a:endParaRPr>
          </a:p>
        </p:txBody>
      </p:sp>
      <p:pic>
        <p:nvPicPr>
          <p:cNvPr id="36" name="object 4"/>
          <p:cNvPicPr>
            <a:picLocks noChangeAspect="1"/>
          </p:cNvPicPr>
          <p:nvPr/>
        </p:nvPicPr>
        <p:blipFill>
          <a:blip r:embed="rId3"/>
          <a:stretch>
            <a:fillRect/>
          </a:stretch>
        </p:blipFill>
        <p:spPr>
          <a:xfrm>
            <a:off x="152565" y="2988507"/>
            <a:ext cx="900668" cy="161917"/>
          </a:xfrm>
          <a:prstGeom prst="rect">
            <a:avLst/>
          </a:prstGeom>
        </p:spPr>
      </p:pic>
      <p:pic>
        <p:nvPicPr>
          <p:cNvPr id="37"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22</a:t>
            </a:r>
          </a:p>
        </p:txBody>
      </p:sp>
      <p:sp>
        <p:nvSpPr>
          <p:cNvPr id="13" name="text">
            <a:extLst>
              <a:ext uri="{FF2B5EF4-FFF2-40B4-BE49-F238E27FC236}">
                <a16:creationId xmlns:a16="http://schemas.microsoft.com/office/drawing/2014/main" id="{0F827F43-ED45-4852-9DF7-C0A6F2B139B4}"/>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show() uses the interface and lets the object supply the result.</a:t>
            </a:r>
          </a:p>
        </p:txBody>
      </p:sp>
      <p:sp>
        <p:nvSpPr>
          <p:cNvPr id="14" name="Rectangle 13">
            <a:extLst>
              <a:ext uri="{FF2B5EF4-FFF2-40B4-BE49-F238E27FC236}">
                <a16:creationId xmlns:a16="http://schemas.microsoft.com/office/drawing/2014/main" id="{9AE4D888-CF4C-4496-A2E8-44A7CCE051ED}"/>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5001856B-A5E9-4771-A9B4-20E562490A69}"/>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42FB20C6-A81F-427F-9061-2395E073F7CA}"/>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B05B104A-EE79-48AD-A30D-89BC1DEA1032}"/>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void show(const Sensor&amp; s) {</a:t>
            </a:r>
          </a:p>
        </p:txBody>
      </p:sp>
      <p:sp>
        <p:nvSpPr>
          <p:cNvPr id="18" name="text">
            <a:extLst>
              <a:ext uri="{FF2B5EF4-FFF2-40B4-BE49-F238E27FC236}">
                <a16:creationId xmlns:a16="http://schemas.microsoft.com/office/drawing/2014/main" id="{2DF118FA-AFBA-4162-8387-100C8826A68C}"/>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std::cout &lt;&lt; s.read() &lt;&lt; "\n";</a:t>
            </a:r>
          </a:p>
        </p:txBody>
      </p:sp>
      <p:sp>
        <p:nvSpPr>
          <p:cNvPr id="19" name="text">
            <a:extLst>
              <a:ext uri="{FF2B5EF4-FFF2-40B4-BE49-F238E27FC236}">
                <a16:creationId xmlns:a16="http://schemas.microsoft.com/office/drawing/2014/main" id="{69527C28-A0C0-44F5-8092-3F689DFE42B2}"/>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0" name="text">
            <a:extLst>
              <a:ext uri="{FF2B5EF4-FFF2-40B4-BE49-F238E27FC236}">
                <a16:creationId xmlns:a16="http://schemas.microsoft.com/office/drawing/2014/main" id="{34788909-B93C-446B-BC43-B8D24EB5AF7C}"/>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Inside main():</a:t>
            </a:r>
          </a:p>
        </p:txBody>
      </p:sp>
      <p:sp>
        <p:nvSpPr>
          <p:cNvPr id="21" name="text">
            <a:extLst>
              <a:ext uri="{FF2B5EF4-FFF2-40B4-BE49-F238E27FC236}">
                <a16:creationId xmlns:a16="http://schemas.microsoft.com/office/drawing/2014/main" id="{D8000775-0198-4868-A55B-E33C6F367A1F}"/>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NearSensor near;</a:t>
            </a:r>
          </a:p>
        </p:txBody>
      </p:sp>
      <p:sp>
        <p:nvSpPr>
          <p:cNvPr id="22" name="text">
            <a:extLst>
              <a:ext uri="{FF2B5EF4-FFF2-40B4-BE49-F238E27FC236}">
                <a16:creationId xmlns:a16="http://schemas.microsoft.com/office/drawing/2014/main" id="{D563493E-FFF1-45DA-B365-41F07E4C00DD}"/>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FarSensor far;</a:t>
            </a:r>
          </a:p>
        </p:txBody>
      </p:sp>
      <p:sp>
        <p:nvSpPr>
          <p:cNvPr id="23" name="text">
            <a:extLst>
              <a:ext uri="{FF2B5EF4-FFF2-40B4-BE49-F238E27FC236}">
                <a16:creationId xmlns:a16="http://schemas.microsoft.com/office/drawing/2014/main" id="{3F41397A-C748-4B93-A454-E44FFED16C9B}"/>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show(near);</a:t>
            </a:r>
          </a:p>
        </p:txBody>
      </p:sp>
      <p:sp>
        <p:nvSpPr>
          <p:cNvPr id="24" name="text">
            <a:extLst>
              <a:ext uri="{FF2B5EF4-FFF2-40B4-BE49-F238E27FC236}">
                <a16:creationId xmlns:a16="http://schemas.microsoft.com/office/drawing/2014/main" id="{E1963ECC-ADA4-49A3-B2BE-DEB734E23697}"/>
              </a:ext>
            </a:extLst>
          </p:cNvPr>
          <p:cNvSpPr>
            <a:spLocks noGrp="1"/>
          </p:cNvSpPr>
          <p:nvPr/>
        </p:nvSpPr>
        <p:spPr>
          <a:xfrm>
            <a:off x="29527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show(far);</a:t>
            </a:r>
          </a:p>
        </p:txBody>
      </p:sp>
      <p:sp>
        <p:nvSpPr>
          <p:cNvPr id="25" name="Rectangle 24">
            <a:extLst>
              <a:ext uri="{FF2B5EF4-FFF2-40B4-BE49-F238E27FC236}">
                <a16:creationId xmlns:a16="http://schemas.microsoft.com/office/drawing/2014/main" id="{787FC1A0-2174-44B7-996F-39B5C1171DDE}"/>
              </a:ext>
            </a:extLst>
          </p:cNvPr>
          <p:cNvSpPr>
            <a:spLocks noGrp="1"/>
          </p:cNvSpPr>
          <p:nvPr/>
        </p:nvSpPr>
        <p:spPr>
          <a:xfrm>
            <a:off x="2990850" y="981075"/>
            <a:ext cx="2600325" cy="1504950"/>
          </a:xfrm>
          <a:prstGeom prst="rect">
            <a:avLst/>
          </a:prstGeom>
          <a:solidFill>
            <a:srgbClr val="101827"/>
          </a:solidFill>
          <a:ln w="0">
            <a:noFill/>
          </a:ln>
        </p:spPr>
      </p:sp>
      <p:sp>
        <p:nvSpPr>
          <p:cNvPr id="26" name="Rectangle 25">
            <a:extLst>
              <a:ext uri="{FF2B5EF4-FFF2-40B4-BE49-F238E27FC236}">
                <a16:creationId xmlns:a16="http://schemas.microsoft.com/office/drawing/2014/main" id="{107FBD1D-415B-4064-BDBB-651189074DB0}"/>
              </a:ext>
            </a:extLst>
          </p:cNvPr>
          <p:cNvSpPr>
            <a:spLocks noGrp="1"/>
          </p:cNvSpPr>
          <p:nvPr/>
        </p:nvSpPr>
        <p:spPr>
          <a:xfrm>
            <a:off x="2990850" y="800100"/>
            <a:ext cx="2600325" cy="180975"/>
          </a:xfrm>
          <a:prstGeom prst="rect">
            <a:avLst/>
          </a:prstGeom>
          <a:solidFill>
            <a:srgbClr val="1AA260"/>
          </a:solidFill>
          <a:ln w="0">
            <a:noFill/>
          </a:ln>
        </p:spPr>
      </p:sp>
      <p:sp>
        <p:nvSpPr>
          <p:cNvPr id="27" name="text">
            <a:extLst>
              <a:ext uri="{FF2B5EF4-FFF2-40B4-BE49-F238E27FC236}">
                <a16:creationId xmlns:a16="http://schemas.microsoft.com/office/drawing/2014/main" id="{29164C68-833B-4EFC-BD3D-4C903F3D8F15}"/>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8" name="text">
            <a:extLst>
              <a:ext uri="{FF2B5EF4-FFF2-40B4-BE49-F238E27FC236}">
                <a16:creationId xmlns:a16="http://schemas.microsoft.com/office/drawing/2014/main" id="{B6231569-10DA-4F7C-864E-D21815AAB7E2}"/>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def show(sensor):</a:t>
            </a:r>
          </a:p>
        </p:txBody>
      </p:sp>
      <p:sp>
        <p:nvSpPr>
          <p:cNvPr id="29" name="text">
            <a:extLst>
              <a:ext uri="{FF2B5EF4-FFF2-40B4-BE49-F238E27FC236}">
                <a16:creationId xmlns:a16="http://schemas.microsoft.com/office/drawing/2014/main" id="{C1CD47B7-98FC-4484-AD7F-5203749DC372}"/>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print(sensor.read())</a:t>
            </a:r>
          </a:p>
        </p:txBody>
      </p:sp>
      <p:sp>
        <p:nvSpPr>
          <p:cNvPr id="30" name="text">
            <a:extLst>
              <a:ext uri="{FF2B5EF4-FFF2-40B4-BE49-F238E27FC236}">
                <a16:creationId xmlns:a16="http://schemas.microsoft.com/office/drawing/2014/main" id="{85D39898-18E5-476E-A075-D849B5240230}"/>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endParaRPr/>
          </a:p>
        </p:txBody>
      </p:sp>
      <p:sp>
        <p:nvSpPr>
          <p:cNvPr id="31" name="text">
            <a:extLst>
              <a:ext uri="{FF2B5EF4-FFF2-40B4-BE49-F238E27FC236}">
                <a16:creationId xmlns:a16="http://schemas.microsoft.com/office/drawing/2014/main" id="{B096B7E9-5887-4C04-BF6E-3C799FD5C764}"/>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show(NearSensor())</a:t>
            </a:r>
          </a:p>
        </p:txBody>
      </p:sp>
      <p:sp>
        <p:nvSpPr>
          <p:cNvPr id="32" name="text">
            <a:extLst>
              <a:ext uri="{FF2B5EF4-FFF2-40B4-BE49-F238E27FC236}">
                <a16:creationId xmlns:a16="http://schemas.microsoft.com/office/drawing/2014/main" id="{7D72474A-58A1-4221-B4CC-A5DCA181A30D}"/>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show(FarSensor())</a:t>
            </a:r>
          </a:p>
        </p:txBody>
      </p:sp>
      <p:sp>
        <p:nvSpPr>
          <p:cNvPr id="33" name="text">
            <a:extLst>
              <a:ext uri="{FF2B5EF4-FFF2-40B4-BE49-F238E27FC236}">
                <a16:creationId xmlns:a16="http://schemas.microsoft.com/office/drawing/2014/main" id="{094FD958-4CCE-4CE5-9FAE-A76AF93DDF3A}"/>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20, then 80. The caller does not branch on sensor type.</a:t>
            </a:r>
          </a:p>
        </p:txBody>
      </p:sp>
      <p:sp>
        <p:nvSpPr>
          <p:cNvPr id="34" name="text">
            <a:extLst>
              <a:ext uri="{FF2B5EF4-FFF2-40B4-BE49-F238E27FC236}">
                <a16:creationId xmlns:a16="http://schemas.microsoft.com/office/drawing/2014/main" id="{D9854633-BAB3-4C72-B84F-8A10A11E395D}"/>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[V]  [P]  [B]</a:t>
            </a:r>
          </a:p>
        </p:txBody>
      </p:sp>
    </p:spTree>
    <p:extLst>
      <p:ext uri="{BB962C8B-B14F-4D97-AF65-F5344CB8AC3E}">
        <p14:creationId xmlns:p14="http://schemas.microsoft.com/office/powerpoint/2010/main" val="3645672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Overloading and overriding</a:t>
            </a:r>
            <a:endParaRPr sz="1400" b="0" spc="-10">
              <a:latin typeface="Arial"/>
              <a:ea typeface="Arial"/>
              <a:cs typeface="Arial"/>
            </a:endParaRPr>
          </a:p>
        </p:txBody>
      </p:sp>
      <p:pic>
        <p:nvPicPr>
          <p:cNvPr id="37" name="object 4"/>
          <p:cNvPicPr>
            <a:picLocks noChangeAspect="1"/>
          </p:cNvPicPr>
          <p:nvPr/>
        </p:nvPicPr>
        <p:blipFill>
          <a:blip r:embed="rId3"/>
          <a:stretch>
            <a:fillRect/>
          </a:stretch>
        </p:blipFill>
        <p:spPr>
          <a:xfrm>
            <a:off x="152565" y="2988507"/>
            <a:ext cx="900668" cy="161917"/>
          </a:xfrm>
          <a:prstGeom prst="rect">
            <a:avLst/>
          </a:prstGeom>
        </p:spPr>
      </p:pic>
      <p:pic>
        <p:nvPicPr>
          <p:cNvPr id="38"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23</a:t>
            </a:r>
          </a:p>
        </p:txBody>
      </p:sp>
      <p:sp>
        <p:nvSpPr>
          <p:cNvPr id="13" name="text">
            <a:extLst>
              <a:ext uri="{FF2B5EF4-FFF2-40B4-BE49-F238E27FC236}">
                <a16:creationId xmlns:a16="http://schemas.microsoft.com/office/drawing/2014/main" id="{7554DAB0-0382-4D84-8103-7DA82EAEEAB5}"/>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Overloading changes parameters. Overriding specializes an inherited method.</a:t>
            </a:r>
          </a:p>
        </p:txBody>
      </p:sp>
      <p:sp>
        <p:nvSpPr>
          <p:cNvPr id="14" name="Rectangle 13">
            <a:extLst>
              <a:ext uri="{FF2B5EF4-FFF2-40B4-BE49-F238E27FC236}">
                <a16:creationId xmlns:a16="http://schemas.microsoft.com/office/drawing/2014/main" id="{115C5D6D-C1A7-47B2-879D-ABD5BF9CED85}"/>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961CD0FF-832E-4196-A4D1-2EC2327C41CE}"/>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5C6DFF28-81ED-4B16-9D54-1C396B337570}"/>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1B08FCF4-7290-4DEF-B0D6-014B6305EA39}"/>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add(int a, int b) {</a:t>
            </a:r>
          </a:p>
        </p:txBody>
      </p:sp>
      <p:sp>
        <p:nvSpPr>
          <p:cNvPr id="18" name="text">
            <a:extLst>
              <a:ext uri="{FF2B5EF4-FFF2-40B4-BE49-F238E27FC236}">
                <a16:creationId xmlns:a16="http://schemas.microsoft.com/office/drawing/2014/main" id="{045AC661-86AB-4937-B0F9-A8A20C827FAC}"/>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a + b;</a:t>
            </a:r>
          </a:p>
        </p:txBody>
      </p:sp>
      <p:sp>
        <p:nvSpPr>
          <p:cNvPr id="19" name="text">
            <a:extLst>
              <a:ext uri="{FF2B5EF4-FFF2-40B4-BE49-F238E27FC236}">
                <a16:creationId xmlns:a16="http://schemas.microsoft.com/office/drawing/2014/main" id="{7F1F3FA3-63F1-4D1A-92E3-8C196200B77C}"/>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0" name="text">
            <a:extLst>
              <a:ext uri="{FF2B5EF4-FFF2-40B4-BE49-F238E27FC236}">
                <a16:creationId xmlns:a16="http://schemas.microsoft.com/office/drawing/2014/main" id="{B4655153-0C18-4CF7-A8CC-674A3E44768E}"/>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int add(int a, int b, int c) {</a:t>
            </a:r>
          </a:p>
        </p:txBody>
      </p:sp>
      <p:sp>
        <p:nvSpPr>
          <p:cNvPr id="21" name="text">
            <a:extLst>
              <a:ext uri="{FF2B5EF4-FFF2-40B4-BE49-F238E27FC236}">
                <a16:creationId xmlns:a16="http://schemas.microsoft.com/office/drawing/2014/main" id="{18D67057-444C-4867-8A6E-3D11CF728C93}"/>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a + b + c;</a:t>
            </a:r>
          </a:p>
        </p:txBody>
      </p:sp>
      <p:sp>
        <p:nvSpPr>
          <p:cNvPr id="22" name="text">
            <a:extLst>
              <a:ext uri="{FF2B5EF4-FFF2-40B4-BE49-F238E27FC236}">
                <a16:creationId xmlns:a16="http://schemas.microsoft.com/office/drawing/2014/main" id="{B217A45B-E604-4B79-B454-8D6AE96D5778}"/>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3" name="text">
            <a:extLst>
              <a:ext uri="{FF2B5EF4-FFF2-40B4-BE49-F238E27FC236}">
                <a16:creationId xmlns:a16="http://schemas.microsoft.com/office/drawing/2014/main" id="{3125A589-2B00-44DC-974A-A7A28826775F}"/>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Inside main():</a:t>
            </a:r>
          </a:p>
        </p:txBody>
      </p:sp>
      <p:sp>
        <p:nvSpPr>
          <p:cNvPr id="24" name="text">
            <a:extLst>
              <a:ext uri="{FF2B5EF4-FFF2-40B4-BE49-F238E27FC236}">
                <a16:creationId xmlns:a16="http://schemas.microsoft.com/office/drawing/2014/main" id="{28E9B71F-DF16-49E5-9599-F3F69FAE5D6E}"/>
              </a:ext>
            </a:extLst>
          </p:cNvPr>
          <p:cNvSpPr>
            <a:spLocks noGrp="1"/>
          </p:cNvSpPr>
          <p:nvPr/>
        </p:nvSpPr>
        <p:spPr>
          <a:xfrm>
            <a:off x="29527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add(2, 3) &lt;&lt; "\n";</a:t>
            </a:r>
          </a:p>
        </p:txBody>
      </p:sp>
      <p:sp>
        <p:nvSpPr>
          <p:cNvPr id="25" name="text">
            <a:extLst>
              <a:ext uri="{FF2B5EF4-FFF2-40B4-BE49-F238E27FC236}">
                <a16:creationId xmlns:a16="http://schemas.microsoft.com/office/drawing/2014/main" id="{A492765F-8BA6-4C31-9457-33D153F3F120}"/>
              </a:ext>
            </a:extLst>
          </p:cNvPr>
          <p:cNvSpPr>
            <a:spLocks noGrp="1"/>
          </p:cNvSpPr>
          <p:nvPr/>
        </p:nvSpPr>
        <p:spPr>
          <a:xfrm>
            <a:off x="295275" y="21031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add(2, 3, 4) &lt;&lt; "\n";</a:t>
            </a:r>
          </a:p>
        </p:txBody>
      </p:sp>
      <p:sp>
        <p:nvSpPr>
          <p:cNvPr id="26" name="Rectangle 25">
            <a:extLst>
              <a:ext uri="{FF2B5EF4-FFF2-40B4-BE49-F238E27FC236}">
                <a16:creationId xmlns:a16="http://schemas.microsoft.com/office/drawing/2014/main" id="{2E20E580-0FB3-4E63-B6B6-ACCBB2C0BEBF}"/>
              </a:ext>
            </a:extLst>
          </p:cNvPr>
          <p:cNvSpPr>
            <a:spLocks noGrp="1"/>
          </p:cNvSpPr>
          <p:nvPr/>
        </p:nvSpPr>
        <p:spPr>
          <a:xfrm>
            <a:off x="2990850" y="981075"/>
            <a:ext cx="2600325" cy="1504950"/>
          </a:xfrm>
          <a:prstGeom prst="rect">
            <a:avLst/>
          </a:prstGeom>
          <a:solidFill>
            <a:srgbClr val="101827"/>
          </a:solidFill>
          <a:ln w="0">
            <a:noFill/>
          </a:ln>
        </p:spPr>
      </p:sp>
      <p:sp>
        <p:nvSpPr>
          <p:cNvPr id="27" name="Rectangle 26">
            <a:extLst>
              <a:ext uri="{FF2B5EF4-FFF2-40B4-BE49-F238E27FC236}">
                <a16:creationId xmlns:a16="http://schemas.microsoft.com/office/drawing/2014/main" id="{9C35E658-4356-42ED-BE1A-CB9F03F0BA70}"/>
              </a:ext>
            </a:extLst>
          </p:cNvPr>
          <p:cNvSpPr>
            <a:spLocks noGrp="1"/>
          </p:cNvSpPr>
          <p:nvPr/>
        </p:nvSpPr>
        <p:spPr>
          <a:xfrm>
            <a:off x="2990850" y="800100"/>
            <a:ext cx="2600325" cy="180975"/>
          </a:xfrm>
          <a:prstGeom prst="rect">
            <a:avLst/>
          </a:prstGeom>
          <a:solidFill>
            <a:srgbClr val="1AA260"/>
          </a:solidFill>
          <a:ln w="0">
            <a:noFill/>
          </a:ln>
        </p:spPr>
      </p:sp>
      <p:sp>
        <p:nvSpPr>
          <p:cNvPr id="28" name="text">
            <a:extLst>
              <a:ext uri="{FF2B5EF4-FFF2-40B4-BE49-F238E27FC236}">
                <a16:creationId xmlns:a16="http://schemas.microsoft.com/office/drawing/2014/main" id="{2728E5D3-4D66-42F3-8E0C-DA0D98EA14B4}"/>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9" name="text">
            <a:extLst>
              <a:ext uri="{FF2B5EF4-FFF2-40B4-BE49-F238E27FC236}">
                <a16:creationId xmlns:a16="http://schemas.microsoft.com/office/drawing/2014/main" id="{396DF6BA-1A66-4D98-BC11-5E70739B5A24}"/>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def add(a, b, c=0):</a:t>
            </a:r>
          </a:p>
        </p:txBody>
      </p:sp>
      <p:sp>
        <p:nvSpPr>
          <p:cNvPr id="30" name="text">
            <a:extLst>
              <a:ext uri="{FF2B5EF4-FFF2-40B4-BE49-F238E27FC236}">
                <a16:creationId xmlns:a16="http://schemas.microsoft.com/office/drawing/2014/main" id="{E6603E77-888A-4E9C-987C-F77FAAB8EE76}"/>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a + b + c</a:t>
            </a:r>
          </a:p>
        </p:txBody>
      </p:sp>
      <p:sp>
        <p:nvSpPr>
          <p:cNvPr id="31" name="text">
            <a:extLst>
              <a:ext uri="{FF2B5EF4-FFF2-40B4-BE49-F238E27FC236}">
                <a16:creationId xmlns:a16="http://schemas.microsoft.com/office/drawing/2014/main" id="{4C9AE330-5A9D-4C72-ADFF-EAF6668E8FD0}"/>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endParaRPr/>
          </a:p>
        </p:txBody>
      </p:sp>
      <p:sp>
        <p:nvSpPr>
          <p:cNvPr id="32" name="text">
            <a:extLst>
              <a:ext uri="{FF2B5EF4-FFF2-40B4-BE49-F238E27FC236}">
                <a16:creationId xmlns:a16="http://schemas.microsoft.com/office/drawing/2014/main" id="{48035B60-303F-44A5-8D97-4EAB3CFB6C48}"/>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print(add(2, 3))</a:t>
            </a:r>
          </a:p>
        </p:txBody>
      </p:sp>
      <p:sp>
        <p:nvSpPr>
          <p:cNvPr id="33" name="text">
            <a:extLst>
              <a:ext uri="{FF2B5EF4-FFF2-40B4-BE49-F238E27FC236}">
                <a16:creationId xmlns:a16="http://schemas.microsoft.com/office/drawing/2014/main" id="{F4A96092-E69C-47EB-9629-5696671714F1}"/>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print(add(2, 3, 4))</a:t>
            </a:r>
          </a:p>
        </p:txBody>
      </p:sp>
      <p:sp>
        <p:nvSpPr>
          <p:cNvPr id="34" name="text">
            <a:extLst>
              <a:ext uri="{FF2B5EF4-FFF2-40B4-BE49-F238E27FC236}">
                <a16:creationId xmlns:a16="http://schemas.microsoft.com/office/drawing/2014/main" id="{7F94700D-0BDE-44E6-91A8-B93635641ADD}"/>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5, then 9. Python uses one definition with a default argument.</a:t>
            </a:r>
          </a:p>
        </p:txBody>
      </p:sp>
      <p:sp>
        <p:nvSpPr>
          <p:cNvPr id="35" name="text">
            <a:extLst>
              <a:ext uri="{FF2B5EF4-FFF2-40B4-BE49-F238E27FC236}">
                <a16:creationId xmlns:a16="http://schemas.microsoft.com/office/drawing/2014/main" id="{8C0A3FBE-786C-48FF-8E57-F1787D51BFBD}"/>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[C]  [P]</a:t>
            </a:r>
          </a:p>
        </p:txBody>
      </p:sp>
    </p:spTree>
    <p:extLst>
      <p:ext uri="{BB962C8B-B14F-4D97-AF65-F5344CB8AC3E}">
        <p14:creationId xmlns:p14="http://schemas.microsoft.com/office/powerpoint/2010/main" val="36456721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Composition: a robot has components</a:t>
            </a:r>
            <a:endParaRPr sz="1400" b="0" spc="-10">
              <a:latin typeface="Arial"/>
              <a:ea typeface="Arial"/>
              <a:cs typeface="Arial"/>
            </a:endParaRPr>
          </a:p>
        </p:txBody>
      </p:sp>
      <p:pic>
        <p:nvPicPr>
          <p:cNvPr id="22" name="object 4"/>
          <p:cNvPicPr>
            <a:picLocks noChangeAspect="1"/>
          </p:cNvPicPr>
          <p:nvPr/>
        </p:nvPicPr>
        <p:blipFill>
          <a:blip r:embed="rId3"/>
          <a:stretch>
            <a:fillRect/>
          </a:stretch>
        </p:blipFill>
        <p:spPr>
          <a:xfrm>
            <a:off x="152565" y="2988507"/>
            <a:ext cx="900668" cy="161917"/>
          </a:xfrm>
          <a:prstGeom prst="rect">
            <a:avLst/>
          </a:prstGeom>
        </p:spPr>
      </p:pic>
      <p:pic>
        <p:nvPicPr>
          <p:cNvPr id="2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24</a:t>
            </a:r>
          </a:p>
        </p:txBody>
      </p:sp>
      <p:sp>
        <p:nvSpPr>
          <p:cNvPr id="13" name="text">
            <a:extLst>
              <a:ext uri="{FF2B5EF4-FFF2-40B4-BE49-F238E27FC236}">
                <a16:creationId xmlns:a16="http://schemas.microsoft.com/office/drawing/2014/main" id="{0BCB46BE-6F31-4A8F-B7F8-BCFC111F21E2}"/>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Composition builds an object from component objects.</a:t>
            </a:r>
          </a:p>
        </p:txBody>
      </p:sp>
      <p:sp>
        <p:nvSpPr>
          <p:cNvPr id="14" name="diagram-node">
            <a:extLst>
              <a:ext uri="{FF2B5EF4-FFF2-40B4-BE49-F238E27FC236}">
                <a16:creationId xmlns:a16="http://schemas.microsoft.com/office/drawing/2014/main" id="{C747053C-D390-4979-8A61-33DC92CE06F8}"/>
              </a:ext>
            </a:extLst>
          </p:cNvPr>
          <p:cNvSpPr>
            <a:spLocks noGrp="1"/>
          </p:cNvSpPr>
          <p:nvPr/>
        </p:nvSpPr>
        <p:spPr>
          <a:xfrm>
            <a:off x="466725" y="1352550"/>
            <a:ext cx="1952625" cy="619125"/>
          </a:xfrm>
          <a:prstGeom prst="rect">
            <a:avLst/>
          </a:prstGeom>
          <a:solidFill>
            <a:srgbClr val="EAF3FA"/>
          </a:solidFill>
          <a:ln w="11430">
            <a:solidFill>
              <a:srgbClr val="006ABA"/>
            </a:solidFill>
          </a:ln>
        </p:spPr>
        <p:txBody>
          <a:bodyPr wrap="square" lIns="47625" tIns="28575" rIns="47625" bIns="28575" anchor="ctr">
            <a:noAutofit/>
          </a:bodyPr>
          <a:lstStyle/>
          <a:p>
            <a:pPr algn="ctr">
              <a:lnSpc>
                <a:spcPct val="107000"/>
              </a:lnSpc>
              <a:buNone/>
              <a:defRPr sz="1350">
                <a:solidFill>
                  <a:srgbClr val="202020"/>
                </a:solidFill>
                <a:latin typeface="Arial"/>
                <a:ea typeface="Arial"/>
                <a:cs typeface="Arial"/>
              </a:defRPr>
            </a:pPr>
            <a:r>
              <a:rPr sz="1350">
                <a:solidFill>
                  <a:srgbClr val="202020"/>
                </a:solidFill>
                <a:latin typeface="Arial"/>
                <a:ea typeface="Arial"/>
                <a:cs typeface="Arial"/>
              </a:rPr>
              <a:t>Robot</a:t>
            </a:r>
          </a:p>
        </p:txBody>
      </p:sp>
      <p:sp>
        <p:nvSpPr>
          <p:cNvPr id="15" name="diagram-node">
            <a:extLst>
              <a:ext uri="{FF2B5EF4-FFF2-40B4-BE49-F238E27FC236}">
                <a16:creationId xmlns:a16="http://schemas.microsoft.com/office/drawing/2014/main" id="{4A42B3B3-D55E-40C3-BF90-3F9BD2BEE42B}"/>
              </a:ext>
            </a:extLst>
          </p:cNvPr>
          <p:cNvSpPr>
            <a:spLocks noGrp="1"/>
          </p:cNvSpPr>
          <p:nvPr/>
        </p:nvSpPr>
        <p:spPr>
          <a:xfrm>
            <a:off x="3419475" y="1352550"/>
            <a:ext cx="1952625" cy="619125"/>
          </a:xfrm>
          <a:prstGeom prst="rect">
            <a:avLst/>
          </a:prstGeom>
          <a:solidFill>
            <a:srgbClr val="FFFFFF"/>
          </a:solidFill>
          <a:ln w="11430">
            <a:solidFill>
              <a:srgbClr val="006ABA"/>
            </a:solidFill>
          </a:ln>
        </p:spPr>
        <p:txBody>
          <a:bodyPr wrap="square" lIns="47625" tIns="28575" rIns="47625" bIns="28575" anchor="ctr">
            <a:noAutofit/>
          </a:bodyPr>
          <a:lstStyle/>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Battery</a:t>
            </a:r>
          </a:p>
          <a:p>
            <a:pPr algn="ctr">
              <a:lnSpc>
                <a:spcPct val="107000"/>
              </a:lnSpc>
              <a:buNone/>
              <a:defRPr sz="975">
                <a:solidFill>
                  <a:srgbClr val="202020"/>
                </a:solidFill>
                <a:latin typeface="Arial"/>
                <a:ea typeface="Arial"/>
                <a:cs typeface="Arial"/>
              </a:defRPr>
            </a:pPr>
            <a:r>
              <a:rPr sz="975">
                <a:solidFill>
                  <a:srgbClr val="202020"/>
                </a:solidFill>
                <a:latin typeface="Arial"/>
                <a:ea typeface="Arial"/>
                <a:cs typeface="Arial"/>
              </a:rPr>
              <a:t>use() and level()</a:t>
            </a:r>
          </a:p>
        </p:txBody>
      </p:sp>
      <p:cxnSp>
        <p:nvCxnSpPr>
          <p:cNvPr id="29" name="Straight Arrow Connector 28"/>
          <p:cNvCxnSpPr>
            <a:stCxn id="14" idx="3"/>
            <a:endCxn id="15" idx="1"/>
          </p:cNvCxnSpPr>
          <p:nvPr/>
        </p:nvCxnSpPr>
        <p:spPr>
          <a:xfrm>
            <a:off x="2419350" y="1662113"/>
            <a:ext cx="1000125" cy="0"/>
          </a:xfrm>
          <a:prstGeom prst="straightConnector1">
            <a:avLst/>
          </a:prstGeom>
          <a:ln w="11430">
            <a:solidFill>
              <a:srgbClr val="66717C"/>
            </a:solidFill>
            <a:headEnd type="none" w="med" len="med"/>
            <a:tailEnd type="none" w="sm" len="sm"/>
          </a:ln>
        </p:spPr>
      </p:cxnSp>
      <p:sp>
        <p:nvSpPr>
          <p:cNvPr id="17" name="text">
            <a:extLst>
              <a:ext uri="{FF2B5EF4-FFF2-40B4-BE49-F238E27FC236}">
                <a16:creationId xmlns:a16="http://schemas.microsoft.com/office/drawing/2014/main" id="{91BCF093-BAD9-41DD-B619-CDFB503DE0DE}"/>
              </a:ext>
            </a:extLst>
          </p:cNvPr>
          <p:cNvSpPr>
            <a:spLocks noGrp="1"/>
          </p:cNvSpPr>
          <p:nvPr/>
        </p:nvSpPr>
        <p:spPr>
          <a:xfrm>
            <a:off x="2514600" y="1238250"/>
            <a:ext cx="819150" cy="190500"/>
          </a:xfrm>
          <a:prstGeom prst="rect">
            <a:avLst/>
          </a:prstGeom>
          <a:noFill/>
          <a:ln w="0">
            <a:noFill/>
          </a:ln>
        </p:spPr>
        <p:txBody>
          <a:bodyPr wrap="square" lIns="0" tIns="0" rIns="0" bIns="0" anchor="t">
            <a:noAutofit/>
          </a:bodyPr>
          <a:lstStyle/>
          <a:p>
            <a:pPr algn="ctr">
              <a:lnSpc>
                <a:spcPct val="110000"/>
              </a:lnSpc>
              <a:buNone/>
              <a:defRPr sz="863" b="0">
                <a:solidFill>
                  <a:srgbClr val="006ABA"/>
                </a:solidFill>
                <a:latin typeface="Arial"/>
                <a:ea typeface="Arial"/>
                <a:cs typeface="Arial"/>
              </a:defRPr>
            </a:pPr>
            <a:r>
              <a:rPr sz="863" b="0">
                <a:solidFill>
                  <a:srgbClr val="006ABA"/>
                </a:solidFill>
                <a:latin typeface="Arial"/>
                <a:ea typeface="Arial"/>
                <a:cs typeface="Arial"/>
              </a:rPr>
              <a:t>has a</a:t>
            </a:r>
          </a:p>
        </p:txBody>
      </p:sp>
      <p:sp>
        <p:nvSpPr>
          <p:cNvPr id="18" name="text">
            <a:extLst>
              <a:ext uri="{FF2B5EF4-FFF2-40B4-BE49-F238E27FC236}">
                <a16:creationId xmlns:a16="http://schemas.microsoft.com/office/drawing/2014/main" id="{6F73223C-3AD6-44A5-BCDB-AA79507D7380}"/>
              </a:ext>
            </a:extLst>
          </p:cNvPr>
          <p:cNvSpPr>
            <a:spLocks noGrp="1"/>
          </p:cNvSpPr>
          <p:nvPr/>
        </p:nvSpPr>
        <p:spPr>
          <a:xfrm>
            <a:off x="981075" y="2257425"/>
            <a:ext cx="4257675" cy="247650"/>
          </a:xfrm>
          <a:prstGeom prst="rect">
            <a:avLst/>
          </a:prstGeom>
          <a:noFill/>
          <a:ln w="0">
            <a:noFill/>
          </a:ln>
        </p:spPr>
        <p:txBody>
          <a:bodyPr wrap="square" lIns="0" tIns="0" rIns="0" bIns="0" anchor="t">
            <a:noAutofit/>
          </a:bodyPr>
          <a:lstStyle/>
          <a:p>
            <a:pPr algn="l">
              <a:lnSpc>
                <a:spcPct val="110000"/>
              </a:lnSpc>
              <a:buNone/>
              <a:defRPr sz="1050" b="0">
                <a:solidFill>
                  <a:srgbClr val="006ABA"/>
                </a:solidFill>
                <a:latin typeface="Arial"/>
                <a:ea typeface="Arial"/>
                <a:cs typeface="Arial"/>
              </a:defRPr>
            </a:pPr>
            <a:r>
              <a:rPr sz="1050" b="0">
                <a:solidFill>
                  <a:srgbClr val="006ABA"/>
                </a:solidFill>
                <a:latin typeface="Arial"/>
                <a:ea typeface="Arial"/>
                <a:cs typeface="Arial"/>
              </a:rPr>
              <a:t>The component manages its own state.</a:t>
            </a:r>
          </a:p>
        </p:txBody>
      </p:sp>
      <p:sp>
        <p:nvSpPr>
          <p:cNvPr id="19" name="text">
            <a:extLst>
              <a:ext uri="{FF2B5EF4-FFF2-40B4-BE49-F238E27FC236}">
                <a16:creationId xmlns:a16="http://schemas.microsoft.com/office/drawing/2014/main" id="{9FE266C6-5195-4655-A0C3-0D3E6BEB5810}"/>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Robot has a Battery. Battery handles its own state.</a:t>
            </a:r>
          </a:p>
        </p:txBody>
      </p:sp>
      <p:sp>
        <p:nvSpPr>
          <p:cNvPr id="20" name="text">
            <a:extLst>
              <a:ext uri="{FF2B5EF4-FFF2-40B4-BE49-F238E27FC236}">
                <a16:creationId xmlns:a16="http://schemas.microsoft.com/office/drawing/2014/main" id="{DEFBBA11-9A4E-4974-AFD9-B8BE906E39A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[R]  [G1]</a:t>
            </a:r>
          </a:p>
        </p:txBody>
      </p:sp>
    </p:spTree>
    <p:extLst>
      <p:ext uri="{BB962C8B-B14F-4D97-AF65-F5344CB8AC3E}">
        <p14:creationId xmlns:p14="http://schemas.microsoft.com/office/powerpoint/2010/main" val="3645672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Composition in C++ and Python</a:t>
            </a:r>
            <a:endParaRPr sz="1400" b="0" spc="-10">
              <a:latin typeface="Arial"/>
              <a:ea typeface="Arial"/>
              <a:cs typeface="Arial"/>
            </a:endParaRPr>
          </a:p>
        </p:txBody>
      </p:sp>
      <p:pic>
        <p:nvPicPr>
          <p:cNvPr id="38" name="object 4"/>
          <p:cNvPicPr>
            <a:picLocks noChangeAspect="1"/>
          </p:cNvPicPr>
          <p:nvPr/>
        </p:nvPicPr>
        <p:blipFill>
          <a:blip r:embed="rId3"/>
          <a:stretch>
            <a:fillRect/>
          </a:stretch>
        </p:blipFill>
        <p:spPr>
          <a:xfrm>
            <a:off x="152565" y="2988507"/>
            <a:ext cx="900668" cy="161917"/>
          </a:xfrm>
          <a:prstGeom prst="rect">
            <a:avLst/>
          </a:prstGeom>
        </p:spPr>
      </p:pic>
      <p:pic>
        <p:nvPicPr>
          <p:cNvPr id="39"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25</a:t>
            </a:r>
          </a:p>
        </p:txBody>
      </p:sp>
      <p:sp>
        <p:nvSpPr>
          <p:cNvPr id="13" name="text">
            <a:extLst>
              <a:ext uri="{FF2B5EF4-FFF2-40B4-BE49-F238E27FC236}">
                <a16:creationId xmlns:a16="http://schemas.microsoft.com/office/drawing/2014/main" id="{EB35E7F7-142B-41E4-9353-0159584067E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Robot delegates battery work to its Battery component.</a:t>
            </a:r>
          </a:p>
        </p:txBody>
      </p:sp>
      <p:sp>
        <p:nvSpPr>
          <p:cNvPr id="14" name="Rectangle 13">
            <a:extLst>
              <a:ext uri="{FF2B5EF4-FFF2-40B4-BE49-F238E27FC236}">
                <a16:creationId xmlns:a16="http://schemas.microsoft.com/office/drawing/2014/main" id="{BFE95F1C-A693-4087-BA79-334B417CAE81}"/>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CE294B82-D846-4910-B06E-ED3303FDFB86}"/>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72DE607F-6E4F-4788-8584-5728E641DEAE}"/>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218A8141-933F-4944-B742-B58767E25F25}"/>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 {</a:t>
            </a:r>
          </a:p>
        </p:txBody>
      </p:sp>
      <p:sp>
        <p:nvSpPr>
          <p:cNvPr id="18" name="text">
            <a:extLst>
              <a:ext uri="{FF2B5EF4-FFF2-40B4-BE49-F238E27FC236}">
                <a16:creationId xmlns:a16="http://schemas.microsoft.com/office/drawing/2014/main" id="{5764286D-6448-40CD-8576-7F30BC58D560}"/>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Battery battery_;</a:t>
            </a:r>
          </a:p>
        </p:txBody>
      </p:sp>
      <p:sp>
        <p:nvSpPr>
          <p:cNvPr id="19" name="text">
            <a:extLst>
              <a:ext uri="{FF2B5EF4-FFF2-40B4-BE49-F238E27FC236}">
                <a16:creationId xmlns:a16="http://schemas.microsoft.com/office/drawing/2014/main" id="{48316801-142E-435C-ADA4-80FDD1785FCA}"/>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public:</a:t>
            </a:r>
          </a:p>
        </p:txBody>
      </p:sp>
      <p:sp>
        <p:nvSpPr>
          <p:cNvPr id="20" name="text">
            <a:extLst>
              <a:ext uri="{FF2B5EF4-FFF2-40B4-BE49-F238E27FC236}">
                <a16:creationId xmlns:a16="http://schemas.microsoft.com/office/drawing/2014/main" id="{FA84FFB2-B4C8-424A-A379-2DC51DFB2321}"/>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void move() { battery_.use(10); }</a:t>
            </a:r>
          </a:p>
        </p:txBody>
      </p:sp>
      <p:sp>
        <p:nvSpPr>
          <p:cNvPr id="21" name="text">
            <a:extLst>
              <a:ext uri="{FF2B5EF4-FFF2-40B4-BE49-F238E27FC236}">
                <a16:creationId xmlns:a16="http://schemas.microsoft.com/office/drawing/2014/main" id="{F0A07F97-7252-4B97-BA1C-15B0DE138E63}"/>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int level() const {</a:t>
            </a:r>
          </a:p>
        </p:txBody>
      </p:sp>
      <p:sp>
        <p:nvSpPr>
          <p:cNvPr id="22" name="text">
            <a:extLst>
              <a:ext uri="{FF2B5EF4-FFF2-40B4-BE49-F238E27FC236}">
                <a16:creationId xmlns:a16="http://schemas.microsoft.com/office/drawing/2014/main" id="{2193E2BA-8745-44BE-977C-7137183BB5F4}"/>
              </a:ext>
            </a:extLst>
          </p:cNvPr>
          <p:cNvSpPr>
            <a:spLocks noGrp="1"/>
          </p:cNvSpPr>
          <p:nvPr/>
        </p:nvSpPr>
        <p:spPr>
          <a:xfrm>
            <a:off x="29527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battery_.level();</a:t>
            </a:r>
          </a:p>
        </p:txBody>
      </p:sp>
      <p:sp>
        <p:nvSpPr>
          <p:cNvPr id="23" name="text">
            <a:extLst>
              <a:ext uri="{FF2B5EF4-FFF2-40B4-BE49-F238E27FC236}">
                <a16:creationId xmlns:a16="http://schemas.microsoft.com/office/drawing/2014/main" id="{C00B2FD9-1E34-4997-B2B8-5C275F930AA7}"/>
              </a:ext>
            </a:extLst>
          </p:cNvPr>
          <p:cNvSpPr>
            <a:spLocks noGrp="1"/>
          </p:cNvSpPr>
          <p:nvPr/>
        </p:nvSpPr>
        <p:spPr>
          <a:xfrm>
            <a:off x="29527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a:t>
            </a:r>
          </a:p>
        </p:txBody>
      </p:sp>
      <p:sp>
        <p:nvSpPr>
          <p:cNvPr id="24" name="text">
            <a:extLst>
              <a:ext uri="{FF2B5EF4-FFF2-40B4-BE49-F238E27FC236}">
                <a16:creationId xmlns:a16="http://schemas.microsoft.com/office/drawing/2014/main" id="{02258563-49C8-4161-A3A3-9F6E783CBB0F}"/>
              </a:ext>
            </a:extLst>
          </p:cNvPr>
          <p:cNvSpPr>
            <a:spLocks noGrp="1"/>
          </p:cNvSpPr>
          <p:nvPr/>
        </p:nvSpPr>
        <p:spPr>
          <a:xfrm>
            <a:off x="295275" y="19735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25" name="Rectangle 24">
            <a:extLst>
              <a:ext uri="{FF2B5EF4-FFF2-40B4-BE49-F238E27FC236}">
                <a16:creationId xmlns:a16="http://schemas.microsoft.com/office/drawing/2014/main" id="{2A4A0EEF-D951-4062-A4B6-2CA64429D9E6}"/>
              </a:ext>
            </a:extLst>
          </p:cNvPr>
          <p:cNvSpPr>
            <a:spLocks noGrp="1"/>
          </p:cNvSpPr>
          <p:nvPr/>
        </p:nvSpPr>
        <p:spPr>
          <a:xfrm>
            <a:off x="2990850" y="981075"/>
            <a:ext cx="2600325" cy="1504950"/>
          </a:xfrm>
          <a:prstGeom prst="rect">
            <a:avLst/>
          </a:prstGeom>
          <a:solidFill>
            <a:srgbClr val="101827"/>
          </a:solidFill>
          <a:ln w="0">
            <a:noFill/>
          </a:ln>
        </p:spPr>
      </p:sp>
      <p:sp>
        <p:nvSpPr>
          <p:cNvPr id="26" name="Rectangle 25">
            <a:extLst>
              <a:ext uri="{FF2B5EF4-FFF2-40B4-BE49-F238E27FC236}">
                <a16:creationId xmlns:a16="http://schemas.microsoft.com/office/drawing/2014/main" id="{8BD6E299-E592-41A2-8589-66C69122EE92}"/>
              </a:ext>
            </a:extLst>
          </p:cNvPr>
          <p:cNvSpPr>
            <a:spLocks noGrp="1"/>
          </p:cNvSpPr>
          <p:nvPr/>
        </p:nvSpPr>
        <p:spPr>
          <a:xfrm>
            <a:off x="2990850" y="800100"/>
            <a:ext cx="2600325" cy="180975"/>
          </a:xfrm>
          <a:prstGeom prst="rect">
            <a:avLst/>
          </a:prstGeom>
          <a:solidFill>
            <a:srgbClr val="1AA260"/>
          </a:solidFill>
          <a:ln w="0">
            <a:noFill/>
          </a:ln>
        </p:spPr>
      </p:sp>
      <p:sp>
        <p:nvSpPr>
          <p:cNvPr id="27" name="text">
            <a:extLst>
              <a:ext uri="{FF2B5EF4-FFF2-40B4-BE49-F238E27FC236}">
                <a16:creationId xmlns:a16="http://schemas.microsoft.com/office/drawing/2014/main" id="{BD870770-BF35-4B59-88E1-AFBFFB83759B}"/>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8" name="text">
            <a:extLst>
              <a:ext uri="{FF2B5EF4-FFF2-40B4-BE49-F238E27FC236}">
                <a16:creationId xmlns:a16="http://schemas.microsoft.com/office/drawing/2014/main" id="{DB4A0EE3-BF43-4BE7-B9EB-E3FE1D31D7E1}"/>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class Robot:</a:t>
            </a:r>
          </a:p>
        </p:txBody>
      </p:sp>
      <p:sp>
        <p:nvSpPr>
          <p:cNvPr id="29" name="text">
            <a:extLst>
              <a:ext uri="{FF2B5EF4-FFF2-40B4-BE49-F238E27FC236}">
                <a16:creationId xmlns:a16="http://schemas.microsoft.com/office/drawing/2014/main" id="{CDD59574-4912-4ED6-822C-3AF14EFBA7E2}"/>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__init__(self):</a:t>
            </a:r>
          </a:p>
        </p:txBody>
      </p:sp>
      <p:sp>
        <p:nvSpPr>
          <p:cNvPr id="30" name="text">
            <a:extLst>
              <a:ext uri="{FF2B5EF4-FFF2-40B4-BE49-F238E27FC236}">
                <a16:creationId xmlns:a16="http://schemas.microsoft.com/office/drawing/2014/main" id="{86330463-FDAB-4B0D-8F12-3E9C9F0031EC}"/>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self._battery = Battery()</a:t>
            </a:r>
          </a:p>
        </p:txBody>
      </p:sp>
      <p:sp>
        <p:nvSpPr>
          <p:cNvPr id="31" name="text">
            <a:extLst>
              <a:ext uri="{FF2B5EF4-FFF2-40B4-BE49-F238E27FC236}">
                <a16:creationId xmlns:a16="http://schemas.microsoft.com/office/drawing/2014/main" id="{74A59303-8A8F-43C6-A11F-E92AB1A3F66A}"/>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move(self):</a:t>
            </a:r>
          </a:p>
        </p:txBody>
      </p:sp>
      <p:sp>
        <p:nvSpPr>
          <p:cNvPr id="32" name="text">
            <a:extLst>
              <a:ext uri="{FF2B5EF4-FFF2-40B4-BE49-F238E27FC236}">
                <a16:creationId xmlns:a16="http://schemas.microsoft.com/office/drawing/2014/main" id="{3D78F352-AC03-4060-B5EE-483A017A045A}"/>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self._battery.use(10)</a:t>
            </a:r>
          </a:p>
        </p:txBody>
      </p:sp>
      <p:sp>
        <p:nvSpPr>
          <p:cNvPr id="33" name="text">
            <a:extLst>
              <a:ext uri="{FF2B5EF4-FFF2-40B4-BE49-F238E27FC236}">
                <a16:creationId xmlns:a16="http://schemas.microsoft.com/office/drawing/2014/main" id="{6255617A-0536-4021-8191-5DF5BBF554E7}"/>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def level(self):</a:t>
            </a:r>
          </a:p>
        </p:txBody>
      </p:sp>
      <p:sp>
        <p:nvSpPr>
          <p:cNvPr id="34" name="text">
            <a:extLst>
              <a:ext uri="{FF2B5EF4-FFF2-40B4-BE49-F238E27FC236}">
                <a16:creationId xmlns:a16="http://schemas.microsoft.com/office/drawing/2014/main" id="{E43C294D-1BF8-49EE-B277-6D4670D18A1B}"/>
              </a:ext>
            </a:extLst>
          </p:cNvPr>
          <p:cNvSpPr>
            <a:spLocks noGrp="1"/>
          </p:cNvSpPr>
          <p:nvPr/>
        </p:nvSpPr>
        <p:spPr>
          <a:xfrm>
            <a:off x="305752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return self._battery.level()</a:t>
            </a:r>
          </a:p>
        </p:txBody>
      </p:sp>
      <p:sp>
        <p:nvSpPr>
          <p:cNvPr id="35" name="text">
            <a:extLst>
              <a:ext uri="{FF2B5EF4-FFF2-40B4-BE49-F238E27FC236}">
                <a16:creationId xmlns:a16="http://schemas.microsoft.com/office/drawing/2014/main" id="{52EA2C67-F4A4-42A9-9B3D-5A09514B83CA}"/>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After one move(), the level is 70.</a:t>
            </a:r>
          </a:p>
        </p:txBody>
      </p:sp>
      <p:sp>
        <p:nvSpPr>
          <p:cNvPr id="36" name="text">
            <a:extLst>
              <a:ext uri="{FF2B5EF4-FFF2-40B4-BE49-F238E27FC236}">
                <a16:creationId xmlns:a16="http://schemas.microsoft.com/office/drawing/2014/main" id="{CAC5AFF8-E3C0-41B0-B10B-6BF127E48EE3}"/>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[C]  [P]</a:t>
            </a:r>
          </a:p>
        </p:txBody>
      </p:sp>
    </p:spTree>
    <p:extLst>
      <p:ext uri="{BB962C8B-B14F-4D97-AF65-F5344CB8AC3E}">
        <p14:creationId xmlns:p14="http://schemas.microsoft.com/office/powerpoint/2010/main" val="3645672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Copying and sharing</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26</a:t>
            </a:r>
          </a:p>
        </p:txBody>
      </p:sp>
      <p:sp>
        <p:nvSpPr>
          <p:cNvPr id="13" name="text">
            <a:extLst>
              <a:ext uri="{FF2B5EF4-FFF2-40B4-BE49-F238E27FC236}">
                <a16:creationId xmlns:a16="http://schemas.microsoft.com/office/drawing/2014/main" id="{9EB27A80-48E5-435E-9B4A-9970F530E003}"/>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Copying creates another object. Sharing gives access to the same object.</a:t>
            </a:r>
          </a:p>
        </p:txBody>
      </p:sp>
      <p:sp>
        <p:nvSpPr>
          <p:cNvPr id="14" name="text">
            <a:extLst>
              <a:ext uri="{FF2B5EF4-FFF2-40B4-BE49-F238E27FC236}">
                <a16:creationId xmlns:a16="http://schemas.microsoft.com/office/drawing/2014/main" id="{A8A56E36-884D-4AC1-B07B-6DBB1402A34E}"/>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value copy</a:t>
            </a:r>
          </a:p>
        </p:txBody>
      </p:sp>
      <p:sp>
        <p:nvSpPr>
          <p:cNvPr id="15" name="text">
            <a:extLst>
              <a:ext uri="{FF2B5EF4-FFF2-40B4-BE49-F238E27FC236}">
                <a16:creationId xmlns:a16="http://schemas.microsoft.com/office/drawing/2014/main" id="{6CCEFDE3-F2E1-4191-9F5B-6C16B0F55B4C}"/>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Robot b = a creates a copy if copying is supported</a:t>
            </a:r>
          </a:p>
        </p:txBody>
      </p:sp>
      <p:sp>
        <p:nvSpPr>
          <p:cNvPr id="16" name="text">
            <a:extLst>
              <a:ext uri="{FF2B5EF4-FFF2-40B4-BE49-F238E27FC236}">
                <a16:creationId xmlns:a16="http://schemas.microsoft.com/office/drawing/2014/main" id="{509DF64A-937D-4307-A528-77E89ED7C666}"/>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reference</a:t>
            </a:r>
          </a:p>
        </p:txBody>
      </p:sp>
      <p:sp>
        <p:nvSpPr>
          <p:cNvPr id="17" name="text">
            <a:extLst>
              <a:ext uri="{FF2B5EF4-FFF2-40B4-BE49-F238E27FC236}">
                <a16:creationId xmlns:a16="http://schemas.microsoft.com/office/drawing/2014/main" id="{60E632F3-AE52-4CC2-ACCC-E6EAA78ABB0E}"/>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Robot&amp; b = a refers to the existing object</a:t>
            </a:r>
          </a:p>
        </p:txBody>
      </p:sp>
      <p:sp>
        <p:nvSpPr>
          <p:cNvPr id="18" name="text">
            <a:extLst>
              <a:ext uri="{FF2B5EF4-FFF2-40B4-BE49-F238E27FC236}">
                <a16:creationId xmlns:a16="http://schemas.microsoft.com/office/drawing/2014/main" id="{722D8BF8-71CE-49FE-9D7D-0B05F128EDB1}"/>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assignment</a:t>
            </a:r>
          </a:p>
        </p:txBody>
      </p:sp>
      <p:sp>
        <p:nvSpPr>
          <p:cNvPr id="19" name="text">
            <a:extLst>
              <a:ext uri="{FF2B5EF4-FFF2-40B4-BE49-F238E27FC236}">
                <a16:creationId xmlns:a16="http://schemas.microsoft.com/office/drawing/2014/main" id="{DF91129C-2404-404C-805E-FBDB9E9A41EF}"/>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b = a gives the same object another name</a:t>
            </a:r>
          </a:p>
        </p:txBody>
      </p:sp>
      <p:sp>
        <p:nvSpPr>
          <p:cNvPr id="20" name="text">
            <a:extLst>
              <a:ext uri="{FF2B5EF4-FFF2-40B4-BE49-F238E27FC236}">
                <a16:creationId xmlns:a16="http://schemas.microsoft.com/office/drawing/2014/main" id="{51F508A6-1735-4A75-986E-558487EFEF3C}"/>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copy.copy(a)</a:t>
            </a:r>
          </a:p>
        </p:txBody>
      </p:sp>
      <p:sp>
        <p:nvSpPr>
          <p:cNvPr id="21" name="text">
            <a:extLst>
              <a:ext uri="{FF2B5EF4-FFF2-40B4-BE49-F238E27FC236}">
                <a16:creationId xmlns:a16="http://schemas.microsoft.com/office/drawing/2014/main" id="{9397E873-4B7C-4561-A47A-B1A93CEF310F}"/>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New outer object, with shallow member copying</a:t>
            </a:r>
          </a:p>
        </p:txBody>
      </p:sp>
      <p:sp>
        <p:nvSpPr>
          <p:cNvPr id="22" name="text">
            <a:extLst>
              <a:ext uri="{FF2B5EF4-FFF2-40B4-BE49-F238E27FC236}">
                <a16:creationId xmlns:a16="http://schemas.microsoft.com/office/drawing/2014/main" id="{FCA58FE1-B203-4730-9D6E-15A5C04E0486}"/>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[P]  [C]</a:t>
            </a:r>
          </a:p>
        </p:txBody>
      </p:sp>
    </p:spTree>
    <p:extLst>
      <p:ext uri="{BB962C8B-B14F-4D97-AF65-F5344CB8AC3E}">
        <p14:creationId xmlns:p14="http://schemas.microsoft.com/office/powerpoint/2010/main" val="3645672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An independent copy</a:t>
            </a:r>
            <a:endParaRPr sz="1400" b="0" spc="-10">
              <a:latin typeface="Arial"/>
              <a:ea typeface="Arial"/>
              <a:cs typeface="Arial"/>
            </a:endParaRPr>
          </a:p>
        </p:txBody>
      </p:sp>
      <p:pic>
        <p:nvPicPr>
          <p:cNvPr id="35" name="object 4"/>
          <p:cNvPicPr>
            <a:picLocks noChangeAspect="1"/>
          </p:cNvPicPr>
          <p:nvPr/>
        </p:nvPicPr>
        <p:blipFill>
          <a:blip r:embed="rId3"/>
          <a:stretch>
            <a:fillRect/>
          </a:stretch>
        </p:blipFill>
        <p:spPr>
          <a:xfrm>
            <a:off x="152565" y="2988507"/>
            <a:ext cx="900668" cy="161917"/>
          </a:xfrm>
          <a:prstGeom prst="rect">
            <a:avLst/>
          </a:prstGeom>
        </p:spPr>
      </p:pic>
      <p:pic>
        <p:nvPicPr>
          <p:cNvPr id="36"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27</a:t>
            </a:r>
          </a:p>
        </p:txBody>
      </p:sp>
      <p:sp>
        <p:nvSpPr>
          <p:cNvPr id="13" name="text">
            <a:extLst>
              <a:ext uri="{FF2B5EF4-FFF2-40B4-BE49-F238E27FC236}">
                <a16:creationId xmlns:a16="http://schemas.microsoft.com/office/drawing/2014/main" id="{4C51228B-2FA2-4207-86BD-83FD9605ACC7}"/>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This example uses a Robot with one public integer battery attribute.</a:t>
            </a:r>
          </a:p>
        </p:txBody>
      </p:sp>
      <p:sp>
        <p:nvSpPr>
          <p:cNvPr id="14" name="Rectangle 13">
            <a:extLst>
              <a:ext uri="{FF2B5EF4-FFF2-40B4-BE49-F238E27FC236}">
                <a16:creationId xmlns:a16="http://schemas.microsoft.com/office/drawing/2014/main" id="{1966A9A2-5A49-410F-AAE9-8E47FDAD6995}"/>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C7B3F869-49DE-4C7D-9E9F-7AD421276475}"/>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C3A04827-47DD-452A-BEFD-348D03EAF6CE}"/>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C7F10668-CE32-4B8E-BB5A-A1CB1D8C1D69}"/>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Robot a;</a:t>
            </a:r>
          </a:p>
        </p:txBody>
      </p:sp>
      <p:sp>
        <p:nvSpPr>
          <p:cNvPr id="18" name="text">
            <a:extLst>
              <a:ext uri="{FF2B5EF4-FFF2-40B4-BE49-F238E27FC236}">
                <a16:creationId xmlns:a16="http://schemas.microsoft.com/office/drawing/2014/main" id="{0FF68BD8-F055-4503-AC68-984698C6B27C}"/>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Robot b = a;</a:t>
            </a:r>
          </a:p>
        </p:txBody>
      </p:sp>
      <p:sp>
        <p:nvSpPr>
          <p:cNvPr id="19" name="text">
            <a:extLst>
              <a:ext uri="{FF2B5EF4-FFF2-40B4-BE49-F238E27FC236}">
                <a16:creationId xmlns:a16="http://schemas.microsoft.com/office/drawing/2014/main" id="{3DF8AE10-1C4D-4B78-9C22-E009FFDB5C04}"/>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b.battery = 30;</a:t>
            </a:r>
          </a:p>
        </p:txBody>
      </p:sp>
      <p:sp>
        <p:nvSpPr>
          <p:cNvPr id="20" name="text">
            <a:extLst>
              <a:ext uri="{FF2B5EF4-FFF2-40B4-BE49-F238E27FC236}">
                <a16:creationId xmlns:a16="http://schemas.microsoft.com/office/drawing/2014/main" id="{00465F93-C56E-4ED2-8E12-478A3E04FD39}"/>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a.battery &lt;&lt; "\n";</a:t>
            </a:r>
          </a:p>
        </p:txBody>
      </p:sp>
      <p:sp>
        <p:nvSpPr>
          <p:cNvPr id="21" name="text">
            <a:extLst>
              <a:ext uri="{FF2B5EF4-FFF2-40B4-BE49-F238E27FC236}">
                <a16:creationId xmlns:a16="http://schemas.microsoft.com/office/drawing/2014/main" id="{D8F5D179-1EE0-4C86-A9DE-769E9C0B9378}"/>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b.battery &lt;&lt; "\n";</a:t>
            </a:r>
          </a:p>
        </p:txBody>
      </p:sp>
      <p:sp>
        <p:nvSpPr>
          <p:cNvPr id="22" name="Rectangle 21">
            <a:extLst>
              <a:ext uri="{FF2B5EF4-FFF2-40B4-BE49-F238E27FC236}">
                <a16:creationId xmlns:a16="http://schemas.microsoft.com/office/drawing/2014/main" id="{F3FE28B6-F566-4C16-AC8B-C431B2852D68}"/>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D6E09017-A7CC-44BC-ACF7-E051E785AE9C}"/>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B7B11C86-1DB4-4597-9F59-62E85A7D33FF}"/>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0846F79E-EB31-47F2-852B-F9295E818C84}"/>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from copy import copy</a:t>
            </a:r>
          </a:p>
        </p:txBody>
      </p:sp>
      <p:sp>
        <p:nvSpPr>
          <p:cNvPr id="26" name="text">
            <a:extLst>
              <a:ext uri="{FF2B5EF4-FFF2-40B4-BE49-F238E27FC236}">
                <a16:creationId xmlns:a16="http://schemas.microsoft.com/office/drawing/2014/main" id="{B3DC5C7B-7658-4A8D-9D24-C1664B71F2FE}"/>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endParaRPr/>
          </a:p>
        </p:txBody>
      </p:sp>
      <p:sp>
        <p:nvSpPr>
          <p:cNvPr id="27" name="text">
            <a:extLst>
              <a:ext uri="{FF2B5EF4-FFF2-40B4-BE49-F238E27FC236}">
                <a16:creationId xmlns:a16="http://schemas.microsoft.com/office/drawing/2014/main" id="{652DCFB3-1ED3-4804-B3BB-A03EE4FCA540}"/>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 = Robot()</a:t>
            </a:r>
          </a:p>
        </p:txBody>
      </p:sp>
      <p:sp>
        <p:nvSpPr>
          <p:cNvPr id="28" name="text">
            <a:extLst>
              <a:ext uri="{FF2B5EF4-FFF2-40B4-BE49-F238E27FC236}">
                <a16:creationId xmlns:a16="http://schemas.microsoft.com/office/drawing/2014/main" id="{22D0EECF-6C21-44B5-AA00-06764EF4C4EE}"/>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 = copy(a)</a:t>
            </a:r>
          </a:p>
        </p:txBody>
      </p:sp>
      <p:sp>
        <p:nvSpPr>
          <p:cNvPr id="29" name="text">
            <a:extLst>
              <a:ext uri="{FF2B5EF4-FFF2-40B4-BE49-F238E27FC236}">
                <a16:creationId xmlns:a16="http://schemas.microsoft.com/office/drawing/2014/main" id="{9D6F431C-9AA6-4AF8-A8A3-96AB69AC378D}"/>
              </a:ext>
            </a:extLst>
          </p:cNvPr>
          <p:cNvSpPr>
            <a:spLocks noGrp="1"/>
          </p:cNvSpPr>
          <p:nvPr/>
        </p:nvSpPr>
        <p:spPr>
          <a:xfrm>
            <a:off x="305752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b.battery = 30</a:t>
            </a:r>
          </a:p>
        </p:txBody>
      </p:sp>
      <p:sp>
        <p:nvSpPr>
          <p:cNvPr id="30" name="text">
            <a:extLst>
              <a:ext uri="{FF2B5EF4-FFF2-40B4-BE49-F238E27FC236}">
                <a16:creationId xmlns:a16="http://schemas.microsoft.com/office/drawing/2014/main" id="{E941FB36-D1A6-4066-B32E-68702CC54EE2}"/>
              </a:ext>
            </a:extLst>
          </p:cNvPr>
          <p:cNvSpPr>
            <a:spLocks noGrp="1"/>
          </p:cNvSpPr>
          <p:nvPr/>
        </p:nvSpPr>
        <p:spPr>
          <a:xfrm>
            <a:off x="3057525" y="17145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print(a.battery)</a:t>
            </a:r>
          </a:p>
        </p:txBody>
      </p:sp>
      <p:sp>
        <p:nvSpPr>
          <p:cNvPr id="31" name="text">
            <a:extLst>
              <a:ext uri="{FF2B5EF4-FFF2-40B4-BE49-F238E27FC236}">
                <a16:creationId xmlns:a16="http://schemas.microsoft.com/office/drawing/2014/main" id="{1E2A035B-6DB9-4F22-AF3C-5CD045FC89CC}"/>
              </a:ext>
            </a:extLst>
          </p:cNvPr>
          <p:cNvSpPr>
            <a:spLocks noGrp="1"/>
          </p:cNvSpPr>
          <p:nvPr/>
        </p:nvSpPr>
        <p:spPr>
          <a:xfrm>
            <a:off x="3057525" y="18440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print(b.battery)</a:t>
            </a:r>
          </a:p>
        </p:txBody>
      </p:sp>
      <p:sp>
        <p:nvSpPr>
          <p:cNvPr id="32" name="text">
            <a:extLst>
              <a:ext uri="{FF2B5EF4-FFF2-40B4-BE49-F238E27FC236}">
                <a16:creationId xmlns:a16="http://schemas.microsoft.com/office/drawing/2014/main" id="{2B67B369-C852-42DE-8913-09C2402CF0ED}"/>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Output: 80, then 30. Python b = a would share the object.</a:t>
            </a:r>
          </a:p>
        </p:txBody>
      </p:sp>
      <p:sp>
        <p:nvSpPr>
          <p:cNvPr id="33" name="text">
            <a:extLst>
              <a:ext uri="{FF2B5EF4-FFF2-40B4-BE49-F238E27FC236}">
                <a16:creationId xmlns:a16="http://schemas.microsoft.com/office/drawing/2014/main" id="{564EF686-A71A-4553-8C6B-1DF42DC3B4A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[P]  [C]</a:t>
            </a:r>
          </a:p>
        </p:txBody>
      </p:sp>
    </p:spTree>
    <p:extLst>
      <p:ext uri="{BB962C8B-B14F-4D97-AF65-F5344CB8AC3E}">
        <p14:creationId xmlns:p14="http://schemas.microsoft.com/office/powerpoint/2010/main" val="36456721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Object lifetime and resources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28</a:t>
            </a:r>
          </a:p>
        </p:txBody>
      </p:sp>
      <p:sp>
        <p:nvSpPr>
          <p:cNvPr id="13" name="text">
            <a:extLst>
              <a:ext uri="{FF2B5EF4-FFF2-40B4-BE49-F238E27FC236}">
                <a16:creationId xmlns:a16="http://schemas.microsoft.com/office/drawing/2014/main" id="{B9D14E43-B3DC-4BDD-AE90-655836B66D68}"/>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resource needs a clear point where it is released.</a:t>
            </a:r>
          </a:p>
        </p:txBody>
      </p:sp>
      <p:sp>
        <p:nvSpPr>
          <p:cNvPr id="14" name="text">
            <a:extLst>
              <a:ext uri="{FF2B5EF4-FFF2-40B4-BE49-F238E27FC236}">
                <a16:creationId xmlns:a16="http://schemas.microsoft.com/office/drawing/2014/main" id="{D57B6FEB-9DA4-4BBF-8687-DA6AC37CA0DD}"/>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constructor / destructor</a:t>
            </a:r>
          </a:p>
        </p:txBody>
      </p:sp>
      <p:sp>
        <p:nvSpPr>
          <p:cNvPr id="15" name="text">
            <a:extLst>
              <a:ext uri="{FF2B5EF4-FFF2-40B4-BE49-F238E27FC236}">
                <a16:creationId xmlns:a16="http://schemas.microsoft.com/office/drawing/2014/main" id="{B5C1431E-2153-497B-8E2C-F559E44A1788}"/>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Initialize the object / clean up on destruction</a:t>
            </a:r>
          </a:p>
        </p:txBody>
      </p:sp>
      <p:sp>
        <p:nvSpPr>
          <p:cNvPr id="16" name="text">
            <a:extLst>
              <a:ext uri="{FF2B5EF4-FFF2-40B4-BE49-F238E27FC236}">
                <a16:creationId xmlns:a16="http://schemas.microsoft.com/office/drawing/2014/main" id="{D7221A58-B3DB-439D-8F74-0887231E429E}"/>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 RAII</a:t>
            </a:r>
          </a:p>
        </p:txBody>
      </p:sp>
      <p:sp>
        <p:nvSpPr>
          <p:cNvPr id="17" name="text">
            <a:extLst>
              <a:ext uri="{FF2B5EF4-FFF2-40B4-BE49-F238E27FC236}">
                <a16:creationId xmlns:a16="http://schemas.microsoft.com/office/drawing/2014/main" id="{CDC221CB-F440-4E5A-B191-191596E6BB85}"/>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Resource lifetime follows its owning object</a:t>
            </a:r>
          </a:p>
        </p:txBody>
      </p:sp>
      <p:sp>
        <p:nvSpPr>
          <p:cNvPr id="18" name="text">
            <a:extLst>
              <a:ext uri="{FF2B5EF4-FFF2-40B4-BE49-F238E27FC236}">
                <a16:creationId xmlns:a16="http://schemas.microsoft.com/office/drawing/2014/main" id="{AD5DF345-E8B3-4B89-8572-DB1AA468305C}"/>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with</a:t>
            </a:r>
          </a:p>
        </p:txBody>
      </p:sp>
      <p:sp>
        <p:nvSpPr>
          <p:cNvPr id="19" name="text">
            <a:extLst>
              <a:ext uri="{FF2B5EF4-FFF2-40B4-BE49-F238E27FC236}">
                <a16:creationId xmlns:a16="http://schemas.microsoft.com/office/drawing/2014/main" id="{276E9FFC-BC31-4092-B0E2-CA7187835999}"/>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Context manager handles exit and cleanup</a:t>
            </a:r>
          </a:p>
        </p:txBody>
      </p:sp>
      <p:sp>
        <p:nvSpPr>
          <p:cNvPr id="20" name="text">
            <a:extLst>
              <a:ext uri="{FF2B5EF4-FFF2-40B4-BE49-F238E27FC236}">
                <a16:creationId xmlns:a16="http://schemas.microsoft.com/office/drawing/2014/main" id="{8BBE88E6-95E1-465B-A5E9-7FEFA66E1DA3}"/>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Python del</a:t>
            </a:r>
          </a:p>
        </p:txBody>
      </p:sp>
      <p:sp>
        <p:nvSpPr>
          <p:cNvPr id="21" name="text">
            <a:extLst>
              <a:ext uri="{FF2B5EF4-FFF2-40B4-BE49-F238E27FC236}">
                <a16:creationId xmlns:a16="http://schemas.microsoft.com/office/drawing/2014/main" id="{733C4054-5AB7-448D-BC2E-719345397C50}"/>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Removes a binding, not necessarily the object</a:t>
            </a:r>
          </a:p>
        </p:txBody>
      </p:sp>
      <p:sp>
        <p:nvSpPr>
          <p:cNvPr id="22" name="text">
            <a:extLst>
              <a:ext uri="{FF2B5EF4-FFF2-40B4-BE49-F238E27FC236}">
                <a16:creationId xmlns:a16="http://schemas.microsoft.com/office/drawing/2014/main" id="{5C4B62B0-89A1-41FE-8C48-8B8988116066}"/>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[C]  [P]</a:t>
            </a:r>
          </a:p>
        </p:txBody>
      </p:sp>
    </p:spTree>
    <p:extLst>
      <p:ext uri="{BB962C8B-B14F-4D97-AF65-F5344CB8AC3E}">
        <p14:creationId xmlns:p14="http://schemas.microsoft.com/office/powerpoint/2010/main" val="36456721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A short file-writing example</a:t>
            </a:r>
            <a:endParaRPr sz="1400" b="0" spc="-10">
              <a:latin typeface="Arial"/>
              <a:ea typeface="Arial"/>
              <a:cs typeface="Arial"/>
            </a:endParaRPr>
          </a:p>
        </p:txBody>
      </p:sp>
      <p:pic>
        <p:nvPicPr>
          <p:cNvPr id="32" name="object 4"/>
          <p:cNvPicPr>
            <a:picLocks noChangeAspect="1"/>
          </p:cNvPicPr>
          <p:nvPr/>
        </p:nvPicPr>
        <p:blipFill>
          <a:blip r:embed="rId3"/>
          <a:stretch>
            <a:fillRect/>
          </a:stretch>
        </p:blipFill>
        <p:spPr>
          <a:xfrm>
            <a:off x="152565" y="2988507"/>
            <a:ext cx="900668" cy="161917"/>
          </a:xfrm>
          <a:prstGeom prst="rect">
            <a:avLst/>
          </a:prstGeom>
        </p:spPr>
      </p:pic>
      <p:pic>
        <p:nvPicPr>
          <p:cNvPr id="33"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29</a:t>
            </a:r>
          </a:p>
        </p:txBody>
      </p:sp>
      <p:sp>
        <p:nvSpPr>
          <p:cNvPr id="13" name="text">
            <a:extLst>
              <a:ext uri="{FF2B5EF4-FFF2-40B4-BE49-F238E27FC236}">
                <a16:creationId xmlns:a16="http://schemas.microsoft.com/office/drawing/2014/main" id="{58E1118A-832A-4C89-8548-0F32474B16BE}"/>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file closes when the C++ scope or Python with block ends.</a:t>
            </a:r>
          </a:p>
        </p:txBody>
      </p:sp>
      <p:sp>
        <p:nvSpPr>
          <p:cNvPr id="14" name="Rectangle 13">
            <a:extLst>
              <a:ext uri="{FF2B5EF4-FFF2-40B4-BE49-F238E27FC236}">
                <a16:creationId xmlns:a16="http://schemas.microsoft.com/office/drawing/2014/main" id="{03D91B36-EEE9-4B5D-9914-AD35DFE4D065}"/>
              </a:ext>
            </a:extLst>
          </p:cNvPr>
          <p:cNvSpPr>
            <a:spLocks noGrp="1"/>
          </p:cNvSpPr>
          <p:nvPr/>
        </p:nvSpPr>
        <p:spPr>
          <a:xfrm>
            <a:off x="228600" y="981075"/>
            <a:ext cx="2600325" cy="1504950"/>
          </a:xfrm>
          <a:prstGeom prst="rect">
            <a:avLst/>
          </a:prstGeom>
          <a:solidFill>
            <a:srgbClr val="101827"/>
          </a:solidFill>
          <a:ln w="0">
            <a:noFill/>
          </a:ln>
        </p:spPr>
      </p:sp>
      <p:sp>
        <p:nvSpPr>
          <p:cNvPr id="15" name="Rectangle 14">
            <a:extLst>
              <a:ext uri="{FF2B5EF4-FFF2-40B4-BE49-F238E27FC236}">
                <a16:creationId xmlns:a16="http://schemas.microsoft.com/office/drawing/2014/main" id="{8AD90CF5-4FFA-467C-9B37-B1377339C1EB}"/>
              </a:ext>
            </a:extLst>
          </p:cNvPr>
          <p:cNvSpPr>
            <a:spLocks noGrp="1"/>
          </p:cNvSpPr>
          <p:nvPr/>
        </p:nvSpPr>
        <p:spPr>
          <a:xfrm>
            <a:off x="228600" y="800100"/>
            <a:ext cx="2600325" cy="180975"/>
          </a:xfrm>
          <a:prstGeom prst="rect">
            <a:avLst/>
          </a:prstGeom>
          <a:solidFill>
            <a:srgbClr val="006ABA"/>
          </a:solidFill>
          <a:ln w="0">
            <a:noFill/>
          </a:ln>
        </p:spPr>
      </p:sp>
      <p:sp>
        <p:nvSpPr>
          <p:cNvPr id="16" name="text">
            <a:extLst>
              <a:ext uri="{FF2B5EF4-FFF2-40B4-BE49-F238E27FC236}">
                <a16:creationId xmlns:a16="http://schemas.microsoft.com/office/drawing/2014/main" id="{1BAA26AA-BB22-49A7-8B59-651E85C2818F}"/>
              </a:ext>
            </a:extLst>
          </p:cNvPr>
          <p:cNvSpPr>
            <a:spLocks noGrp="1"/>
          </p:cNvSpPr>
          <p:nvPr/>
        </p:nvSpPr>
        <p:spPr>
          <a:xfrm>
            <a:off x="22860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C++17</a:t>
            </a:r>
          </a:p>
        </p:txBody>
      </p:sp>
      <p:sp>
        <p:nvSpPr>
          <p:cNvPr id="17" name="text">
            <a:extLst>
              <a:ext uri="{FF2B5EF4-FFF2-40B4-BE49-F238E27FC236}">
                <a16:creationId xmlns:a16="http://schemas.microsoft.com/office/drawing/2014/main" id="{1CE91291-F3E5-4F2C-8922-FC5721D8E23D}"/>
              </a:ext>
            </a:extLst>
          </p:cNvPr>
          <p:cNvSpPr>
            <a:spLocks noGrp="1"/>
          </p:cNvSpPr>
          <p:nvPr/>
        </p:nvSpPr>
        <p:spPr>
          <a:xfrm>
            <a:off x="29527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a:t>
            </a:r>
          </a:p>
        </p:txBody>
      </p:sp>
      <p:sp>
        <p:nvSpPr>
          <p:cNvPr id="18" name="text">
            <a:extLst>
              <a:ext uri="{FF2B5EF4-FFF2-40B4-BE49-F238E27FC236}">
                <a16:creationId xmlns:a16="http://schemas.microsoft.com/office/drawing/2014/main" id="{710749F6-179A-468B-A0A0-2FFD1E205252}"/>
              </a:ext>
            </a:extLst>
          </p:cNvPr>
          <p:cNvSpPr>
            <a:spLocks noGrp="1"/>
          </p:cNvSpPr>
          <p:nvPr/>
        </p:nvSpPr>
        <p:spPr>
          <a:xfrm>
            <a:off x="29527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std::ofstream log("oop_demo.txt");</a:t>
            </a:r>
          </a:p>
        </p:txBody>
      </p:sp>
      <p:sp>
        <p:nvSpPr>
          <p:cNvPr id="19" name="text">
            <a:extLst>
              <a:ext uri="{FF2B5EF4-FFF2-40B4-BE49-F238E27FC236}">
                <a16:creationId xmlns:a16="http://schemas.microsoft.com/office/drawing/2014/main" id="{4350FF2D-5302-430F-82B6-B5B9B9C8E288}"/>
              </a:ext>
            </a:extLst>
          </p:cNvPr>
          <p:cNvSpPr>
            <a:spLocks noGrp="1"/>
          </p:cNvSpPr>
          <p:nvPr/>
        </p:nvSpPr>
        <p:spPr>
          <a:xfrm>
            <a:off x="295275" y="132588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lang="en-US" sz="750" b="0">
                <a:solidFill>
                  <a:srgbClr val="E7EDF8"/>
                </a:solidFill>
                <a:latin typeface="DejaVu Sans Mono"/>
                <a:ea typeface="DejaVu Sans Mono"/>
                <a:cs typeface="DejaVu Sans Mono"/>
              </a:rPr>
              <a:t>  log &lt;&lt; "Robile ready\n";</a:t>
            </a:r>
            <a:endParaRPr sz="750" b="0">
              <a:solidFill>
                <a:srgbClr val="E7EDF8"/>
              </a:solidFill>
              <a:latin typeface="DejaVu Sans Mono"/>
              <a:ea typeface="DejaVu Sans Mono"/>
              <a:cs typeface="DejaVu Sans Mono"/>
            </a:endParaRPr>
          </a:p>
        </p:txBody>
      </p:sp>
      <p:sp>
        <p:nvSpPr>
          <p:cNvPr id="20" name="text">
            <a:extLst>
              <a:ext uri="{FF2B5EF4-FFF2-40B4-BE49-F238E27FC236}">
                <a16:creationId xmlns:a16="http://schemas.microsoft.com/office/drawing/2014/main" id="{07845B88-48FF-42B6-AE12-7EE525D0C9BE}"/>
              </a:ext>
            </a:extLst>
          </p:cNvPr>
          <p:cNvSpPr>
            <a:spLocks noGrp="1"/>
          </p:cNvSpPr>
          <p:nvPr/>
        </p:nvSpPr>
        <p:spPr>
          <a:xfrm>
            <a:off x="29527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 // Stream destructor closes the file</a:t>
            </a:r>
          </a:p>
        </p:txBody>
      </p:sp>
      <p:sp>
        <p:nvSpPr>
          <p:cNvPr id="21" name="text">
            <a:extLst>
              <a:ext uri="{FF2B5EF4-FFF2-40B4-BE49-F238E27FC236}">
                <a16:creationId xmlns:a16="http://schemas.microsoft.com/office/drawing/2014/main" id="{21F81886-7E9A-4143-A3BA-66E10BC8AFB0}"/>
              </a:ext>
            </a:extLst>
          </p:cNvPr>
          <p:cNvSpPr>
            <a:spLocks noGrp="1"/>
          </p:cNvSpPr>
          <p:nvPr/>
        </p:nvSpPr>
        <p:spPr>
          <a:xfrm>
            <a:off x="295275" y="158496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std::cout &lt;&lt; "Done\n";</a:t>
            </a:r>
          </a:p>
        </p:txBody>
      </p:sp>
      <p:sp>
        <p:nvSpPr>
          <p:cNvPr id="22" name="Rectangle 21">
            <a:extLst>
              <a:ext uri="{FF2B5EF4-FFF2-40B4-BE49-F238E27FC236}">
                <a16:creationId xmlns:a16="http://schemas.microsoft.com/office/drawing/2014/main" id="{F1A0B6C5-5C9F-4837-A4BC-AA3AF94CB00B}"/>
              </a:ext>
            </a:extLst>
          </p:cNvPr>
          <p:cNvSpPr>
            <a:spLocks noGrp="1"/>
          </p:cNvSpPr>
          <p:nvPr/>
        </p:nvSpPr>
        <p:spPr>
          <a:xfrm>
            <a:off x="2990850" y="981075"/>
            <a:ext cx="2600325" cy="1504950"/>
          </a:xfrm>
          <a:prstGeom prst="rect">
            <a:avLst/>
          </a:prstGeom>
          <a:solidFill>
            <a:srgbClr val="101827"/>
          </a:solidFill>
          <a:ln w="0">
            <a:noFill/>
          </a:ln>
        </p:spPr>
      </p:sp>
      <p:sp>
        <p:nvSpPr>
          <p:cNvPr id="23" name="Rectangle 22">
            <a:extLst>
              <a:ext uri="{FF2B5EF4-FFF2-40B4-BE49-F238E27FC236}">
                <a16:creationId xmlns:a16="http://schemas.microsoft.com/office/drawing/2014/main" id="{A57D7FD5-F47E-48FF-9F5F-95DF57126888}"/>
              </a:ext>
            </a:extLst>
          </p:cNvPr>
          <p:cNvSpPr>
            <a:spLocks noGrp="1"/>
          </p:cNvSpPr>
          <p:nvPr/>
        </p:nvSpPr>
        <p:spPr>
          <a:xfrm>
            <a:off x="2990850" y="800100"/>
            <a:ext cx="2600325" cy="180975"/>
          </a:xfrm>
          <a:prstGeom prst="rect">
            <a:avLst/>
          </a:prstGeom>
          <a:solidFill>
            <a:srgbClr val="1AA260"/>
          </a:solidFill>
          <a:ln w="0">
            <a:noFill/>
          </a:ln>
        </p:spPr>
      </p:sp>
      <p:sp>
        <p:nvSpPr>
          <p:cNvPr id="24" name="text">
            <a:extLst>
              <a:ext uri="{FF2B5EF4-FFF2-40B4-BE49-F238E27FC236}">
                <a16:creationId xmlns:a16="http://schemas.microsoft.com/office/drawing/2014/main" id="{200B3FB0-ADFF-4540-82AF-FF506795F45B}"/>
              </a:ext>
            </a:extLst>
          </p:cNvPr>
          <p:cNvSpPr>
            <a:spLocks noGrp="1"/>
          </p:cNvSpPr>
          <p:nvPr/>
        </p:nvSpPr>
        <p:spPr>
          <a:xfrm>
            <a:off x="2990850" y="819150"/>
            <a:ext cx="2600325" cy="161925"/>
          </a:xfrm>
          <a:prstGeom prst="rect">
            <a:avLst/>
          </a:prstGeom>
          <a:noFill/>
          <a:ln w="0">
            <a:noFill/>
          </a:ln>
        </p:spPr>
        <p:txBody>
          <a:bodyPr wrap="square" lIns="0" tIns="0" rIns="0" bIns="0" anchor="t">
            <a:noAutofit/>
          </a:bodyPr>
          <a:lstStyle/>
          <a:p>
            <a:pPr algn="ctr">
              <a:lnSpc>
                <a:spcPct val="110000"/>
              </a:lnSpc>
              <a:buNone/>
              <a:defRPr sz="825" b="1">
                <a:solidFill>
                  <a:srgbClr val="FFFFFF"/>
                </a:solidFill>
                <a:latin typeface="Arial"/>
                <a:ea typeface="Arial"/>
                <a:cs typeface="Arial"/>
              </a:defRPr>
            </a:pPr>
            <a:r>
              <a:rPr sz="825" b="1">
                <a:solidFill>
                  <a:srgbClr val="FFFFFF"/>
                </a:solidFill>
                <a:latin typeface="Arial"/>
                <a:ea typeface="Arial"/>
                <a:cs typeface="Arial"/>
              </a:rPr>
              <a:t>Python 3</a:t>
            </a:r>
          </a:p>
        </p:txBody>
      </p:sp>
      <p:sp>
        <p:nvSpPr>
          <p:cNvPr id="25" name="text">
            <a:extLst>
              <a:ext uri="{FF2B5EF4-FFF2-40B4-BE49-F238E27FC236}">
                <a16:creationId xmlns:a16="http://schemas.microsoft.com/office/drawing/2014/main" id="{C8635963-A15D-40BF-8F54-7D24D80E8B8A}"/>
              </a:ext>
            </a:extLst>
          </p:cNvPr>
          <p:cNvSpPr>
            <a:spLocks noGrp="1"/>
          </p:cNvSpPr>
          <p:nvPr/>
        </p:nvSpPr>
        <p:spPr>
          <a:xfrm>
            <a:off x="3057525" y="106680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with open("oop_demo.txt", "w") as log:</a:t>
            </a:r>
          </a:p>
        </p:txBody>
      </p:sp>
      <p:sp>
        <p:nvSpPr>
          <p:cNvPr id="26" name="text">
            <a:extLst>
              <a:ext uri="{FF2B5EF4-FFF2-40B4-BE49-F238E27FC236}">
                <a16:creationId xmlns:a16="http://schemas.microsoft.com/office/drawing/2014/main" id="{6A965FC6-9208-41A3-9B66-13029A609200}"/>
              </a:ext>
            </a:extLst>
          </p:cNvPr>
          <p:cNvSpPr>
            <a:spLocks noGrp="1"/>
          </p:cNvSpPr>
          <p:nvPr/>
        </p:nvSpPr>
        <p:spPr>
          <a:xfrm>
            <a:off x="3057525" y="119634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lang="en-US" sz="750" b="0">
                <a:solidFill>
                  <a:srgbClr val="E7EDF8"/>
                </a:solidFill>
                <a:latin typeface="DejaVu Sans Mono"/>
                <a:ea typeface="DejaVu Sans Mono"/>
                <a:cs typeface="DejaVu Sans Mono"/>
              </a:rPr>
              <a:t>    log.write("Robile ready\n")</a:t>
            </a:r>
            <a:endParaRPr sz="750" b="0">
              <a:solidFill>
                <a:srgbClr val="E7EDF8"/>
              </a:solidFill>
              <a:latin typeface="DejaVu Sans Mono"/>
              <a:ea typeface="DejaVu Sans Mono"/>
              <a:cs typeface="DejaVu Sans Mono"/>
            </a:endParaRPr>
          </a:p>
        </p:txBody>
      </p:sp>
      <p:sp>
        <p:nvSpPr>
          <p:cNvPr id="27" name="text">
            <a:extLst>
              <a:ext uri="{FF2B5EF4-FFF2-40B4-BE49-F238E27FC236}">
                <a16:creationId xmlns:a16="http://schemas.microsoft.com/office/drawing/2014/main" id="{4D36FC9A-13F5-432F-999D-31B4513E9942}"/>
              </a:ext>
            </a:extLst>
          </p:cNvPr>
          <p:cNvSpPr>
            <a:spLocks noGrp="1"/>
          </p:cNvSpPr>
          <p:nvPr/>
        </p:nvSpPr>
        <p:spPr>
          <a:xfrm>
            <a:off x="3057525" y="1325880"/>
            <a:ext cx="2476500" cy="142875"/>
          </a:xfrm>
          <a:prstGeom prst="rect">
            <a:avLst/>
          </a:prstGeom>
          <a:noFill/>
          <a:ln w="0">
            <a:noFill/>
          </a:ln>
        </p:spPr>
        <p:txBody>
          <a:bodyPr wrap="square" lIns="0" tIns="0" rIns="0" bIns="0" anchor="t">
            <a:noAutofit/>
          </a:bodyPr>
          <a:lstStyle/>
          <a:p>
            <a:endParaRPr/>
          </a:p>
        </p:txBody>
      </p:sp>
      <p:sp>
        <p:nvSpPr>
          <p:cNvPr id="28" name="text">
            <a:extLst>
              <a:ext uri="{FF2B5EF4-FFF2-40B4-BE49-F238E27FC236}">
                <a16:creationId xmlns:a16="http://schemas.microsoft.com/office/drawing/2014/main" id="{A181BAEF-DEE6-4767-A12D-1941C2CC3E4E}"/>
              </a:ext>
            </a:extLst>
          </p:cNvPr>
          <p:cNvSpPr>
            <a:spLocks noGrp="1"/>
          </p:cNvSpPr>
          <p:nvPr/>
        </p:nvSpPr>
        <p:spPr>
          <a:xfrm>
            <a:off x="3057525" y="1455420"/>
            <a:ext cx="2476500" cy="142875"/>
          </a:xfrm>
          <a:prstGeom prst="rect">
            <a:avLst/>
          </a:prstGeom>
          <a:noFill/>
          <a:ln w="0">
            <a:noFill/>
          </a:ln>
        </p:spPr>
        <p:txBody>
          <a:bodyPr wrap="square" lIns="0" tIns="0" rIns="0" bIns="0" anchor="t">
            <a:noAutofit/>
          </a:bodyPr>
          <a:lstStyle/>
          <a:p>
            <a:pPr algn="l">
              <a:lnSpc>
                <a:spcPct val="110000"/>
              </a:lnSpc>
              <a:buNone/>
              <a:defRPr sz="750" b="0">
                <a:solidFill>
                  <a:srgbClr val="E7EDF8"/>
                </a:solidFill>
                <a:latin typeface="DejaVu Sans Mono"/>
                <a:ea typeface="DejaVu Sans Mono"/>
                <a:cs typeface="DejaVu Sans Mono"/>
              </a:defRPr>
            </a:pPr>
            <a:r>
              <a:rPr sz="750" b="0">
                <a:solidFill>
                  <a:srgbClr val="E7EDF8"/>
                </a:solidFill>
                <a:latin typeface="DejaVu Sans Mono"/>
                <a:ea typeface="DejaVu Sans Mono"/>
                <a:cs typeface="DejaVu Sans Mono"/>
              </a:rPr>
              <a:t>print("Done")</a:t>
            </a:r>
          </a:p>
        </p:txBody>
      </p:sp>
      <p:sp>
        <p:nvSpPr>
          <p:cNvPr id="29" name="text">
            <a:extLst>
              <a:ext uri="{FF2B5EF4-FFF2-40B4-BE49-F238E27FC236}">
                <a16:creationId xmlns:a16="http://schemas.microsoft.com/office/drawing/2014/main" id="{6FB467DE-5850-4683-BE2D-2131957F60A2}"/>
              </a:ext>
            </a:extLst>
          </p:cNvPr>
          <p:cNvSpPr>
            <a:spLocks noGrp="1"/>
          </p:cNvSpPr>
          <p:nvPr/>
        </p:nvSpPr>
        <p:spPr>
          <a:xfrm>
            <a:off x="228600" y="2600325"/>
            <a:ext cx="5314950" cy="228600"/>
          </a:xfrm>
          <a:prstGeom prst="rect">
            <a:avLst/>
          </a:prstGeom>
          <a:noFill/>
          <a:ln w="0">
            <a:noFill/>
          </a:ln>
        </p:spPr>
        <p:txBody>
          <a:bodyPr wrap="square" lIns="0" tIns="0" rIns="0" bIns="0" anchor="t">
            <a:noAutofit/>
          </a:bodyPr>
          <a:lstStyle/>
          <a:p>
            <a:pPr algn="l">
              <a:lnSpc>
                <a:spcPct val="110000"/>
              </a:lnSpc>
              <a:buNone/>
              <a:defRPr sz="885" b="0">
                <a:solidFill>
                  <a:srgbClr val="006ABA"/>
                </a:solidFill>
                <a:latin typeface="Arial"/>
                <a:ea typeface="Arial"/>
                <a:cs typeface="Arial"/>
              </a:defRPr>
            </a:pPr>
            <a:r>
              <a:rPr sz="885" b="0">
                <a:solidFill>
                  <a:srgbClr val="006ABA"/>
                </a:solidFill>
                <a:latin typeface="Arial"/>
                <a:ea typeface="Arial"/>
                <a:cs typeface="Arial"/>
              </a:rPr>
              <a:t>Both write one line and release the file before printing Done.</a:t>
            </a:r>
          </a:p>
        </p:txBody>
      </p:sp>
      <p:sp>
        <p:nvSpPr>
          <p:cNvPr id="30" name="text">
            <a:extLst>
              <a:ext uri="{FF2B5EF4-FFF2-40B4-BE49-F238E27FC236}">
                <a16:creationId xmlns:a16="http://schemas.microsoft.com/office/drawing/2014/main" id="{861878A1-4277-470D-BD24-E4523C44D554}"/>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[C]  [P]</a:t>
            </a:r>
          </a:p>
        </p:txBody>
      </p:sp>
    </p:spTree>
    <p:extLst>
      <p:ext uri="{BB962C8B-B14F-4D97-AF65-F5344CB8AC3E}">
        <p14:creationId xmlns:p14="http://schemas.microsoft.com/office/powerpoint/2010/main" val="36456721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Small design habits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30</a:t>
            </a:r>
          </a:p>
        </p:txBody>
      </p:sp>
      <p:sp>
        <p:nvSpPr>
          <p:cNvPr id="13" name="text">
            <a:extLst>
              <a:ext uri="{FF2B5EF4-FFF2-40B4-BE49-F238E27FC236}">
                <a16:creationId xmlns:a16="http://schemas.microsoft.com/office/drawing/2014/main" id="{75708B28-40FA-4CFA-9A42-A2C5C0D534F4}"/>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A useful class has a clear responsibility and a predictable interface.</a:t>
            </a:r>
          </a:p>
        </p:txBody>
      </p:sp>
      <p:sp>
        <p:nvSpPr>
          <p:cNvPr id="14" name="text">
            <a:extLst>
              <a:ext uri="{FF2B5EF4-FFF2-40B4-BE49-F238E27FC236}">
                <a16:creationId xmlns:a16="http://schemas.microsoft.com/office/drawing/2014/main" id="{B3BF4AC0-A5DD-49BB-A185-F11727095AE8}"/>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One responsibility</a:t>
            </a:r>
          </a:p>
        </p:txBody>
      </p:sp>
      <p:sp>
        <p:nvSpPr>
          <p:cNvPr id="15" name="text">
            <a:extLst>
              <a:ext uri="{FF2B5EF4-FFF2-40B4-BE49-F238E27FC236}">
                <a16:creationId xmlns:a16="http://schemas.microsoft.com/office/drawing/2014/main" id="{A8503A39-B1B6-4B81-B418-BD1C0EFA468A}"/>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Keep battery logic inside Battery</a:t>
            </a:r>
          </a:p>
        </p:txBody>
      </p:sp>
      <p:sp>
        <p:nvSpPr>
          <p:cNvPr id="16" name="text">
            <a:extLst>
              <a:ext uri="{FF2B5EF4-FFF2-40B4-BE49-F238E27FC236}">
                <a16:creationId xmlns:a16="http://schemas.microsoft.com/office/drawing/2014/main" id="{88FCAA9D-99D1-4D5D-9455-48DEA3D662F2}"/>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Clear methods</a:t>
            </a:r>
          </a:p>
        </p:txBody>
      </p:sp>
      <p:sp>
        <p:nvSpPr>
          <p:cNvPr id="17" name="text">
            <a:extLst>
              <a:ext uri="{FF2B5EF4-FFF2-40B4-BE49-F238E27FC236}">
                <a16:creationId xmlns:a16="http://schemas.microsoft.com/office/drawing/2014/main" id="{2DBCA431-4F75-4913-A6D5-F319F343AC26}"/>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Queries report state, commands change it</a:t>
            </a:r>
          </a:p>
        </p:txBody>
      </p:sp>
      <p:sp>
        <p:nvSpPr>
          <p:cNvPr id="18" name="text">
            <a:extLst>
              <a:ext uri="{FF2B5EF4-FFF2-40B4-BE49-F238E27FC236}">
                <a16:creationId xmlns:a16="http://schemas.microsoft.com/office/drawing/2014/main" id="{1AE5E970-6307-454A-B606-5480A3580B04}"/>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Simple relationships</a:t>
            </a:r>
          </a:p>
        </p:txBody>
      </p:sp>
      <p:sp>
        <p:nvSpPr>
          <p:cNvPr id="19" name="text">
            <a:extLst>
              <a:ext uri="{FF2B5EF4-FFF2-40B4-BE49-F238E27FC236}">
                <a16:creationId xmlns:a16="http://schemas.microsoft.com/office/drawing/2014/main" id="{2A026C2E-3FFF-495D-93EE-CFB9B8309F43}"/>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Choose a base type or component deliberately</a:t>
            </a:r>
          </a:p>
        </p:txBody>
      </p:sp>
      <p:sp>
        <p:nvSpPr>
          <p:cNvPr id="20" name="text">
            <a:extLst>
              <a:ext uri="{FF2B5EF4-FFF2-40B4-BE49-F238E27FC236}">
                <a16:creationId xmlns:a16="http://schemas.microsoft.com/office/drawing/2014/main" id="{1019455E-E842-483E-9C86-DA3D311BE68A}"/>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Small tests</a:t>
            </a:r>
          </a:p>
        </p:txBody>
      </p:sp>
      <p:sp>
        <p:nvSpPr>
          <p:cNvPr id="21" name="text">
            <a:extLst>
              <a:ext uri="{FF2B5EF4-FFF2-40B4-BE49-F238E27FC236}">
                <a16:creationId xmlns:a16="http://schemas.microsoft.com/office/drawing/2014/main" id="{4DC1C99A-6A7E-486F-8F0B-50E461EC6ACF}"/>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Use fixed inputs and check expected results</a:t>
            </a:r>
          </a:p>
        </p:txBody>
      </p:sp>
      <p:sp>
        <p:nvSpPr>
          <p:cNvPr id="22" name="text">
            <a:extLst>
              <a:ext uri="{FF2B5EF4-FFF2-40B4-BE49-F238E27FC236}">
                <a16:creationId xmlns:a16="http://schemas.microsoft.com/office/drawing/2014/main" id="{4FF7C9B2-6DC8-44E3-8E60-CACD42283942}"/>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[B]  [R]</a:t>
            </a:r>
          </a:p>
        </p:txBody>
      </p:sp>
    </p:spTree>
    <p:extLst>
      <p:ext uri="{BB962C8B-B14F-4D97-AF65-F5344CB8AC3E}">
        <p14:creationId xmlns:p14="http://schemas.microsoft.com/office/powerpoint/2010/main" val="36456721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Short practice</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31</a:t>
            </a:r>
          </a:p>
        </p:txBody>
      </p:sp>
      <p:sp>
        <p:nvSpPr>
          <p:cNvPr id="13" name="text">
            <a:extLst>
              <a:ext uri="{FF2B5EF4-FFF2-40B4-BE49-F238E27FC236}">
                <a16:creationId xmlns:a16="http://schemas.microsoft.com/office/drawing/2014/main" id="{DADADC6C-FEE5-4481-A590-4448C499ADB4}"/>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Predict the result, then try the matching notebook exercise.</a:t>
            </a:r>
          </a:p>
        </p:txBody>
      </p:sp>
      <p:sp>
        <p:nvSpPr>
          <p:cNvPr id="14" name="text">
            <a:extLst>
              <a:ext uri="{FF2B5EF4-FFF2-40B4-BE49-F238E27FC236}">
                <a16:creationId xmlns:a16="http://schemas.microsoft.com/office/drawing/2014/main" id="{04C423D1-F359-44C5-BFCD-C7CF485178A8}"/>
              </a:ext>
            </a:extLst>
          </p:cNvPr>
          <p:cNvSpPr>
            <a:spLocks noGrp="1"/>
          </p:cNvSpPr>
          <p:nvPr/>
        </p:nvSpPr>
        <p:spPr>
          <a:xfrm>
            <a:off x="295275" y="9810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1</a:t>
            </a:r>
          </a:p>
        </p:txBody>
      </p:sp>
      <p:sp>
        <p:nvSpPr>
          <p:cNvPr id="15" name="text">
            <a:extLst>
              <a:ext uri="{FF2B5EF4-FFF2-40B4-BE49-F238E27FC236}">
                <a16:creationId xmlns:a16="http://schemas.microsoft.com/office/drawing/2014/main" id="{4B37768E-7A6B-47C4-93E7-2D913E8EFA51}"/>
              </a:ext>
            </a:extLst>
          </p:cNvPr>
          <p:cNvSpPr>
            <a:spLocks noGrp="1"/>
          </p:cNvSpPr>
          <p:nvPr/>
        </p:nvSpPr>
        <p:spPr>
          <a:xfrm>
            <a:off x="733425" y="9810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Create two Robot objects with different battery levels.</a:t>
            </a:r>
          </a:p>
        </p:txBody>
      </p:sp>
      <p:sp>
        <p:nvSpPr>
          <p:cNvPr id="16" name="text">
            <a:extLst>
              <a:ext uri="{FF2B5EF4-FFF2-40B4-BE49-F238E27FC236}">
                <a16:creationId xmlns:a16="http://schemas.microsoft.com/office/drawing/2014/main" id="{C42CEB7F-6A75-45DD-97C3-E18B616F2A09}"/>
              </a:ext>
            </a:extLst>
          </p:cNvPr>
          <p:cNvSpPr>
            <a:spLocks noGrp="1"/>
          </p:cNvSpPr>
          <p:nvPr/>
        </p:nvSpPr>
        <p:spPr>
          <a:xfrm>
            <a:off x="295275" y="13239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2</a:t>
            </a:r>
          </a:p>
        </p:txBody>
      </p:sp>
      <p:sp>
        <p:nvSpPr>
          <p:cNvPr id="17" name="text">
            <a:extLst>
              <a:ext uri="{FF2B5EF4-FFF2-40B4-BE49-F238E27FC236}">
                <a16:creationId xmlns:a16="http://schemas.microsoft.com/office/drawing/2014/main" id="{2ADF1F28-B38D-4652-90DC-E416934BE2F9}"/>
              </a:ext>
            </a:extLst>
          </p:cNvPr>
          <p:cNvSpPr>
            <a:spLocks noGrp="1"/>
          </p:cNvSpPr>
          <p:nvPr/>
        </p:nvSpPr>
        <p:spPr>
          <a:xfrm>
            <a:off x="733425" y="13239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Check that Battery.use(-5) leaves its state unchanged.</a:t>
            </a:r>
          </a:p>
        </p:txBody>
      </p:sp>
      <p:sp>
        <p:nvSpPr>
          <p:cNvPr id="18" name="text">
            <a:extLst>
              <a:ext uri="{FF2B5EF4-FFF2-40B4-BE49-F238E27FC236}">
                <a16:creationId xmlns:a16="http://schemas.microsoft.com/office/drawing/2014/main" id="{DC791C77-05BD-43FC-93B2-8C59B99AC2C1}"/>
              </a:ext>
            </a:extLst>
          </p:cNvPr>
          <p:cNvSpPr>
            <a:spLocks noGrp="1"/>
          </p:cNvSpPr>
          <p:nvPr/>
        </p:nvSpPr>
        <p:spPr>
          <a:xfrm>
            <a:off x="295275" y="16668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3</a:t>
            </a:r>
          </a:p>
        </p:txBody>
      </p:sp>
      <p:sp>
        <p:nvSpPr>
          <p:cNvPr id="19" name="text">
            <a:extLst>
              <a:ext uri="{FF2B5EF4-FFF2-40B4-BE49-F238E27FC236}">
                <a16:creationId xmlns:a16="http://schemas.microsoft.com/office/drawing/2014/main" id="{CE06E8D7-D53F-4B4B-8ABE-778DD4FDAD06}"/>
              </a:ext>
            </a:extLst>
          </p:cNvPr>
          <p:cNvSpPr>
            <a:spLocks noGrp="1"/>
          </p:cNvSpPr>
          <p:nvPr/>
        </p:nvSpPr>
        <p:spPr>
          <a:xfrm>
            <a:off x="733425" y="16668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Add MediumSensor.read() returning 50.</a:t>
            </a:r>
          </a:p>
        </p:txBody>
      </p:sp>
      <p:sp>
        <p:nvSpPr>
          <p:cNvPr id="20" name="text">
            <a:extLst>
              <a:ext uri="{FF2B5EF4-FFF2-40B4-BE49-F238E27FC236}">
                <a16:creationId xmlns:a16="http://schemas.microsoft.com/office/drawing/2014/main" id="{7B484EB6-B3C4-4F05-A998-A1B90846026D}"/>
              </a:ext>
            </a:extLst>
          </p:cNvPr>
          <p:cNvSpPr>
            <a:spLocks noGrp="1"/>
          </p:cNvSpPr>
          <p:nvPr/>
        </p:nvSpPr>
        <p:spPr>
          <a:xfrm>
            <a:off x="295275" y="2009775"/>
            <a:ext cx="285750" cy="266700"/>
          </a:xfrm>
          <a:prstGeom prst="rect">
            <a:avLst/>
          </a:prstGeom>
          <a:noFill/>
          <a:ln w="0">
            <a:noFill/>
          </a:ln>
        </p:spPr>
        <p:txBody>
          <a:bodyPr wrap="square" lIns="0" tIns="0" rIns="0" bIns="0" anchor="t">
            <a:noAutofit/>
          </a:bodyPr>
          <a:lstStyle/>
          <a:p>
            <a:pPr algn="l">
              <a:lnSpc>
                <a:spcPct val="110000"/>
              </a:lnSpc>
              <a:buNone/>
              <a:defRPr sz="1200" b="1">
                <a:solidFill>
                  <a:srgbClr val="006ABA"/>
                </a:solidFill>
                <a:latin typeface="Arial"/>
                <a:ea typeface="Arial"/>
                <a:cs typeface="Arial"/>
              </a:defRPr>
            </a:pPr>
            <a:r>
              <a:rPr sz="1200" b="1">
                <a:solidFill>
                  <a:srgbClr val="006ABA"/>
                </a:solidFill>
                <a:latin typeface="Arial"/>
                <a:ea typeface="Arial"/>
                <a:cs typeface="Arial"/>
              </a:rPr>
              <a:t>4</a:t>
            </a:r>
          </a:p>
        </p:txBody>
      </p:sp>
      <p:sp>
        <p:nvSpPr>
          <p:cNvPr id="21" name="text">
            <a:extLst>
              <a:ext uri="{FF2B5EF4-FFF2-40B4-BE49-F238E27FC236}">
                <a16:creationId xmlns:a16="http://schemas.microsoft.com/office/drawing/2014/main" id="{38676E0E-E1E3-4293-89DA-964BE7837A85}"/>
              </a:ext>
            </a:extLst>
          </p:cNvPr>
          <p:cNvSpPr>
            <a:spLocks noGrp="1"/>
          </p:cNvSpPr>
          <p:nvPr/>
        </p:nvSpPr>
        <p:spPr>
          <a:xfrm>
            <a:off x="733425" y="2009775"/>
            <a:ext cx="4676775" cy="276225"/>
          </a:xfrm>
          <a:prstGeom prst="rect">
            <a:avLst/>
          </a:prstGeom>
          <a:noFill/>
          <a:ln w="0">
            <a:noFill/>
          </a:ln>
        </p:spPr>
        <p:txBody>
          <a:bodyPr wrap="square" lIns="0" tIns="0" rIns="0" bIns="0" anchor="t">
            <a:noAutofit/>
          </a:bodyPr>
          <a:lstStyle/>
          <a:p>
            <a:pPr algn="l">
              <a:lnSpc>
                <a:spcPct val="110000"/>
              </a:lnSpc>
              <a:buNone/>
              <a:defRPr sz="1088" b="0">
                <a:solidFill>
                  <a:srgbClr val="202020"/>
                </a:solidFill>
                <a:latin typeface="Arial"/>
                <a:ea typeface="Arial"/>
                <a:cs typeface="Arial"/>
              </a:defRPr>
            </a:pPr>
            <a:r>
              <a:rPr sz="1088" b="0">
                <a:solidFill>
                  <a:srgbClr val="202020"/>
                </a:solidFill>
                <a:latin typeface="Arial"/>
                <a:ea typeface="Arial"/>
                <a:cs typeface="Arial"/>
              </a:rPr>
              <a:t>Explain the Robot–Battery relationship.</a:t>
            </a:r>
          </a:p>
        </p:txBody>
      </p:sp>
      <p:sp>
        <p:nvSpPr>
          <p:cNvPr id="22" name="text">
            <a:extLst>
              <a:ext uri="{FF2B5EF4-FFF2-40B4-BE49-F238E27FC236}">
                <a16:creationId xmlns:a16="http://schemas.microsoft.com/office/drawing/2014/main" id="{F4E2978F-23DA-4644-A079-84F58282933F}"/>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[B]  [X]</a:t>
            </a:r>
          </a:p>
        </p:txBody>
      </p:sp>
    </p:spTree>
    <p:extLst>
      <p:ext uri="{BB962C8B-B14F-4D97-AF65-F5344CB8AC3E}">
        <p14:creationId xmlns:p14="http://schemas.microsoft.com/office/powerpoint/2010/main" val="3645672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Practice answers</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32</a:t>
            </a:r>
          </a:p>
        </p:txBody>
      </p:sp>
      <p:sp>
        <p:nvSpPr>
          <p:cNvPr id="13" name="text">
            <a:extLst>
              <a:ext uri="{FF2B5EF4-FFF2-40B4-BE49-F238E27FC236}">
                <a16:creationId xmlns:a16="http://schemas.microsoft.com/office/drawing/2014/main" id="{C2FC9ED8-A097-4AE5-A1BC-64EBB8E1FD01}"/>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Explain the rule as well as the output.</a:t>
            </a:r>
          </a:p>
        </p:txBody>
      </p:sp>
      <p:sp>
        <p:nvSpPr>
          <p:cNvPr id="14" name="text">
            <a:extLst>
              <a:ext uri="{FF2B5EF4-FFF2-40B4-BE49-F238E27FC236}">
                <a16:creationId xmlns:a16="http://schemas.microsoft.com/office/drawing/2014/main" id="{1443C973-E5F8-4E6B-89E7-D850C2C6E711}"/>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Separate objects</a:t>
            </a:r>
          </a:p>
        </p:txBody>
      </p:sp>
      <p:sp>
        <p:nvSpPr>
          <p:cNvPr id="15" name="text">
            <a:extLst>
              <a:ext uri="{FF2B5EF4-FFF2-40B4-BE49-F238E27FC236}">
                <a16:creationId xmlns:a16="http://schemas.microsoft.com/office/drawing/2014/main" id="{EEC9E598-1781-49C1-A869-DE4175DAEE56}"/>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Each instance keeps its own battery state</a:t>
            </a:r>
          </a:p>
        </p:txBody>
      </p:sp>
      <p:sp>
        <p:nvSpPr>
          <p:cNvPr id="16" name="text">
            <a:extLst>
              <a:ext uri="{FF2B5EF4-FFF2-40B4-BE49-F238E27FC236}">
                <a16:creationId xmlns:a16="http://schemas.microsoft.com/office/drawing/2014/main" id="{E949B7C6-1802-400E-9D4E-BCD65494B32D}"/>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Invalid battery request</a:t>
            </a:r>
          </a:p>
        </p:txBody>
      </p:sp>
      <p:sp>
        <p:nvSpPr>
          <p:cNvPr id="17" name="text">
            <a:extLst>
              <a:ext uri="{FF2B5EF4-FFF2-40B4-BE49-F238E27FC236}">
                <a16:creationId xmlns:a16="http://schemas.microsoft.com/office/drawing/2014/main" id="{147E0903-1C5B-4A44-8459-4E4B1213BF20}"/>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No change to the level</a:t>
            </a:r>
          </a:p>
        </p:txBody>
      </p:sp>
      <p:sp>
        <p:nvSpPr>
          <p:cNvPr id="18" name="text">
            <a:extLst>
              <a:ext uri="{FF2B5EF4-FFF2-40B4-BE49-F238E27FC236}">
                <a16:creationId xmlns:a16="http://schemas.microsoft.com/office/drawing/2014/main" id="{1657380C-972F-49AD-8882-C7F7054E7E68}"/>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MediumSensor</a:t>
            </a:r>
          </a:p>
        </p:txBody>
      </p:sp>
      <p:sp>
        <p:nvSpPr>
          <p:cNvPr id="19" name="text">
            <a:extLst>
              <a:ext uri="{FF2B5EF4-FFF2-40B4-BE49-F238E27FC236}">
                <a16:creationId xmlns:a16="http://schemas.microsoft.com/office/drawing/2014/main" id="{2BD75C81-5DA6-42B8-8B79-329D7DB8ED1D}"/>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Same interface, new result: 50</a:t>
            </a:r>
          </a:p>
        </p:txBody>
      </p:sp>
      <p:sp>
        <p:nvSpPr>
          <p:cNvPr id="20" name="text">
            <a:extLst>
              <a:ext uri="{FF2B5EF4-FFF2-40B4-BE49-F238E27FC236}">
                <a16:creationId xmlns:a16="http://schemas.microsoft.com/office/drawing/2014/main" id="{E83C60B6-AAF6-48F2-AE6F-493B476C4F81}"/>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Robot and Battery</a:t>
            </a:r>
          </a:p>
        </p:txBody>
      </p:sp>
      <p:sp>
        <p:nvSpPr>
          <p:cNvPr id="21" name="text">
            <a:extLst>
              <a:ext uri="{FF2B5EF4-FFF2-40B4-BE49-F238E27FC236}">
                <a16:creationId xmlns:a16="http://schemas.microsoft.com/office/drawing/2014/main" id="{D09C8D77-48DA-4830-B33A-DF0346187FED}"/>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Composition: a robot has a battery</a:t>
            </a:r>
          </a:p>
        </p:txBody>
      </p:sp>
      <p:sp>
        <p:nvSpPr>
          <p:cNvPr id="22" name="text">
            <a:extLst>
              <a:ext uri="{FF2B5EF4-FFF2-40B4-BE49-F238E27FC236}">
                <a16:creationId xmlns:a16="http://schemas.microsoft.com/office/drawing/2014/main" id="{A6F822EC-E1AC-4095-8AEE-96A9E8E7D975}"/>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[B]  [X]</a:t>
            </a:r>
          </a:p>
        </p:txBody>
      </p:sp>
    </p:spTree>
    <p:extLst>
      <p:ext uri="{BB962C8B-B14F-4D97-AF65-F5344CB8AC3E}">
        <p14:creationId xmlns:p14="http://schemas.microsoft.com/office/powerpoint/2010/main" val="36456721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lang="en-US" sz="1400" b="0" spc="-10">
                <a:solidFill>
                  <a:srgbClr val="006ABA"/>
                </a:solidFill>
                <a:latin typeface="Arial"/>
                <a:ea typeface="Arial"/>
                <a:cs typeface="Arial"/>
              </a:rPr>
              <a:t>The four pillars in Robile</a:t>
            </a:r>
            <a:endParaRPr sz="1400" b="0" spc="-10">
              <a:latin typeface="Arial"/>
              <a:ea typeface="Arial"/>
              <a:cs typeface="Arial"/>
            </a:endParaRPr>
          </a:p>
        </p:txBody>
      </p:sp>
      <p:pic>
        <p:nvPicPr>
          <p:cNvPr id="24" name="object 4"/>
          <p:cNvPicPr>
            <a:picLocks noChangeAspect="1"/>
          </p:cNvPicPr>
          <p:nvPr/>
        </p:nvPicPr>
        <p:blipFill>
          <a:blip r:embed="rId3"/>
          <a:stretch>
            <a:fillRect/>
          </a:stretch>
        </p:blipFill>
        <p:spPr>
          <a:xfrm>
            <a:off x="152565" y="2988507"/>
            <a:ext cx="900668" cy="161917"/>
          </a:xfrm>
          <a:prstGeom prst="rect">
            <a:avLst/>
          </a:prstGeom>
        </p:spPr>
      </p:pic>
      <p:pic>
        <p:nvPicPr>
          <p:cNvPr id="25"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33</a:t>
            </a:r>
          </a:p>
        </p:txBody>
      </p:sp>
      <p:sp>
        <p:nvSpPr>
          <p:cNvPr id="13" name="text">
            <a:extLst>
              <a:ext uri="{FF2B5EF4-FFF2-40B4-BE49-F238E27FC236}">
                <a16:creationId xmlns:a16="http://schemas.microsoft.com/office/drawing/2014/main" id="{FBB668A4-6A92-46F5-B78B-F02C87B05450}"/>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Each concept answers a different programming question.</a:t>
            </a:r>
          </a:p>
        </p:txBody>
      </p:sp>
      <p:sp>
        <p:nvSpPr>
          <p:cNvPr id="14" name="text">
            <a:extLst>
              <a:ext uri="{FF2B5EF4-FFF2-40B4-BE49-F238E27FC236}">
                <a16:creationId xmlns:a16="http://schemas.microsoft.com/office/drawing/2014/main" id="{7AFEDF7F-46B2-4983-80CD-07DF6468F114}"/>
              </a:ext>
            </a:extLst>
          </p:cNvPr>
          <p:cNvSpPr>
            <a:spLocks noGrp="1"/>
          </p:cNvSpPr>
          <p:nvPr/>
        </p:nvSpPr>
        <p:spPr>
          <a:xfrm>
            <a:off x="285750" y="100012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Encapsulation</a:t>
            </a:r>
          </a:p>
        </p:txBody>
      </p:sp>
      <p:sp>
        <p:nvSpPr>
          <p:cNvPr id="15" name="text">
            <a:extLst>
              <a:ext uri="{FF2B5EF4-FFF2-40B4-BE49-F238E27FC236}">
                <a16:creationId xmlns:a16="http://schemas.microsoft.com/office/drawing/2014/main" id="{B2DBB1CD-58C5-44E0-881F-8D0449E026B1}"/>
              </a:ext>
            </a:extLst>
          </p:cNvPr>
          <p:cNvSpPr>
            <a:spLocks noGrp="1"/>
          </p:cNvSpPr>
          <p:nvPr/>
        </p:nvSpPr>
        <p:spPr>
          <a:xfrm>
            <a:off x="2409825" y="100012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Battery.use() controls state changes</a:t>
            </a:r>
          </a:p>
        </p:txBody>
      </p:sp>
      <p:sp>
        <p:nvSpPr>
          <p:cNvPr id="16" name="text">
            <a:extLst>
              <a:ext uri="{FF2B5EF4-FFF2-40B4-BE49-F238E27FC236}">
                <a16:creationId xmlns:a16="http://schemas.microsoft.com/office/drawing/2014/main" id="{B3AF35FA-ECB8-4349-AC30-3ABF94C51D16}"/>
              </a:ext>
            </a:extLst>
          </p:cNvPr>
          <p:cNvSpPr>
            <a:spLocks noGrp="1"/>
          </p:cNvSpPr>
          <p:nvPr/>
        </p:nvSpPr>
        <p:spPr>
          <a:xfrm>
            <a:off x="285750" y="139065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Abstraction</a:t>
            </a:r>
          </a:p>
        </p:txBody>
      </p:sp>
      <p:sp>
        <p:nvSpPr>
          <p:cNvPr id="17" name="text">
            <a:extLst>
              <a:ext uri="{FF2B5EF4-FFF2-40B4-BE49-F238E27FC236}">
                <a16:creationId xmlns:a16="http://schemas.microsoft.com/office/drawing/2014/main" id="{91622B3C-EE46-4B97-A8DC-69325F47363D}"/>
              </a:ext>
            </a:extLst>
          </p:cNvPr>
          <p:cNvSpPr>
            <a:spLocks noGrp="1"/>
          </p:cNvSpPr>
          <p:nvPr/>
        </p:nvSpPr>
        <p:spPr>
          <a:xfrm>
            <a:off x="2409825" y="139065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Sensor.read() hides reading details</a:t>
            </a:r>
          </a:p>
        </p:txBody>
      </p:sp>
      <p:sp>
        <p:nvSpPr>
          <p:cNvPr id="18" name="text">
            <a:extLst>
              <a:ext uri="{FF2B5EF4-FFF2-40B4-BE49-F238E27FC236}">
                <a16:creationId xmlns:a16="http://schemas.microsoft.com/office/drawing/2014/main" id="{47EBA521-D853-46E7-BFE7-2999659705CF}"/>
              </a:ext>
            </a:extLst>
          </p:cNvPr>
          <p:cNvSpPr>
            <a:spLocks noGrp="1"/>
          </p:cNvSpPr>
          <p:nvPr/>
        </p:nvSpPr>
        <p:spPr>
          <a:xfrm>
            <a:off x="285750" y="1781175"/>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Inheritance</a:t>
            </a:r>
          </a:p>
        </p:txBody>
      </p:sp>
      <p:sp>
        <p:nvSpPr>
          <p:cNvPr id="19" name="text">
            <a:extLst>
              <a:ext uri="{FF2B5EF4-FFF2-40B4-BE49-F238E27FC236}">
                <a16:creationId xmlns:a16="http://schemas.microsoft.com/office/drawing/2014/main" id="{1D27222E-337A-489E-A2F9-C7B33E40BA68}"/>
              </a:ext>
            </a:extLst>
          </p:cNvPr>
          <p:cNvSpPr>
            <a:spLocks noGrp="1"/>
          </p:cNvSpPr>
          <p:nvPr/>
        </p:nvSpPr>
        <p:spPr>
          <a:xfrm>
            <a:off x="2409825" y="1781175"/>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NearSensor specializes Sensor</a:t>
            </a:r>
          </a:p>
        </p:txBody>
      </p:sp>
      <p:sp>
        <p:nvSpPr>
          <p:cNvPr id="20" name="text">
            <a:extLst>
              <a:ext uri="{FF2B5EF4-FFF2-40B4-BE49-F238E27FC236}">
                <a16:creationId xmlns:a16="http://schemas.microsoft.com/office/drawing/2014/main" id="{8A8025FA-FDAA-4933-91F7-6A10A77025FD}"/>
              </a:ext>
            </a:extLst>
          </p:cNvPr>
          <p:cNvSpPr>
            <a:spLocks noGrp="1"/>
          </p:cNvSpPr>
          <p:nvPr/>
        </p:nvSpPr>
        <p:spPr>
          <a:xfrm>
            <a:off x="285750" y="2171700"/>
            <a:ext cx="1952625" cy="285750"/>
          </a:xfrm>
          <a:prstGeom prst="rect">
            <a:avLst/>
          </a:prstGeom>
          <a:noFill/>
          <a:ln w="0">
            <a:noFill/>
          </a:ln>
        </p:spPr>
        <p:txBody>
          <a:bodyPr wrap="square" lIns="0" tIns="0" rIns="0" bIns="0" anchor="t">
            <a:noAutofit/>
          </a:bodyPr>
          <a:lstStyle/>
          <a:p>
            <a:pPr algn="l">
              <a:lnSpc>
                <a:spcPct val="110000"/>
              </a:lnSpc>
              <a:buNone/>
              <a:defRPr sz="1050" b="1">
                <a:solidFill>
                  <a:srgbClr val="006ABA"/>
                </a:solidFill>
                <a:latin typeface="Arial"/>
                <a:ea typeface="Arial"/>
                <a:cs typeface="Arial"/>
              </a:defRPr>
            </a:pPr>
            <a:r>
              <a:rPr sz="1050" b="1">
                <a:solidFill>
                  <a:srgbClr val="006ABA"/>
                </a:solidFill>
                <a:latin typeface="Arial"/>
                <a:ea typeface="Arial"/>
                <a:cs typeface="Arial"/>
              </a:rPr>
              <a:t>Polymorphism</a:t>
            </a:r>
          </a:p>
        </p:txBody>
      </p:sp>
      <p:sp>
        <p:nvSpPr>
          <p:cNvPr id="21" name="text">
            <a:extLst>
              <a:ext uri="{FF2B5EF4-FFF2-40B4-BE49-F238E27FC236}">
                <a16:creationId xmlns:a16="http://schemas.microsoft.com/office/drawing/2014/main" id="{BA218B11-2709-41F7-8C9A-FBB4A0A3CC16}"/>
              </a:ext>
            </a:extLst>
          </p:cNvPr>
          <p:cNvSpPr>
            <a:spLocks noGrp="1"/>
          </p:cNvSpPr>
          <p:nvPr/>
        </p:nvSpPr>
        <p:spPr>
          <a:xfrm>
            <a:off x="2409825" y="2171700"/>
            <a:ext cx="3067050" cy="304800"/>
          </a:xfrm>
          <a:prstGeom prst="rect">
            <a:avLst/>
          </a:prstGeom>
          <a:noFill/>
          <a:ln w="0">
            <a:noFill/>
          </a:ln>
        </p:spPr>
        <p:txBody>
          <a:bodyPr wrap="square" lIns="0" tIns="0" rIns="0" bIns="0" anchor="t">
            <a:noAutofit/>
          </a:bodyPr>
          <a:lstStyle/>
          <a:p>
            <a:pPr algn="l">
              <a:lnSpc>
                <a:spcPct val="110000"/>
              </a:lnSpc>
              <a:buNone/>
              <a:defRPr sz="1050" b="0">
                <a:solidFill>
                  <a:srgbClr val="202020"/>
                </a:solidFill>
                <a:latin typeface="Arial"/>
                <a:ea typeface="Arial"/>
                <a:cs typeface="Arial"/>
              </a:defRPr>
            </a:pPr>
            <a:r>
              <a:rPr sz="1050" b="0">
                <a:solidFill>
                  <a:srgbClr val="202020"/>
                </a:solidFill>
                <a:latin typeface="Arial"/>
                <a:ea typeface="Arial"/>
                <a:cs typeface="Arial"/>
              </a:rPr>
              <a:t>show() works with several sensor types</a:t>
            </a:r>
          </a:p>
        </p:txBody>
      </p:sp>
      <p:sp>
        <p:nvSpPr>
          <p:cNvPr id="22" name="text">
            <a:extLst>
              <a:ext uri="{FF2B5EF4-FFF2-40B4-BE49-F238E27FC236}">
                <a16:creationId xmlns:a16="http://schemas.microsoft.com/office/drawing/2014/main" id="{52D0F3DE-2D5E-4EA0-B6B9-B0E3DD1010EE}"/>
              </a:ext>
            </a:extLst>
          </p:cNvPr>
          <p:cNvSpPr>
            <a:spLocks noGrp="1"/>
          </p:cNvSpPr>
          <p:nvPr/>
        </p:nvSpPr>
        <p:spPr>
          <a:xfrm>
            <a:off x="228600" y="2867025"/>
            <a:ext cx="5334000" cy="95250"/>
          </a:xfrm>
          <a:prstGeom prst="rect">
            <a:avLst/>
          </a:prstGeom>
          <a:noFill/>
          <a:ln w="0">
            <a:noFill/>
          </a:ln>
        </p:spPr>
        <p:txBody>
          <a:bodyPr wrap="square" lIns="0" tIns="0" rIns="0" bIns="0" anchor="t">
            <a:noAutofit/>
          </a:bodyPr>
          <a:lstStyle/>
          <a:p>
            <a:pPr algn="l">
              <a:lnSpc>
                <a:spcPct val="110000"/>
              </a:lnSpc>
              <a:buNone/>
              <a:defRPr sz="510" b="0">
                <a:solidFill>
                  <a:srgbClr val="66717C"/>
                </a:solidFill>
                <a:latin typeface="Arial"/>
                <a:ea typeface="Arial"/>
                <a:cs typeface="Arial"/>
              </a:defRPr>
            </a:pPr>
            <a:r>
              <a:rPr sz="510" b="0">
                <a:solidFill>
                  <a:srgbClr val="66717C"/>
                </a:solidFill>
                <a:latin typeface="Arial"/>
                <a:ea typeface="Arial"/>
                <a:cs typeface="Arial"/>
              </a:rPr>
              <a:t>[N]  [L]  [S]  [B]</a:t>
            </a:r>
          </a:p>
        </p:txBody>
      </p:sp>
    </p:spTree>
    <p:extLst>
      <p:ext uri="{BB962C8B-B14F-4D97-AF65-F5344CB8AC3E}">
        <p14:creationId xmlns:p14="http://schemas.microsoft.com/office/powerpoint/2010/main" val="36456721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Course sources</a:t>
            </a:r>
            <a:endParaRPr sz="1400" b="0" spc="-10">
              <a:latin typeface="Arial"/>
              <a:ea typeface="Arial"/>
              <a:cs typeface="Arial"/>
            </a:endParaRPr>
          </a:p>
        </p:txBody>
      </p:sp>
      <p:pic>
        <p:nvPicPr>
          <p:cNvPr id="20" name="object 4"/>
          <p:cNvPicPr>
            <a:picLocks noChangeAspect="1"/>
          </p:cNvPicPr>
          <p:nvPr/>
        </p:nvPicPr>
        <p:blipFill>
          <a:blip r:embed="rId3"/>
          <a:stretch>
            <a:fillRect/>
          </a:stretch>
        </p:blipFill>
        <p:spPr>
          <a:xfrm>
            <a:off x="152565" y="2988507"/>
            <a:ext cx="900668" cy="161917"/>
          </a:xfrm>
          <a:prstGeom prst="rect">
            <a:avLst/>
          </a:prstGeom>
        </p:spPr>
      </p:pic>
      <p:pic>
        <p:nvPicPr>
          <p:cNvPr id="2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34</a:t>
            </a:r>
          </a:p>
        </p:txBody>
      </p:sp>
      <p:sp>
        <p:nvSpPr>
          <p:cNvPr id="13" name="text">
            <a:extLst>
              <a:ext uri="{FF2B5EF4-FFF2-40B4-BE49-F238E27FC236}">
                <a16:creationId xmlns:a16="http://schemas.microsoft.com/office/drawing/2014/main" id="{9BC70D77-2323-436B-9B63-CE7947A120ED}"/>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The supplied course materials define the main teaching scope.</a:t>
            </a:r>
          </a:p>
        </p:txBody>
      </p:sp>
      <p:sp>
        <p:nvSpPr>
          <p:cNvPr id="14" name="text">
            <a:extLst>
              <a:ext uri="{FF2B5EF4-FFF2-40B4-BE49-F238E27FC236}">
                <a16:creationId xmlns:a16="http://schemas.microsoft.com/office/drawing/2014/main" id="{9E3419D1-3075-42E4-8B24-08BCE14E387F}"/>
              </a:ext>
            </a:extLst>
          </p:cNvPr>
          <p:cNvSpPr>
            <a:spLocks noGrp="1"/>
          </p:cNvSpPr>
          <p:nvPr/>
        </p:nvSpPr>
        <p:spPr>
          <a:xfrm>
            <a:off x="257175" y="98107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00" b="0" dirty="0">
                <a:solidFill>
                  <a:srgbClr val="006ABA"/>
                </a:solidFill>
                <a:latin typeface="Arial"/>
                <a:ea typeface="Arial"/>
                <a:cs typeface="Arial"/>
              </a:rPr>
              <a:t>[N] </a:t>
            </a:r>
            <a:r>
              <a:rPr lang="en-US" sz="900" dirty="0">
                <a:solidFill>
                  <a:srgbClr val="006ABA"/>
                </a:solidFill>
                <a:latin typeface="Arial"/>
                <a:ea typeface="Arial"/>
                <a:cs typeface="Arial"/>
              </a:rPr>
              <a:t>OOPS-SS25.</a:t>
            </a:r>
            <a:r>
              <a:rPr sz="900" b="0" dirty="0">
                <a:solidFill>
                  <a:srgbClr val="006ABA"/>
                </a:solidFill>
                <a:latin typeface="Arial"/>
                <a:ea typeface="Arial"/>
                <a:cs typeface="Arial"/>
              </a:rPr>
              <a:t>ipynb</a:t>
            </a:r>
            <a:endParaRPr lang="en-US" sz="900" b="0" dirty="0">
              <a:solidFill>
                <a:srgbClr val="006ABA"/>
              </a:solidFill>
              <a:latin typeface="Arial"/>
              <a:ea typeface="Arial"/>
              <a:cs typeface="Arial"/>
            </a:endParaRPr>
          </a:p>
        </p:txBody>
      </p:sp>
      <p:sp>
        <p:nvSpPr>
          <p:cNvPr id="15" name="text">
            <a:extLst>
              <a:ext uri="{FF2B5EF4-FFF2-40B4-BE49-F238E27FC236}">
                <a16:creationId xmlns:a16="http://schemas.microsoft.com/office/drawing/2014/main" id="{9D33A053-61BE-4A01-AD25-19E56F88AD62}"/>
              </a:ext>
            </a:extLst>
          </p:cNvPr>
          <p:cNvSpPr>
            <a:spLocks noGrp="1"/>
          </p:cNvSpPr>
          <p:nvPr/>
        </p:nvSpPr>
        <p:spPr>
          <a:xfrm>
            <a:off x="257175" y="134302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a:solidFill>
                  <a:srgbClr val="006ABA"/>
                </a:solidFill>
                <a:latin typeface="Arial"/>
                <a:ea typeface="Arial"/>
                <a:cs typeface="Arial"/>
              </a:rPr>
              <a:t>[L] Lokesh Veeramacheneni, Object Oriented Programming</a:t>
            </a:r>
          </a:p>
        </p:txBody>
      </p:sp>
      <p:sp>
        <p:nvSpPr>
          <p:cNvPr id="16" name="text">
            <a:extLst>
              <a:ext uri="{FF2B5EF4-FFF2-40B4-BE49-F238E27FC236}">
                <a16:creationId xmlns:a16="http://schemas.microsoft.com/office/drawing/2014/main" id="{BD987418-54AB-4F50-BAD7-7412E3E06F7F}"/>
              </a:ext>
            </a:extLst>
          </p:cNvPr>
          <p:cNvSpPr>
            <a:spLocks noGrp="1"/>
          </p:cNvSpPr>
          <p:nvPr/>
        </p:nvSpPr>
        <p:spPr>
          <a:xfrm>
            <a:off x="257175" y="170497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00" b="0" dirty="0">
                <a:solidFill>
                  <a:srgbClr val="006ABA"/>
                </a:solidFill>
                <a:latin typeface="Arial"/>
                <a:ea typeface="Arial"/>
                <a:cs typeface="Arial"/>
              </a:rPr>
              <a:t>[S] Supriya Vadiraj, OOP Concepts</a:t>
            </a:r>
          </a:p>
        </p:txBody>
      </p:sp>
      <p:sp>
        <p:nvSpPr>
          <p:cNvPr id="17" name="text">
            <a:extLst>
              <a:ext uri="{FF2B5EF4-FFF2-40B4-BE49-F238E27FC236}">
                <a16:creationId xmlns:a16="http://schemas.microsoft.com/office/drawing/2014/main" id="{5B7572AF-1BD5-46B6-BB45-14FC884A08BF}"/>
              </a:ext>
            </a:extLst>
          </p:cNvPr>
          <p:cNvSpPr>
            <a:spLocks noGrp="1"/>
          </p:cNvSpPr>
          <p:nvPr/>
        </p:nvSpPr>
        <p:spPr>
          <a:xfrm>
            <a:off x="257175" y="206692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00" b="0" dirty="0">
                <a:solidFill>
                  <a:srgbClr val="006ABA"/>
                </a:solidFill>
                <a:latin typeface="Arial"/>
                <a:ea typeface="Arial"/>
                <a:cs typeface="Arial"/>
              </a:rPr>
              <a:t>[B] MAS_HBRS_</a:t>
            </a:r>
            <a:r>
              <a:rPr lang="en-US" sz="900" dirty="0">
                <a:solidFill>
                  <a:srgbClr val="006ABA"/>
                </a:solidFill>
                <a:latin typeface="Arial"/>
                <a:ea typeface="Arial"/>
                <a:cs typeface="Arial"/>
              </a:rPr>
              <a:t>OOPs</a:t>
            </a:r>
            <a:endParaRPr lang="en-US" sz="900" b="0" dirty="0">
              <a:solidFill>
                <a:srgbClr val="006ABA"/>
              </a:solidFill>
              <a:latin typeface="Arial"/>
              <a:ea typeface="Arial"/>
              <a:cs typeface="Arial"/>
            </a:endParaRPr>
          </a:p>
        </p:txBody>
      </p:sp>
    </p:spTree>
    <p:extLst>
      <p:ext uri="{BB962C8B-B14F-4D97-AF65-F5344CB8AC3E}">
        <p14:creationId xmlns:p14="http://schemas.microsoft.com/office/powerpoint/2010/main" val="36456721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78732306-573C-495E-831D-98A5E119CD11}"/>
              </a:ext>
            </a:extLst>
          </p:cNvPr>
          <p:cNvSpPr>
            <a:spLocks noGrp="1"/>
          </p:cNvSpPr>
          <p:nvPr>
            <p:ph type="title"/>
          </p:nvPr>
        </p:nvSpPr>
        <p:spPr>
          <a:xfrm>
            <a:off x="171450" y="95250"/>
            <a:ext cx="5429250" cy="304800"/>
          </a:xfrm>
          <a:prstGeom prst="rect">
            <a:avLst/>
          </a:prstGeom>
        </p:spPr>
        <p:txBody>
          <a:bodyPr vert="horz" wrap="square" lIns="0" tIns="0" rIns="0" bIns="0">
            <a:noAutofit/>
          </a:bodyPr>
          <a:lstStyle/>
          <a:p>
            <a:pPr marL="12700" algn="l">
              <a:lnSpc>
                <a:spcPct val="110000"/>
              </a:lnSpc>
              <a:spcBef>
                <a:spcPts val="135"/>
              </a:spcBef>
              <a:buNone/>
              <a:defRPr sz="1400">
                <a:solidFill>
                  <a:srgbClr val="006ABA"/>
                </a:solidFill>
                <a:latin typeface="Arial"/>
                <a:ea typeface="Arial"/>
                <a:cs typeface="Arial"/>
              </a:defRPr>
            </a:pPr>
            <a:r>
              <a:rPr sz="1400" b="0" spc="-10">
                <a:solidFill>
                  <a:srgbClr val="006ABA"/>
                </a:solidFill>
                <a:latin typeface="Arial"/>
                <a:ea typeface="Arial"/>
                <a:cs typeface="Arial"/>
              </a:rPr>
              <a:t>Language references and further reading</a:t>
            </a:r>
            <a:endParaRPr sz="1400" b="0" spc="-10">
              <a:latin typeface="Arial"/>
              <a:ea typeface="Arial"/>
              <a:cs typeface="Arial"/>
            </a:endParaRPr>
          </a:p>
        </p:txBody>
      </p:sp>
      <p:pic>
        <p:nvPicPr>
          <p:cNvPr id="20" name="object 4"/>
          <p:cNvPicPr>
            <a:picLocks noChangeAspect="1"/>
          </p:cNvPicPr>
          <p:nvPr/>
        </p:nvPicPr>
        <p:blipFill>
          <a:blip r:embed="rId3"/>
          <a:stretch>
            <a:fillRect/>
          </a:stretch>
        </p:blipFill>
        <p:spPr>
          <a:xfrm>
            <a:off x="152565" y="2988507"/>
            <a:ext cx="900668" cy="161917"/>
          </a:xfrm>
          <a:prstGeom prst="rect">
            <a:avLst/>
          </a:prstGeom>
        </p:spPr>
      </p:pic>
      <p:pic>
        <p:nvPicPr>
          <p:cNvPr id="21" name="object 5"/>
          <p:cNvPicPr>
            <a:picLocks noChangeAspect="1"/>
          </p:cNvPicPr>
          <p:nvPr/>
        </p:nvPicPr>
        <p:blipFill>
          <a:blip r:embed="rId4"/>
          <a:stretch>
            <a:fillRect/>
          </a:stretch>
        </p:blipFill>
        <p:spPr>
          <a:xfrm>
            <a:off x="1286560" y="2988417"/>
            <a:ext cx="610912" cy="162008"/>
          </a:xfrm>
          <a:prstGeom prst="rect">
            <a:avLst/>
          </a:prstGeom>
        </p:spPr>
      </p:pic>
      <p:sp>
        <p:nvSpPr>
          <p:cNvPr id="10" name="Footer Placeholder 7">
            <a:extLst>
              <a:ext uri="{FF2B5EF4-FFF2-40B4-BE49-F238E27FC236}">
                <a16:creationId xmlns:a16="http://schemas.microsoft.com/office/drawing/2014/main" id="{197FE2C8-8EE2-4937-3F30-294DB47641D6}"/>
              </a:ext>
            </a:extLst>
          </p:cNvPr>
          <p:cNvSpPr>
            <a:spLocks noGrp="1"/>
          </p:cNvSpPr>
          <p:nvPr>
            <p:ph type="ftr" idx="5"/>
          </p:nvPr>
        </p:nvSpPr>
        <p:spPr>
          <a:xfrm>
            <a:off x="2590800" y="3105150"/>
            <a:ext cx="2743200" cy="95250"/>
          </a:xfrm>
        </p:spPr>
        <p:txBody>
          <a:bodyPr wrap="square" lIns="0" tIns="0" rIns="0" bIns="0">
            <a:noAutofit/>
          </a:bodyPr>
          <a:lstStyle/>
          <a:p>
            <a:pPr algn="r">
              <a:lnSpc>
                <a:spcPct val="110000"/>
              </a:lnSpc>
              <a:buNone/>
              <a:defRPr sz="500">
                <a:solidFill>
                  <a:srgbClr val="888888"/>
                </a:solidFill>
                <a:latin typeface="Arial"/>
                <a:ea typeface="Arial"/>
                <a:cs typeface="Arial"/>
              </a:defRPr>
            </a:pPr>
            <a:r>
              <a:rPr sz="500">
                <a:solidFill>
                  <a:srgbClr val="888888"/>
                </a:solidFill>
                <a:latin typeface="Arial"/>
                <a:ea typeface="Arial"/>
                <a:cs typeface="Arial"/>
              </a:rPr>
              <a:t>MAS Foundations - Kamendu Panchal</a:t>
            </a:r>
            <a:endParaRPr sz="500" b="1">
              <a:solidFill>
                <a:schemeClr val="tx1"/>
              </a:solidFill>
              <a:latin typeface="Arial"/>
              <a:ea typeface="Arial"/>
              <a:cs typeface="Arial"/>
            </a:endParaRPr>
          </a:p>
        </p:txBody>
      </p:sp>
      <p:sp>
        <p:nvSpPr>
          <p:cNvPr id="3" name="TextBox 2">
            <a:extLst>
              <a:ext uri="{FF2B5EF4-FFF2-40B4-BE49-F238E27FC236}">
                <a16:creationId xmlns:a16="http://schemas.microsoft.com/office/drawing/2014/main" id="{DCE8FEB4-DA15-74FB-D091-FA2B80C9B501}"/>
              </a:ext>
            </a:extLst>
          </p:cNvPr>
          <p:cNvSpPr>
            <a:spLocks noGrp="1"/>
          </p:cNvSpPr>
          <p:nvPr/>
        </p:nvSpPr>
        <p:spPr>
          <a:xfrm>
            <a:off x="5438775" y="3086100"/>
            <a:ext cx="209550" cy="175260"/>
          </a:xfrm>
          <a:prstGeom prst="rect">
            <a:avLst/>
          </a:prstGeom>
          <a:noFill/>
        </p:spPr>
        <p:txBody>
          <a:bodyPr wrap="square" lIns="0" tIns="0" rIns="0" bIns="0">
            <a:noAutofit/>
          </a:bodyPr>
          <a:lstStyle/>
          <a:p>
            <a:pPr algn="r">
              <a:lnSpc>
                <a:spcPct val="110000"/>
              </a:lnSpc>
              <a:buNone/>
              <a:defRPr sz="500">
                <a:solidFill>
                  <a:srgbClr val="202020"/>
                </a:solidFill>
                <a:latin typeface="Arial"/>
                <a:ea typeface="Arial"/>
                <a:cs typeface="Arial"/>
              </a:defRPr>
            </a:pPr>
            <a:r>
              <a:rPr sz="500">
                <a:solidFill>
                  <a:srgbClr val="202020"/>
                </a:solidFill>
                <a:latin typeface="Arial"/>
                <a:ea typeface="Arial"/>
                <a:cs typeface="Arial"/>
              </a:rPr>
              <a:t>35</a:t>
            </a:r>
          </a:p>
        </p:txBody>
      </p:sp>
      <p:sp>
        <p:nvSpPr>
          <p:cNvPr id="13" name="text">
            <a:extLst>
              <a:ext uri="{FF2B5EF4-FFF2-40B4-BE49-F238E27FC236}">
                <a16:creationId xmlns:a16="http://schemas.microsoft.com/office/drawing/2014/main" id="{0C7A6792-EEEC-4A7B-9A94-2E8E18F6C262}"/>
              </a:ext>
            </a:extLst>
          </p:cNvPr>
          <p:cNvSpPr>
            <a:spLocks noGrp="1"/>
          </p:cNvSpPr>
          <p:nvPr/>
        </p:nvSpPr>
        <p:spPr>
          <a:xfrm>
            <a:off x="228600" y="504825"/>
            <a:ext cx="5314950" cy="381000"/>
          </a:xfrm>
          <a:prstGeom prst="rect">
            <a:avLst/>
          </a:prstGeom>
          <a:noFill/>
          <a:ln w="0">
            <a:noFill/>
          </a:ln>
        </p:spPr>
        <p:txBody>
          <a:bodyPr wrap="square" lIns="0" tIns="0" rIns="0" bIns="0" anchor="t">
            <a:noAutofit/>
          </a:bodyPr>
          <a:lstStyle/>
          <a:p>
            <a:pPr algn="l">
              <a:lnSpc>
                <a:spcPct val="110000"/>
              </a:lnSpc>
              <a:buNone/>
              <a:defRPr sz="998" b="0">
                <a:solidFill>
                  <a:srgbClr val="202020"/>
                </a:solidFill>
                <a:latin typeface="Arial"/>
                <a:ea typeface="Arial"/>
                <a:cs typeface="Arial"/>
              </a:defRPr>
            </a:pPr>
            <a:r>
              <a:rPr sz="998" b="0">
                <a:solidFill>
                  <a:srgbClr val="202020"/>
                </a:solidFill>
                <a:latin typeface="Arial"/>
                <a:ea typeface="Arial"/>
                <a:cs typeface="Arial"/>
              </a:rPr>
              <a:t>Use the tutorials for revision and language documentation for exact rules.</a:t>
            </a:r>
          </a:p>
        </p:txBody>
      </p:sp>
      <p:sp>
        <p:nvSpPr>
          <p:cNvPr id="14" name="text">
            <a:extLst>
              <a:ext uri="{FF2B5EF4-FFF2-40B4-BE49-F238E27FC236}">
                <a16:creationId xmlns:a16="http://schemas.microsoft.com/office/drawing/2014/main" id="{4B26BCA7-86DB-4A63-BC58-FF101E62437B}"/>
              </a:ext>
            </a:extLst>
          </p:cNvPr>
          <p:cNvSpPr>
            <a:spLocks noGrp="1"/>
          </p:cNvSpPr>
          <p:nvPr/>
        </p:nvSpPr>
        <p:spPr>
          <a:xfrm>
            <a:off x="257175" y="98107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a:solidFill>
                  <a:srgbClr val="006ABA"/>
                </a:solidFill>
                <a:latin typeface="Arial"/>
                <a:ea typeface="Arial"/>
                <a:cs typeface="Arial"/>
              </a:rPr>
              <a:t>[G1] </a:t>
            </a:r>
            <a:r>
              <a:rPr sz="938" b="0">
                <a:solidFill>
                  <a:srgbClr val="006ABA"/>
                </a:solidFill>
                <a:latin typeface="Arial"/>
                <a:ea typeface="Arial"/>
                <a:cs typeface="Arial"/>
                <a:hlinkClick r:id="rId5"/>
              </a:rPr>
              <a:t>GeeksforGeeks: OOP in C++</a:t>
            </a:r>
          </a:p>
        </p:txBody>
      </p:sp>
      <p:sp>
        <p:nvSpPr>
          <p:cNvPr id="15" name="text">
            <a:extLst>
              <a:ext uri="{FF2B5EF4-FFF2-40B4-BE49-F238E27FC236}">
                <a16:creationId xmlns:a16="http://schemas.microsoft.com/office/drawing/2014/main" id="{D6BDB2F3-B842-4D97-AC64-2CC496640A55}"/>
              </a:ext>
            </a:extLst>
          </p:cNvPr>
          <p:cNvSpPr>
            <a:spLocks noGrp="1"/>
          </p:cNvSpPr>
          <p:nvPr/>
        </p:nvSpPr>
        <p:spPr>
          <a:xfrm>
            <a:off x="257175" y="134302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a:solidFill>
                  <a:srgbClr val="006ABA"/>
                </a:solidFill>
                <a:latin typeface="Arial"/>
                <a:ea typeface="Arial"/>
                <a:cs typeface="Arial"/>
              </a:rPr>
              <a:t>[G2] </a:t>
            </a:r>
            <a:r>
              <a:rPr sz="938" b="0">
                <a:solidFill>
                  <a:srgbClr val="006ABA"/>
                </a:solidFill>
                <a:latin typeface="Arial"/>
                <a:ea typeface="Arial"/>
                <a:cs typeface="Arial"/>
                <a:hlinkClick r:id="rId6"/>
              </a:rPr>
              <a:t>GeeksforGeeks: Python OOP concepts</a:t>
            </a:r>
          </a:p>
        </p:txBody>
      </p:sp>
      <p:sp>
        <p:nvSpPr>
          <p:cNvPr id="16" name="text">
            <a:extLst>
              <a:ext uri="{FF2B5EF4-FFF2-40B4-BE49-F238E27FC236}">
                <a16:creationId xmlns:a16="http://schemas.microsoft.com/office/drawing/2014/main" id="{C1EB8ED9-587A-4BE7-AD8F-F4F85FAE05FE}"/>
              </a:ext>
            </a:extLst>
          </p:cNvPr>
          <p:cNvSpPr>
            <a:spLocks noGrp="1"/>
          </p:cNvSpPr>
          <p:nvPr/>
        </p:nvSpPr>
        <p:spPr>
          <a:xfrm>
            <a:off x="257175" y="170497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a:solidFill>
                  <a:srgbClr val="006ABA"/>
                </a:solidFill>
                <a:latin typeface="Arial"/>
                <a:ea typeface="Arial"/>
                <a:cs typeface="Arial"/>
              </a:rPr>
              <a:t>[P] </a:t>
            </a:r>
            <a:r>
              <a:rPr sz="938" b="0">
                <a:solidFill>
                  <a:srgbClr val="006ABA"/>
                </a:solidFill>
                <a:latin typeface="Arial"/>
                <a:ea typeface="Arial"/>
                <a:cs typeface="Arial"/>
                <a:hlinkClick r:id="rId7"/>
              </a:rPr>
              <a:t>Python documentation: Classes</a:t>
            </a:r>
          </a:p>
        </p:txBody>
      </p:sp>
      <p:sp>
        <p:nvSpPr>
          <p:cNvPr id="17" name="text">
            <a:extLst>
              <a:ext uri="{FF2B5EF4-FFF2-40B4-BE49-F238E27FC236}">
                <a16:creationId xmlns:a16="http://schemas.microsoft.com/office/drawing/2014/main" id="{25B052B9-0F9A-41C0-A49E-374541327C2C}"/>
              </a:ext>
            </a:extLst>
          </p:cNvPr>
          <p:cNvSpPr>
            <a:spLocks noGrp="1"/>
          </p:cNvSpPr>
          <p:nvPr/>
        </p:nvSpPr>
        <p:spPr>
          <a:xfrm>
            <a:off x="257175" y="2066925"/>
            <a:ext cx="5257800" cy="333375"/>
          </a:xfrm>
          <a:prstGeom prst="rect">
            <a:avLst/>
          </a:prstGeom>
          <a:noFill/>
          <a:ln w="0">
            <a:noFill/>
          </a:ln>
        </p:spPr>
        <p:txBody>
          <a:bodyPr wrap="square" lIns="0" tIns="0" rIns="0" bIns="0" anchor="t">
            <a:noAutofit/>
          </a:bodyPr>
          <a:lstStyle/>
          <a:p>
            <a:pPr algn="l">
              <a:lnSpc>
                <a:spcPct val="110000"/>
              </a:lnSpc>
              <a:buNone/>
              <a:defRPr sz="938" b="0">
                <a:solidFill>
                  <a:srgbClr val="006ABA"/>
                </a:solidFill>
                <a:latin typeface="Arial"/>
                <a:ea typeface="Arial"/>
                <a:cs typeface="Arial"/>
              </a:defRPr>
            </a:pPr>
            <a:r>
              <a:rPr sz="938" b="0">
                <a:solidFill>
                  <a:srgbClr val="006ABA"/>
                </a:solidFill>
                <a:latin typeface="Arial"/>
                <a:ea typeface="Arial"/>
                <a:cs typeface="Arial"/>
              </a:rPr>
              <a:t>[C] </a:t>
            </a:r>
            <a:r>
              <a:rPr sz="938" b="0">
                <a:solidFill>
                  <a:srgbClr val="006ABA"/>
                </a:solidFill>
                <a:latin typeface="Arial"/>
                <a:ea typeface="Arial"/>
                <a:cs typeface="Arial"/>
                <a:hlinkClick r:id="rId8"/>
              </a:rPr>
              <a:t>C++ draft: Classes</a:t>
            </a:r>
          </a:p>
        </p:txBody>
      </p:sp>
    </p:spTree>
    <p:extLst>
      <p:ext uri="{BB962C8B-B14F-4D97-AF65-F5344CB8AC3E}">
        <p14:creationId xmlns:p14="http://schemas.microsoft.com/office/powerpoint/2010/main" val="3645672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7259</Words>
  <Application>Microsoft Office PowerPoint</Application>
  <DocSecurity>0</DocSecurity>
  <PresentationFormat>Custom</PresentationFormat>
  <Paragraphs>677</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DejaVu Sans Mono</vt:lpstr>
      <vt:lpstr>Times New Roman</vt:lpstr>
      <vt:lpstr>Office Theme</vt:lpstr>
      <vt:lpstr>Concepts of Object-Oriented Programming  (OOP)</vt:lpstr>
      <vt:lpstr>Topics in this refresher</vt:lpstr>
      <vt:lpstr>Robile as a software object</vt:lpstr>
      <vt:lpstr>Classes and objects</vt:lpstr>
      <vt:lpstr>Attributes and methods</vt:lpstr>
      <vt:lpstr>Creating and using objects</vt:lpstr>
      <vt:lpstr>Constructors and initialization</vt:lpstr>
      <vt:lpstr>self and this</vt:lpstr>
      <vt:lpstr>Instance and class attributes</vt:lpstr>
      <vt:lpstr>The four pillars of OOP</vt:lpstr>
      <vt:lpstr>1. Encapsulation</vt:lpstr>
      <vt:lpstr>Encapsulation: controlled battery use</vt:lpstr>
      <vt:lpstr>Testing the battery rule</vt:lpstr>
      <vt:lpstr>Access control in C++ and Python</vt:lpstr>
      <vt:lpstr>2. Abstraction</vt:lpstr>
      <vt:lpstr>An abstract interface</vt:lpstr>
      <vt:lpstr>A concrete implementation</vt:lpstr>
      <vt:lpstr>3. Inheritance</vt:lpstr>
      <vt:lpstr>Inheritance: reuse and extend</vt:lpstr>
      <vt:lpstr>Common inheritance structures</vt:lpstr>
      <vt:lpstr>4. Polymorphism</vt:lpstr>
      <vt:lpstr>Overriding a method</vt:lpstr>
      <vt:lpstr>One caller, different objects</vt:lpstr>
      <vt:lpstr>Overloading and overriding</vt:lpstr>
      <vt:lpstr>Composition: a robot has components</vt:lpstr>
      <vt:lpstr>Composition in C++ and Python</vt:lpstr>
      <vt:lpstr>Copying and sharing</vt:lpstr>
      <vt:lpstr>An independent copy</vt:lpstr>
      <vt:lpstr>Object lifetime and resources</vt:lpstr>
      <vt:lpstr>A short file-writing example</vt:lpstr>
      <vt:lpstr>Small design habits</vt:lpstr>
      <vt:lpstr>Short practice</vt:lpstr>
      <vt:lpstr>Practice answers</vt:lpstr>
      <vt:lpstr>The four pillars in Robile</vt:lpstr>
      <vt:lpstr>Course sources</vt:lpstr>
      <vt:lpstr>Language references and 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Kamendu Panchal</cp:lastModifiedBy>
  <cp:revision>83</cp:revision>
  <dcterms:created xsi:type="dcterms:W3CDTF">2026-09-15T13:19:12Z</dcterms:created>
  <dcterms:modified xsi:type="dcterms:W3CDTF">2026-09-16T09:30:18Z</dcterms:modified>
</cp:coreProperties>
</file>